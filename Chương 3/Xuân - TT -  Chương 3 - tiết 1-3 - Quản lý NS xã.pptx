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 id="2147483677" r:id="rId2"/>
  </p:sldMasterIdLst>
  <p:notesMasterIdLst>
    <p:notesMasterId r:id="rId71"/>
  </p:notesMasterIdLst>
  <p:sldIdLst>
    <p:sldId id="256" r:id="rId3"/>
    <p:sldId id="264" r:id="rId4"/>
    <p:sldId id="1886" r:id="rId5"/>
    <p:sldId id="272" r:id="rId6"/>
    <p:sldId id="270" r:id="rId7"/>
    <p:sldId id="266" r:id="rId8"/>
    <p:sldId id="268" r:id="rId9"/>
    <p:sldId id="275" r:id="rId10"/>
    <p:sldId id="1885" r:id="rId11"/>
    <p:sldId id="603" r:id="rId12"/>
    <p:sldId id="3724" r:id="rId13"/>
    <p:sldId id="3713" r:id="rId14"/>
    <p:sldId id="3711" r:id="rId15"/>
    <p:sldId id="3725" r:id="rId16"/>
    <p:sldId id="3701" r:id="rId17"/>
    <p:sldId id="3732" r:id="rId18"/>
    <p:sldId id="3699" r:id="rId19"/>
    <p:sldId id="3772" r:id="rId20"/>
    <p:sldId id="3745" r:id="rId21"/>
    <p:sldId id="3746" r:id="rId22"/>
    <p:sldId id="3748" r:id="rId23"/>
    <p:sldId id="3749" r:id="rId24"/>
    <p:sldId id="3750" r:id="rId25"/>
    <p:sldId id="3751" r:id="rId26"/>
    <p:sldId id="3752" r:id="rId27"/>
    <p:sldId id="3733" r:id="rId28"/>
    <p:sldId id="3726" r:id="rId29"/>
    <p:sldId id="3710" r:id="rId30"/>
    <p:sldId id="3753" r:id="rId31"/>
    <p:sldId id="3721" r:id="rId32"/>
    <p:sldId id="3729" r:id="rId33"/>
    <p:sldId id="3754" r:id="rId34"/>
    <p:sldId id="3755" r:id="rId35"/>
    <p:sldId id="3730" r:id="rId36"/>
    <p:sldId id="3765" r:id="rId37"/>
    <p:sldId id="3766" r:id="rId38"/>
    <p:sldId id="1906" r:id="rId39"/>
    <p:sldId id="3757" r:id="rId40"/>
    <p:sldId id="3758" r:id="rId41"/>
    <p:sldId id="3760" r:id="rId42"/>
    <p:sldId id="3761" r:id="rId43"/>
    <p:sldId id="3762" r:id="rId44"/>
    <p:sldId id="3763" r:id="rId45"/>
    <p:sldId id="3734" r:id="rId46"/>
    <p:sldId id="3735" r:id="rId47"/>
    <p:sldId id="3769" r:id="rId48"/>
    <p:sldId id="3770" r:id="rId49"/>
    <p:sldId id="3773" r:id="rId50"/>
    <p:sldId id="3774" r:id="rId51"/>
    <p:sldId id="3517" r:id="rId52"/>
    <p:sldId id="3775" r:id="rId53"/>
    <p:sldId id="2710" r:id="rId54"/>
    <p:sldId id="3776" r:id="rId55"/>
    <p:sldId id="3781" r:id="rId56"/>
    <p:sldId id="3777" r:id="rId57"/>
    <p:sldId id="3782" r:id="rId58"/>
    <p:sldId id="3783" r:id="rId59"/>
    <p:sldId id="3784" r:id="rId60"/>
    <p:sldId id="3785" r:id="rId61"/>
    <p:sldId id="3786" r:id="rId62"/>
    <p:sldId id="3787" r:id="rId63"/>
    <p:sldId id="3788" r:id="rId64"/>
    <p:sldId id="3791" r:id="rId65"/>
    <p:sldId id="3789" r:id="rId66"/>
    <p:sldId id="3794" r:id="rId67"/>
    <p:sldId id="3792" r:id="rId68"/>
    <p:sldId id="3793" r:id="rId69"/>
    <p:sldId id="3795" r:id="rId70"/>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2B7D"/>
    <a:srgbClr val="E8E9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79" autoAdjust="0"/>
    <p:restoredTop sz="70935" autoAdjust="0"/>
  </p:normalViewPr>
  <p:slideViewPr>
    <p:cSldViewPr snapToGrid="0">
      <p:cViewPr varScale="1">
        <p:scale>
          <a:sx n="46" d="100"/>
          <a:sy n="46" d="100"/>
        </p:scale>
        <p:origin x="146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8C07B6-2451-4D6C-9629-8791FF24AAD3}"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US"/>
        </a:p>
      </dgm:t>
    </dgm:pt>
    <dgm:pt modelId="{792DA5A3-6A82-4742-91F3-40BB5B5B2C0E}">
      <dgm:prSet custT="1"/>
      <dgm:spPr/>
      <dgm:t>
        <a:bodyPr/>
        <a:lstStyle/>
        <a:p>
          <a:pPr rtl="0"/>
          <a:r>
            <a:rPr lang="vi-VN" sz="3200" b="1" dirty="0">
              <a:solidFill>
                <a:schemeClr val="bg1"/>
              </a:solidFill>
              <a:latin typeface="Times New Roman" panose="02020603050405020304" pitchFamily="18" charset="0"/>
              <a:cs typeface="Times New Roman" panose="02020603050405020304" pitchFamily="18" charset="0"/>
            </a:rPr>
            <a:t>Chương</a:t>
          </a:r>
          <a:r>
            <a:rPr lang="en-US" sz="3200" b="1" dirty="0">
              <a:solidFill>
                <a:schemeClr val="bg1"/>
              </a:solidFill>
              <a:latin typeface="Times New Roman" panose="02020603050405020304" pitchFamily="18" charset="0"/>
              <a:cs typeface="Times New Roman" panose="02020603050405020304" pitchFamily="18" charset="0"/>
            </a:rPr>
            <a:t> 1: </a:t>
          </a:r>
          <a:r>
            <a:rPr lang="vi-VN" sz="3200" b="1" dirty="0">
              <a:solidFill>
                <a:schemeClr val="bg1"/>
              </a:solidFill>
              <a:latin typeface="Times New Roman" panose="02020603050405020304" pitchFamily="18" charset="0"/>
              <a:cs typeface="Times New Roman" panose="02020603050405020304" pitchFamily="18" charset="0"/>
            </a:rPr>
            <a:t>Tổng quan về </a:t>
          </a:r>
          <a:r>
            <a:rPr lang="en-US" sz="3200" b="1" dirty="0">
              <a:solidFill>
                <a:schemeClr val="bg1"/>
              </a:solidFill>
              <a:latin typeface="Times New Roman" panose="02020603050405020304" pitchFamily="18" charset="0"/>
              <a:cs typeface="Times New Roman" panose="02020603050405020304" pitchFamily="18" charset="0"/>
            </a:rPr>
            <a:t>TCC </a:t>
          </a:r>
          <a:r>
            <a:rPr lang="en-US" sz="3200" b="1" dirty="0" err="1">
              <a:solidFill>
                <a:schemeClr val="bg1"/>
              </a:solidFill>
              <a:latin typeface="Times New Roman" panose="02020603050405020304" pitchFamily="18" charset="0"/>
              <a:cs typeface="Times New Roman" panose="02020603050405020304" pitchFamily="18" charset="0"/>
            </a:rPr>
            <a:t>và</a:t>
          </a:r>
          <a:r>
            <a:rPr lang="en-US" sz="3200" b="1" dirty="0">
              <a:solidFill>
                <a:schemeClr val="bg1"/>
              </a:solidFill>
              <a:latin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cs typeface="Times New Roman" panose="02020603050405020304" pitchFamily="18" charset="0"/>
            </a:rPr>
            <a:t>quản</a:t>
          </a:r>
          <a:r>
            <a:rPr lang="en-US" sz="3200" b="1" dirty="0">
              <a:solidFill>
                <a:schemeClr val="bg1"/>
              </a:solidFill>
              <a:latin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cs typeface="Times New Roman" panose="02020603050405020304" pitchFamily="18" charset="0"/>
            </a:rPr>
            <a:t>lý</a:t>
          </a:r>
          <a:r>
            <a:rPr lang="en-US" sz="3200" b="1" dirty="0">
              <a:solidFill>
                <a:schemeClr val="bg1"/>
              </a:solidFill>
              <a:latin typeface="Times New Roman" panose="02020603050405020304" pitchFamily="18" charset="0"/>
              <a:cs typeface="Times New Roman" panose="02020603050405020304" pitchFamily="18" charset="0"/>
            </a:rPr>
            <a:t> TCC</a:t>
          </a:r>
        </a:p>
      </dgm:t>
    </dgm:pt>
    <dgm:pt modelId="{5F2147CC-BE4E-46A9-9B1B-C298902C2DD0}" type="parTrans" cxnId="{F24B02F3-7FA5-40E2-BD50-A284406546B7}">
      <dgm:prSet/>
      <dgm:spPr/>
      <dgm:t>
        <a:bodyPr/>
        <a:lstStyle/>
        <a:p>
          <a:endParaRPr lang="en-US"/>
        </a:p>
      </dgm:t>
    </dgm:pt>
    <dgm:pt modelId="{7894BB4F-5D6F-4C97-9953-BA046C48D141}" type="sibTrans" cxnId="{F24B02F3-7FA5-40E2-BD50-A284406546B7}">
      <dgm:prSet/>
      <dgm:spPr/>
      <dgm:t>
        <a:bodyPr/>
        <a:lstStyle/>
        <a:p>
          <a:endParaRPr lang="en-US"/>
        </a:p>
      </dgm:t>
    </dgm:pt>
    <dgm:pt modelId="{B722C70B-ED1D-4434-8C27-A18E327A1477}">
      <dgm:prSet custT="1"/>
      <dgm:spPr/>
      <dgm:t>
        <a:bodyPr/>
        <a:lstStyle/>
        <a:p>
          <a:pPr rtl="0"/>
          <a:r>
            <a:rPr lang="en-US" sz="3200" b="1" dirty="0" err="1">
              <a:solidFill>
                <a:schemeClr val="bg1"/>
              </a:solidFill>
              <a:latin typeface="Times New Roman" panose="02020603050405020304" pitchFamily="18" charset="0"/>
              <a:cs typeface="Times New Roman" panose="02020603050405020304" pitchFamily="18" charset="0"/>
            </a:rPr>
            <a:t>Chương</a:t>
          </a:r>
          <a:r>
            <a:rPr lang="en-US" sz="3200" b="1" dirty="0">
              <a:solidFill>
                <a:schemeClr val="bg1"/>
              </a:solidFill>
              <a:latin typeface="Times New Roman" panose="02020603050405020304" pitchFamily="18" charset="0"/>
              <a:cs typeface="Times New Roman" panose="02020603050405020304" pitchFamily="18" charset="0"/>
            </a:rPr>
            <a:t> 2: Quản </a:t>
          </a:r>
          <a:r>
            <a:rPr lang="en-US" sz="3200" b="1" dirty="0" err="1">
              <a:solidFill>
                <a:schemeClr val="bg1"/>
              </a:solidFill>
              <a:latin typeface="Times New Roman" panose="02020603050405020304" pitchFamily="18" charset="0"/>
              <a:cs typeface="Times New Roman" panose="02020603050405020304" pitchFamily="18" charset="0"/>
            </a:rPr>
            <a:t>lý</a:t>
          </a:r>
          <a:r>
            <a:rPr lang="en-US" sz="3200" b="1" dirty="0">
              <a:solidFill>
                <a:schemeClr val="bg1"/>
              </a:solidFill>
              <a:latin typeface="Times New Roman" panose="02020603050405020304" pitchFamily="18" charset="0"/>
              <a:cs typeface="Times New Roman" panose="02020603050405020304" pitchFamily="18" charset="0"/>
            </a:rPr>
            <a:t> Ngân </a:t>
          </a:r>
          <a:r>
            <a:rPr lang="en-US" sz="3200" b="1" dirty="0" err="1">
              <a:solidFill>
                <a:schemeClr val="bg1"/>
              </a:solidFill>
              <a:latin typeface="Times New Roman" panose="02020603050405020304" pitchFamily="18" charset="0"/>
              <a:cs typeface="Times New Roman" panose="02020603050405020304" pitchFamily="18" charset="0"/>
            </a:rPr>
            <a:t>sách</a:t>
          </a:r>
          <a:r>
            <a:rPr lang="en-US" sz="3200" b="1" dirty="0">
              <a:solidFill>
                <a:schemeClr val="bg1"/>
              </a:solidFill>
              <a:latin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cs typeface="Times New Roman" panose="02020603050405020304" pitchFamily="18" charset="0"/>
            </a:rPr>
            <a:t>nhà</a:t>
          </a:r>
          <a:r>
            <a:rPr lang="en-US" sz="3200" b="1" dirty="0">
              <a:solidFill>
                <a:schemeClr val="bg1"/>
              </a:solidFill>
              <a:latin typeface="Times New Roman" panose="02020603050405020304" pitchFamily="18" charset="0"/>
              <a:cs typeface="Times New Roman" panose="02020603050405020304" pitchFamily="18" charset="0"/>
            </a:rPr>
            <a:t> </a:t>
          </a:r>
          <a:r>
            <a:rPr lang="en-US" sz="3200" b="1" dirty="0" err="1">
              <a:solidFill>
                <a:schemeClr val="bg1"/>
              </a:solidFill>
              <a:latin typeface="Times New Roman" panose="02020603050405020304" pitchFamily="18" charset="0"/>
              <a:cs typeface="Times New Roman" panose="02020603050405020304" pitchFamily="18" charset="0"/>
            </a:rPr>
            <a:t>nước</a:t>
          </a:r>
          <a:endParaRPr lang="en-US" sz="3200" b="1" dirty="0">
            <a:solidFill>
              <a:schemeClr val="bg1"/>
            </a:solidFill>
            <a:latin typeface="Times New Roman" panose="02020603050405020304" pitchFamily="18" charset="0"/>
            <a:cs typeface="Times New Roman" panose="02020603050405020304" pitchFamily="18" charset="0"/>
          </a:endParaRPr>
        </a:p>
      </dgm:t>
    </dgm:pt>
    <dgm:pt modelId="{5AF53FBE-6F89-40DF-8ABC-19865F0811D2}" type="parTrans" cxnId="{82FD3E0E-89ED-4F96-A76E-F0D0A1F3E9FB}">
      <dgm:prSet/>
      <dgm:spPr/>
      <dgm:t>
        <a:bodyPr/>
        <a:lstStyle/>
        <a:p>
          <a:endParaRPr lang="en-US"/>
        </a:p>
      </dgm:t>
    </dgm:pt>
    <dgm:pt modelId="{7F4A9CD1-CB98-455E-9F74-A6A22A7EB265}" type="sibTrans" cxnId="{82FD3E0E-89ED-4F96-A76E-F0D0A1F3E9FB}">
      <dgm:prSet/>
      <dgm:spPr/>
      <dgm:t>
        <a:bodyPr/>
        <a:lstStyle/>
        <a:p>
          <a:endParaRPr lang="en-US"/>
        </a:p>
      </dgm:t>
    </dgm:pt>
    <dgm:pt modelId="{953ADA59-D3E1-40A1-8D4F-9A765A34DAF7}">
      <dgm:prSet custT="1"/>
      <dgm:spPr/>
      <dgm:t>
        <a:bodyPr/>
        <a:lstStyle/>
        <a:p>
          <a:pPr rtl="0"/>
          <a:r>
            <a:rPr lang="en-US" sz="3200" b="1" dirty="0" err="1">
              <a:solidFill>
                <a:schemeClr val="bg1"/>
              </a:solidFill>
              <a:latin typeface="Times New Roman" panose="02020603050405020304" pitchFamily="18" charset="0"/>
              <a:cs typeface="Times New Roman" panose="02020603050405020304" pitchFamily="18" charset="0"/>
            </a:rPr>
            <a:t>Chương</a:t>
          </a:r>
          <a:r>
            <a:rPr lang="en-US" sz="3200" b="1" dirty="0">
              <a:solidFill>
                <a:schemeClr val="bg1"/>
              </a:solidFill>
              <a:latin typeface="Times New Roman" panose="02020603050405020304" pitchFamily="18" charset="0"/>
              <a:cs typeface="Times New Roman" panose="02020603050405020304" pitchFamily="18" charset="0"/>
            </a:rPr>
            <a:t> 3: </a:t>
          </a:r>
          <a:r>
            <a:rPr lang="vi-VN" sz="3200" b="1" dirty="0">
              <a:solidFill>
                <a:schemeClr val="bg1"/>
              </a:solidFill>
              <a:latin typeface="Times New Roman" panose="02020603050405020304" pitchFamily="18" charset="0"/>
              <a:cs typeface="Times New Roman" panose="02020603050405020304" pitchFamily="18" charset="0"/>
            </a:rPr>
            <a:t>Quản lý ngân sách xã</a:t>
          </a:r>
          <a:endParaRPr lang="en-US" sz="3200" b="1" dirty="0">
            <a:solidFill>
              <a:schemeClr val="bg1"/>
            </a:solidFill>
            <a:latin typeface="Times New Roman" panose="02020603050405020304" pitchFamily="18" charset="0"/>
            <a:cs typeface="Times New Roman" panose="02020603050405020304" pitchFamily="18" charset="0"/>
          </a:endParaRPr>
        </a:p>
      </dgm:t>
    </dgm:pt>
    <dgm:pt modelId="{3CA46FB3-6DD7-4AF9-90B0-25665D0BA84A}" type="parTrans" cxnId="{8AFC9255-09A1-4CBE-A6A4-02662B50AC0A}">
      <dgm:prSet/>
      <dgm:spPr/>
      <dgm:t>
        <a:bodyPr/>
        <a:lstStyle/>
        <a:p>
          <a:endParaRPr lang="en-US"/>
        </a:p>
      </dgm:t>
    </dgm:pt>
    <dgm:pt modelId="{8AC9B02A-2770-4CD3-AB0B-CF65885F17BF}" type="sibTrans" cxnId="{8AFC9255-09A1-4CBE-A6A4-02662B50AC0A}">
      <dgm:prSet/>
      <dgm:spPr/>
      <dgm:t>
        <a:bodyPr/>
        <a:lstStyle/>
        <a:p>
          <a:endParaRPr lang="en-US"/>
        </a:p>
      </dgm:t>
    </dgm:pt>
    <dgm:pt modelId="{2FD66D11-D4A9-4AF9-9814-3B1A70BF8713}">
      <dgm:prSet custT="1"/>
      <dgm:spPr>
        <a:solidFill>
          <a:schemeClr val="accent6">
            <a:lumMod val="60000"/>
            <a:lumOff val="40000"/>
          </a:schemeClr>
        </a:solidFill>
      </dgm:spPr>
      <dgm:t>
        <a:bodyPr/>
        <a:lstStyle/>
        <a:p>
          <a:pPr rtl="0"/>
          <a:r>
            <a:rPr lang="it-IT" sz="3200" b="1" dirty="0">
              <a:solidFill>
                <a:schemeClr val="bg1"/>
              </a:solidFill>
              <a:latin typeface="Times New Roman" panose="02020603050405020304" pitchFamily="18" charset="0"/>
              <a:cs typeface="Times New Roman" panose="02020603050405020304" pitchFamily="18" charset="0"/>
            </a:rPr>
            <a:t>Chương 4: Quản lý tài chính </a:t>
          </a:r>
          <a:r>
            <a:rPr lang="vi-VN" sz="3200" b="1" dirty="0">
              <a:solidFill>
                <a:schemeClr val="bg1"/>
              </a:solidFill>
              <a:latin typeface="Times New Roman" panose="02020603050405020304" pitchFamily="18" charset="0"/>
              <a:cs typeface="Times New Roman" panose="02020603050405020304" pitchFamily="18" charset="0"/>
            </a:rPr>
            <a:t>trong</a:t>
          </a:r>
          <a:r>
            <a:rPr lang="it-IT" sz="3200" b="1" dirty="0">
              <a:solidFill>
                <a:schemeClr val="bg1"/>
              </a:solidFill>
              <a:latin typeface="Times New Roman" panose="02020603050405020304" pitchFamily="18" charset="0"/>
              <a:cs typeface="Times New Roman" panose="02020603050405020304" pitchFamily="18" charset="0"/>
            </a:rPr>
            <a:t> các cơ quan nhà nước và đơn vị sự nghiệp</a:t>
          </a:r>
          <a:endParaRPr lang="en-US" sz="3200" b="1" dirty="0">
            <a:solidFill>
              <a:schemeClr val="bg1"/>
            </a:solidFill>
            <a:latin typeface="Times New Roman" panose="02020603050405020304" pitchFamily="18" charset="0"/>
            <a:cs typeface="Times New Roman" panose="02020603050405020304" pitchFamily="18" charset="0"/>
          </a:endParaRPr>
        </a:p>
      </dgm:t>
    </dgm:pt>
    <dgm:pt modelId="{1DA4E948-1673-4AB0-9ADB-CCBD259F374D}" type="parTrans" cxnId="{C5220F29-079F-4D60-839B-844D29187AA5}">
      <dgm:prSet/>
      <dgm:spPr/>
      <dgm:t>
        <a:bodyPr/>
        <a:lstStyle/>
        <a:p>
          <a:endParaRPr lang="en-US"/>
        </a:p>
      </dgm:t>
    </dgm:pt>
    <dgm:pt modelId="{D9A9E89B-4428-4152-8AC4-45A620EAFC22}" type="sibTrans" cxnId="{C5220F29-079F-4D60-839B-844D29187AA5}">
      <dgm:prSet/>
      <dgm:spPr/>
      <dgm:t>
        <a:bodyPr/>
        <a:lstStyle/>
        <a:p>
          <a:endParaRPr lang="en-US"/>
        </a:p>
      </dgm:t>
    </dgm:pt>
    <dgm:pt modelId="{489BEF3D-90E3-45DD-89C3-AF664E0E5092}" type="pres">
      <dgm:prSet presAssocID="{EF8C07B6-2451-4D6C-9629-8791FF24AAD3}" presName="Name0" presStyleCnt="0">
        <dgm:presLayoutVars>
          <dgm:chMax val="7"/>
          <dgm:chPref val="7"/>
          <dgm:dir/>
        </dgm:presLayoutVars>
      </dgm:prSet>
      <dgm:spPr/>
    </dgm:pt>
    <dgm:pt modelId="{24624BDD-CFC4-4DBC-B564-CB39527E8CB3}" type="pres">
      <dgm:prSet presAssocID="{EF8C07B6-2451-4D6C-9629-8791FF24AAD3}" presName="Name1" presStyleCnt="0"/>
      <dgm:spPr/>
    </dgm:pt>
    <dgm:pt modelId="{6755D732-F83B-4459-8314-7BFAF651B430}" type="pres">
      <dgm:prSet presAssocID="{EF8C07B6-2451-4D6C-9629-8791FF24AAD3}" presName="cycle" presStyleCnt="0"/>
      <dgm:spPr/>
    </dgm:pt>
    <dgm:pt modelId="{D72F9A06-19AE-4322-8943-13F5A62FAA1B}" type="pres">
      <dgm:prSet presAssocID="{EF8C07B6-2451-4D6C-9629-8791FF24AAD3}" presName="srcNode" presStyleLbl="node1" presStyleIdx="0" presStyleCnt="4"/>
      <dgm:spPr/>
    </dgm:pt>
    <dgm:pt modelId="{FBEFBF75-64EB-4F7E-A926-A4E66F89C7B0}" type="pres">
      <dgm:prSet presAssocID="{EF8C07B6-2451-4D6C-9629-8791FF24AAD3}" presName="conn" presStyleLbl="parChTrans1D2" presStyleIdx="0" presStyleCnt="1"/>
      <dgm:spPr/>
    </dgm:pt>
    <dgm:pt modelId="{173AB7EC-8BFC-42E7-8C32-A6569A06A0BE}" type="pres">
      <dgm:prSet presAssocID="{EF8C07B6-2451-4D6C-9629-8791FF24AAD3}" presName="extraNode" presStyleLbl="node1" presStyleIdx="0" presStyleCnt="4"/>
      <dgm:spPr/>
    </dgm:pt>
    <dgm:pt modelId="{BFDD0280-CA4B-48C5-A027-9A0A8AD512AF}" type="pres">
      <dgm:prSet presAssocID="{EF8C07B6-2451-4D6C-9629-8791FF24AAD3}" presName="dstNode" presStyleLbl="node1" presStyleIdx="0" presStyleCnt="4"/>
      <dgm:spPr/>
    </dgm:pt>
    <dgm:pt modelId="{903D4C07-2F7B-4768-B940-9EC734D124AC}" type="pres">
      <dgm:prSet presAssocID="{792DA5A3-6A82-4742-91F3-40BB5B5B2C0E}" presName="text_1" presStyleLbl="node1" presStyleIdx="0" presStyleCnt="4">
        <dgm:presLayoutVars>
          <dgm:bulletEnabled val="1"/>
        </dgm:presLayoutVars>
      </dgm:prSet>
      <dgm:spPr/>
    </dgm:pt>
    <dgm:pt modelId="{88DED3E1-FEA1-4672-AE97-A4E37130614E}" type="pres">
      <dgm:prSet presAssocID="{792DA5A3-6A82-4742-91F3-40BB5B5B2C0E}" presName="accent_1" presStyleCnt="0"/>
      <dgm:spPr/>
    </dgm:pt>
    <dgm:pt modelId="{666DCB58-F458-4F2E-B413-E6EC71986A16}" type="pres">
      <dgm:prSet presAssocID="{792DA5A3-6A82-4742-91F3-40BB5B5B2C0E}" presName="accentRepeatNode" presStyleLbl="solidFgAcc1" presStyleIdx="0" presStyleCnt="4" custLinFactNeighborX="5596"/>
      <dgm:spPr/>
    </dgm:pt>
    <dgm:pt modelId="{A5EF71E6-87C1-4DA1-AFF7-D586E2B69EAC}" type="pres">
      <dgm:prSet presAssocID="{B722C70B-ED1D-4434-8C27-A18E327A1477}" presName="text_2" presStyleLbl="node1" presStyleIdx="1" presStyleCnt="4">
        <dgm:presLayoutVars>
          <dgm:bulletEnabled val="1"/>
        </dgm:presLayoutVars>
      </dgm:prSet>
      <dgm:spPr/>
    </dgm:pt>
    <dgm:pt modelId="{4D7DA0B5-4BD6-473B-9D94-709A90D5813E}" type="pres">
      <dgm:prSet presAssocID="{B722C70B-ED1D-4434-8C27-A18E327A1477}" presName="accent_2" presStyleCnt="0"/>
      <dgm:spPr/>
    </dgm:pt>
    <dgm:pt modelId="{03B14AF4-B5B8-4120-A94F-C42F3ACBD4C0}" type="pres">
      <dgm:prSet presAssocID="{B722C70B-ED1D-4434-8C27-A18E327A1477}" presName="accentRepeatNode" presStyleLbl="solidFgAcc1" presStyleIdx="1" presStyleCnt="4"/>
      <dgm:spPr/>
    </dgm:pt>
    <dgm:pt modelId="{F24AED53-8AE0-4CB9-A674-944D01F5AFA7}" type="pres">
      <dgm:prSet presAssocID="{953ADA59-D3E1-40A1-8D4F-9A765A34DAF7}" presName="text_3" presStyleLbl="node1" presStyleIdx="2" presStyleCnt="4">
        <dgm:presLayoutVars>
          <dgm:bulletEnabled val="1"/>
        </dgm:presLayoutVars>
      </dgm:prSet>
      <dgm:spPr/>
    </dgm:pt>
    <dgm:pt modelId="{CBA4C8A9-B062-4206-9D5F-771AF8547386}" type="pres">
      <dgm:prSet presAssocID="{953ADA59-D3E1-40A1-8D4F-9A765A34DAF7}" presName="accent_3" presStyleCnt="0"/>
      <dgm:spPr/>
    </dgm:pt>
    <dgm:pt modelId="{7E79FFA8-5D9C-4C34-BC10-348E5B7963B1}" type="pres">
      <dgm:prSet presAssocID="{953ADA59-D3E1-40A1-8D4F-9A765A34DAF7}" presName="accentRepeatNode" presStyleLbl="solidFgAcc1" presStyleIdx="2" presStyleCnt="4"/>
      <dgm:spPr/>
    </dgm:pt>
    <dgm:pt modelId="{6217FA50-8478-467B-ACA9-B6E1B62BD4D6}" type="pres">
      <dgm:prSet presAssocID="{2FD66D11-D4A9-4AF9-9814-3B1A70BF8713}" presName="text_4" presStyleLbl="node1" presStyleIdx="3" presStyleCnt="4" custScaleY="126380">
        <dgm:presLayoutVars>
          <dgm:bulletEnabled val="1"/>
        </dgm:presLayoutVars>
      </dgm:prSet>
      <dgm:spPr/>
    </dgm:pt>
    <dgm:pt modelId="{6E463F9C-C7C9-42A5-9C60-157BE3B22711}" type="pres">
      <dgm:prSet presAssocID="{2FD66D11-D4A9-4AF9-9814-3B1A70BF8713}" presName="accent_4" presStyleCnt="0"/>
      <dgm:spPr/>
    </dgm:pt>
    <dgm:pt modelId="{6E402C4B-EDFD-42F0-AB38-9FE8CE6F595A}" type="pres">
      <dgm:prSet presAssocID="{2FD66D11-D4A9-4AF9-9814-3B1A70BF8713}" presName="accentRepeatNode" presStyleLbl="solidFgAcc1" presStyleIdx="3" presStyleCnt="4"/>
      <dgm:spPr/>
    </dgm:pt>
  </dgm:ptLst>
  <dgm:cxnLst>
    <dgm:cxn modelId="{82FD3E0E-89ED-4F96-A76E-F0D0A1F3E9FB}" srcId="{EF8C07B6-2451-4D6C-9629-8791FF24AAD3}" destId="{B722C70B-ED1D-4434-8C27-A18E327A1477}" srcOrd="1" destOrd="0" parTransId="{5AF53FBE-6F89-40DF-8ABC-19865F0811D2}" sibTransId="{7F4A9CD1-CB98-455E-9F74-A6A22A7EB265}"/>
    <dgm:cxn modelId="{C5220F29-079F-4D60-839B-844D29187AA5}" srcId="{EF8C07B6-2451-4D6C-9629-8791FF24AAD3}" destId="{2FD66D11-D4A9-4AF9-9814-3B1A70BF8713}" srcOrd="3" destOrd="0" parTransId="{1DA4E948-1673-4AB0-9ADB-CCBD259F374D}" sibTransId="{D9A9E89B-4428-4152-8AC4-45A620EAFC22}"/>
    <dgm:cxn modelId="{57A2642E-7D51-4BFD-9D22-06A2214D0863}" type="presOf" srcId="{953ADA59-D3E1-40A1-8D4F-9A765A34DAF7}" destId="{F24AED53-8AE0-4CB9-A674-944D01F5AFA7}" srcOrd="0" destOrd="0" presId="urn:microsoft.com/office/officeart/2008/layout/VerticalCurvedList"/>
    <dgm:cxn modelId="{4B2E0F46-2820-42DB-ADE2-5C8AC73BAEB7}" type="presOf" srcId="{792DA5A3-6A82-4742-91F3-40BB5B5B2C0E}" destId="{903D4C07-2F7B-4768-B940-9EC734D124AC}" srcOrd="0" destOrd="0" presId="urn:microsoft.com/office/officeart/2008/layout/VerticalCurvedList"/>
    <dgm:cxn modelId="{10CC0C68-8D54-4858-9AEF-BC024304BE0F}" type="presOf" srcId="{B722C70B-ED1D-4434-8C27-A18E327A1477}" destId="{A5EF71E6-87C1-4DA1-AFF7-D586E2B69EAC}" srcOrd="0" destOrd="0" presId="urn:microsoft.com/office/officeart/2008/layout/VerticalCurvedList"/>
    <dgm:cxn modelId="{8AFC9255-09A1-4CBE-A6A4-02662B50AC0A}" srcId="{EF8C07B6-2451-4D6C-9629-8791FF24AAD3}" destId="{953ADA59-D3E1-40A1-8D4F-9A765A34DAF7}" srcOrd="2" destOrd="0" parTransId="{3CA46FB3-6DD7-4AF9-90B0-25665D0BA84A}" sibTransId="{8AC9B02A-2770-4CD3-AB0B-CF65885F17BF}"/>
    <dgm:cxn modelId="{C4D74F7D-9691-4E29-B2B5-ACBB4DFB61B5}" type="presOf" srcId="{EF8C07B6-2451-4D6C-9629-8791FF24AAD3}" destId="{489BEF3D-90E3-45DD-89C3-AF664E0E5092}" srcOrd="0" destOrd="0" presId="urn:microsoft.com/office/officeart/2008/layout/VerticalCurvedList"/>
    <dgm:cxn modelId="{035338A8-4D56-42BE-9811-6E7E08888E57}" type="presOf" srcId="{2FD66D11-D4A9-4AF9-9814-3B1A70BF8713}" destId="{6217FA50-8478-467B-ACA9-B6E1B62BD4D6}" srcOrd="0" destOrd="0" presId="urn:microsoft.com/office/officeart/2008/layout/VerticalCurvedList"/>
    <dgm:cxn modelId="{2B7C5DB2-9D29-4820-A252-ACE8193F4838}" type="presOf" srcId="{7894BB4F-5D6F-4C97-9953-BA046C48D141}" destId="{FBEFBF75-64EB-4F7E-A926-A4E66F89C7B0}" srcOrd="0" destOrd="0" presId="urn:microsoft.com/office/officeart/2008/layout/VerticalCurvedList"/>
    <dgm:cxn modelId="{F24B02F3-7FA5-40E2-BD50-A284406546B7}" srcId="{EF8C07B6-2451-4D6C-9629-8791FF24AAD3}" destId="{792DA5A3-6A82-4742-91F3-40BB5B5B2C0E}" srcOrd="0" destOrd="0" parTransId="{5F2147CC-BE4E-46A9-9B1B-C298902C2DD0}" sibTransId="{7894BB4F-5D6F-4C97-9953-BA046C48D141}"/>
    <dgm:cxn modelId="{FD4A724E-3AD6-49B1-B2A7-BAEE683AC3DB}" type="presParOf" srcId="{489BEF3D-90E3-45DD-89C3-AF664E0E5092}" destId="{24624BDD-CFC4-4DBC-B564-CB39527E8CB3}" srcOrd="0" destOrd="0" presId="urn:microsoft.com/office/officeart/2008/layout/VerticalCurvedList"/>
    <dgm:cxn modelId="{8AD4A9CE-4928-4273-ACFB-9571A35E7FDC}" type="presParOf" srcId="{24624BDD-CFC4-4DBC-B564-CB39527E8CB3}" destId="{6755D732-F83B-4459-8314-7BFAF651B430}" srcOrd="0" destOrd="0" presId="urn:microsoft.com/office/officeart/2008/layout/VerticalCurvedList"/>
    <dgm:cxn modelId="{C29FC153-B511-4EFB-B5F3-27DB3036BF54}" type="presParOf" srcId="{6755D732-F83B-4459-8314-7BFAF651B430}" destId="{D72F9A06-19AE-4322-8943-13F5A62FAA1B}" srcOrd="0" destOrd="0" presId="urn:microsoft.com/office/officeart/2008/layout/VerticalCurvedList"/>
    <dgm:cxn modelId="{99CEED9E-2EC1-47E8-9056-D945B77B2EED}" type="presParOf" srcId="{6755D732-F83B-4459-8314-7BFAF651B430}" destId="{FBEFBF75-64EB-4F7E-A926-A4E66F89C7B0}" srcOrd="1" destOrd="0" presId="urn:microsoft.com/office/officeart/2008/layout/VerticalCurvedList"/>
    <dgm:cxn modelId="{8515289F-3C6F-44BC-A9D6-0F681AAB1565}" type="presParOf" srcId="{6755D732-F83B-4459-8314-7BFAF651B430}" destId="{173AB7EC-8BFC-42E7-8C32-A6569A06A0BE}" srcOrd="2" destOrd="0" presId="urn:microsoft.com/office/officeart/2008/layout/VerticalCurvedList"/>
    <dgm:cxn modelId="{977ED362-1B7D-4902-B81F-4D07E951619A}" type="presParOf" srcId="{6755D732-F83B-4459-8314-7BFAF651B430}" destId="{BFDD0280-CA4B-48C5-A027-9A0A8AD512AF}" srcOrd="3" destOrd="0" presId="urn:microsoft.com/office/officeart/2008/layout/VerticalCurvedList"/>
    <dgm:cxn modelId="{C09BC704-A8B5-48BA-9B6C-97F6BEFF2232}" type="presParOf" srcId="{24624BDD-CFC4-4DBC-B564-CB39527E8CB3}" destId="{903D4C07-2F7B-4768-B940-9EC734D124AC}" srcOrd="1" destOrd="0" presId="urn:microsoft.com/office/officeart/2008/layout/VerticalCurvedList"/>
    <dgm:cxn modelId="{79DADFE1-1ABC-454E-B58A-ED71E9AD03A8}" type="presParOf" srcId="{24624BDD-CFC4-4DBC-B564-CB39527E8CB3}" destId="{88DED3E1-FEA1-4672-AE97-A4E37130614E}" srcOrd="2" destOrd="0" presId="urn:microsoft.com/office/officeart/2008/layout/VerticalCurvedList"/>
    <dgm:cxn modelId="{306118C0-37F7-4D2C-8C64-3D2E8646F512}" type="presParOf" srcId="{88DED3E1-FEA1-4672-AE97-A4E37130614E}" destId="{666DCB58-F458-4F2E-B413-E6EC71986A16}" srcOrd="0" destOrd="0" presId="urn:microsoft.com/office/officeart/2008/layout/VerticalCurvedList"/>
    <dgm:cxn modelId="{B3AF2C3F-17D4-4B2B-A619-CC85E9B923F4}" type="presParOf" srcId="{24624BDD-CFC4-4DBC-B564-CB39527E8CB3}" destId="{A5EF71E6-87C1-4DA1-AFF7-D586E2B69EAC}" srcOrd="3" destOrd="0" presId="urn:microsoft.com/office/officeart/2008/layout/VerticalCurvedList"/>
    <dgm:cxn modelId="{14042423-2D22-4D71-AEA0-F9EA291C39B3}" type="presParOf" srcId="{24624BDD-CFC4-4DBC-B564-CB39527E8CB3}" destId="{4D7DA0B5-4BD6-473B-9D94-709A90D5813E}" srcOrd="4" destOrd="0" presId="urn:microsoft.com/office/officeart/2008/layout/VerticalCurvedList"/>
    <dgm:cxn modelId="{F1D44F73-D35A-45CB-AC98-BD4457C555B1}" type="presParOf" srcId="{4D7DA0B5-4BD6-473B-9D94-709A90D5813E}" destId="{03B14AF4-B5B8-4120-A94F-C42F3ACBD4C0}" srcOrd="0" destOrd="0" presId="urn:microsoft.com/office/officeart/2008/layout/VerticalCurvedList"/>
    <dgm:cxn modelId="{7D99780B-900E-41B9-8ADA-7457F7E6B72C}" type="presParOf" srcId="{24624BDD-CFC4-4DBC-B564-CB39527E8CB3}" destId="{F24AED53-8AE0-4CB9-A674-944D01F5AFA7}" srcOrd="5" destOrd="0" presId="urn:microsoft.com/office/officeart/2008/layout/VerticalCurvedList"/>
    <dgm:cxn modelId="{6F0D4F8A-D762-494C-9334-7BA8FE22D6C2}" type="presParOf" srcId="{24624BDD-CFC4-4DBC-B564-CB39527E8CB3}" destId="{CBA4C8A9-B062-4206-9D5F-771AF8547386}" srcOrd="6" destOrd="0" presId="urn:microsoft.com/office/officeart/2008/layout/VerticalCurvedList"/>
    <dgm:cxn modelId="{1E22DC35-9D61-4A29-B92B-1FB40C35FDD9}" type="presParOf" srcId="{CBA4C8A9-B062-4206-9D5F-771AF8547386}" destId="{7E79FFA8-5D9C-4C34-BC10-348E5B7963B1}" srcOrd="0" destOrd="0" presId="urn:microsoft.com/office/officeart/2008/layout/VerticalCurvedList"/>
    <dgm:cxn modelId="{76173AD1-E87C-41B4-88EC-F8BD95EF3413}" type="presParOf" srcId="{24624BDD-CFC4-4DBC-B564-CB39527E8CB3}" destId="{6217FA50-8478-467B-ACA9-B6E1B62BD4D6}" srcOrd="7" destOrd="0" presId="urn:microsoft.com/office/officeart/2008/layout/VerticalCurvedList"/>
    <dgm:cxn modelId="{89F9B745-228A-412A-AEE9-C6D289F3B085}" type="presParOf" srcId="{24624BDD-CFC4-4DBC-B564-CB39527E8CB3}" destId="{6E463F9C-C7C9-42A5-9C60-157BE3B22711}" srcOrd="8" destOrd="0" presId="urn:microsoft.com/office/officeart/2008/layout/VerticalCurvedList"/>
    <dgm:cxn modelId="{76A8424A-D066-4466-BA96-2C1D4662DBEB}" type="presParOf" srcId="{6E463F9C-C7C9-42A5-9C60-157BE3B22711}" destId="{6E402C4B-EDFD-42F0-AB38-9FE8CE6F595A}"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8C07B6-2451-4D6C-9629-8791FF24AAD3}" type="doc">
      <dgm:prSet loTypeId="urn:microsoft.com/office/officeart/2008/layout/VerticalCurvedList" loCatId="list" qsTypeId="urn:microsoft.com/office/officeart/2005/8/quickstyle/3d3" qsCatId="3D" csTypeId="urn:microsoft.com/office/officeart/2005/8/colors/colorful1" csCatId="colorful" phldr="1"/>
      <dgm:spPr/>
      <dgm:t>
        <a:bodyPr/>
        <a:lstStyle/>
        <a:p>
          <a:endParaRPr lang="en-US"/>
        </a:p>
      </dgm:t>
    </dgm:pt>
    <dgm:pt modelId="{792DA5A3-6A82-4742-91F3-40BB5B5B2C0E}">
      <dgm:prSet custT="1"/>
      <dgm:spPr/>
      <dgm:t>
        <a:bodyPr/>
        <a:lstStyle/>
        <a:p>
          <a:pPr rtl="0"/>
          <a:r>
            <a:rPr lang="en-US" sz="3200" b="1" dirty="0">
              <a:latin typeface="Times New Roman" panose="02020603050405020304" pitchFamily="18" charset="0"/>
              <a:cs typeface="Times New Roman" panose="02020603050405020304" pitchFamily="18" charset="0"/>
            </a:rPr>
            <a:t>3.1. Phạm vi </a:t>
          </a:r>
          <a:r>
            <a:rPr lang="en-US" sz="3200" b="1" dirty="0" err="1">
              <a:latin typeface="Times New Roman" panose="02020603050405020304" pitchFamily="18" charset="0"/>
              <a:cs typeface="Times New Roman" panose="02020603050405020304" pitchFamily="18" charset="0"/>
            </a:rPr>
            <a:t>thu</a:t>
          </a:r>
          <a:r>
            <a:rPr lang="en-US" sz="3200" b="1" dirty="0">
              <a:latin typeface="Times New Roman" panose="02020603050405020304" pitchFamily="18" charset="0"/>
              <a:cs typeface="Times New Roman" panose="02020603050405020304" pitchFamily="18" charset="0"/>
            </a:rPr>
            <a:t>, chi </a:t>
          </a:r>
          <a:r>
            <a:rPr lang="en-US" sz="3200" b="1" dirty="0" err="1">
              <a:latin typeface="Times New Roman" panose="02020603050405020304" pitchFamily="18" charset="0"/>
              <a:cs typeface="Times New Roman" panose="02020603050405020304" pitchFamily="18" charset="0"/>
            </a:rPr>
            <a:t>và</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đặc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điểm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ngân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sách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xã</a:t>
          </a:r>
          <a:endParaRPr lang="en-US" sz="3200" b="1" dirty="0">
            <a:latin typeface="Times New Roman" panose="02020603050405020304" pitchFamily="18" charset="0"/>
            <a:cs typeface="Times New Roman" panose="02020603050405020304" pitchFamily="18" charset="0"/>
          </a:endParaRPr>
        </a:p>
      </dgm:t>
    </dgm:pt>
    <dgm:pt modelId="{5F2147CC-BE4E-46A9-9B1B-C298902C2DD0}" type="parTrans" cxnId="{F24B02F3-7FA5-40E2-BD50-A284406546B7}">
      <dgm:prSet/>
      <dgm:spPr/>
      <dgm:t>
        <a:bodyPr/>
        <a:lstStyle/>
        <a:p>
          <a:endParaRPr lang="en-US"/>
        </a:p>
      </dgm:t>
    </dgm:pt>
    <dgm:pt modelId="{7894BB4F-5D6F-4C97-9953-BA046C48D141}" type="sibTrans" cxnId="{F24B02F3-7FA5-40E2-BD50-A284406546B7}">
      <dgm:prSet/>
      <dgm:spPr/>
      <dgm:t>
        <a:bodyPr/>
        <a:lstStyle/>
        <a:p>
          <a:endParaRPr lang="en-US"/>
        </a:p>
      </dgm:t>
    </dgm:pt>
    <dgm:pt modelId="{B722C70B-ED1D-4434-8C27-A18E327A1477}">
      <dgm:prSet custT="1"/>
      <dgm:spPr/>
      <dgm:t>
        <a:bodyPr/>
        <a:lstStyle/>
        <a:p>
          <a:pPr rtl="0"/>
          <a:r>
            <a:rPr lang="en-US" sz="3200" b="1" dirty="0">
              <a:latin typeface="Times New Roman" panose="02020603050405020304" pitchFamily="18" charset="0"/>
              <a:cs typeface="Times New Roman" panose="02020603050405020304" pitchFamily="18" charset="0"/>
            </a:rPr>
            <a:t>3.2. </a:t>
          </a:r>
          <a:r>
            <a:rPr lang="en-US" sz="3200" b="1" dirty="0" err="1">
              <a:latin typeface="Times New Roman" panose="02020603050405020304" pitchFamily="18" charset="0"/>
              <a:cs typeface="Times New Roman" panose="02020603050405020304" pitchFamily="18" charset="0"/>
            </a:rPr>
            <a:t>Khái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niệm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nguyên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tắc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quản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lý</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ngân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sách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xã</a:t>
          </a:r>
          <a:endParaRPr lang="en-US" sz="3200" b="1" dirty="0">
            <a:latin typeface="Times New Roman" panose="02020603050405020304" pitchFamily="18" charset="0"/>
            <a:cs typeface="Times New Roman" panose="02020603050405020304" pitchFamily="18" charset="0"/>
          </a:endParaRPr>
        </a:p>
      </dgm:t>
    </dgm:pt>
    <dgm:pt modelId="{5AF53FBE-6F89-40DF-8ABC-19865F0811D2}" type="parTrans" cxnId="{82FD3E0E-89ED-4F96-A76E-F0D0A1F3E9FB}">
      <dgm:prSet/>
      <dgm:spPr/>
      <dgm:t>
        <a:bodyPr/>
        <a:lstStyle/>
        <a:p>
          <a:endParaRPr lang="en-US"/>
        </a:p>
      </dgm:t>
    </dgm:pt>
    <dgm:pt modelId="{7F4A9CD1-CB98-455E-9F74-A6A22A7EB265}" type="sibTrans" cxnId="{82FD3E0E-89ED-4F96-A76E-F0D0A1F3E9FB}">
      <dgm:prSet/>
      <dgm:spPr/>
      <dgm:t>
        <a:bodyPr/>
        <a:lstStyle/>
        <a:p>
          <a:endParaRPr lang="en-US"/>
        </a:p>
      </dgm:t>
    </dgm:pt>
    <dgm:pt modelId="{953ADA59-D3E1-40A1-8D4F-9A765A34DAF7}">
      <dgm:prSet custT="1"/>
      <dgm:spPr/>
      <dgm:t>
        <a:bodyPr/>
        <a:lstStyle/>
        <a:p>
          <a:pPr rtl="0"/>
          <a:r>
            <a:rPr lang="en-US" sz="3200" b="1" dirty="0">
              <a:latin typeface="Times New Roman" panose="02020603050405020304" pitchFamily="18" charset="0"/>
              <a:cs typeface="Times New Roman" panose="02020603050405020304" pitchFamily="18" charset="0"/>
            </a:rPr>
            <a:t>3.3. Chu </a:t>
          </a:r>
          <a:r>
            <a:rPr lang="en-US" sz="3200" b="1" dirty="0" err="1">
              <a:latin typeface="Times New Roman" panose="02020603050405020304" pitchFamily="18" charset="0"/>
              <a:cs typeface="Times New Roman" panose="02020603050405020304" pitchFamily="18" charset="0"/>
            </a:rPr>
            <a:t>trình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quản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lý</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ngân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sách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xã</a:t>
          </a:r>
          <a:endParaRPr lang="en-US" sz="3200" b="1" dirty="0">
            <a:latin typeface="Times New Roman" panose="02020603050405020304" pitchFamily="18" charset="0"/>
            <a:cs typeface="Times New Roman" panose="02020603050405020304" pitchFamily="18" charset="0"/>
          </a:endParaRPr>
        </a:p>
      </dgm:t>
    </dgm:pt>
    <dgm:pt modelId="{3CA46FB3-6DD7-4AF9-90B0-25665D0BA84A}" type="parTrans" cxnId="{8AFC9255-09A1-4CBE-A6A4-02662B50AC0A}">
      <dgm:prSet/>
      <dgm:spPr/>
      <dgm:t>
        <a:bodyPr/>
        <a:lstStyle/>
        <a:p>
          <a:endParaRPr lang="en-US"/>
        </a:p>
      </dgm:t>
    </dgm:pt>
    <dgm:pt modelId="{8AC9B02A-2770-4CD3-AB0B-CF65885F17BF}" type="sibTrans" cxnId="{8AFC9255-09A1-4CBE-A6A4-02662B50AC0A}">
      <dgm:prSet/>
      <dgm:spPr/>
      <dgm:t>
        <a:bodyPr/>
        <a:lstStyle/>
        <a:p>
          <a:endParaRPr lang="en-US"/>
        </a:p>
      </dgm:t>
    </dgm:pt>
    <dgm:pt modelId="{2FD66D11-D4A9-4AF9-9814-3B1A70BF8713}">
      <dgm:prSet custT="1"/>
      <dgm:spPr/>
      <dgm:t>
        <a:bodyPr/>
        <a:lstStyle/>
        <a:p>
          <a:pPr rtl="0"/>
          <a:r>
            <a:rPr lang="en-US" sz="3200" b="1" dirty="0">
              <a:latin typeface="Times New Roman" panose="02020603050405020304" pitchFamily="18" charset="0"/>
              <a:cs typeface="Times New Roman" panose="02020603050405020304" pitchFamily="18" charset="0"/>
            </a:rPr>
            <a:t>3.4. </a:t>
          </a:r>
          <a:r>
            <a:rPr lang="en-US" sz="3200" b="1" dirty="0" err="1">
              <a:latin typeface="Times New Roman" panose="02020603050405020304" pitchFamily="18" charset="0"/>
              <a:cs typeface="Times New Roman" panose="02020603050405020304" pitchFamily="18" charset="0"/>
            </a:rPr>
            <a:t>Trách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nhiệm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quyền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hạn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các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cơ</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quan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liên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quan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trong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quản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lý</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ngân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sách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xã</a:t>
          </a:r>
          <a:endParaRPr lang="en-US" sz="3200" b="1" dirty="0">
            <a:latin typeface="Times New Roman" panose="02020603050405020304" pitchFamily="18" charset="0"/>
            <a:cs typeface="Times New Roman" panose="02020603050405020304" pitchFamily="18" charset="0"/>
          </a:endParaRPr>
        </a:p>
      </dgm:t>
    </dgm:pt>
    <dgm:pt modelId="{1DA4E948-1673-4AB0-9ADB-CCBD259F374D}" type="parTrans" cxnId="{C5220F29-079F-4D60-839B-844D29187AA5}">
      <dgm:prSet/>
      <dgm:spPr/>
      <dgm:t>
        <a:bodyPr/>
        <a:lstStyle/>
        <a:p>
          <a:endParaRPr lang="en-US"/>
        </a:p>
      </dgm:t>
    </dgm:pt>
    <dgm:pt modelId="{D9A9E89B-4428-4152-8AC4-45A620EAFC22}" type="sibTrans" cxnId="{C5220F29-079F-4D60-839B-844D29187AA5}">
      <dgm:prSet/>
      <dgm:spPr/>
      <dgm:t>
        <a:bodyPr/>
        <a:lstStyle/>
        <a:p>
          <a:endParaRPr lang="en-US"/>
        </a:p>
      </dgm:t>
    </dgm:pt>
    <dgm:pt modelId="{489BEF3D-90E3-45DD-89C3-AF664E0E5092}" type="pres">
      <dgm:prSet presAssocID="{EF8C07B6-2451-4D6C-9629-8791FF24AAD3}" presName="Name0" presStyleCnt="0">
        <dgm:presLayoutVars>
          <dgm:chMax val="7"/>
          <dgm:chPref val="7"/>
          <dgm:dir/>
        </dgm:presLayoutVars>
      </dgm:prSet>
      <dgm:spPr/>
    </dgm:pt>
    <dgm:pt modelId="{24624BDD-CFC4-4DBC-B564-CB39527E8CB3}" type="pres">
      <dgm:prSet presAssocID="{EF8C07B6-2451-4D6C-9629-8791FF24AAD3}" presName="Name1" presStyleCnt="0"/>
      <dgm:spPr/>
    </dgm:pt>
    <dgm:pt modelId="{6755D732-F83B-4459-8314-7BFAF651B430}" type="pres">
      <dgm:prSet presAssocID="{EF8C07B6-2451-4D6C-9629-8791FF24AAD3}" presName="cycle" presStyleCnt="0"/>
      <dgm:spPr/>
    </dgm:pt>
    <dgm:pt modelId="{D72F9A06-19AE-4322-8943-13F5A62FAA1B}" type="pres">
      <dgm:prSet presAssocID="{EF8C07B6-2451-4D6C-9629-8791FF24AAD3}" presName="srcNode" presStyleLbl="node1" presStyleIdx="0" presStyleCnt="4"/>
      <dgm:spPr/>
    </dgm:pt>
    <dgm:pt modelId="{FBEFBF75-64EB-4F7E-A926-A4E66F89C7B0}" type="pres">
      <dgm:prSet presAssocID="{EF8C07B6-2451-4D6C-9629-8791FF24AAD3}" presName="conn" presStyleLbl="parChTrans1D2" presStyleIdx="0" presStyleCnt="1"/>
      <dgm:spPr/>
    </dgm:pt>
    <dgm:pt modelId="{173AB7EC-8BFC-42E7-8C32-A6569A06A0BE}" type="pres">
      <dgm:prSet presAssocID="{EF8C07B6-2451-4D6C-9629-8791FF24AAD3}" presName="extraNode" presStyleLbl="node1" presStyleIdx="0" presStyleCnt="4"/>
      <dgm:spPr/>
    </dgm:pt>
    <dgm:pt modelId="{BFDD0280-CA4B-48C5-A027-9A0A8AD512AF}" type="pres">
      <dgm:prSet presAssocID="{EF8C07B6-2451-4D6C-9629-8791FF24AAD3}" presName="dstNode" presStyleLbl="node1" presStyleIdx="0" presStyleCnt="4"/>
      <dgm:spPr/>
    </dgm:pt>
    <dgm:pt modelId="{903D4C07-2F7B-4768-B940-9EC734D124AC}" type="pres">
      <dgm:prSet presAssocID="{792DA5A3-6A82-4742-91F3-40BB5B5B2C0E}" presName="text_1" presStyleLbl="node1" presStyleIdx="0" presStyleCnt="4">
        <dgm:presLayoutVars>
          <dgm:bulletEnabled val="1"/>
        </dgm:presLayoutVars>
      </dgm:prSet>
      <dgm:spPr/>
    </dgm:pt>
    <dgm:pt modelId="{88DED3E1-FEA1-4672-AE97-A4E37130614E}" type="pres">
      <dgm:prSet presAssocID="{792DA5A3-6A82-4742-91F3-40BB5B5B2C0E}" presName="accent_1" presStyleCnt="0"/>
      <dgm:spPr/>
    </dgm:pt>
    <dgm:pt modelId="{666DCB58-F458-4F2E-B413-E6EC71986A16}" type="pres">
      <dgm:prSet presAssocID="{792DA5A3-6A82-4742-91F3-40BB5B5B2C0E}" presName="accentRepeatNode" presStyleLbl="solidFgAcc1" presStyleIdx="0" presStyleCnt="4" custLinFactNeighborX="5596"/>
      <dgm:spPr/>
    </dgm:pt>
    <dgm:pt modelId="{A5EF71E6-87C1-4DA1-AFF7-D586E2B69EAC}" type="pres">
      <dgm:prSet presAssocID="{B722C70B-ED1D-4434-8C27-A18E327A1477}" presName="text_2" presStyleLbl="node1" presStyleIdx="1" presStyleCnt="4">
        <dgm:presLayoutVars>
          <dgm:bulletEnabled val="1"/>
        </dgm:presLayoutVars>
      </dgm:prSet>
      <dgm:spPr/>
    </dgm:pt>
    <dgm:pt modelId="{4D7DA0B5-4BD6-473B-9D94-709A90D5813E}" type="pres">
      <dgm:prSet presAssocID="{B722C70B-ED1D-4434-8C27-A18E327A1477}" presName="accent_2" presStyleCnt="0"/>
      <dgm:spPr/>
    </dgm:pt>
    <dgm:pt modelId="{03B14AF4-B5B8-4120-A94F-C42F3ACBD4C0}" type="pres">
      <dgm:prSet presAssocID="{B722C70B-ED1D-4434-8C27-A18E327A1477}" presName="accentRepeatNode" presStyleLbl="solidFgAcc1" presStyleIdx="1" presStyleCnt="4"/>
      <dgm:spPr/>
    </dgm:pt>
    <dgm:pt modelId="{F24AED53-8AE0-4CB9-A674-944D01F5AFA7}" type="pres">
      <dgm:prSet presAssocID="{953ADA59-D3E1-40A1-8D4F-9A765A34DAF7}" presName="text_3" presStyleLbl="node1" presStyleIdx="2" presStyleCnt="4">
        <dgm:presLayoutVars>
          <dgm:bulletEnabled val="1"/>
        </dgm:presLayoutVars>
      </dgm:prSet>
      <dgm:spPr/>
    </dgm:pt>
    <dgm:pt modelId="{CBA4C8A9-B062-4206-9D5F-771AF8547386}" type="pres">
      <dgm:prSet presAssocID="{953ADA59-D3E1-40A1-8D4F-9A765A34DAF7}" presName="accent_3" presStyleCnt="0"/>
      <dgm:spPr/>
    </dgm:pt>
    <dgm:pt modelId="{7E79FFA8-5D9C-4C34-BC10-348E5B7963B1}" type="pres">
      <dgm:prSet presAssocID="{953ADA59-D3E1-40A1-8D4F-9A765A34DAF7}" presName="accentRepeatNode" presStyleLbl="solidFgAcc1" presStyleIdx="2" presStyleCnt="4"/>
      <dgm:spPr/>
    </dgm:pt>
    <dgm:pt modelId="{6217FA50-8478-467B-ACA9-B6E1B62BD4D6}" type="pres">
      <dgm:prSet presAssocID="{2FD66D11-D4A9-4AF9-9814-3B1A70BF8713}" presName="text_4" presStyleLbl="node1" presStyleIdx="3" presStyleCnt="4" custScaleY="126380">
        <dgm:presLayoutVars>
          <dgm:bulletEnabled val="1"/>
        </dgm:presLayoutVars>
      </dgm:prSet>
      <dgm:spPr/>
    </dgm:pt>
    <dgm:pt modelId="{6E463F9C-C7C9-42A5-9C60-157BE3B22711}" type="pres">
      <dgm:prSet presAssocID="{2FD66D11-D4A9-4AF9-9814-3B1A70BF8713}" presName="accent_4" presStyleCnt="0"/>
      <dgm:spPr/>
    </dgm:pt>
    <dgm:pt modelId="{6E402C4B-EDFD-42F0-AB38-9FE8CE6F595A}" type="pres">
      <dgm:prSet presAssocID="{2FD66D11-D4A9-4AF9-9814-3B1A70BF8713}" presName="accentRepeatNode" presStyleLbl="solidFgAcc1" presStyleIdx="3" presStyleCnt="4"/>
      <dgm:spPr/>
    </dgm:pt>
  </dgm:ptLst>
  <dgm:cxnLst>
    <dgm:cxn modelId="{82FD3E0E-89ED-4F96-A76E-F0D0A1F3E9FB}" srcId="{EF8C07B6-2451-4D6C-9629-8791FF24AAD3}" destId="{B722C70B-ED1D-4434-8C27-A18E327A1477}" srcOrd="1" destOrd="0" parTransId="{5AF53FBE-6F89-40DF-8ABC-19865F0811D2}" sibTransId="{7F4A9CD1-CB98-455E-9F74-A6A22A7EB265}"/>
    <dgm:cxn modelId="{C5220F29-079F-4D60-839B-844D29187AA5}" srcId="{EF8C07B6-2451-4D6C-9629-8791FF24AAD3}" destId="{2FD66D11-D4A9-4AF9-9814-3B1A70BF8713}" srcOrd="3" destOrd="0" parTransId="{1DA4E948-1673-4AB0-9ADB-CCBD259F374D}" sibTransId="{D9A9E89B-4428-4152-8AC4-45A620EAFC22}"/>
    <dgm:cxn modelId="{57A2642E-7D51-4BFD-9D22-06A2214D0863}" type="presOf" srcId="{953ADA59-D3E1-40A1-8D4F-9A765A34DAF7}" destId="{F24AED53-8AE0-4CB9-A674-944D01F5AFA7}" srcOrd="0" destOrd="0" presId="urn:microsoft.com/office/officeart/2008/layout/VerticalCurvedList"/>
    <dgm:cxn modelId="{4B2E0F46-2820-42DB-ADE2-5C8AC73BAEB7}" type="presOf" srcId="{792DA5A3-6A82-4742-91F3-40BB5B5B2C0E}" destId="{903D4C07-2F7B-4768-B940-9EC734D124AC}" srcOrd="0" destOrd="0" presId="urn:microsoft.com/office/officeart/2008/layout/VerticalCurvedList"/>
    <dgm:cxn modelId="{10CC0C68-8D54-4858-9AEF-BC024304BE0F}" type="presOf" srcId="{B722C70B-ED1D-4434-8C27-A18E327A1477}" destId="{A5EF71E6-87C1-4DA1-AFF7-D586E2B69EAC}" srcOrd="0" destOrd="0" presId="urn:microsoft.com/office/officeart/2008/layout/VerticalCurvedList"/>
    <dgm:cxn modelId="{8AFC9255-09A1-4CBE-A6A4-02662B50AC0A}" srcId="{EF8C07B6-2451-4D6C-9629-8791FF24AAD3}" destId="{953ADA59-D3E1-40A1-8D4F-9A765A34DAF7}" srcOrd="2" destOrd="0" parTransId="{3CA46FB3-6DD7-4AF9-90B0-25665D0BA84A}" sibTransId="{8AC9B02A-2770-4CD3-AB0B-CF65885F17BF}"/>
    <dgm:cxn modelId="{C4D74F7D-9691-4E29-B2B5-ACBB4DFB61B5}" type="presOf" srcId="{EF8C07B6-2451-4D6C-9629-8791FF24AAD3}" destId="{489BEF3D-90E3-45DD-89C3-AF664E0E5092}" srcOrd="0" destOrd="0" presId="urn:microsoft.com/office/officeart/2008/layout/VerticalCurvedList"/>
    <dgm:cxn modelId="{035338A8-4D56-42BE-9811-6E7E08888E57}" type="presOf" srcId="{2FD66D11-D4A9-4AF9-9814-3B1A70BF8713}" destId="{6217FA50-8478-467B-ACA9-B6E1B62BD4D6}" srcOrd="0" destOrd="0" presId="urn:microsoft.com/office/officeart/2008/layout/VerticalCurvedList"/>
    <dgm:cxn modelId="{2B7C5DB2-9D29-4820-A252-ACE8193F4838}" type="presOf" srcId="{7894BB4F-5D6F-4C97-9953-BA046C48D141}" destId="{FBEFBF75-64EB-4F7E-A926-A4E66F89C7B0}" srcOrd="0" destOrd="0" presId="urn:microsoft.com/office/officeart/2008/layout/VerticalCurvedList"/>
    <dgm:cxn modelId="{F24B02F3-7FA5-40E2-BD50-A284406546B7}" srcId="{EF8C07B6-2451-4D6C-9629-8791FF24AAD3}" destId="{792DA5A3-6A82-4742-91F3-40BB5B5B2C0E}" srcOrd="0" destOrd="0" parTransId="{5F2147CC-BE4E-46A9-9B1B-C298902C2DD0}" sibTransId="{7894BB4F-5D6F-4C97-9953-BA046C48D141}"/>
    <dgm:cxn modelId="{FD4A724E-3AD6-49B1-B2A7-BAEE683AC3DB}" type="presParOf" srcId="{489BEF3D-90E3-45DD-89C3-AF664E0E5092}" destId="{24624BDD-CFC4-4DBC-B564-CB39527E8CB3}" srcOrd="0" destOrd="0" presId="urn:microsoft.com/office/officeart/2008/layout/VerticalCurvedList"/>
    <dgm:cxn modelId="{8AD4A9CE-4928-4273-ACFB-9571A35E7FDC}" type="presParOf" srcId="{24624BDD-CFC4-4DBC-B564-CB39527E8CB3}" destId="{6755D732-F83B-4459-8314-7BFAF651B430}" srcOrd="0" destOrd="0" presId="urn:microsoft.com/office/officeart/2008/layout/VerticalCurvedList"/>
    <dgm:cxn modelId="{C29FC153-B511-4EFB-B5F3-27DB3036BF54}" type="presParOf" srcId="{6755D732-F83B-4459-8314-7BFAF651B430}" destId="{D72F9A06-19AE-4322-8943-13F5A62FAA1B}" srcOrd="0" destOrd="0" presId="urn:microsoft.com/office/officeart/2008/layout/VerticalCurvedList"/>
    <dgm:cxn modelId="{99CEED9E-2EC1-47E8-9056-D945B77B2EED}" type="presParOf" srcId="{6755D732-F83B-4459-8314-7BFAF651B430}" destId="{FBEFBF75-64EB-4F7E-A926-A4E66F89C7B0}" srcOrd="1" destOrd="0" presId="urn:microsoft.com/office/officeart/2008/layout/VerticalCurvedList"/>
    <dgm:cxn modelId="{8515289F-3C6F-44BC-A9D6-0F681AAB1565}" type="presParOf" srcId="{6755D732-F83B-4459-8314-7BFAF651B430}" destId="{173AB7EC-8BFC-42E7-8C32-A6569A06A0BE}" srcOrd="2" destOrd="0" presId="urn:microsoft.com/office/officeart/2008/layout/VerticalCurvedList"/>
    <dgm:cxn modelId="{977ED362-1B7D-4902-B81F-4D07E951619A}" type="presParOf" srcId="{6755D732-F83B-4459-8314-7BFAF651B430}" destId="{BFDD0280-CA4B-48C5-A027-9A0A8AD512AF}" srcOrd="3" destOrd="0" presId="urn:microsoft.com/office/officeart/2008/layout/VerticalCurvedList"/>
    <dgm:cxn modelId="{C09BC704-A8B5-48BA-9B6C-97F6BEFF2232}" type="presParOf" srcId="{24624BDD-CFC4-4DBC-B564-CB39527E8CB3}" destId="{903D4C07-2F7B-4768-B940-9EC734D124AC}" srcOrd="1" destOrd="0" presId="urn:microsoft.com/office/officeart/2008/layout/VerticalCurvedList"/>
    <dgm:cxn modelId="{79DADFE1-1ABC-454E-B58A-ED71E9AD03A8}" type="presParOf" srcId="{24624BDD-CFC4-4DBC-B564-CB39527E8CB3}" destId="{88DED3E1-FEA1-4672-AE97-A4E37130614E}" srcOrd="2" destOrd="0" presId="urn:microsoft.com/office/officeart/2008/layout/VerticalCurvedList"/>
    <dgm:cxn modelId="{306118C0-37F7-4D2C-8C64-3D2E8646F512}" type="presParOf" srcId="{88DED3E1-FEA1-4672-AE97-A4E37130614E}" destId="{666DCB58-F458-4F2E-B413-E6EC71986A16}" srcOrd="0" destOrd="0" presId="urn:microsoft.com/office/officeart/2008/layout/VerticalCurvedList"/>
    <dgm:cxn modelId="{B3AF2C3F-17D4-4B2B-A619-CC85E9B923F4}" type="presParOf" srcId="{24624BDD-CFC4-4DBC-B564-CB39527E8CB3}" destId="{A5EF71E6-87C1-4DA1-AFF7-D586E2B69EAC}" srcOrd="3" destOrd="0" presId="urn:microsoft.com/office/officeart/2008/layout/VerticalCurvedList"/>
    <dgm:cxn modelId="{14042423-2D22-4D71-AEA0-F9EA291C39B3}" type="presParOf" srcId="{24624BDD-CFC4-4DBC-B564-CB39527E8CB3}" destId="{4D7DA0B5-4BD6-473B-9D94-709A90D5813E}" srcOrd="4" destOrd="0" presId="urn:microsoft.com/office/officeart/2008/layout/VerticalCurvedList"/>
    <dgm:cxn modelId="{F1D44F73-D35A-45CB-AC98-BD4457C555B1}" type="presParOf" srcId="{4D7DA0B5-4BD6-473B-9D94-709A90D5813E}" destId="{03B14AF4-B5B8-4120-A94F-C42F3ACBD4C0}" srcOrd="0" destOrd="0" presId="urn:microsoft.com/office/officeart/2008/layout/VerticalCurvedList"/>
    <dgm:cxn modelId="{7D99780B-900E-41B9-8ADA-7457F7E6B72C}" type="presParOf" srcId="{24624BDD-CFC4-4DBC-B564-CB39527E8CB3}" destId="{F24AED53-8AE0-4CB9-A674-944D01F5AFA7}" srcOrd="5" destOrd="0" presId="urn:microsoft.com/office/officeart/2008/layout/VerticalCurvedList"/>
    <dgm:cxn modelId="{6F0D4F8A-D762-494C-9334-7BA8FE22D6C2}" type="presParOf" srcId="{24624BDD-CFC4-4DBC-B564-CB39527E8CB3}" destId="{CBA4C8A9-B062-4206-9D5F-771AF8547386}" srcOrd="6" destOrd="0" presId="urn:microsoft.com/office/officeart/2008/layout/VerticalCurvedList"/>
    <dgm:cxn modelId="{1E22DC35-9D61-4A29-B92B-1FB40C35FDD9}" type="presParOf" srcId="{CBA4C8A9-B062-4206-9D5F-771AF8547386}" destId="{7E79FFA8-5D9C-4C34-BC10-348E5B7963B1}" srcOrd="0" destOrd="0" presId="urn:microsoft.com/office/officeart/2008/layout/VerticalCurvedList"/>
    <dgm:cxn modelId="{76173AD1-E87C-41B4-88EC-F8BD95EF3413}" type="presParOf" srcId="{24624BDD-CFC4-4DBC-B564-CB39527E8CB3}" destId="{6217FA50-8478-467B-ACA9-B6E1B62BD4D6}" srcOrd="7" destOrd="0" presId="urn:microsoft.com/office/officeart/2008/layout/VerticalCurvedList"/>
    <dgm:cxn modelId="{89F9B745-228A-412A-AEE9-C6D289F3B085}" type="presParOf" srcId="{24624BDD-CFC4-4DBC-B564-CB39527E8CB3}" destId="{6E463F9C-C7C9-42A5-9C60-157BE3B22711}" srcOrd="8" destOrd="0" presId="urn:microsoft.com/office/officeart/2008/layout/VerticalCurvedList"/>
    <dgm:cxn modelId="{76A8424A-D066-4466-BA96-2C1D4662DBEB}" type="presParOf" srcId="{6E463F9C-C7C9-42A5-9C60-157BE3B22711}" destId="{6E402C4B-EDFD-42F0-AB38-9FE8CE6F595A}"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D8B486-9AF6-447A-B481-CD9D34CDA034}"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EA8E1DFA-DDDE-443F-99CB-69431BA60D05}">
      <dgm:prSet custT="1"/>
      <dgm:spPr/>
      <dgm:t>
        <a:bodyPr/>
        <a:lstStyle/>
        <a:p>
          <a:r>
            <a:rPr lang="vi-VN" sz="3200" b="1" dirty="0">
              <a:solidFill>
                <a:schemeClr val="tx1"/>
              </a:solidFill>
              <a:latin typeface="+mj-lt"/>
            </a:rPr>
            <a:t>Căn cứ lập dự toán</a:t>
          </a:r>
          <a:endParaRPr lang="en-US" sz="3200" b="1" dirty="0">
            <a:solidFill>
              <a:schemeClr val="tx1"/>
            </a:solidFill>
            <a:latin typeface="+mj-lt"/>
          </a:endParaRPr>
        </a:p>
      </dgm:t>
    </dgm:pt>
    <dgm:pt modelId="{47DDDEEE-21C6-4AB0-92A6-BE0C51240F8A}" type="parTrans" cxnId="{580409B7-D20A-4174-8689-84C1D8ADCECB}">
      <dgm:prSet/>
      <dgm:spPr/>
      <dgm:t>
        <a:bodyPr/>
        <a:lstStyle/>
        <a:p>
          <a:endParaRPr lang="en-US"/>
        </a:p>
      </dgm:t>
    </dgm:pt>
    <dgm:pt modelId="{D1B8FE40-73CE-4B62-982E-6440A22D71A8}" type="sibTrans" cxnId="{580409B7-D20A-4174-8689-84C1D8ADCECB}">
      <dgm:prSet/>
      <dgm:spPr/>
      <dgm:t>
        <a:bodyPr/>
        <a:lstStyle/>
        <a:p>
          <a:endParaRPr lang="en-US"/>
        </a:p>
      </dgm:t>
    </dgm:pt>
    <dgm:pt modelId="{FCA15F28-E905-4D35-89F0-7C40881F740D}">
      <dgm:prSet custT="1"/>
      <dgm:spPr/>
      <dgm:t>
        <a:bodyPr/>
        <a:lstStyle/>
        <a:p>
          <a:r>
            <a:rPr lang="vi-VN" sz="3200" b="1" dirty="0">
              <a:solidFill>
                <a:schemeClr val="tx1"/>
              </a:solidFill>
              <a:latin typeface="+mj-lt"/>
            </a:rPr>
            <a:t>Yêu cầu lập dự toán</a:t>
          </a:r>
          <a:endParaRPr lang="en-US" sz="3200" b="1" dirty="0">
            <a:solidFill>
              <a:schemeClr val="tx1"/>
            </a:solidFill>
            <a:latin typeface="+mj-lt"/>
          </a:endParaRPr>
        </a:p>
      </dgm:t>
    </dgm:pt>
    <dgm:pt modelId="{E946A7FC-7FA4-4BB2-8A0B-88FAEB4AFB55}" type="parTrans" cxnId="{546D85A4-6456-4D1F-885A-1696A660ED54}">
      <dgm:prSet/>
      <dgm:spPr/>
      <dgm:t>
        <a:bodyPr/>
        <a:lstStyle/>
        <a:p>
          <a:endParaRPr lang="en-US"/>
        </a:p>
      </dgm:t>
    </dgm:pt>
    <dgm:pt modelId="{6B74FA26-0A00-4D56-9897-457130655466}" type="sibTrans" cxnId="{546D85A4-6456-4D1F-885A-1696A660ED54}">
      <dgm:prSet/>
      <dgm:spPr/>
      <dgm:t>
        <a:bodyPr/>
        <a:lstStyle/>
        <a:p>
          <a:endParaRPr lang="en-US"/>
        </a:p>
      </dgm:t>
    </dgm:pt>
    <dgm:pt modelId="{D9A7A830-1D25-45E3-B75D-08F6928797E5}">
      <dgm:prSet custT="1"/>
      <dgm:spPr/>
      <dgm:t>
        <a:bodyPr/>
        <a:lstStyle/>
        <a:p>
          <a:r>
            <a:rPr lang="vi-VN" sz="3200" b="1" dirty="0">
              <a:solidFill>
                <a:schemeClr val="tx1"/>
              </a:solidFill>
              <a:latin typeface="+mj-lt"/>
            </a:rPr>
            <a:t>Trình tự lập dự toán</a:t>
          </a:r>
          <a:endParaRPr lang="en-US" sz="3200" b="1" dirty="0">
            <a:solidFill>
              <a:schemeClr val="tx1"/>
            </a:solidFill>
            <a:latin typeface="+mj-lt"/>
          </a:endParaRPr>
        </a:p>
      </dgm:t>
    </dgm:pt>
    <dgm:pt modelId="{255AFFED-B4EE-40AE-806A-58594C8BD438}" type="parTrans" cxnId="{A7574F0D-2222-47FF-BC99-610272E63811}">
      <dgm:prSet/>
      <dgm:spPr/>
      <dgm:t>
        <a:bodyPr/>
        <a:lstStyle/>
        <a:p>
          <a:endParaRPr lang="en-US"/>
        </a:p>
      </dgm:t>
    </dgm:pt>
    <dgm:pt modelId="{8997485A-F21C-45F1-8B0F-C37F9D03F477}" type="sibTrans" cxnId="{A7574F0D-2222-47FF-BC99-610272E63811}">
      <dgm:prSet/>
      <dgm:spPr/>
      <dgm:t>
        <a:bodyPr/>
        <a:lstStyle/>
        <a:p>
          <a:endParaRPr lang="en-US"/>
        </a:p>
      </dgm:t>
    </dgm:pt>
    <dgm:pt modelId="{FD51EF04-5764-47F3-9157-C3D679174A53}">
      <dgm:prSet custT="1"/>
      <dgm:spPr/>
      <dgm:t>
        <a:bodyPr/>
        <a:lstStyle/>
        <a:p>
          <a:r>
            <a:rPr lang="vi-VN" sz="3200" b="1" dirty="0">
              <a:solidFill>
                <a:schemeClr val="tx1"/>
              </a:solidFill>
              <a:latin typeface="+mj-lt"/>
            </a:rPr>
            <a:t>Công khai dự toán</a:t>
          </a:r>
          <a:endParaRPr lang="en-US" sz="3200" b="1" dirty="0">
            <a:solidFill>
              <a:schemeClr val="tx1"/>
            </a:solidFill>
            <a:latin typeface="+mj-lt"/>
          </a:endParaRPr>
        </a:p>
      </dgm:t>
    </dgm:pt>
    <dgm:pt modelId="{C447556A-37D1-4B50-A1E5-5C32480F3F85}" type="parTrans" cxnId="{BCA52C84-FDB9-4FC4-8B51-988068A6E12F}">
      <dgm:prSet/>
      <dgm:spPr/>
      <dgm:t>
        <a:bodyPr/>
        <a:lstStyle/>
        <a:p>
          <a:endParaRPr lang="en-US"/>
        </a:p>
      </dgm:t>
    </dgm:pt>
    <dgm:pt modelId="{FC5E6598-D600-400C-9742-E3FA6175E4F6}" type="sibTrans" cxnId="{BCA52C84-FDB9-4FC4-8B51-988068A6E12F}">
      <dgm:prSet/>
      <dgm:spPr/>
      <dgm:t>
        <a:bodyPr/>
        <a:lstStyle/>
        <a:p>
          <a:endParaRPr lang="en-US"/>
        </a:p>
      </dgm:t>
    </dgm:pt>
    <dgm:pt modelId="{84056C22-1C8F-4B78-8369-5E55E71D9E13}" type="pres">
      <dgm:prSet presAssocID="{52D8B486-9AF6-447A-B481-CD9D34CDA034}" presName="linear" presStyleCnt="0">
        <dgm:presLayoutVars>
          <dgm:dir/>
          <dgm:animLvl val="lvl"/>
          <dgm:resizeHandles val="exact"/>
        </dgm:presLayoutVars>
      </dgm:prSet>
      <dgm:spPr/>
    </dgm:pt>
    <dgm:pt modelId="{A284C16A-F149-4D20-9F82-6EDBE5BD8132}" type="pres">
      <dgm:prSet presAssocID="{EA8E1DFA-DDDE-443F-99CB-69431BA60D05}" presName="parentLin" presStyleCnt="0"/>
      <dgm:spPr/>
    </dgm:pt>
    <dgm:pt modelId="{5CEA7413-DAE5-47E2-A620-DAD49C788BD8}" type="pres">
      <dgm:prSet presAssocID="{EA8E1DFA-DDDE-443F-99CB-69431BA60D05}" presName="parentLeftMargin" presStyleLbl="node1" presStyleIdx="0" presStyleCnt="4"/>
      <dgm:spPr/>
    </dgm:pt>
    <dgm:pt modelId="{65042512-3D74-45F5-A966-09A6813012C6}" type="pres">
      <dgm:prSet presAssocID="{EA8E1DFA-DDDE-443F-99CB-69431BA60D05}" presName="parentText" presStyleLbl="node1" presStyleIdx="0" presStyleCnt="4">
        <dgm:presLayoutVars>
          <dgm:chMax val="0"/>
          <dgm:bulletEnabled val="1"/>
        </dgm:presLayoutVars>
      </dgm:prSet>
      <dgm:spPr/>
    </dgm:pt>
    <dgm:pt modelId="{C911133B-E0D0-44D1-9947-8E605F378780}" type="pres">
      <dgm:prSet presAssocID="{EA8E1DFA-DDDE-443F-99CB-69431BA60D05}" presName="negativeSpace" presStyleCnt="0"/>
      <dgm:spPr/>
    </dgm:pt>
    <dgm:pt modelId="{12B6CB8E-47F7-46A3-BF4D-78C107E76838}" type="pres">
      <dgm:prSet presAssocID="{EA8E1DFA-DDDE-443F-99CB-69431BA60D05}" presName="childText" presStyleLbl="conFgAcc1" presStyleIdx="0" presStyleCnt="4">
        <dgm:presLayoutVars>
          <dgm:bulletEnabled val="1"/>
        </dgm:presLayoutVars>
      </dgm:prSet>
      <dgm:spPr/>
    </dgm:pt>
    <dgm:pt modelId="{B71D121A-AF0B-4A2B-9E9E-409593B0EF16}" type="pres">
      <dgm:prSet presAssocID="{D1B8FE40-73CE-4B62-982E-6440A22D71A8}" presName="spaceBetweenRectangles" presStyleCnt="0"/>
      <dgm:spPr/>
    </dgm:pt>
    <dgm:pt modelId="{476DC09F-5D54-408A-B684-13600B8CF4B5}" type="pres">
      <dgm:prSet presAssocID="{FCA15F28-E905-4D35-89F0-7C40881F740D}" presName="parentLin" presStyleCnt="0"/>
      <dgm:spPr/>
    </dgm:pt>
    <dgm:pt modelId="{DAED5A19-9994-48B5-8B95-CB0FF3563A35}" type="pres">
      <dgm:prSet presAssocID="{FCA15F28-E905-4D35-89F0-7C40881F740D}" presName="parentLeftMargin" presStyleLbl="node1" presStyleIdx="0" presStyleCnt="4"/>
      <dgm:spPr/>
    </dgm:pt>
    <dgm:pt modelId="{A770C11E-DC3C-461E-B0A7-C64E2C233F8D}" type="pres">
      <dgm:prSet presAssocID="{FCA15F28-E905-4D35-89F0-7C40881F740D}" presName="parentText" presStyleLbl="node1" presStyleIdx="1" presStyleCnt="4">
        <dgm:presLayoutVars>
          <dgm:chMax val="0"/>
          <dgm:bulletEnabled val="1"/>
        </dgm:presLayoutVars>
      </dgm:prSet>
      <dgm:spPr/>
    </dgm:pt>
    <dgm:pt modelId="{1169FB9A-A01A-4FD9-BC86-B4932A2E6D9B}" type="pres">
      <dgm:prSet presAssocID="{FCA15F28-E905-4D35-89F0-7C40881F740D}" presName="negativeSpace" presStyleCnt="0"/>
      <dgm:spPr/>
    </dgm:pt>
    <dgm:pt modelId="{5B2031C5-30FE-4815-87D9-174DECC64C21}" type="pres">
      <dgm:prSet presAssocID="{FCA15F28-E905-4D35-89F0-7C40881F740D}" presName="childText" presStyleLbl="conFgAcc1" presStyleIdx="1" presStyleCnt="4">
        <dgm:presLayoutVars>
          <dgm:bulletEnabled val="1"/>
        </dgm:presLayoutVars>
      </dgm:prSet>
      <dgm:spPr/>
    </dgm:pt>
    <dgm:pt modelId="{53ADCCFF-EDBF-4C50-B418-4B6B6154B088}" type="pres">
      <dgm:prSet presAssocID="{6B74FA26-0A00-4D56-9897-457130655466}" presName="spaceBetweenRectangles" presStyleCnt="0"/>
      <dgm:spPr/>
    </dgm:pt>
    <dgm:pt modelId="{F8FEBDA5-A647-439D-AFA7-6784E301B5FB}" type="pres">
      <dgm:prSet presAssocID="{D9A7A830-1D25-45E3-B75D-08F6928797E5}" presName="parentLin" presStyleCnt="0"/>
      <dgm:spPr/>
    </dgm:pt>
    <dgm:pt modelId="{BCD4C53C-7F36-4359-BE30-0AF09E3CC2DC}" type="pres">
      <dgm:prSet presAssocID="{D9A7A830-1D25-45E3-B75D-08F6928797E5}" presName="parentLeftMargin" presStyleLbl="node1" presStyleIdx="1" presStyleCnt="4"/>
      <dgm:spPr/>
    </dgm:pt>
    <dgm:pt modelId="{BD0F7E4C-229A-471E-BF54-0C9877728746}" type="pres">
      <dgm:prSet presAssocID="{D9A7A830-1D25-45E3-B75D-08F6928797E5}" presName="parentText" presStyleLbl="node1" presStyleIdx="2" presStyleCnt="4">
        <dgm:presLayoutVars>
          <dgm:chMax val="0"/>
          <dgm:bulletEnabled val="1"/>
        </dgm:presLayoutVars>
      </dgm:prSet>
      <dgm:spPr/>
    </dgm:pt>
    <dgm:pt modelId="{CD3B4C67-0F7B-49EE-A250-4E212F2968CA}" type="pres">
      <dgm:prSet presAssocID="{D9A7A830-1D25-45E3-B75D-08F6928797E5}" presName="negativeSpace" presStyleCnt="0"/>
      <dgm:spPr/>
    </dgm:pt>
    <dgm:pt modelId="{963CC4D4-8832-42C7-B542-BDC447BC3BB1}" type="pres">
      <dgm:prSet presAssocID="{D9A7A830-1D25-45E3-B75D-08F6928797E5}" presName="childText" presStyleLbl="conFgAcc1" presStyleIdx="2" presStyleCnt="4">
        <dgm:presLayoutVars>
          <dgm:bulletEnabled val="1"/>
        </dgm:presLayoutVars>
      </dgm:prSet>
      <dgm:spPr/>
    </dgm:pt>
    <dgm:pt modelId="{C4EB32D3-D95C-4809-A329-96B046A75BCE}" type="pres">
      <dgm:prSet presAssocID="{8997485A-F21C-45F1-8B0F-C37F9D03F477}" presName="spaceBetweenRectangles" presStyleCnt="0"/>
      <dgm:spPr/>
    </dgm:pt>
    <dgm:pt modelId="{FADFE37E-23F3-444F-B59A-7F2E52473332}" type="pres">
      <dgm:prSet presAssocID="{FD51EF04-5764-47F3-9157-C3D679174A53}" presName="parentLin" presStyleCnt="0"/>
      <dgm:spPr/>
    </dgm:pt>
    <dgm:pt modelId="{EE5EC474-118F-4C75-BA75-840C472D866A}" type="pres">
      <dgm:prSet presAssocID="{FD51EF04-5764-47F3-9157-C3D679174A53}" presName="parentLeftMargin" presStyleLbl="node1" presStyleIdx="2" presStyleCnt="4"/>
      <dgm:spPr/>
    </dgm:pt>
    <dgm:pt modelId="{BB2D3384-1450-4001-9A1E-40675559BA1F}" type="pres">
      <dgm:prSet presAssocID="{FD51EF04-5764-47F3-9157-C3D679174A53}" presName="parentText" presStyleLbl="node1" presStyleIdx="3" presStyleCnt="4">
        <dgm:presLayoutVars>
          <dgm:chMax val="0"/>
          <dgm:bulletEnabled val="1"/>
        </dgm:presLayoutVars>
      </dgm:prSet>
      <dgm:spPr/>
    </dgm:pt>
    <dgm:pt modelId="{1334728C-E5DA-4379-9CC6-A03844D9BCDD}" type="pres">
      <dgm:prSet presAssocID="{FD51EF04-5764-47F3-9157-C3D679174A53}" presName="negativeSpace" presStyleCnt="0"/>
      <dgm:spPr/>
    </dgm:pt>
    <dgm:pt modelId="{9FE2C92F-76AE-4781-B0FE-1C7FA378A75B}" type="pres">
      <dgm:prSet presAssocID="{FD51EF04-5764-47F3-9157-C3D679174A53}" presName="childText" presStyleLbl="conFgAcc1" presStyleIdx="3" presStyleCnt="4">
        <dgm:presLayoutVars>
          <dgm:bulletEnabled val="1"/>
        </dgm:presLayoutVars>
      </dgm:prSet>
      <dgm:spPr/>
    </dgm:pt>
  </dgm:ptLst>
  <dgm:cxnLst>
    <dgm:cxn modelId="{088BD400-04E3-4D62-B1CC-F8EBAC2EA77F}" type="presOf" srcId="{EA8E1DFA-DDDE-443F-99CB-69431BA60D05}" destId="{65042512-3D74-45F5-A966-09A6813012C6}" srcOrd="1" destOrd="0" presId="urn:microsoft.com/office/officeart/2005/8/layout/list1"/>
    <dgm:cxn modelId="{4E370B02-2279-4FFD-B029-B230AE1BDA30}" type="presOf" srcId="{FCA15F28-E905-4D35-89F0-7C40881F740D}" destId="{DAED5A19-9994-48B5-8B95-CB0FF3563A35}" srcOrd="0" destOrd="0" presId="urn:microsoft.com/office/officeart/2005/8/layout/list1"/>
    <dgm:cxn modelId="{A7574F0D-2222-47FF-BC99-610272E63811}" srcId="{52D8B486-9AF6-447A-B481-CD9D34CDA034}" destId="{D9A7A830-1D25-45E3-B75D-08F6928797E5}" srcOrd="2" destOrd="0" parTransId="{255AFFED-B4EE-40AE-806A-58594C8BD438}" sibTransId="{8997485A-F21C-45F1-8B0F-C37F9D03F477}"/>
    <dgm:cxn modelId="{2ACF8F14-0634-44F8-B2F8-D351DF4916C1}" type="presOf" srcId="{FD51EF04-5764-47F3-9157-C3D679174A53}" destId="{BB2D3384-1450-4001-9A1E-40675559BA1F}" srcOrd="1" destOrd="0" presId="urn:microsoft.com/office/officeart/2005/8/layout/list1"/>
    <dgm:cxn modelId="{C24C2A19-F433-439D-A844-E508EA926A98}" type="presOf" srcId="{FCA15F28-E905-4D35-89F0-7C40881F740D}" destId="{A770C11E-DC3C-461E-B0A7-C64E2C233F8D}" srcOrd="1" destOrd="0" presId="urn:microsoft.com/office/officeart/2005/8/layout/list1"/>
    <dgm:cxn modelId="{5D456867-E295-4867-9838-0F6564A195EF}" type="presOf" srcId="{D9A7A830-1D25-45E3-B75D-08F6928797E5}" destId="{BCD4C53C-7F36-4359-BE30-0AF09E3CC2DC}" srcOrd="0" destOrd="0" presId="urn:microsoft.com/office/officeart/2005/8/layout/list1"/>
    <dgm:cxn modelId="{8A78257B-338C-43DB-B4A1-63F4532AA012}" type="presOf" srcId="{D9A7A830-1D25-45E3-B75D-08F6928797E5}" destId="{BD0F7E4C-229A-471E-BF54-0C9877728746}" srcOrd="1" destOrd="0" presId="urn:microsoft.com/office/officeart/2005/8/layout/list1"/>
    <dgm:cxn modelId="{BCA52C84-FDB9-4FC4-8B51-988068A6E12F}" srcId="{52D8B486-9AF6-447A-B481-CD9D34CDA034}" destId="{FD51EF04-5764-47F3-9157-C3D679174A53}" srcOrd="3" destOrd="0" parTransId="{C447556A-37D1-4B50-A1E5-5C32480F3F85}" sibTransId="{FC5E6598-D600-400C-9742-E3FA6175E4F6}"/>
    <dgm:cxn modelId="{546D85A4-6456-4D1F-885A-1696A660ED54}" srcId="{52D8B486-9AF6-447A-B481-CD9D34CDA034}" destId="{FCA15F28-E905-4D35-89F0-7C40881F740D}" srcOrd="1" destOrd="0" parTransId="{E946A7FC-7FA4-4BB2-8A0B-88FAEB4AFB55}" sibTransId="{6B74FA26-0A00-4D56-9897-457130655466}"/>
    <dgm:cxn modelId="{1EDA0CAA-0DFB-43CF-A527-FD015288DEEE}" type="presOf" srcId="{FD51EF04-5764-47F3-9157-C3D679174A53}" destId="{EE5EC474-118F-4C75-BA75-840C472D866A}" srcOrd="0" destOrd="0" presId="urn:microsoft.com/office/officeart/2005/8/layout/list1"/>
    <dgm:cxn modelId="{227BD6B3-BDE6-49FE-94DA-18AB2C0DFA29}" type="presOf" srcId="{52D8B486-9AF6-447A-B481-CD9D34CDA034}" destId="{84056C22-1C8F-4B78-8369-5E55E71D9E13}" srcOrd="0" destOrd="0" presId="urn:microsoft.com/office/officeart/2005/8/layout/list1"/>
    <dgm:cxn modelId="{580409B7-D20A-4174-8689-84C1D8ADCECB}" srcId="{52D8B486-9AF6-447A-B481-CD9D34CDA034}" destId="{EA8E1DFA-DDDE-443F-99CB-69431BA60D05}" srcOrd="0" destOrd="0" parTransId="{47DDDEEE-21C6-4AB0-92A6-BE0C51240F8A}" sibTransId="{D1B8FE40-73CE-4B62-982E-6440A22D71A8}"/>
    <dgm:cxn modelId="{B6CDF2E3-8546-4E4F-98FD-746974833C65}" type="presOf" srcId="{EA8E1DFA-DDDE-443F-99CB-69431BA60D05}" destId="{5CEA7413-DAE5-47E2-A620-DAD49C788BD8}" srcOrd="0" destOrd="0" presId="urn:microsoft.com/office/officeart/2005/8/layout/list1"/>
    <dgm:cxn modelId="{BE4BF824-4908-4C2E-B3F1-3028B426410D}" type="presParOf" srcId="{84056C22-1C8F-4B78-8369-5E55E71D9E13}" destId="{A284C16A-F149-4D20-9F82-6EDBE5BD8132}" srcOrd="0" destOrd="0" presId="urn:microsoft.com/office/officeart/2005/8/layout/list1"/>
    <dgm:cxn modelId="{775BD783-CCE7-4E03-A016-E71D279B0ECB}" type="presParOf" srcId="{A284C16A-F149-4D20-9F82-6EDBE5BD8132}" destId="{5CEA7413-DAE5-47E2-A620-DAD49C788BD8}" srcOrd="0" destOrd="0" presId="urn:microsoft.com/office/officeart/2005/8/layout/list1"/>
    <dgm:cxn modelId="{D3A85253-D817-4CCE-B8D9-50926F425DB9}" type="presParOf" srcId="{A284C16A-F149-4D20-9F82-6EDBE5BD8132}" destId="{65042512-3D74-45F5-A966-09A6813012C6}" srcOrd="1" destOrd="0" presId="urn:microsoft.com/office/officeart/2005/8/layout/list1"/>
    <dgm:cxn modelId="{2004115A-14C0-4A3E-BAF5-D660C084B3BE}" type="presParOf" srcId="{84056C22-1C8F-4B78-8369-5E55E71D9E13}" destId="{C911133B-E0D0-44D1-9947-8E605F378780}" srcOrd="1" destOrd="0" presId="urn:microsoft.com/office/officeart/2005/8/layout/list1"/>
    <dgm:cxn modelId="{13FFEE59-E24B-4C54-9EF3-B0F8BA2733E5}" type="presParOf" srcId="{84056C22-1C8F-4B78-8369-5E55E71D9E13}" destId="{12B6CB8E-47F7-46A3-BF4D-78C107E76838}" srcOrd="2" destOrd="0" presId="urn:microsoft.com/office/officeart/2005/8/layout/list1"/>
    <dgm:cxn modelId="{5FE9C866-A4A8-47D0-8AFF-F68F51D0871D}" type="presParOf" srcId="{84056C22-1C8F-4B78-8369-5E55E71D9E13}" destId="{B71D121A-AF0B-4A2B-9E9E-409593B0EF16}" srcOrd="3" destOrd="0" presId="urn:microsoft.com/office/officeart/2005/8/layout/list1"/>
    <dgm:cxn modelId="{DA00A36D-4E26-4580-A233-E76C57A45E3E}" type="presParOf" srcId="{84056C22-1C8F-4B78-8369-5E55E71D9E13}" destId="{476DC09F-5D54-408A-B684-13600B8CF4B5}" srcOrd="4" destOrd="0" presId="urn:microsoft.com/office/officeart/2005/8/layout/list1"/>
    <dgm:cxn modelId="{399BCC5B-6E5E-4ECE-B315-36F4C3CF9765}" type="presParOf" srcId="{476DC09F-5D54-408A-B684-13600B8CF4B5}" destId="{DAED5A19-9994-48B5-8B95-CB0FF3563A35}" srcOrd="0" destOrd="0" presId="urn:microsoft.com/office/officeart/2005/8/layout/list1"/>
    <dgm:cxn modelId="{E2334B66-9A08-46E5-AE77-EAF7CEF044BD}" type="presParOf" srcId="{476DC09F-5D54-408A-B684-13600B8CF4B5}" destId="{A770C11E-DC3C-461E-B0A7-C64E2C233F8D}" srcOrd="1" destOrd="0" presId="urn:microsoft.com/office/officeart/2005/8/layout/list1"/>
    <dgm:cxn modelId="{FE50E8E8-70D3-4586-B986-370DB9F59B1E}" type="presParOf" srcId="{84056C22-1C8F-4B78-8369-5E55E71D9E13}" destId="{1169FB9A-A01A-4FD9-BC86-B4932A2E6D9B}" srcOrd="5" destOrd="0" presId="urn:microsoft.com/office/officeart/2005/8/layout/list1"/>
    <dgm:cxn modelId="{34F3406F-F064-4830-9F08-4C7D7FB8FB65}" type="presParOf" srcId="{84056C22-1C8F-4B78-8369-5E55E71D9E13}" destId="{5B2031C5-30FE-4815-87D9-174DECC64C21}" srcOrd="6" destOrd="0" presId="urn:microsoft.com/office/officeart/2005/8/layout/list1"/>
    <dgm:cxn modelId="{8E3B924C-80D9-4926-837B-95059FB2338A}" type="presParOf" srcId="{84056C22-1C8F-4B78-8369-5E55E71D9E13}" destId="{53ADCCFF-EDBF-4C50-B418-4B6B6154B088}" srcOrd="7" destOrd="0" presId="urn:microsoft.com/office/officeart/2005/8/layout/list1"/>
    <dgm:cxn modelId="{5CAEDA9D-3F76-4431-AAE6-AF507D0A329A}" type="presParOf" srcId="{84056C22-1C8F-4B78-8369-5E55E71D9E13}" destId="{F8FEBDA5-A647-439D-AFA7-6784E301B5FB}" srcOrd="8" destOrd="0" presId="urn:microsoft.com/office/officeart/2005/8/layout/list1"/>
    <dgm:cxn modelId="{6BFD20C6-E79A-433B-8A80-A72382450D85}" type="presParOf" srcId="{F8FEBDA5-A647-439D-AFA7-6784E301B5FB}" destId="{BCD4C53C-7F36-4359-BE30-0AF09E3CC2DC}" srcOrd="0" destOrd="0" presId="urn:microsoft.com/office/officeart/2005/8/layout/list1"/>
    <dgm:cxn modelId="{F32C8997-07D3-432A-B026-9A79462DFFEF}" type="presParOf" srcId="{F8FEBDA5-A647-439D-AFA7-6784E301B5FB}" destId="{BD0F7E4C-229A-471E-BF54-0C9877728746}" srcOrd="1" destOrd="0" presId="urn:microsoft.com/office/officeart/2005/8/layout/list1"/>
    <dgm:cxn modelId="{F8611BEB-4C40-4884-ACCA-F5C15B5E49F3}" type="presParOf" srcId="{84056C22-1C8F-4B78-8369-5E55E71D9E13}" destId="{CD3B4C67-0F7B-49EE-A250-4E212F2968CA}" srcOrd="9" destOrd="0" presId="urn:microsoft.com/office/officeart/2005/8/layout/list1"/>
    <dgm:cxn modelId="{4689AC79-F5B9-45E1-A750-F254C0B5A0FF}" type="presParOf" srcId="{84056C22-1C8F-4B78-8369-5E55E71D9E13}" destId="{963CC4D4-8832-42C7-B542-BDC447BC3BB1}" srcOrd="10" destOrd="0" presId="urn:microsoft.com/office/officeart/2005/8/layout/list1"/>
    <dgm:cxn modelId="{4F293D37-29E6-40E6-A98D-89E1B0D937F6}" type="presParOf" srcId="{84056C22-1C8F-4B78-8369-5E55E71D9E13}" destId="{C4EB32D3-D95C-4809-A329-96B046A75BCE}" srcOrd="11" destOrd="0" presId="urn:microsoft.com/office/officeart/2005/8/layout/list1"/>
    <dgm:cxn modelId="{166B32AA-2181-4E62-9983-F9A405F48508}" type="presParOf" srcId="{84056C22-1C8F-4B78-8369-5E55E71D9E13}" destId="{FADFE37E-23F3-444F-B59A-7F2E52473332}" srcOrd="12" destOrd="0" presId="urn:microsoft.com/office/officeart/2005/8/layout/list1"/>
    <dgm:cxn modelId="{120DD37C-8DFD-4F59-9E73-E3F867BEA543}" type="presParOf" srcId="{FADFE37E-23F3-444F-B59A-7F2E52473332}" destId="{EE5EC474-118F-4C75-BA75-840C472D866A}" srcOrd="0" destOrd="0" presId="urn:microsoft.com/office/officeart/2005/8/layout/list1"/>
    <dgm:cxn modelId="{8E65441D-C7C8-4885-B547-C7E0D74C5044}" type="presParOf" srcId="{FADFE37E-23F3-444F-B59A-7F2E52473332}" destId="{BB2D3384-1450-4001-9A1E-40675559BA1F}" srcOrd="1" destOrd="0" presId="urn:microsoft.com/office/officeart/2005/8/layout/list1"/>
    <dgm:cxn modelId="{8142C2C4-34C0-47F6-8B6F-4D0FD3029522}" type="presParOf" srcId="{84056C22-1C8F-4B78-8369-5E55E71D9E13}" destId="{1334728C-E5DA-4379-9CC6-A03844D9BCDD}" srcOrd="13" destOrd="0" presId="urn:microsoft.com/office/officeart/2005/8/layout/list1"/>
    <dgm:cxn modelId="{9E4984FF-ACC6-47DD-95C5-B71233520EEE}" type="presParOf" srcId="{84056C22-1C8F-4B78-8369-5E55E71D9E13}" destId="{9FE2C92F-76AE-4781-B0FE-1C7FA378A75B}"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FBF75-64EB-4F7E-A926-A4E66F89C7B0}">
      <dsp:nvSpPr>
        <dsp:cNvPr id="0" name=""/>
        <dsp:cNvSpPr/>
      </dsp:nvSpPr>
      <dsp:spPr>
        <a:xfrm>
          <a:off x="-6198465" y="-948278"/>
          <a:ext cx="7378406" cy="7378406"/>
        </a:xfrm>
        <a:prstGeom prst="blockArc">
          <a:avLst>
            <a:gd name="adj1" fmla="val 18900000"/>
            <a:gd name="adj2" fmla="val 2700000"/>
            <a:gd name="adj3" fmla="val 293"/>
          </a:avLst>
        </a:pr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3D4C07-2F7B-4768-B940-9EC734D124AC}">
      <dsp:nvSpPr>
        <dsp:cNvPr id="0" name=""/>
        <dsp:cNvSpPr/>
      </dsp:nvSpPr>
      <dsp:spPr>
        <a:xfrm>
          <a:off x="617518" y="421444"/>
          <a:ext cx="11015121" cy="84332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vi-VN" sz="3200" b="1" kern="1200" dirty="0">
              <a:solidFill>
                <a:schemeClr val="bg1"/>
              </a:solidFill>
              <a:latin typeface="Times New Roman" panose="02020603050405020304" pitchFamily="18" charset="0"/>
              <a:cs typeface="Times New Roman" panose="02020603050405020304" pitchFamily="18" charset="0"/>
            </a:rPr>
            <a:t>Chương</a:t>
          </a:r>
          <a:r>
            <a:rPr lang="en-US" sz="3200" b="1" kern="1200" dirty="0">
              <a:solidFill>
                <a:schemeClr val="bg1"/>
              </a:solidFill>
              <a:latin typeface="Times New Roman" panose="02020603050405020304" pitchFamily="18" charset="0"/>
              <a:cs typeface="Times New Roman" panose="02020603050405020304" pitchFamily="18" charset="0"/>
            </a:rPr>
            <a:t> 1: </a:t>
          </a:r>
          <a:r>
            <a:rPr lang="vi-VN" sz="3200" b="1" kern="1200" dirty="0">
              <a:solidFill>
                <a:schemeClr val="bg1"/>
              </a:solidFill>
              <a:latin typeface="Times New Roman" panose="02020603050405020304" pitchFamily="18" charset="0"/>
              <a:cs typeface="Times New Roman" panose="02020603050405020304" pitchFamily="18" charset="0"/>
            </a:rPr>
            <a:t>Tổng quan về </a:t>
          </a:r>
          <a:r>
            <a:rPr lang="en-US" sz="3200" b="1" kern="1200" dirty="0">
              <a:solidFill>
                <a:schemeClr val="bg1"/>
              </a:solidFill>
              <a:latin typeface="Times New Roman" panose="02020603050405020304" pitchFamily="18" charset="0"/>
              <a:cs typeface="Times New Roman" panose="02020603050405020304" pitchFamily="18" charset="0"/>
            </a:rPr>
            <a:t>TCC </a:t>
          </a:r>
          <a:r>
            <a:rPr lang="en-US" sz="3200" b="1" kern="1200" dirty="0" err="1">
              <a:solidFill>
                <a:schemeClr val="bg1"/>
              </a:solidFill>
              <a:latin typeface="Times New Roman" panose="02020603050405020304" pitchFamily="18" charset="0"/>
              <a:cs typeface="Times New Roman" panose="02020603050405020304" pitchFamily="18" charset="0"/>
            </a:rPr>
            <a:t>và</a:t>
          </a:r>
          <a:r>
            <a:rPr lang="en-US" sz="3200" b="1" kern="1200" dirty="0">
              <a:solidFill>
                <a:schemeClr val="bg1"/>
              </a:solidFill>
              <a:latin typeface="Times New Roman" panose="02020603050405020304" pitchFamily="18" charset="0"/>
              <a:cs typeface="Times New Roman" panose="02020603050405020304" pitchFamily="18" charset="0"/>
            </a:rPr>
            <a:t> </a:t>
          </a:r>
          <a:r>
            <a:rPr lang="en-US" sz="3200" b="1" kern="1200" dirty="0" err="1">
              <a:solidFill>
                <a:schemeClr val="bg1"/>
              </a:solidFill>
              <a:latin typeface="Times New Roman" panose="02020603050405020304" pitchFamily="18" charset="0"/>
              <a:cs typeface="Times New Roman" panose="02020603050405020304" pitchFamily="18" charset="0"/>
            </a:rPr>
            <a:t>quản</a:t>
          </a:r>
          <a:r>
            <a:rPr lang="en-US" sz="3200" b="1" kern="1200" dirty="0">
              <a:solidFill>
                <a:schemeClr val="bg1"/>
              </a:solidFill>
              <a:latin typeface="Times New Roman" panose="02020603050405020304" pitchFamily="18" charset="0"/>
              <a:cs typeface="Times New Roman" panose="02020603050405020304" pitchFamily="18" charset="0"/>
            </a:rPr>
            <a:t> </a:t>
          </a:r>
          <a:r>
            <a:rPr lang="en-US" sz="3200" b="1" kern="1200" dirty="0" err="1">
              <a:solidFill>
                <a:schemeClr val="bg1"/>
              </a:solidFill>
              <a:latin typeface="Times New Roman" panose="02020603050405020304" pitchFamily="18" charset="0"/>
              <a:cs typeface="Times New Roman" panose="02020603050405020304" pitchFamily="18" charset="0"/>
            </a:rPr>
            <a:t>lý</a:t>
          </a:r>
          <a:r>
            <a:rPr lang="en-US" sz="3200" b="1" kern="1200" dirty="0">
              <a:solidFill>
                <a:schemeClr val="bg1"/>
              </a:solidFill>
              <a:latin typeface="Times New Roman" panose="02020603050405020304" pitchFamily="18" charset="0"/>
              <a:cs typeface="Times New Roman" panose="02020603050405020304" pitchFamily="18" charset="0"/>
            </a:rPr>
            <a:t> TCC</a:t>
          </a:r>
        </a:p>
      </dsp:txBody>
      <dsp:txXfrm>
        <a:off x="617518" y="421444"/>
        <a:ext cx="11015121" cy="843327"/>
      </dsp:txXfrm>
    </dsp:sp>
    <dsp:sp modelId="{666DCB58-F458-4F2E-B413-E6EC71986A16}">
      <dsp:nvSpPr>
        <dsp:cNvPr id="0" name=""/>
        <dsp:cNvSpPr/>
      </dsp:nvSpPr>
      <dsp:spPr>
        <a:xfrm>
          <a:off x="149429" y="316028"/>
          <a:ext cx="1054159" cy="1054159"/>
        </a:xfrm>
        <a:prstGeom prst="ellipse">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EF71E6-87C1-4DA1-AFF7-D586E2B69EAC}">
      <dsp:nvSpPr>
        <dsp:cNvPr id="0" name=""/>
        <dsp:cNvSpPr/>
      </dsp:nvSpPr>
      <dsp:spPr>
        <a:xfrm>
          <a:off x="1101017" y="1686655"/>
          <a:ext cx="10531622" cy="84332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dirty="0" err="1">
              <a:solidFill>
                <a:schemeClr val="bg1"/>
              </a:solidFill>
              <a:latin typeface="Times New Roman" panose="02020603050405020304" pitchFamily="18" charset="0"/>
              <a:cs typeface="Times New Roman" panose="02020603050405020304" pitchFamily="18" charset="0"/>
            </a:rPr>
            <a:t>Chương</a:t>
          </a:r>
          <a:r>
            <a:rPr lang="en-US" sz="3200" b="1" kern="1200" dirty="0">
              <a:solidFill>
                <a:schemeClr val="bg1"/>
              </a:solidFill>
              <a:latin typeface="Times New Roman" panose="02020603050405020304" pitchFamily="18" charset="0"/>
              <a:cs typeface="Times New Roman" panose="02020603050405020304" pitchFamily="18" charset="0"/>
            </a:rPr>
            <a:t> 2: Quản </a:t>
          </a:r>
          <a:r>
            <a:rPr lang="en-US" sz="3200" b="1" kern="1200" dirty="0" err="1">
              <a:solidFill>
                <a:schemeClr val="bg1"/>
              </a:solidFill>
              <a:latin typeface="Times New Roman" panose="02020603050405020304" pitchFamily="18" charset="0"/>
              <a:cs typeface="Times New Roman" panose="02020603050405020304" pitchFamily="18" charset="0"/>
            </a:rPr>
            <a:t>lý</a:t>
          </a:r>
          <a:r>
            <a:rPr lang="en-US" sz="3200" b="1" kern="1200" dirty="0">
              <a:solidFill>
                <a:schemeClr val="bg1"/>
              </a:solidFill>
              <a:latin typeface="Times New Roman" panose="02020603050405020304" pitchFamily="18" charset="0"/>
              <a:cs typeface="Times New Roman" panose="02020603050405020304" pitchFamily="18" charset="0"/>
            </a:rPr>
            <a:t> Ngân </a:t>
          </a:r>
          <a:r>
            <a:rPr lang="en-US" sz="3200" b="1" kern="1200" dirty="0" err="1">
              <a:solidFill>
                <a:schemeClr val="bg1"/>
              </a:solidFill>
              <a:latin typeface="Times New Roman" panose="02020603050405020304" pitchFamily="18" charset="0"/>
              <a:cs typeface="Times New Roman" panose="02020603050405020304" pitchFamily="18" charset="0"/>
            </a:rPr>
            <a:t>sách</a:t>
          </a:r>
          <a:r>
            <a:rPr lang="en-US" sz="3200" b="1" kern="1200" dirty="0">
              <a:solidFill>
                <a:schemeClr val="bg1"/>
              </a:solidFill>
              <a:latin typeface="Times New Roman" panose="02020603050405020304" pitchFamily="18" charset="0"/>
              <a:cs typeface="Times New Roman" panose="02020603050405020304" pitchFamily="18" charset="0"/>
            </a:rPr>
            <a:t> </a:t>
          </a:r>
          <a:r>
            <a:rPr lang="en-US" sz="3200" b="1" kern="1200" dirty="0" err="1">
              <a:solidFill>
                <a:schemeClr val="bg1"/>
              </a:solidFill>
              <a:latin typeface="Times New Roman" panose="02020603050405020304" pitchFamily="18" charset="0"/>
              <a:cs typeface="Times New Roman" panose="02020603050405020304" pitchFamily="18" charset="0"/>
            </a:rPr>
            <a:t>nhà</a:t>
          </a:r>
          <a:r>
            <a:rPr lang="en-US" sz="3200" b="1" kern="1200" dirty="0">
              <a:solidFill>
                <a:schemeClr val="bg1"/>
              </a:solidFill>
              <a:latin typeface="Times New Roman" panose="02020603050405020304" pitchFamily="18" charset="0"/>
              <a:cs typeface="Times New Roman" panose="02020603050405020304" pitchFamily="18" charset="0"/>
            </a:rPr>
            <a:t> </a:t>
          </a:r>
          <a:r>
            <a:rPr lang="en-US" sz="3200" b="1" kern="1200" dirty="0" err="1">
              <a:solidFill>
                <a:schemeClr val="bg1"/>
              </a:solidFill>
              <a:latin typeface="Times New Roman" panose="02020603050405020304" pitchFamily="18" charset="0"/>
              <a:cs typeface="Times New Roman" panose="02020603050405020304" pitchFamily="18" charset="0"/>
            </a:rPr>
            <a:t>nước</a:t>
          </a:r>
          <a:endParaRPr lang="en-US" sz="3200" b="1" kern="1200" dirty="0">
            <a:solidFill>
              <a:schemeClr val="bg1"/>
            </a:solidFill>
            <a:latin typeface="Times New Roman" panose="02020603050405020304" pitchFamily="18" charset="0"/>
            <a:cs typeface="Times New Roman" panose="02020603050405020304" pitchFamily="18" charset="0"/>
          </a:endParaRPr>
        </a:p>
      </dsp:txBody>
      <dsp:txXfrm>
        <a:off x="1101017" y="1686655"/>
        <a:ext cx="10531622" cy="843327"/>
      </dsp:txXfrm>
    </dsp:sp>
    <dsp:sp modelId="{03B14AF4-B5B8-4120-A94F-C42F3ACBD4C0}">
      <dsp:nvSpPr>
        <dsp:cNvPr id="0" name=""/>
        <dsp:cNvSpPr/>
      </dsp:nvSpPr>
      <dsp:spPr>
        <a:xfrm>
          <a:off x="573937" y="1581239"/>
          <a:ext cx="1054159" cy="1054159"/>
        </a:xfrm>
        <a:prstGeom prst="ellipse">
          <a:avLst/>
        </a:prstGeom>
        <a:solidFill>
          <a:schemeClr val="lt1">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4AED53-8AE0-4CB9-A674-944D01F5AFA7}">
      <dsp:nvSpPr>
        <dsp:cNvPr id="0" name=""/>
        <dsp:cNvSpPr/>
      </dsp:nvSpPr>
      <dsp:spPr>
        <a:xfrm>
          <a:off x="1101017" y="2951866"/>
          <a:ext cx="10531622" cy="843327"/>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dirty="0" err="1">
              <a:solidFill>
                <a:schemeClr val="bg1"/>
              </a:solidFill>
              <a:latin typeface="Times New Roman" panose="02020603050405020304" pitchFamily="18" charset="0"/>
              <a:cs typeface="Times New Roman" panose="02020603050405020304" pitchFamily="18" charset="0"/>
            </a:rPr>
            <a:t>Chương</a:t>
          </a:r>
          <a:r>
            <a:rPr lang="en-US" sz="3200" b="1" kern="1200" dirty="0">
              <a:solidFill>
                <a:schemeClr val="bg1"/>
              </a:solidFill>
              <a:latin typeface="Times New Roman" panose="02020603050405020304" pitchFamily="18" charset="0"/>
              <a:cs typeface="Times New Roman" panose="02020603050405020304" pitchFamily="18" charset="0"/>
            </a:rPr>
            <a:t> 3: </a:t>
          </a:r>
          <a:r>
            <a:rPr lang="vi-VN" sz="3200" b="1" kern="1200" dirty="0">
              <a:solidFill>
                <a:schemeClr val="bg1"/>
              </a:solidFill>
              <a:latin typeface="Times New Roman" panose="02020603050405020304" pitchFamily="18" charset="0"/>
              <a:cs typeface="Times New Roman" panose="02020603050405020304" pitchFamily="18" charset="0"/>
            </a:rPr>
            <a:t>Quản lý ngân sách xã</a:t>
          </a:r>
          <a:endParaRPr lang="en-US" sz="3200" b="1" kern="1200" dirty="0">
            <a:solidFill>
              <a:schemeClr val="bg1"/>
            </a:solidFill>
            <a:latin typeface="Times New Roman" panose="02020603050405020304" pitchFamily="18" charset="0"/>
            <a:cs typeface="Times New Roman" panose="02020603050405020304" pitchFamily="18" charset="0"/>
          </a:endParaRPr>
        </a:p>
      </dsp:txBody>
      <dsp:txXfrm>
        <a:off x="1101017" y="2951866"/>
        <a:ext cx="10531622" cy="843327"/>
      </dsp:txXfrm>
    </dsp:sp>
    <dsp:sp modelId="{7E79FFA8-5D9C-4C34-BC10-348E5B7963B1}">
      <dsp:nvSpPr>
        <dsp:cNvPr id="0" name=""/>
        <dsp:cNvSpPr/>
      </dsp:nvSpPr>
      <dsp:spPr>
        <a:xfrm>
          <a:off x="573937" y="2846450"/>
          <a:ext cx="1054159" cy="1054159"/>
        </a:xfrm>
        <a:prstGeom prst="ellipse">
          <a:avLst/>
        </a:prstGeom>
        <a:solidFill>
          <a:schemeClr val="lt1">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17FA50-8478-467B-ACA9-B6E1B62BD4D6}">
      <dsp:nvSpPr>
        <dsp:cNvPr id="0" name=""/>
        <dsp:cNvSpPr/>
      </dsp:nvSpPr>
      <dsp:spPr>
        <a:xfrm>
          <a:off x="617518" y="4105842"/>
          <a:ext cx="11015121" cy="1065797"/>
        </a:xfrm>
        <a:prstGeom prst="rect">
          <a:avLst/>
        </a:prstGeom>
        <a:solidFill>
          <a:schemeClr val="accent6">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it-IT" sz="3200" b="1" kern="1200" dirty="0">
              <a:solidFill>
                <a:schemeClr val="bg1"/>
              </a:solidFill>
              <a:latin typeface="Times New Roman" panose="02020603050405020304" pitchFamily="18" charset="0"/>
              <a:cs typeface="Times New Roman" panose="02020603050405020304" pitchFamily="18" charset="0"/>
            </a:rPr>
            <a:t>Chương 4: Quản lý tài chính </a:t>
          </a:r>
          <a:r>
            <a:rPr lang="vi-VN" sz="3200" b="1" kern="1200" dirty="0">
              <a:solidFill>
                <a:schemeClr val="bg1"/>
              </a:solidFill>
              <a:latin typeface="Times New Roman" panose="02020603050405020304" pitchFamily="18" charset="0"/>
              <a:cs typeface="Times New Roman" panose="02020603050405020304" pitchFamily="18" charset="0"/>
            </a:rPr>
            <a:t>trong</a:t>
          </a:r>
          <a:r>
            <a:rPr lang="it-IT" sz="3200" b="1" kern="1200" dirty="0">
              <a:solidFill>
                <a:schemeClr val="bg1"/>
              </a:solidFill>
              <a:latin typeface="Times New Roman" panose="02020603050405020304" pitchFamily="18" charset="0"/>
              <a:cs typeface="Times New Roman" panose="02020603050405020304" pitchFamily="18" charset="0"/>
            </a:rPr>
            <a:t> các cơ quan nhà nước và đơn vị sự nghiệp</a:t>
          </a:r>
          <a:endParaRPr lang="en-US" sz="3200" b="1" kern="1200" dirty="0">
            <a:solidFill>
              <a:schemeClr val="bg1"/>
            </a:solidFill>
            <a:latin typeface="Times New Roman" panose="02020603050405020304" pitchFamily="18" charset="0"/>
            <a:cs typeface="Times New Roman" panose="02020603050405020304" pitchFamily="18" charset="0"/>
          </a:endParaRPr>
        </a:p>
      </dsp:txBody>
      <dsp:txXfrm>
        <a:off x="617518" y="4105842"/>
        <a:ext cx="11015121" cy="1065797"/>
      </dsp:txXfrm>
    </dsp:sp>
    <dsp:sp modelId="{6E402C4B-EDFD-42F0-AB38-9FE8CE6F595A}">
      <dsp:nvSpPr>
        <dsp:cNvPr id="0" name=""/>
        <dsp:cNvSpPr/>
      </dsp:nvSpPr>
      <dsp:spPr>
        <a:xfrm>
          <a:off x="90438" y="4111661"/>
          <a:ext cx="1054159" cy="1054159"/>
        </a:xfrm>
        <a:prstGeom prst="ellipse">
          <a:avLst/>
        </a:prstGeom>
        <a:solidFill>
          <a:schemeClr val="lt1">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FBF75-64EB-4F7E-A926-A4E66F89C7B0}">
      <dsp:nvSpPr>
        <dsp:cNvPr id="0" name=""/>
        <dsp:cNvSpPr/>
      </dsp:nvSpPr>
      <dsp:spPr>
        <a:xfrm>
          <a:off x="-6198465" y="-948278"/>
          <a:ext cx="7378406" cy="7378406"/>
        </a:xfrm>
        <a:prstGeom prst="blockArc">
          <a:avLst>
            <a:gd name="adj1" fmla="val 18900000"/>
            <a:gd name="adj2" fmla="val 2700000"/>
            <a:gd name="adj3" fmla="val 293"/>
          </a:avLst>
        </a:prstGeom>
        <a:noFill/>
        <a:ln w="19050" cap="flat" cmpd="sng" algn="ctr">
          <a:solidFill>
            <a:schemeClr val="accent2">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03D4C07-2F7B-4768-B940-9EC734D124AC}">
      <dsp:nvSpPr>
        <dsp:cNvPr id="0" name=""/>
        <dsp:cNvSpPr/>
      </dsp:nvSpPr>
      <dsp:spPr>
        <a:xfrm>
          <a:off x="617518" y="421444"/>
          <a:ext cx="11015121" cy="843327"/>
        </a:xfrm>
        <a:prstGeom prst="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dirty="0">
              <a:latin typeface="Times New Roman" panose="02020603050405020304" pitchFamily="18" charset="0"/>
              <a:cs typeface="Times New Roman" panose="02020603050405020304" pitchFamily="18" charset="0"/>
            </a:rPr>
            <a:t>3.1. Phạm vi </a:t>
          </a:r>
          <a:r>
            <a:rPr lang="en-US" sz="3200" b="1" kern="1200" dirty="0" err="1">
              <a:latin typeface="Times New Roman" panose="02020603050405020304" pitchFamily="18" charset="0"/>
              <a:cs typeface="Times New Roman" panose="02020603050405020304" pitchFamily="18" charset="0"/>
            </a:rPr>
            <a:t>thu</a:t>
          </a:r>
          <a:r>
            <a:rPr lang="en-US" sz="3200" b="1" kern="1200" dirty="0">
              <a:latin typeface="Times New Roman" panose="02020603050405020304" pitchFamily="18" charset="0"/>
              <a:cs typeface="Times New Roman" panose="02020603050405020304" pitchFamily="18" charset="0"/>
            </a:rPr>
            <a:t>, chi </a:t>
          </a:r>
          <a:r>
            <a:rPr lang="en-US" sz="3200" b="1" kern="1200" dirty="0" err="1">
              <a:latin typeface="Times New Roman" panose="02020603050405020304" pitchFamily="18" charset="0"/>
              <a:cs typeface="Times New Roman" panose="02020603050405020304" pitchFamily="18" charset="0"/>
            </a:rPr>
            <a:t>và</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đặc</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điểm</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ngân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sách</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xã</a:t>
          </a:r>
          <a:endParaRPr lang="en-US" sz="3200" b="1" kern="1200" dirty="0">
            <a:latin typeface="Times New Roman" panose="02020603050405020304" pitchFamily="18" charset="0"/>
            <a:cs typeface="Times New Roman" panose="02020603050405020304" pitchFamily="18" charset="0"/>
          </a:endParaRPr>
        </a:p>
      </dsp:txBody>
      <dsp:txXfrm>
        <a:off x="617518" y="421444"/>
        <a:ext cx="11015121" cy="843327"/>
      </dsp:txXfrm>
    </dsp:sp>
    <dsp:sp modelId="{666DCB58-F458-4F2E-B413-E6EC71986A16}">
      <dsp:nvSpPr>
        <dsp:cNvPr id="0" name=""/>
        <dsp:cNvSpPr/>
      </dsp:nvSpPr>
      <dsp:spPr>
        <a:xfrm>
          <a:off x="149429" y="316028"/>
          <a:ext cx="1054159" cy="105415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A5EF71E6-87C1-4DA1-AFF7-D586E2B69EAC}">
      <dsp:nvSpPr>
        <dsp:cNvPr id="0" name=""/>
        <dsp:cNvSpPr/>
      </dsp:nvSpPr>
      <dsp:spPr>
        <a:xfrm>
          <a:off x="1101017" y="1686655"/>
          <a:ext cx="10531622" cy="843327"/>
        </a:xfrm>
        <a:prstGeom prst="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dirty="0">
              <a:latin typeface="Times New Roman" panose="02020603050405020304" pitchFamily="18" charset="0"/>
              <a:cs typeface="Times New Roman" panose="02020603050405020304" pitchFamily="18" charset="0"/>
            </a:rPr>
            <a:t>3.2. </a:t>
          </a:r>
          <a:r>
            <a:rPr lang="en-US" sz="3200" b="1" kern="1200" dirty="0" err="1">
              <a:latin typeface="Times New Roman" panose="02020603050405020304" pitchFamily="18" charset="0"/>
              <a:cs typeface="Times New Roman" panose="02020603050405020304" pitchFamily="18" charset="0"/>
            </a:rPr>
            <a:t>Khái</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niệm</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nguyên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tắc</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quản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lý</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ngân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sách</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xã</a:t>
          </a:r>
          <a:endParaRPr lang="en-US" sz="3200" b="1" kern="1200" dirty="0">
            <a:latin typeface="Times New Roman" panose="02020603050405020304" pitchFamily="18" charset="0"/>
            <a:cs typeface="Times New Roman" panose="02020603050405020304" pitchFamily="18" charset="0"/>
          </a:endParaRPr>
        </a:p>
      </dsp:txBody>
      <dsp:txXfrm>
        <a:off x="1101017" y="1686655"/>
        <a:ext cx="10531622" cy="843327"/>
      </dsp:txXfrm>
    </dsp:sp>
    <dsp:sp modelId="{03B14AF4-B5B8-4120-A94F-C42F3ACBD4C0}">
      <dsp:nvSpPr>
        <dsp:cNvPr id="0" name=""/>
        <dsp:cNvSpPr/>
      </dsp:nvSpPr>
      <dsp:spPr>
        <a:xfrm>
          <a:off x="573937" y="1581239"/>
          <a:ext cx="1054159" cy="105415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F24AED53-8AE0-4CB9-A674-944D01F5AFA7}">
      <dsp:nvSpPr>
        <dsp:cNvPr id="0" name=""/>
        <dsp:cNvSpPr/>
      </dsp:nvSpPr>
      <dsp:spPr>
        <a:xfrm>
          <a:off x="1101017" y="2951866"/>
          <a:ext cx="10531622" cy="843327"/>
        </a:xfrm>
        <a:prstGeom prst="rect">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dirty="0">
              <a:latin typeface="Times New Roman" panose="02020603050405020304" pitchFamily="18" charset="0"/>
              <a:cs typeface="Times New Roman" panose="02020603050405020304" pitchFamily="18" charset="0"/>
            </a:rPr>
            <a:t>3.3. Chu </a:t>
          </a:r>
          <a:r>
            <a:rPr lang="en-US" sz="3200" b="1" kern="1200" dirty="0" err="1">
              <a:latin typeface="Times New Roman" panose="02020603050405020304" pitchFamily="18" charset="0"/>
              <a:cs typeface="Times New Roman" panose="02020603050405020304" pitchFamily="18" charset="0"/>
            </a:rPr>
            <a:t>trình</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quản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lý</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ngân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sách</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xã</a:t>
          </a:r>
          <a:endParaRPr lang="en-US" sz="3200" b="1" kern="1200" dirty="0">
            <a:latin typeface="Times New Roman" panose="02020603050405020304" pitchFamily="18" charset="0"/>
            <a:cs typeface="Times New Roman" panose="02020603050405020304" pitchFamily="18" charset="0"/>
          </a:endParaRPr>
        </a:p>
      </dsp:txBody>
      <dsp:txXfrm>
        <a:off x="1101017" y="2951866"/>
        <a:ext cx="10531622" cy="843327"/>
      </dsp:txXfrm>
    </dsp:sp>
    <dsp:sp modelId="{7E79FFA8-5D9C-4C34-BC10-348E5B7963B1}">
      <dsp:nvSpPr>
        <dsp:cNvPr id="0" name=""/>
        <dsp:cNvSpPr/>
      </dsp:nvSpPr>
      <dsp:spPr>
        <a:xfrm>
          <a:off x="573937" y="2846450"/>
          <a:ext cx="1054159" cy="105415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6217FA50-8478-467B-ACA9-B6E1B62BD4D6}">
      <dsp:nvSpPr>
        <dsp:cNvPr id="0" name=""/>
        <dsp:cNvSpPr/>
      </dsp:nvSpPr>
      <dsp:spPr>
        <a:xfrm>
          <a:off x="617518" y="4105842"/>
          <a:ext cx="11015121" cy="1065797"/>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dirty="0">
              <a:latin typeface="Times New Roman" panose="02020603050405020304" pitchFamily="18" charset="0"/>
              <a:cs typeface="Times New Roman" panose="02020603050405020304" pitchFamily="18" charset="0"/>
            </a:rPr>
            <a:t>3.4. </a:t>
          </a:r>
          <a:r>
            <a:rPr lang="en-US" sz="3200" b="1" kern="1200" dirty="0" err="1">
              <a:latin typeface="Times New Roman" panose="02020603050405020304" pitchFamily="18" charset="0"/>
              <a:cs typeface="Times New Roman" panose="02020603050405020304" pitchFamily="18" charset="0"/>
            </a:rPr>
            <a:t>Trách</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nhiệm</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quyền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hạn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của</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các</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cơ</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quan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liên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quan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trong</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quản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lý</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ngân</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sách</a:t>
          </a:r>
          <a:r>
            <a:rPr lang="en-US" sz="3200" b="1" kern="1200" dirty="0">
              <a:latin typeface="Times New Roman" panose="02020603050405020304" pitchFamily="18" charset="0"/>
              <a:cs typeface="Times New Roman" panose="02020603050405020304" pitchFamily="18" charset="0"/>
            </a:rPr>
            <a:t> </a:t>
          </a:r>
          <a:r>
            <a:rPr lang="en-US" sz="3200" b="1" kern="1200" dirty="0" err="1">
              <a:latin typeface="Times New Roman" panose="02020603050405020304" pitchFamily="18" charset="0"/>
              <a:cs typeface="Times New Roman" panose="02020603050405020304" pitchFamily="18" charset="0"/>
            </a:rPr>
            <a:t>xã</a:t>
          </a:r>
          <a:endParaRPr lang="en-US" sz="3200" b="1" kern="1200" dirty="0">
            <a:latin typeface="Times New Roman" panose="02020603050405020304" pitchFamily="18" charset="0"/>
            <a:cs typeface="Times New Roman" panose="02020603050405020304" pitchFamily="18" charset="0"/>
          </a:endParaRPr>
        </a:p>
      </dsp:txBody>
      <dsp:txXfrm>
        <a:off x="617518" y="4105842"/>
        <a:ext cx="11015121" cy="1065797"/>
      </dsp:txXfrm>
    </dsp:sp>
    <dsp:sp modelId="{6E402C4B-EDFD-42F0-AB38-9FE8CE6F595A}">
      <dsp:nvSpPr>
        <dsp:cNvPr id="0" name=""/>
        <dsp:cNvSpPr/>
      </dsp:nvSpPr>
      <dsp:spPr>
        <a:xfrm>
          <a:off x="90438" y="4111661"/>
          <a:ext cx="1054159" cy="105415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6CB8E-47F7-46A3-BF4D-78C107E76838}">
      <dsp:nvSpPr>
        <dsp:cNvPr id="0" name=""/>
        <dsp:cNvSpPr/>
      </dsp:nvSpPr>
      <dsp:spPr>
        <a:xfrm>
          <a:off x="0" y="447707"/>
          <a:ext cx="10515600" cy="756000"/>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042512-3D74-45F5-A966-09A6813012C6}">
      <dsp:nvSpPr>
        <dsp:cNvPr id="0" name=""/>
        <dsp:cNvSpPr/>
      </dsp:nvSpPr>
      <dsp:spPr>
        <a:xfrm>
          <a:off x="525780" y="4907"/>
          <a:ext cx="7360920" cy="88560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22400">
            <a:lnSpc>
              <a:spcPct val="90000"/>
            </a:lnSpc>
            <a:spcBef>
              <a:spcPct val="0"/>
            </a:spcBef>
            <a:spcAft>
              <a:spcPct val="35000"/>
            </a:spcAft>
            <a:buNone/>
          </a:pPr>
          <a:r>
            <a:rPr lang="vi-VN" sz="3200" b="1" kern="1200" dirty="0">
              <a:solidFill>
                <a:schemeClr val="tx1"/>
              </a:solidFill>
              <a:latin typeface="+mj-lt"/>
            </a:rPr>
            <a:t>Căn cứ lập dự toán</a:t>
          </a:r>
          <a:endParaRPr lang="en-US" sz="3200" b="1" kern="1200" dirty="0">
            <a:solidFill>
              <a:schemeClr val="tx1"/>
            </a:solidFill>
            <a:latin typeface="+mj-lt"/>
          </a:endParaRPr>
        </a:p>
      </dsp:txBody>
      <dsp:txXfrm>
        <a:off x="569011" y="48138"/>
        <a:ext cx="7274458" cy="799138"/>
      </dsp:txXfrm>
    </dsp:sp>
    <dsp:sp modelId="{5B2031C5-30FE-4815-87D9-174DECC64C21}">
      <dsp:nvSpPr>
        <dsp:cNvPr id="0" name=""/>
        <dsp:cNvSpPr/>
      </dsp:nvSpPr>
      <dsp:spPr>
        <a:xfrm>
          <a:off x="0" y="1808507"/>
          <a:ext cx="10515600" cy="756000"/>
        </a:xfrm>
        <a:prstGeom prst="rect">
          <a:avLst/>
        </a:prstGeom>
        <a:solidFill>
          <a:schemeClr val="lt1">
            <a:alpha val="90000"/>
            <a:hueOff val="0"/>
            <a:satOff val="0"/>
            <a:lumOff val="0"/>
            <a:alphaOff val="0"/>
          </a:schemeClr>
        </a:solidFill>
        <a:ln w="19050" cap="flat" cmpd="sng" algn="ctr">
          <a:solidFill>
            <a:schemeClr val="accent4">
              <a:hueOff val="2199979"/>
              <a:satOff val="-9734"/>
              <a:lumOff val="-1634"/>
              <a:alphaOff val="0"/>
            </a:schemeClr>
          </a:solidFill>
          <a:prstDash val="solid"/>
          <a:miter lim="800000"/>
        </a:ln>
        <a:effectLst/>
      </dsp:spPr>
      <dsp:style>
        <a:lnRef idx="2">
          <a:scrgbClr r="0" g="0" b="0"/>
        </a:lnRef>
        <a:fillRef idx="1">
          <a:scrgbClr r="0" g="0" b="0"/>
        </a:fillRef>
        <a:effectRef idx="0">
          <a:scrgbClr r="0" g="0" b="0"/>
        </a:effectRef>
        <a:fontRef idx="minor"/>
      </dsp:style>
    </dsp:sp>
    <dsp:sp modelId="{A770C11E-DC3C-461E-B0A7-C64E2C233F8D}">
      <dsp:nvSpPr>
        <dsp:cNvPr id="0" name=""/>
        <dsp:cNvSpPr/>
      </dsp:nvSpPr>
      <dsp:spPr>
        <a:xfrm>
          <a:off x="525780" y="1365707"/>
          <a:ext cx="7360920" cy="885600"/>
        </a:xfrm>
        <a:prstGeom prst="roundRect">
          <a:avLst/>
        </a:prstGeom>
        <a:solidFill>
          <a:schemeClr val="accent4">
            <a:hueOff val="2199979"/>
            <a:satOff val="-9734"/>
            <a:lumOff val="-163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22400">
            <a:lnSpc>
              <a:spcPct val="90000"/>
            </a:lnSpc>
            <a:spcBef>
              <a:spcPct val="0"/>
            </a:spcBef>
            <a:spcAft>
              <a:spcPct val="35000"/>
            </a:spcAft>
            <a:buNone/>
          </a:pPr>
          <a:r>
            <a:rPr lang="vi-VN" sz="3200" b="1" kern="1200" dirty="0">
              <a:solidFill>
                <a:schemeClr val="tx1"/>
              </a:solidFill>
              <a:latin typeface="+mj-lt"/>
            </a:rPr>
            <a:t>Yêu cầu lập dự toán</a:t>
          </a:r>
          <a:endParaRPr lang="en-US" sz="3200" b="1" kern="1200" dirty="0">
            <a:solidFill>
              <a:schemeClr val="tx1"/>
            </a:solidFill>
            <a:latin typeface="+mj-lt"/>
          </a:endParaRPr>
        </a:p>
      </dsp:txBody>
      <dsp:txXfrm>
        <a:off x="569011" y="1408938"/>
        <a:ext cx="7274458" cy="799138"/>
      </dsp:txXfrm>
    </dsp:sp>
    <dsp:sp modelId="{963CC4D4-8832-42C7-B542-BDC447BC3BB1}">
      <dsp:nvSpPr>
        <dsp:cNvPr id="0" name=""/>
        <dsp:cNvSpPr/>
      </dsp:nvSpPr>
      <dsp:spPr>
        <a:xfrm>
          <a:off x="0" y="3169307"/>
          <a:ext cx="10515600" cy="756000"/>
        </a:xfrm>
        <a:prstGeom prst="rect">
          <a:avLst/>
        </a:prstGeom>
        <a:solidFill>
          <a:schemeClr val="lt1">
            <a:alpha val="90000"/>
            <a:hueOff val="0"/>
            <a:satOff val="0"/>
            <a:lumOff val="0"/>
            <a:alphaOff val="0"/>
          </a:schemeClr>
        </a:solidFill>
        <a:ln w="19050" cap="flat" cmpd="sng" algn="ctr">
          <a:solidFill>
            <a:schemeClr val="accent4">
              <a:hueOff val="4399958"/>
              <a:satOff val="-19468"/>
              <a:lumOff val="-3269"/>
              <a:alphaOff val="0"/>
            </a:schemeClr>
          </a:solidFill>
          <a:prstDash val="solid"/>
          <a:miter lim="800000"/>
        </a:ln>
        <a:effectLst/>
      </dsp:spPr>
      <dsp:style>
        <a:lnRef idx="2">
          <a:scrgbClr r="0" g="0" b="0"/>
        </a:lnRef>
        <a:fillRef idx="1">
          <a:scrgbClr r="0" g="0" b="0"/>
        </a:fillRef>
        <a:effectRef idx="0">
          <a:scrgbClr r="0" g="0" b="0"/>
        </a:effectRef>
        <a:fontRef idx="minor"/>
      </dsp:style>
    </dsp:sp>
    <dsp:sp modelId="{BD0F7E4C-229A-471E-BF54-0C9877728746}">
      <dsp:nvSpPr>
        <dsp:cNvPr id="0" name=""/>
        <dsp:cNvSpPr/>
      </dsp:nvSpPr>
      <dsp:spPr>
        <a:xfrm>
          <a:off x="525780" y="2726507"/>
          <a:ext cx="7360920" cy="885600"/>
        </a:xfrm>
        <a:prstGeom prst="roundRect">
          <a:avLst/>
        </a:prstGeom>
        <a:solidFill>
          <a:schemeClr val="accent4">
            <a:hueOff val="4399958"/>
            <a:satOff val="-19468"/>
            <a:lumOff val="-32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22400">
            <a:lnSpc>
              <a:spcPct val="90000"/>
            </a:lnSpc>
            <a:spcBef>
              <a:spcPct val="0"/>
            </a:spcBef>
            <a:spcAft>
              <a:spcPct val="35000"/>
            </a:spcAft>
            <a:buNone/>
          </a:pPr>
          <a:r>
            <a:rPr lang="vi-VN" sz="3200" b="1" kern="1200" dirty="0">
              <a:solidFill>
                <a:schemeClr val="tx1"/>
              </a:solidFill>
              <a:latin typeface="+mj-lt"/>
            </a:rPr>
            <a:t>Trình tự lập dự toán</a:t>
          </a:r>
          <a:endParaRPr lang="en-US" sz="3200" b="1" kern="1200" dirty="0">
            <a:solidFill>
              <a:schemeClr val="tx1"/>
            </a:solidFill>
            <a:latin typeface="+mj-lt"/>
          </a:endParaRPr>
        </a:p>
      </dsp:txBody>
      <dsp:txXfrm>
        <a:off x="569011" y="2769738"/>
        <a:ext cx="7274458" cy="799138"/>
      </dsp:txXfrm>
    </dsp:sp>
    <dsp:sp modelId="{9FE2C92F-76AE-4781-B0FE-1C7FA378A75B}">
      <dsp:nvSpPr>
        <dsp:cNvPr id="0" name=""/>
        <dsp:cNvSpPr/>
      </dsp:nvSpPr>
      <dsp:spPr>
        <a:xfrm>
          <a:off x="0" y="4530107"/>
          <a:ext cx="10515600" cy="756000"/>
        </a:xfrm>
        <a:prstGeom prst="rect">
          <a:avLst/>
        </a:prstGeom>
        <a:solidFill>
          <a:schemeClr val="lt1">
            <a:alpha val="90000"/>
            <a:hueOff val="0"/>
            <a:satOff val="0"/>
            <a:lumOff val="0"/>
            <a:alphaOff val="0"/>
          </a:schemeClr>
        </a:solidFill>
        <a:ln w="19050" cap="flat" cmpd="sng" algn="ctr">
          <a:solidFill>
            <a:schemeClr val="accent4">
              <a:hueOff val="6599937"/>
              <a:satOff val="-29202"/>
              <a:lumOff val="-4903"/>
              <a:alphaOff val="0"/>
            </a:schemeClr>
          </a:solidFill>
          <a:prstDash val="solid"/>
          <a:miter lim="800000"/>
        </a:ln>
        <a:effectLst/>
      </dsp:spPr>
      <dsp:style>
        <a:lnRef idx="2">
          <a:scrgbClr r="0" g="0" b="0"/>
        </a:lnRef>
        <a:fillRef idx="1">
          <a:scrgbClr r="0" g="0" b="0"/>
        </a:fillRef>
        <a:effectRef idx="0">
          <a:scrgbClr r="0" g="0" b="0"/>
        </a:effectRef>
        <a:fontRef idx="minor"/>
      </dsp:style>
    </dsp:sp>
    <dsp:sp modelId="{BB2D3384-1450-4001-9A1E-40675559BA1F}">
      <dsp:nvSpPr>
        <dsp:cNvPr id="0" name=""/>
        <dsp:cNvSpPr/>
      </dsp:nvSpPr>
      <dsp:spPr>
        <a:xfrm>
          <a:off x="525780" y="4087307"/>
          <a:ext cx="7360920" cy="885600"/>
        </a:xfrm>
        <a:prstGeom prst="roundRect">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22400">
            <a:lnSpc>
              <a:spcPct val="90000"/>
            </a:lnSpc>
            <a:spcBef>
              <a:spcPct val="0"/>
            </a:spcBef>
            <a:spcAft>
              <a:spcPct val="35000"/>
            </a:spcAft>
            <a:buNone/>
          </a:pPr>
          <a:r>
            <a:rPr lang="vi-VN" sz="3200" b="1" kern="1200" dirty="0">
              <a:solidFill>
                <a:schemeClr val="tx1"/>
              </a:solidFill>
              <a:latin typeface="+mj-lt"/>
            </a:rPr>
            <a:t>Công khai dự toán</a:t>
          </a:r>
          <a:endParaRPr lang="en-US" sz="3200" b="1" kern="1200" dirty="0">
            <a:solidFill>
              <a:schemeClr val="tx1"/>
            </a:solidFill>
            <a:latin typeface="+mj-lt"/>
          </a:endParaRPr>
        </a:p>
      </dsp:txBody>
      <dsp:txXfrm>
        <a:off x="569011" y="4130538"/>
        <a:ext cx="7274458" cy="799138"/>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751A4-7C76-407E-B6D3-EF0F49618DCB}" type="datetimeFigureOut">
              <a:rPr lang="en-US" smtClean="0"/>
              <a:t>23/4/2026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D107A9-A0C7-4078-AEEF-185A00981267}" type="slidenum">
              <a:rPr lang="en-US" smtClean="0"/>
              <a:t>‹#›</a:t>
            </a:fld>
            <a:endParaRPr lang="en-US"/>
          </a:p>
        </p:txBody>
      </p:sp>
    </p:spTree>
    <p:extLst>
      <p:ext uri="{BB962C8B-B14F-4D97-AF65-F5344CB8AC3E}">
        <p14:creationId xmlns:p14="http://schemas.microsoft.com/office/powerpoint/2010/main" val="163453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Sau khi đã tìm hiểu về hệ thống Ngân sách Nhà nước nói chung ở các chương trước, hôm nay chúng ta sẽ bước sang một chương mới rất gần gũi với đời sống thực tế của mỗi chúng ta, đó là Chương ba: Quản lý ngân sách xã.</a:t>
            </a:r>
            <a:endParaRPr lang="en-US" dirty="0"/>
          </a:p>
        </p:txBody>
      </p:sp>
      <p:sp>
        <p:nvSpPr>
          <p:cNvPr id="4" name="Slide Number Placeholder 3"/>
          <p:cNvSpPr>
            <a:spLocks noGrp="1"/>
          </p:cNvSpPr>
          <p:nvPr>
            <p:ph type="sldNum" sz="quarter" idx="5"/>
          </p:nvPr>
        </p:nvSpPr>
        <p:spPr/>
        <p:txBody>
          <a:bodyPr/>
          <a:lstStyle/>
          <a:p>
            <a:fld id="{1DD107A9-A0C7-4078-AEEF-185A00981267}" type="slidenum">
              <a:rPr lang="en-US" smtClean="0"/>
              <a:t>3</a:t>
            </a:fld>
            <a:endParaRPr lang="en-US"/>
          </a:p>
        </p:txBody>
      </p:sp>
    </p:spTree>
    <p:extLst>
      <p:ext uri="{BB962C8B-B14F-4D97-AF65-F5344CB8AC3E}">
        <p14:creationId xmlns:p14="http://schemas.microsoft.com/office/powerpoint/2010/main" val="1607992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D107A9-A0C7-4078-AEEF-185A00981267}" type="slidenum">
              <a:rPr lang="en-US" smtClean="0"/>
              <a:t>4</a:t>
            </a:fld>
            <a:endParaRPr lang="en-US"/>
          </a:p>
        </p:txBody>
      </p:sp>
    </p:spTree>
    <p:extLst>
      <p:ext uri="{BB962C8B-B14F-4D97-AF65-F5344CB8AC3E}">
        <p14:creationId xmlns:p14="http://schemas.microsoft.com/office/powerpoint/2010/main" val="3850267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19</a:t>
            </a:r>
          </a:p>
          <a:p>
            <a:r>
              <a:rPr lang="en-US" sz="1200" kern="1200" dirty="0" err="1">
                <a:solidFill>
                  <a:schemeClr val="tx1"/>
                </a:solidFill>
                <a:effectLst/>
                <a:latin typeface="+mn-lt"/>
                <a:ea typeface="+mn-ea"/>
                <a:cs typeface="+mn-cs"/>
              </a:rPr>
              <a:t>Cụ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buổi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hôm</a:t>
            </a:r>
            <a:r>
              <a:rPr lang="en-US" sz="1200" kern="1200" dirty="0">
                <a:solidFill>
                  <a:schemeClr val="tx1"/>
                </a:solidFill>
                <a:effectLst/>
                <a:latin typeface="+mn-lt"/>
                <a:ea typeface="+mn-ea"/>
                <a:cs typeface="+mn-cs"/>
              </a:rPr>
              <a:t> nay, </a:t>
            </a:r>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ta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sâu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cứu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phạm</a:t>
            </a:r>
            <a:r>
              <a:rPr lang="en-US" sz="1200" kern="1200" dirty="0">
                <a:solidFill>
                  <a:schemeClr val="tx1"/>
                </a:solidFill>
                <a:effectLst/>
                <a:latin typeface="+mn-lt"/>
                <a:ea typeface="+mn-ea"/>
                <a:cs typeface="+mn-cs"/>
              </a:rPr>
              <a:t> vi </a:t>
            </a:r>
            <a:r>
              <a:rPr lang="en-US" sz="1200" kern="1200" dirty="0" err="1">
                <a:solidFill>
                  <a:schemeClr val="tx1"/>
                </a:solidFill>
                <a:effectLst/>
                <a:latin typeface="+mn-lt"/>
                <a:ea typeface="+mn-ea"/>
                <a:cs typeface="+mn-cs"/>
              </a:rPr>
              <a:t>ngân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xã</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DD107A9-A0C7-4078-AEEF-185A00981267}" type="slidenum">
              <a:rPr lang="en-US" smtClean="0"/>
              <a:t>10</a:t>
            </a:fld>
            <a:endParaRPr lang="en-US"/>
          </a:p>
        </p:txBody>
      </p:sp>
    </p:spTree>
    <p:extLst>
      <p:ext uri="{BB962C8B-B14F-4D97-AF65-F5344CB8AC3E}">
        <p14:creationId xmlns:p14="http://schemas.microsoft.com/office/powerpoint/2010/main" val="4277985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a:t>
            </a:r>
          </a:p>
        </p:txBody>
      </p:sp>
      <p:sp>
        <p:nvSpPr>
          <p:cNvPr id="4" name="Slide Number Placeholder 3"/>
          <p:cNvSpPr>
            <a:spLocks noGrp="1"/>
          </p:cNvSpPr>
          <p:nvPr>
            <p:ph type="sldNum" sz="quarter" idx="5"/>
          </p:nvPr>
        </p:nvSpPr>
        <p:spPr/>
        <p:txBody>
          <a:bodyPr/>
          <a:lstStyle/>
          <a:p>
            <a:fld id="{1DD107A9-A0C7-4078-AEEF-185A00981267}" type="slidenum">
              <a:rPr lang="en-US" smtClean="0"/>
              <a:t>11</a:t>
            </a:fld>
            <a:endParaRPr lang="en-US"/>
          </a:p>
        </p:txBody>
      </p:sp>
    </p:spTree>
    <p:extLst>
      <p:ext uri="{BB962C8B-B14F-4D97-AF65-F5344CB8AC3E}">
        <p14:creationId xmlns:p14="http://schemas.microsoft.com/office/powerpoint/2010/main" val="391687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F7D19-2A49-75AC-BD6B-A4616216D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36BDE4-9590-B7F4-B90F-D1975425F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49DC6-6AB0-B0B2-03AD-E5B10FBC24A1}"/>
              </a:ext>
            </a:extLst>
          </p:cNvPr>
          <p:cNvSpPr>
            <a:spLocks noGrp="1"/>
          </p:cNvSpPr>
          <p:nvPr>
            <p:ph type="body" idx="1"/>
          </p:nvPr>
        </p:nvSpPr>
        <p:spPr/>
        <p:txBody>
          <a:bodyPr/>
          <a:lstStyle/>
          <a:p>
            <a:pPr marL="0" indent="0" algn="just">
              <a:lnSpc>
                <a:spcPct val="150000"/>
              </a:lnSpc>
              <a:buFont typeface="Arial" panose="020B0604020202020204" pitchFamily="34" charset="0"/>
              <a:buNone/>
            </a:pPr>
            <a:r>
              <a:rPr lang="vi-VN" sz="1200" dirty="0">
                <a:latin typeface="Times New Roman" panose="02020603050405020304" pitchFamily="18" charset="0"/>
                <a:cs typeface="Times New Roman" panose="02020603050405020304" pitchFamily="18" charset="0"/>
              </a:rPr>
              <a:t>Bây giờ, các </a:t>
            </a:r>
            <a:r>
              <a:rPr lang="en-US" sz="1200" dirty="0" err="1">
                <a:latin typeface="Times New Roman" panose="02020603050405020304" pitchFamily="18" charset="0"/>
                <a:cs typeface="Times New Roman" panose="02020603050405020304" pitchFamily="18" charset="0"/>
              </a:rPr>
              <a:t>bạn</a:t>
            </a:r>
            <a:r>
              <a:rPr lang="vi-VN" sz="1200" dirty="0">
                <a:latin typeface="Times New Roman" panose="02020603050405020304" pitchFamily="18" charset="0"/>
                <a:cs typeface="Times New Roman" panose="02020603050405020304" pitchFamily="18" charset="0"/>
              </a:rPr>
              <a:t> hãy nhìn vào sơ đồ trên Slide. Hệ thống Ngân sách nhà nước Việt Nam </a:t>
            </a:r>
            <a:r>
              <a:rPr lang="en-US" sz="1200" dirty="0" err="1">
                <a:latin typeface="Times New Roman" panose="02020603050405020304" pitchFamily="18" charset="0"/>
                <a:cs typeface="Times New Roman" panose="02020603050405020304" pitchFamily="18" charset="0"/>
              </a:rPr>
              <a:t>gồm</a:t>
            </a:r>
            <a:r>
              <a:rPr lang="vi-VN" sz="1200" dirty="0">
                <a:latin typeface="Times New Roman" panose="02020603050405020304" pitchFamily="18" charset="0"/>
                <a:cs typeface="Times New Roman" panose="02020603050405020304" pitchFamily="18" charset="0"/>
              </a:rPr>
              <a:t>: Ngân sách trung ương và Ngân sách địa phương. Đi sâu vào nhánh địa phương, chúng ta sẽ thấy có Ngân sách cấp tỉnh và dưới cùng chính là Ngân sách cấp xã.</a:t>
            </a:r>
            <a:endParaRPr lang="en-US" sz="1200" dirty="0">
              <a:latin typeface="Times New Roman" panose="02020603050405020304" pitchFamily="18" charset="0"/>
              <a:cs typeface="Times New Roman" panose="02020603050405020304" pitchFamily="18" charset="0"/>
            </a:endParaRPr>
          </a:p>
          <a:p>
            <a:pPr marL="0" indent="0" algn="just">
              <a:lnSpc>
                <a:spcPct val="150000"/>
              </a:lnSpc>
              <a:buFont typeface="Arial" panose="020B0604020202020204" pitchFamily="34" charset="0"/>
              <a:buNone/>
            </a:pPr>
            <a:r>
              <a:rPr lang="en-US" sz="1200" dirty="0" err="1">
                <a:latin typeface="Times New Roman" panose="02020603050405020304" pitchFamily="18" charset="0"/>
                <a:cs typeface="Times New Roman" panose="02020603050405020304" pitchFamily="18" charset="0"/>
              </a:rPr>
              <a:t>Hệ</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thống</a:t>
            </a:r>
            <a:r>
              <a:rPr lang="en-US" sz="1200" dirty="0">
                <a:latin typeface="Times New Roman" panose="02020603050405020304" pitchFamily="18" charset="0"/>
                <a:cs typeface="Times New Roman" panose="02020603050405020304" pitchFamily="18" charset="0"/>
              </a:rPr>
              <a:t> NSNN </a:t>
            </a:r>
            <a:r>
              <a:rPr lang="en-US" sz="1200" dirty="0" err="1">
                <a:latin typeface="Times New Roman" panose="02020603050405020304" pitchFamily="18" charset="0"/>
                <a:cs typeface="Times New Roman" panose="02020603050405020304" pitchFamily="18" charset="0"/>
              </a:rPr>
              <a:t>cũng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những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đổi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phù</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hợp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với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đơn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vị</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hành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chính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mô</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hình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chính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quyền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địa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phương</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cấp</a:t>
            </a:r>
            <a:r>
              <a:rPr lang="en-US" sz="1200" dirty="0">
                <a:latin typeface="Times New Roman" panose="02020603050405020304" pitchFamily="18" charset="0"/>
                <a:cs typeface="Times New Roman" panose="02020603050405020304" pitchFamily="18" charset="0"/>
              </a:rPr>
              <a:t>. </a:t>
            </a:r>
            <a:r>
              <a:rPr lang="vi-VN" sz="1200" dirty="0">
                <a:latin typeface="Times New Roman" panose="02020603050405020304" pitchFamily="18" charset="0"/>
                <a:cs typeface="Times New Roman" panose="02020603050405020304" pitchFamily="18" charset="0"/>
              </a:rPr>
              <a:t>Ngân sách xã là một cấp độc lập thuộc ngân sách địa phương. Nó đóng vai trò là cấp ngân sách cơ sở, nền tảng nhất trong toàn bộ hệ thống quản lý tài chính công của Nhà nước. Xã có quyền dự toán, thu, chi và quyết toán quỹ tiền của riêng mình </a:t>
            </a:r>
            <a:r>
              <a:rPr lang="en-US" sz="1200" dirty="0" err="1">
                <a:latin typeface="Times New Roman" panose="02020603050405020304" pitchFamily="18" charset="0"/>
                <a:cs typeface="Times New Roman" panose="02020603050405020304" pitchFamily="18" charset="0"/>
              </a:rPr>
              <a:t>theo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quy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định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của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pháp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luật</a:t>
            </a:r>
            <a:r>
              <a:rPr lang="en-US" sz="1200" dirty="0">
                <a:latin typeface="Times New Roman" panose="02020603050405020304" pitchFamily="18" charset="0"/>
                <a:cs typeface="Times New Roman" panose="02020603050405020304" pitchFamily="18" charset="0"/>
              </a:rPr>
              <a:t>.</a:t>
            </a:r>
          </a:p>
          <a:p>
            <a:pPr marL="0" indent="0" algn="just">
              <a:lnSpc>
                <a:spcPct val="150000"/>
              </a:lnSpc>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Theo </a:t>
            </a:r>
            <a:r>
              <a:rPr lang="en-US" sz="1200" dirty="0" err="1">
                <a:latin typeface="Times New Roman" panose="02020603050405020304" pitchFamily="18" charset="0"/>
                <a:cs typeface="Times New Roman" panose="02020603050405020304" pitchFamily="18" charset="0"/>
              </a:rPr>
              <a:t>Điều</a:t>
            </a:r>
            <a:r>
              <a:rPr lang="en-US" sz="1200" dirty="0">
                <a:latin typeface="Times New Roman" panose="02020603050405020304" pitchFamily="18" charset="0"/>
                <a:cs typeface="Times New Roman" panose="02020603050405020304" pitchFamily="18" charset="0"/>
              </a:rPr>
              <a:t> 6, </a:t>
            </a:r>
            <a:r>
              <a:rPr lang="en-US" sz="1200" dirty="0" err="1">
                <a:latin typeface="Times New Roman" panose="02020603050405020304" pitchFamily="18" charset="0"/>
                <a:cs typeface="Times New Roman" panose="02020603050405020304" pitchFamily="18" charset="0"/>
              </a:rPr>
              <a:t>Luật</a:t>
            </a:r>
            <a:r>
              <a:rPr lang="en-US" sz="1200" dirty="0">
                <a:latin typeface="Times New Roman" panose="02020603050405020304" pitchFamily="18" charset="0"/>
                <a:cs typeface="Times New Roman" panose="02020603050405020304" pitchFamily="18" charset="0"/>
              </a:rPr>
              <a:t> NSNN 2025, </a:t>
            </a:r>
            <a:r>
              <a:rPr lang="en-US" sz="1200" dirty="0" err="1">
                <a:latin typeface="Times New Roman" panose="02020603050405020304" pitchFamily="18" charset="0"/>
                <a:cs typeface="Times New Roman" panose="02020603050405020304" pitchFamily="18" charset="0"/>
              </a:rPr>
              <a:t>Hệ</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thống</a:t>
            </a:r>
            <a:r>
              <a:rPr lang="en-US" sz="1200" dirty="0">
                <a:latin typeface="Times New Roman" panose="02020603050405020304" pitchFamily="18" charset="0"/>
                <a:cs typeface="Times New Roman" panose="02020603050405020304" pitchFamily="18" charset="0"/>
              </a:rPr>
              <a:t> NSNN:</a:t>
            </a:r>
            <a:endParaRPr lang="en-US" sz="1200" dirty="0"/>
          </a:p>
          <a:p>
            <a:pPr marL="0" indent="0" algn="just">
              <a:lnSpc>
                <a:spcPct val="150000"/>
              </a:lnSpc>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1. NSNN bao </a:t>
            </a:r>
            <a:r>
              <a:rPr lang="en-US" sz="1200" dirty="0" err="1">
                <a:latin typeface="Times New Roman" panose="02020603050405020304" pitchFamily="18" charset="0"/>
                <a:cs typeface="Times New Roman" panose="02020603050405020304" pitchFamily="18" charset="0"/>
              </a:rPr>
              <a:t>gồm</a:t>
            </a:r>
            <a:r>
              <a:rPr lang="en-US" sz="1200" dirty="0">
                <a:latin typeface="Times New Roman" panose="02020603050405020304" pitchFamily="18" charset="0"/>
                <a:cs typeface="Times New Roman" panose="02020603050405020304" pitchFamily="18" charset="0"/>
              </a:rPr>
              <a:t> NS </a:t>
            </a:r>
            <a:r>
              <a:rPr lang="en-US" sz="1200" dirty="0" err="1">
                <a:latin typeface="Times New Roman" panose="02020603050405020304" pitchFamily="18" charset="0"/>
                <a:cs typeface="Times New Roman" panose="02020603050405020304" pitchFamily="18" charset="0"/>
              </a:rPr>
              <a:t>trung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ương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NS </a:t>
            </a:r>
            <a:r>
              <a:rPr lang="en-US" sz="1200" dirty="0" err="1">
                <a:latin typeface="Times New Roman" panose="02020603050405020304" pitchFamily="18" charset="0"/>
                <a:cs typeface="Times New Roman" panose="02020603050405020304" pitchFamily="18" charset="0"/>
              </a:rPr>
              <a:t>địa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phương</a:t>
            </a:r>
            <a:r>
              <a:rPr lang="en-US" sz="1200" dirty="0">
                <a:latin typeface="Times New Roman" panose="02020603050405020304" pitchFamily="18" charset="0"/>
                <a:cs typeface="Times New Roman" panose="02020603050405020304" pitchFamily="18" charset="0"/>
              </a:rPr>
              <a:t>.</a:t>
            </a:r>
          </a:p>
          <a:p>
            <a:pPr marL="0" indent="0" algn="just">
              <a:lnSpc>
                <a:spcPct val="150000"/>
              </a:lnSpc>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2. NS </a:t>
            </a:r>
            <a:r>
              <a:rPr lang="en-US" sz="1200" dirty="0" err="1">
                <a:latin typeface="Times New Roman" panose="02020603050405020304" pitchFamily="18" charset="0"/>
                <a:cs typeface="Times New Roman" panose="02020603050405020304" pitchFamily="18" charset="0"/>
              </a:rPr>
              <a:t>địa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phương</a:t>
            </a:r>
            <a:r>
              <a:rPr lang="en-US" sz="1200" dirty="0">
                <a:latin typeface="Times New Roman" panose="02020603050405020304" pitchFamily="18" charset="0"/>
                <a:cs typeface="Times New Roman" panose="02020603050405020304" pitchFamily="18" charset="0"/>
              </a:rPr>
              <a:t> bao </a:t>
            </a:r>
            <a:r>
              <a:rPr lang="en-US" sz="1200" dirty="0" err="1">
                <a:latin typeface="Times New Roman" panose="02020603050405020304" pitchFamily="18" charset="0"/>
                <a:cs typeface="Times New Roman" panose="02020603050405020304" pitchFamily="18" charset="0"/>
              </a:rPr>
              <a:t>gồm</a:t>
            </a:r>
            <a:r>
              <a:rPr lang="en-US" sz="1200" dirty="0">
                <a:latin typeface="Times New Roman" panose="02020603050405020304" pitchFamily="18" charset="0"/>
                <a:cs typeface="Times New Roman" panose="02020603050405020304" pitchFamily="18" charset="0"/>
              </a:rPr>
              <a:t> NS </a:t>
            </a:r>
            <a:r>
              <a:rPr lang="en-US" sz="1200" dirty="0" err="1">
                <a:latin typeface="Times New Roman" panose="02020603050405020304" pitchFamily="18" charset="0"/>
                <a:cs typeface="Times New Roman" panose="02020603050405020304" pitchFamily="18" charset="0"/>
              </a:rPr>
              <a:t>cấp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tỉnh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NS </a:t>
            </a:r>
            <a:r>
              <a:rPr lang="en-US" sz="1200" dirty="0" err="1">
                <a:latin typeface="Times New Roman" panose="02020603050405020304" pitchFamily="18" charset="0"/>
                <a:cs typeface="Times New Roman" panose="02020603050405020304" pitchFamily="18" charset="0"/>
              </a:rPr>
              <a:t>cấp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xã</a:t>
            </a:r>
            <a:endParaRPr lang="en-US" sz="1200" dirty="0">
              <a:latin typeface="Times New Roman" panose="02020603050405020304" pitchFamily="18" charset="0"/>
              <a:cs typeface="Times New Roman" panose="02020603050405020304" pitchFamily="18" charset="0"/>
            </a:endParaRPr>
          </a:p>
          <a:p>
            <a:pPr marL="0" indent="0" algn="just">
              <a:lnSpc>
                <a:spcPct val="150000"/>
              </a:lnSpc>
              <a:buFont typeface="Arial" panose="020B0604020202020204" pitchFamily="34" charset="0"/>
              <a:buNone/>
            </a:pPr>
            <a:r>
              <a:rPr lang="vi-VN" sz="1200" dirty="0">
                <a:latin typeface="Times New Roman" panose="02020603050405020304" pitchFamily="18" charset="0"/>
                <a:cs typeface="Times New Roman" panose="02020603050405020304" pitchFamily="18" charset="0"/>
              </a:rPr>
              <a:t>Hệ thống NSNN là tập hợp các cấp ngân sách từ trung ương đến địa phương, được xây dựng theo mối quan hệ chiều dọc, dựa trên những nguyên tắc nhất định để đảm bảo sự hoạt động thống nhất của từng cấp trong toàn bộ hệ thống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nghĩa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là</a:t>
            </a:r>
            <a:r>
              <a:rPr lang="en-US" sz="1200" dirty="0">
                <a:latin typeface="Times New Roman" panose="02020603050405020304" pitchFamily="18" charset="0"/>
                <a:cs typeface="Times New Roman" panose="02020603050405020304" pitchFamily="18" charset="0"/>
              </a:rPr>
              <a:t> </a:t>
            </a:r>
            <a:r>
              <a:rPr lang="vi-VN" sz="1200" dirty="0">
                <a:latin typeface="Times New Roman" panose="02020603050405020304" pitchFamily="18" charset="0"/>
                <a:cs typeface="Times New Roman" panose="02020603050405020304" pitchFamily="18" charset="0"/>
              </a:rPr>
              <a:t> </a:t>
            </a:r>
            <a:r>
              <a:rPr lang="en-US" sz="1200" kern="1200" dirty="0" err="1">
                <a:solidFill>
                  <a:schemeClr val="tx1"/>
                </a:solidFill>
                <a:effectLst/>
                <a:latin typeface="+mn-lt"/>
                <a:ea typeface="+mn-ea"/>
                <a:cs typeface="+mn-cs"/>
              </a:rPr>
              <a:t>mọi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luật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máu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quốc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a:t>
            </a:r>
            <a:r>
              <a:rPr lang="en-US" sz="1200" kern="1200" dirty="0">
                <a:solidFill>
                  <a:schemeClr val="tx1"/>
                </a:solidFill>
                <a:effectLst/>
                <a:latin typeface="+mn-lt"/>
                <a:ea typeface="+mn-ea"/>
                <a:cs typeface="+mn-cs"/>
              </a:rPr>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B47D45E-CC80-4079-0286-EBBF35776ABD}"/>
              </a:ext>
            </a:extLst>
          </p:cNvPr>
          <p:cNvSpPr>
            <a:spLocks noGrp="1"/>
          </p:cNvSpPr>
          <p:nvPr>
            <p:ph type="sldNum" sz="quarter" idx="5"/>
          </p:nvPr>
        </p:nvSpPr>
        <p:spPr/>
        <p:txBody>
          <a:bodyPr/>
          <a:lstStyle/>
          <a:p>
            <a:fld id="{1DD107A9-A0C7-4078-AEEF-185A00981267}" type="slidenum">
              <a:rPr lang="en-US" smtClean="0"/>
              <a:t>12</a:t>
            </a:fld>
            <a:endParaRPr lang="en-US"/>
          </a:p>
        </p:txBody>
      </p:sp>
    </p:spTree>
    <p:extLst>
      <p:ext uri="{BB962C8B-B14F-4D97-AF65-F5344CB8AC3E}">
        <p14:creationId xmlns:p14="http://schemas.microsoft.com/office/powerpoint/2010/main" val="1426015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487AD-9E46-2C27-84CA-AB22D770C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3EDB1-16A2-8AF8-122B-237A369758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9D44F3-180E-0539-CBBE-5CDF0C3ED38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5705175B-125E-F007-E202-EFD0318D98E7}"/>
              </a:ext>
            </a:extLst>
          </p:cNvPr>
          <p:cNvSpPr>
            <a:spLocks noGrp="1"/>
          </p:cNvSpPr>
          <p:nvPr>
            <p:ph type="sldNum" sz="quarter" idx="5"/>
          </p:nvPr>
        </p:nvSpPr>
        <p:spPr/>
        <p:txBody>
          <a:bodyPr/>
          <a:lstStyle/>
          <a:p>
            <a:fld id="{1DD107A9-A0C7-4078-AEEF-185A00981267}" type="slidenum">
              <a:rPr lang="en-US" smtClean="0"/>
              <a:t>13</a:t>
            </a:fld>
            <a:endParaRPr lang="en-US"/>
          </a:p>
        </p:txBody>
      </p:sp>
    </p:spTree>
    <p:extLst>
      <p:ext uri="{BB962C8B-B14F-4D97-AF65-F5344CB8AC3E}">
        <p14:creationId xmlns:p14="http://schemas.microsoft.com/office/powerpoint/2010/main" val="545970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Thứ</a:t>
            </a:r>
            <a:r>
              <a:rPr lang="en-US" dirty="0"/>
              <a:t> </a:t>
            </a:r>
            <a:r>
              <a:rPr lang="en-US" dirty="0" err="1"/>
              <a:t>nhất</a:t>
            </a:r>
            <a:r>
              <a:rPr lang="en-US" dirty="0"/>
              <a:t>, </a:t>
            </a:r>
            <a:r>
              <a:rPr lang="en-US" dirty="0" err="1"/>
              <a:t>Gắn</a:t>
            </a:r>
            <a:r>
              <a:rPr lang="en-US" dirty="0"/>
              <a:t> </a:t>
            </a:r>
            <a:r>
              <a:rPr lang="en-US" dirty="0" err="1"/>
              <a:t>liền</a:t>
            </a:r>
            <a:r>
              <a:rPr lang="en-US" dirty="0"/>
              <a:t> </a:t>
            </a:r>
            <a:r>
              <a:rPr lang="en-US" dirty="0" err="1"/>
              <a:t>với</a:t>
            </a:r>
            <a:r>
              <a:rPr lang="en-US" dirty="0"/>
              <a:t> </a:t>
            </a:r>
            <a:r>
              <a:rPr lang="en-US" dirty="0" err="1"/>
              <a:t>chính</a:t>
            </a:r>
            <a:r>
              <a:rPr lang="en-US" dirty="0"/>
              <a:t> </a:t>
            </a:r>
            <a:r>
              <a:rPr lang="en-US" dirty="0" err="1"/>
              <a:t>quyền</a:t>
            </a:r>
            <a:r>
              <a:rPr lang="en-US" dirty="0"/>
              <a:t> </a:t>
            </a:r>
            <a:r>
              <a:rPr lang="en-US" dirty="0" err="1"/>
              <a:t>cơ</a:t>
            </a:r>
            <a:r>
              <a:rPr lang="en-US" dirty="0"/>
              <a:t> </a:t>
            </a:r>
            <a:r>
              <a:rPr lang="en-US" dirty="0" err="1"/>
              <a:t>sở</a:t>
            </a:r>
            <a:r>
              <a:rPr lang="en-US" dirty="0"/>
              <a:t>, </a:t>
            </a:r>
            <a:r>
              <a:rPr lang="en-US" dirty="0" err="1"/>
              <a:t>có</a:t>
            </a:r>
            <a:r>
              <a:rPr lang="en-US" dirty="0"/>
              <a:t> </a:t>
            </a:r>
            <a:r>
              <a:rPr lang="en-US" dirty="0" err="1"/>
              <a:t>vai</a:t>
            </a:r>
            <a:r>
              <a:rPr lang="en-US" dirty="0"/>
              <a:t> </a:t>
            </a:r>
            <a:r>
              <a:rPr lang="en-US" dirty="0" err="1"/>
              <a:t>trò</a:t>
            </a:r>
            <a:r>
              <a:rPr lang="en-US" dirty="0"/>
              <a:t> </a:t>
            </a:r>
            <a:r>
              <a:rPr lang="en-US" dirty="0" err="1"/>
              <a:t>quan</a:t>
            </a:r>
            <a:r>
              <a:rPr lang="en-US" dirty="0"/>
              <a:t> </a:t>
            </a:r>
            <a:r>
              <a:rPr lang="en-US" dirty="0" err="1"/>
              <a:t>trọng</a:t>
            </a:r>
            <a:r>
              <a:rPr lang="en-US" dirty="0"/>
              <a:t> </a:t>
            </a:r>
            <a:r>
              <a:rPr lang="en-US" dirty="0" err="1"/>
              <a:t>trong</a:t>
            </a:r>
            <a:r>
              <a:rPr lang="en-US" dirty="0"/>
              <a:t> </a:t>
            </a:r>
            <a:r>
              <a:rPr lang="en-US" dirty="0" err="1"/>
              <a:t>việc</a:t>
            </a:r>
            <a:r>
              <a:rPr lang="en-US" dirty="0"/>
              <a:t> </a:t>
            </a:r>
            <a:r>
              <a:rPr lang="en-US" dirty="0" err="1"/>
              <a:t>thực</a:t>
            </a:r>
            <a:r>
              <a:rPr lang="en-US" dirty="0"/>
              <a:t> </a:t>
            </a:r>
            <a:r>
              <a:rPr lang="en-US" dirty="0" err="1"/>
              <a:t>hiện</a:t>
            </a:r>
            <a:r>
              <a:rPr lang="en-US" dirty="0"/>
              <a:t> </a:t>
            </a:r>
            <a:r>
              <a:rPr lang="en-US" dirty="0" err="1"/>
              <a:t>chức</a:t>
            </a:r>
            <a:r>
              <a:rPr lang="en-US" dirty="0"/>
              <a:t> </a:t>
            </a:r>
            <a:r>
              <a:rPr lang="en-US" dirty="0" err="1"/>
              <a:t>năng</a:t>
            </a:r>
            <a:r>
              <a:rPr lang="en-US" dirty="0"/>
              <a:t>, </a:t>
            </a:r>
            <a:r>
              <a:rPr lang="en-US" dirty="0" err="1"/>
              <a:t>nhiệm</a:t>
            </a:r>
            <a:r>
              <a:rPr lang="en-US" dirty="0"/>
              <a:t> </a:t>
            </a:r>
            <a:r>
              <a:rPr lang="en-US" dirty="0" err="1"/>
              <a:t>vụ</a:t>
            </a:r>
            <a:r>
              <a:rPr lang="en-US" dirty="0"/>
              <a:t> </a:t>
            </a:r>
            <a:r>
              <a:rPr lang="en-US" dirty="0" err="1"/>
              <a:t>của</a:t>
            </a:r>
            <a:r>
              <a:rPr lang="en-US" dirty="0"/>
              <a:t> </a:t>
            </a:r>
            <a:r>
              <a:rPr lang="en-US" dirty="0" err="1"/>
              <a:t>chính</a:t>
            </a:r>
            <a:r>
              <a:rPr lang="en-US" dirty="0"/>
              <a:t> </a:t>
            </a:r>
            <a:r>
              <a:rPr lang="en-US" dirty="0" err="1"/>
              <a:t>quyền</a:t>
            </a:r>
            <a:r>
              <a:rPr lang="en-US" dirty="0"/>
              <a:t> </a:t>
            </a:r>
            <a:r>
              <a:rPr lang="en-US" dirty="0" err="1"/>
              <a:t>cấp</a:t>
            </a:r>
            <a:r>
              <a:rPr lang="en-US" dirty="0"/>
              <a:t> </a:t>
            </a:r>
            <a:r>
              <a:rPr lang="en-US" dirty="0" err="1"/>
              <a:t>cơ</a:t>
            </a:r>
            <a:r>
              <a:rPr lang="en-US" dirty="0"/>
              <a:t> </a:t>
            </a:r>
            <a:r>
              <a:rPr lang="en-US" dirty="0" err="1"/>
              <a:t>sở</a:t>
            </a:r>
            <a:r>
              <a:rPr lang="en-US" dirty="0"/>
              <a:t>:</a:t>
            </a:r>
          </a:p>
          <a:p>
            <a:r>
              <a:rPr lang="en-US" dirty="0"/>
              <a:t>+ </a:t>
            </a:r>
            <a:r>
              <a:rPr lang="en-US" dirty="0" err="1"/>
              <a:t>Là</a:t>
            </a:r>
            <a:r>
              <a:rPr lang="en-US" dirty="0"/>
              <a:t> </a:t>
            </a:r>
            <a:r>
              <a:rPr lang="en-US" dirty="0" err="1"/>
              <a:t>nguồn</a:t>
            </a:r>
            <a:r>
              <a:rPr lang="en-US" dirty="0"/>
              <a:t> </a:t>
            </a:r>
            <a:r>
              <a:rPr lang="en-US" dirty="0" err="1"/>
              <a:t>tài</a:t>
            </a:r>
            <a:r>
              <a:rPr lang="en-US" dirty="0"/>
              <a:t> </a:t>
            </a:r>
            <a:r>
              <a:rPr lang="en-US" dirty="0" err="1"/>
              <a:t>chính</a:t>
            </a:r>
            <a:r>
              <a:rPr lang="en-US" dirty="0"/>
              <a:t> </a:t>
            </a:r>
            <a:r>
              <a:rPr lang="en-US" dirty="0" err="1"/>
              <a:t>để</a:t>
            </a:r>
            <a:r>
              <a:rPr lang="en-US" dirty="0"/>
              <a:t> </a:t>
            </a:r>
            <a:r>
              <a:rPr lang="en-US" dirty="0" err="1"/>
              <a:t>đảm</a:t>
            </a:r>
            <a:r>
              <a:rPr lang="en-US" dirty="0"/>
              <a:t> </a:t>
            </a:r>
            <a:r>
              <a:rPr lang="en-US" dirty="0" err="1"/>
              <a:t>bảo</a:t>
            </a:r>
            <a:r>
              <a:rPr lang="en-US" dirty="0"/>
              <a:t> </a:t>
            </a:r>
            <a:r>
              <a:rPr lang="en-US" dirty="0" err="1"/>
              <a:t>hoạt</a:t>
            </a:r>
            <a:r>
              <a:rPr lang="en-US" dirty="0"/>
              <a:t> </a:t>
            </a:r>
            <a:r>
              <a:rPr lang="en-US" dirty="0" err="1"/>
              <a:t>động</a:t>
            </a:r>
            <a:r>
              <a:rPr lang="en-US" dirty="0"/>
              <a:t> </a:t>
            </a:r>
            <a:r>
              <a:rPr lang="en-US" dirty="0" err="1"/>
              <a:t>cho</a:t>
            </a:r>
            <a:r>
              <a:rPr lang="en-US" dirty="0"/>
              <a:t> </a:t>
            </a:r>
            <a:r>
              <a:rPr lang="en-US" dirty="0" err="1"/>
              <a:t>bộ</a:t>
            </a:r>
            <a:r>
              <a:rPr lang="en-US" dirty="0"/>
              <a:t> </a:t>
            </a:r>
            <a:r>
              <a:rPr lang="en-US" dirty="0" err="1"/>
              <a:t>máy</a:t>
            </a:r>
            <a:r>
              <a:rPr lang="en-US" dirty="0"/>
              <a:t> </a:t>
            </a:r>
            <a:r>
              <a:rPr lang="en-US" dirty="0" err="1"/>
              <a:t>hành</a:t>
            </a:r>
            <a:r>
              <a:rPr lang="en-US" dirty="0"/>
              <a:t> </a:t>
            </a:r>
            <a:r>
              <a:rPr lang="en-US" dirty="0" err="1"/>
              <a:t>chính</a:t>
            </a:r>
            <a:r>
              <a:rPr lang="en-US" dirty="0"/>
              <a:t>, </a:t>
            </a:r>
            <a:r>
              <a:rPr lang="en-US" dirty="0" err="1"/>
              <a:t>đảng</a:t>
            </a:r>
            <a:r>
              <a:rPr lang="en-US" dirty="0"/>
              <a:t>, </a:t>
            </a:r>
            <a:r>
              <a:rPr lang="en-US" dirty="0" err="1"/>
              <a:t>mặt</a:t>
            </a:r>
            <a:r>
              <a:rPr lang="en-US" dirty="0"/>
              <a:t> </a:t>
            </a:r>
            <a:r>
              <a:rPr lang="en-US" dirty="0" err="1"/>
              <a:t>trận</a:t>
            </a:r>
            <a:r>
              <a:rPr lang="en-US" dirty="0"/>
              <a:t> </a:t>
            </a:r>
            <a:r>
              <a:rPr lang="en-US" dirty="0" err="1"/>
              <a:t>tổ</a:t>
            </a:r>
            <a:r>
              <a:rPr lang="en-US" dirty="0"/>
              <a:t> </a:t>
            </a:r>
            <a:r>
              <a:rPr lang="en-US" dirty="0" err="1"/>
              <a:t>quốc</a:t>
            </a:r>
            <a:r>
              <a:rPr lang="en-US" dirty="0"/>
              <a:t> </a:t>
            </a:r>
            <a:r>
              <a:rPr lang="en-US" dirty="0" err="1"/>
              <a:t>việt</a:t>
            </a:r>
            <a:r>
              <a:rPr lang="en-US" dirty="0"/>
              <a:t> </a:t>
            </a:r>
            <a:r>
              <a:rPr lang="en-US" dirty="0" err="1"/>
              <a:t>nam</a:t>
            </a:r>
            <a:r>
              <a:rPr lang="en-US" dirty="0"/>
              <a:t> </a:t>
            </a:r>
            <a:r>
              <a:rPr lang="en-US" dirty="0" err="1"/>
              <a:t>tại</a:t>
            </a:r>
            <a:r>
              <a:rPr lang="en-US" dirty="0"/>
              <a:t> </a:t>
            </a:r>
            <a:r>
              <a:rPr lang="en-US" dirty="0" err="1"/>
              <a:t>xã</a:t>
            </a:r>
            <a:r>
              <a:rPr lang="en-US" dirty="0"/>
              <a:t>, </a:t>
            </a:r>
            <a:r>
              <a:rPr lang="en-US" dirty="0" err="1"/>
              <a:t>các</a:t>
            </a:r>
            <a:r>
              <a:rPr lang="en-US" dirty="0"/>
              <a:t> </a:t>
            </a:r>
            <a:r>
              <a:rPr lang="en-US" dirty="0" err="1"/>
              <a:t>tổ</a:t>
            </a:r>
            <a:r>
              <a:rPr lang="en-US" dirty="0"/>
              <a:t> </a:t>
            </a:r>
            <a:r>
              <a:rPr lang="en-US" dirty="0" err="1"/>
              <a:t>chức</a:t>
            </a:r>
            <a:r>
              <a:rPr lang="en-US" dirty="0"/>
              <a:t> </a:t>
            </a:r>
            <a:r>
              <a:rPr lang="en-US" dirty="0" err="1"/>
              <a:t>chính</a:t>
            </a:r>
            <a:r>
              <a:rPr lang="en-US" dirty="0"/>
              <a:t> </a:t>
            </a:r>
            <a:r>
              <a:rPr lang="en-US" dirty="0" err="1"/>
              <a:t>trị</a:t>
            </a:r>
            <a:r>
              <a:rPr lang="en-US" dirty="0"/>
              <a:t>- </a:t>
            </a:r>
            <a:r>
              <a:rPr lang="en-US" dirty="0" err="1"/>
              <a:t>xã</a:t>
            </a:r>
            <a:r>
              <a:rPr lang="en-US" dirty="0"/>
              <a:t> </a:t>
            </a:r>
            <a:r>
              <a:rPr lang="en-US" dirty="0" err="1"/>
              <a:t>hội</a:t>
            </a:r>
            <a:r>
              <a:rPr lang="en-US" dirty="0"/>
              <a:t> ở </a:t>
            </a:r>
            <a:r>
              <a:rPr lang="en-US" dirty="0" err="1"/>
              <a:t>xã</a:t>
            </a:r>
            <a:r>
              <a:rPr lang="en-US" dirty="0"/>
              <a:t>, </a:t>
            </a:r>
            <a:r>
              <a:rPr lang="en-US" dirty="0" err="1"/>
              <a:t>đảm</a:t>
            </a:r>
            <a:r>
              <a:rPr lang="en-US" dirty="0"/>
              <a:t> </a:t>
            </a:r>
            <a:r>
              <a:rPr lang="en-US" dirty="0" err="1"/>
              <a:t>bảo</a:t>
            </a:r>
            <a:r>
              <a:rPr lang="en-US" dirty="0"/>
              <a:t> </a:t>
            </a:r>
            <a:r>
              <a:rPr lang="en-US" dirty="0" err="1"/>
              <a:t>cơ</a:t>
            </a:r>
            <a:r>
              <a:rPr lang="en-US" dirty="0"/>
              <a:t> </a:t>
            </a:r>
            <a:r>
              <a:rPr lang="en-US" dirty="0" err="1"/>
              <a:t>sở</a:t>
            </a:r>
            <a:r>
              <a:rPr lang="en-US" dirty="0"/>
              <a:t> </a:t>
            </a:r>
            <a:r>
              <a:rPr lang="en-US" dirty="0" err="1"/>
              <a:t>hạ</a:t>
            </a:r>
            <a:r>
              <a:rPr lang="en-US" dirty="0"/>
              <a:t> </a:t>
            </a:r>
            <a:r>
              <a:rPr lang="en-US" dirty="0" err="1"/>
              <a:t>tầng</a:t>
            </a:r>
            <a:r>
              <a:rPr lang="en-US" dirty="0"/>
              <a:t> </a:t>
            </a:r>
            <a:r>
              <a:rPr lang="en-US" dirty="0" err="1"/>
              <a:t>giao</a:t>
            </a:r>
            <a:r>
              <a:rPr lang="en-US" dirty="0"/>
              <a:t> </a:t>
            </a:r>
            <a:r>
              <a:rPr lang="en-US" dirty="0" err="1"/>
              <a:t>thông</a:t>
            </a:r>
            <a:r>
              <a:rPr lang="en-US" dirty="0"/>
              <a:t>, </a:t>
            </a:r>
            <a:r>
              <a:rPr lang="en-US" dirty="0" err="1"/>
              <a:t>môi</a:t>
            </a:r>
            <a:r>
              <a:rPr lang="en-US" dirty="0"/>
              <a:t> </a:t>
            </a:r>
            <a:r>
              <a:rPr lang="en-US" dirty="0" err="1"/>
              <a:t>trường</a:t>
            </a:r>
            <a:r>
              <a:rPr lang="en-US" dirty="0"/>
              <a:t>, </a:t>
            </a:r>
            <a:r>
              <a:rPr lang="en-US" dirty="0" err="1"/>
              <a:t>trật</a:t>
            </a:r>
            <a:r>
              <a:rPr lang="en-US" dirty="0"/>
              <a:t> </a:t>
            </a:r>
            <a:r>
              <a:rPr lang="en-US" dirty="0" err="1"/>
              <a:t>tự</a:t>
            </a:r>
            <a:r>
              <a:rPr lang="en-US" dirty="0"/>
              <a:t> </a:t>
            </a:r>
            <a:r>
              <a:rPr lang="en-US" dirty="0" err="1"/>
              <a:t>trị</a:t>
            </a:r>
            <a:r>
              <a:rPr lang="en-US" dirty="0"/>
              <a:t> an </a:t>
            </a:r>
            <a:r>
              <a:rPr lang="en-US" dirty="0" err="1"/>
              <a:t>và</a:t>
            </a:r>
            <a:r>
              <a:rPr lang="en-US" dirty="0"/>
              <a:t> </a:t>
            </a:r>
            <a:r>
              <a:rPr lang="en-US" dirty="0" err="1"/>
              <a:t>các</a:t>
            </a:r>
            <a:r>
              <a:rPr lang="en-US" dirty="0"/>
              <a:t> </a:t>
            </a:r>
            <a:r>
              <a:rPr lang="en-US" dirty="0" err="1"/>
              <a:t>sự</a:t>
            </a:r>
            <a:r>
              <a:rPr lang="en-US" dirty="0"/>
              <a:t> </a:t>
            </a:r>
            <a:r>
              <a:rPr lang="en-US" dirty="0" err="1"/>
              <a:t>nghiệp</a:t>
            </a:r>
            <a:r>
              <a:rPr lang="en-US" dirty="0"/>
              <a:t> </a:t>
            </a:r>
            <a:r>
              <a:rPr lang="en-US" dirty="0" err="1"/>
              <a:t>giáo</a:t>
            </a:r>
            <a:r>
              <a:rPr lang="en-US" dirty="0"/>
              <a:t> </a:t>
            </a:r>
            <a:r>
              <a:rPr lang="en-US" dirty="0" err="1"/>
              <a:t>dục</a:t>
            </a:r>
            <a:r>
              <a:rPr lang="en-US" dirty="0"/>
              <a:t>, y </a:t>
            </a:r>
            <a:r>
              <a:rPr lang="en-US" dirty="0" err="1"/>
              <a:t>tế</a:t>
            </a:r>
            <a:r>
              <a:rPr lang="en-US" dirty="0"/>
              <a:t>…</a:t>
            </a:r>
            <a:r>
              <a:rPr lang="en-US" dirty="0" err="1"/>
              <a:t>theo</a:t>
            </a:r>
            <a:r>
              <a:rPr lang="en-US" dirty="0"/>
              <a:t> </a:t>
            </a:r>
            <a:r>
              <a:rPr lang="en-US" dirty="0" err="1"/>
              <a:t>phân</a:t>
            </a:r>
            <a:r>
              <a:rPr lang="en-US" dirty="0"/>
              <a:t> </a:t>
            </a:r>
            <a:r>
              <a:rPr lang="en-US" dirty="0" err="1"/>
              <a:t>cấp</a:t>
            </a:r>
            <a:r>
              <a:rPr lang="en-US" dirty="0"/>
              <a:t> </a:t>
            </a:r>
            <a:r>
              <a:rPr lang="en-US" dirty="0" err="1"/>
              <a:t>quản</a:t>
            </a:r>
            <a:r>
              <a:rPr lang="en-US" dirty="0"/>
              <a:t> </a:t>
            </a:r>
            <a:r>
              <a:rPr lang="en-US" dirty="0" err="1"/>
              <a:t>lý</a:t>
            </a:r>
            <a:r>
              <a:rPr lang="en-US" dirty="0"/>
              <a:t> </a:t>
            </a:r>
            <a:r>
              <a:rPr lang="en-US" dirty="0" err="1"/>
              <a:t>kinh</a:t>
            </a:r>
            <a:r>
              <a:rPr lang="en-US" dirty="0"/>
              <a:t> </a:t>
            </a:r>
            <a:r>
              <a:rPr lang="en-US" dirty="0" err="1"/>
              <a:t>tế</a:t>
            </a:r>
            <a:r>
              <a:rPr lang="en-US" dirty="0"/>
              <a:t> - </a:t>
            </a:r>
            <a:r>
              <a:rPr lang="en-US" dirty="0" err="1"/>
              <a:t>xã</a:t>
            </a:r>
            <a:r>
              <a:rPr lang="en-US" dirty="0"/>
              <a:t> </a:t>
            </a:r>
            <a:r>
              <a:rPr lang="en-US" dirty="0" err="1"/>
              <a:t>hội</a:t>
            </a:r>
            <a:r>
              <a:rPr lang="en-US" dirty="0"/>
              <a:t>;</a:t>
            </a:r>
          </a:p>
          <a:p>
            <a:r>
              <a:rPr lang="en-US" dirty="0"/>
              <a:t>+ </a:t>
            </a:r>
            <a:r>
              <a:rPr lang="en-US" dirty="0" err="1"/>
              <a:t>Giúp</a:t>
            </a:r>
            <a:r>
              <a:rPr lang="en-US" dirty="0"/>
              <a:t> </a:t>
            </a:r>
            <a:r>
              <a:rPr lang="en-US" dirty="0" err="1"/>
              <a:t>chính</a:t>
            </a:r>
            <a:r>
              <a:rPr lang="en-US" dirty="0"/>
              <a:t> </a:t>
            </a:r>
            <a:r>
              <a:rPr lang="en-US" dirty="0" err="1"/>
              <a:t>quyền</a:t>
            </a:r>
            <a:r>
              <a:rPr lang="en-US" dirty="0"/>
              <a:t> </a:t>
            </a:r>
            <a:r>
              <a:rPr lang="en-US" dirty="0" err="1"/>
              <a:t>xã</a:t>
            </a:r>
            <a:r>
              <a:rPr lang="en-US" dirty="0"/>
              <a:t> </a:t>
            </a:r>
            <a:r>
              <a:rPr lang="en-US" dirty="0" err="1"/>
              <a:t>khai</a:t>
            </a:r>
            <a:r>
              <a:rPr lang="en-US" dirty="0"/>
              <a:t> </a:t>
            </a:r>
            <a:r>
              <a:rPr lang="en-US" dirty="0" err="1"/>
              <a:t>thác</a:t>
            </a:r>
            <a:r>
              <a:rPr lang="en-US" dirty="0"/>
              <a:t> </a:t>
            </a:r>
            <a:r>
              <a:rPr lang="en-US" dirty="0" err="1"/>
              <a:t>các</a:t>
            </a:r>
            <a:r>
              <a:rPr lang="en-US" dirty="0"/>
              <a:t> </a:t>
            </a:r>
            <a:r>
              <a:rPr lang="en-US" dirty="0" err="1"/>
              <a:t>thế</a:t>
            </a:r>
            <a:r>
              <a:rPr lang="en-US" dirty="0"/>
              <a:t> </a:t>
            </a:r>
            <a:r>
              <a:rPr lang="en-US" dirty="0" err="1"/>
              <a:t>mạnh</a:t>
            </a:r>
            <a:r>
              <a:rPr lang="en-US" dirty="0"/>
              <a:t> </a:t>
            </a:r>
            <a:r>
              <a:rPr lang="en-US" dirty="0" err="1"/>
              <a:t>về</a:t>
            </a:r>
            <a:r>
              <a:rPr lang="en-US" dirty="0"/>
              <a:t> KT-XH </a:t>
            </a:r>
            <a:r>
              <a:rPr lang="en-US" dirty="0" err="1"/>
              <a:t>trên</a:t>
            </a:r>
            <a:r>
              <a:rPr lang="en-US" dirty="0"/>
              <a:t> </a:t>
            </a:r>
            <a:r>
              <a:rPr lang="en-US" dirty="0" err="1"/>
              <a:t>địa</a:t>
            </a:r>
            <a:r>
              <a:rPr lang="en-US" dirty="0"/>
              <a:t> </a:t>
            </a:r>
            <a:r>
              <a:rPr lang="en-US" dirty="0" err="1"/>
              <a:t>bàn</a:t>
            </a:r>
            <a:r>
              <a:rPr lang="en-US" dirty="0"/>
              <a:t>;</a:t>
            </a:r>
          </a:p>
          <a:p>
            <a:r>
              <a:rPr lang="en-US" dirty="0"/>
              <a:t>+ </a:t>
            </a:r>
            <a:r>
              <a:rPr lang="en-US" dirty="0" err="1"/>
              <a:t>Là</a:t>
            </a:r>
            <a:r>
              <a:rPr lang="en-US" dirty="0"/>
              <a:t> </a:t>
            </a:r>
            <a:r>
              <a:rPr lang="en-US" dirty="0" err="1"/>
              <a:t>công</a:t>
            </a:r>
            <a:r>
              <a:rPr lang="en-US" dirty="0"/>
              <a:t> </a:t>
            </a:r>
            <a:r>
              <a:rPr lang="en-US" dirty="0" err="1"/>
              <a:t>cụ</a:t>
            </a:r>
            <a:r>
              <a:rPr lang="en-US" dirty="0"/>
              <a:t> </a:t>
            </a:r>
            <a:r>
              <a:rPr lang="en-US" dirty="0" err="1"/>
              <a:t>tài</a:t>
            </a:r>
            <a:r>
              <a:rPr lang="en-US" dirty="0"/>
              <a:t> </a:t>
            </a:r>
            <a:r>
              <a:rPr lang="en-US" dirty="0" err="1"/>
              <a:t>chính</a:t>
            </a:r>
            <a:r>
              <a:rPr lang="en-US" dirty="0"/>
              <a:t> </a:t>
            </a:r>
            <a:r>
              <a:rPr lang="en-US" dirty="0" err="1"/>
              <a:t>giúp</a:t>
            </a:r>
            <a:r>
              <a:rPr lang="en-US" dirty="0"/>
              <a:t> </a:t>
            </a:r>
            <a:r>
              <a:rPr lang="en-US" dirty="0" err="1"/>
              <a:t>cơ</a:t>
            </a:r>
            <a:r>
              <a:rPr lang="en-US" dirty="0"/>
              <a:t> </a:t>
            </a:r>
            <a:r>
              <a:rPr lang="en-US" dirty="0" err="1"/>
              <a:t>quan</a:t>
            </a:r>
            <a:r>
              <a:rPr lang="en-US" dirty="0"/>
              <a:t> </a:t>
            </a:r>
            <a:r>
              <a:rPr lang="en-US" dirty="0" err="1"/>
              <a:t>cấp</a:t>
            </a:r>
            <a:r>
              <a:rPr lang="en-US" dirty="0"/>
              <a:t> </a:t>
            </a:r>
            <a:r>
              <a:rPr lang="en-US" dirty="0" err="1"/>
              <a:t>trên</a:t>
            </a:r>
            <a:r>
              <a:rPr lang="en-US" dirty="0"/>
              <a:t> </a:t>
            </a:r>
            <a:r>
              <a:rPr lang="en-US" dirty="0" err="1"/>
              <a:t>và</a:t>
            </a:r>
            <a:r>
              <a:rPr lang="en-US" dirty="0"/>
              <a:t> </a:t>
            </a:r>
            <a:r>
              <a:rPr lang="en-US" dirty="0" err="1"/>
              <a:t>nhân</a:t>
            </a:r>
            <a:r>
              <a:rPr lang="en-US" dirty="0"/>
              <a:t> </a:t>
            </a:r>
            <a:r>
              <a:rPr lang="en-US" dirty="0" err="1"/>
              <a:t>dân</a:t>
            </a:r>
            <a:r>
              <a:rPr lang="en-US" dirty="0"/>
              <a:t> </a:t>
            </a:r>
            <a:r>
              <a:rPr lang="en-US" dirty="0" err="1"/>
              <a:t>kiểm</a:t>
            </a:r>
            <a:r>
              <a:rPr lang="en-US" dirty="0"/>
              <a:t> </a:t>
            </a:r>
            <a:r>
              <a:rPr lang="en-US" dirty="0" err="1"/>
              <a:t>tra</a:t>
            </a:r>
            <a:r>
              <a:rPr lang="en-US" dirty="0"/>
              <a:t>, </a:t>
            </a:r>
            <a:r>
              <a:rPr lang="en-US" dirty="0" err="1"/>
              <a:t>giám</a:t>
            </a:r>
            <a:r>
              <a:rPr lang="en-US" dirty="0"/>
              <a:t> </a:t>
            </a:r>
            <a:r>
              <a:rPr lang="en-US" dirty="0" err="1"/>
              <a:t>sát</a:t>
            </a:r>
            <a:r>
              <a:rPr lang="en-US" dirty="0"/>
              <a:t> </a:t>
            </a:r>
            <a:r>
              <a:rPr lang="en-US" dirty="0" err="1"/>
              <a:t>hoạt</a:t>
            </a:r>
            <a:r>
              <a:rPr lang="en-US" dirty="0"/>
              <a:t> </a:t>
            </a:r>
            <a:r>
              <a:rPr lang="en-US" dirty="0" err="1"/>
              <a:t>động</a:t>
            </a:r>
            <a:r>
              <a:rPr lang="en-US" dirty="0"/>
              <a:t> </a:t>
            </a:r>
            <a:r>
              <a:rPr lang="en-US" dirty="0" err="1"/>
              <a:t>của</a:t>
            </a:r>
            <a:r>
              <a:rPr lang="en-US" dirty="0"/>
              <a:t> </a:t>
            </a:r>
            <a:r>
              <a:rPr lang="en-US" dirty="0" err="1"/>
              <a:t>chính</a:t>
            </a:r>
            <a:r>
              <a:rPr lang="en-US" dirty="0"/>
              <a:t> </a:t>
            </a:r>
            <a:r>
              <a:rPr lang="en-US" dirty="0" err="1"/>
              <a:t>quyền</a:t>
            </a:r>
            <a:r>
              <a:rPr lang="en-US" dirty="0"/>
              <a:t> </a:t>
            </a:r>
            <a:r>
              <a:rPr lang="en-US" dirty="0" err="1"/>
              <a:t>xã</a:t>
            </a:r>
            <a:r>
              <a:rPr lang="en-US" dirty="0"/>
              <a:t>.</a:t>
            </a:r>
          </a:p>
          <a:p>
            <a:r>
              <a:rPr lang="en-US" dirty="0" err="1"/>
              <a:t>Thứ</a:t>
            </a:r>
            <a:r>
              <a:rPr lang="en-US" dirty="0"/>
              <a:t> </a:t>
            </a:r>
            <a:r>
              <a:rPr lang="en-US" dirty="0" err="1"/>
              <a:t>hai</a:t>
            </a:r>
            <a:r>
              <a:rPr lang="en-US" dirty="0"/>
              <a:t>, </a:t>
            </a:r>
            <a:r>
              <a:rPr lang="en-US" dirty="0" err="1"/>
              <a:t>thu</a:t>
            </a:r>
            <a:r>
              <a:rPr lang="en-US" dirty="0"/>
              <a:t> chi NS </a:t>
            </a:r>
            <a:r>
              <a:rPr lang="en-US" dirty="0" err="1"/>
              <a:t>xã</a:t>
            </a:r>
            <a:r>
              <a:rPr lang="en-US" dirty="0"/>
              <a:t> </a:t>
            </a:r>
            <a:r>
              <a:rPr lang="en-US" dirty="0" err="1"/>
              <a:t>tác</a:t>
            </a:r>
            <a:r>
              <a:rPr lang="en-US" dirty="0"/>
              <a:t> </a:t>
            </a:r>
            <a:r>
              <a:rPr lang="en-US" dirty="0" err="1"/>
              <a:t>động</a:t>
            </a:r>
            <a:r>
              <a:rPr lang="en-US" dirty="0"/>
              <a:t> </a:t>
            </a:r>
            <a:r>
              <a:rPr lang="en-US" dirty="0" err="1"/>
              <a:t>trực</a:t>
            </a:r>
            <a:r>
              <a:rPr lang="en-US" dirty="0"/>
              <a:t> </a:t>
            </a:r>
            <a:r>
              <a:rPr lang="en-US" dirty="0" err="1"/>
              <a:t>tiếp</a:t>
            </a:r>
            <a:r>
              <a:rPr lang="en-US" dirty="0"/>
              <a:t> </a:t>
            </a:r>
            <a:r>
              <a:rPr lang="en-US" dirty="0" err="1"/>
              <a:t>và</a:t>
            </a:r>
            <a:r>
              <a:rPr lang="en-US" dirty="0"/>
              <a:t> </a:t>
            </a:r>
            <a:r>
              <a:rPr lang="en-US" dirty="0" err="1"/>
              <a:t>nhanh</a:t>
            </a:r>
            <a:r>
              <a:rPr lang="en-US" dirty="0"/>
              <a:t> </a:t>
            </a:r>
            <a:r>
              <a:rPr lang="en-US" dirty="0" err="1"/>
              <a:t>chóng</a:t>
            </a:r>
            <a:r>
              <a:rPr lang="en-US" dirty="0"/>
              <a:t> </a:t>
            </a:r>
            <a:r>
              <a:rPr lang="en-US" dirty="0" err="1"/>
              <a:t>đến</a:t>
            </a:r>
            <a:r>
              <a:rPr lang="en-US" dirty="0"/>
              <a:t> </a:t>
            </a:r>
            <a:r>
              <a:rPr lang="en-US" dirty="0" err="1"/>
              <a:t>đời</a:t>
            </a:r>
            <a:r>
              <a:rPr lang="en-US" dirty="0"/>
              <a:t> </a:t>
            </a:r>
            <a:r>
              <a:rPr lang="en-US" dirty="0" err="1"/>
              <a:t>sống</a:t>
            </a:r>
            <a:r>
              <a:rPr lang="en-US" dirty="0"/>
              <a:t> </a:t>
            </a:r>
            <a:r>
              <a:rPr lang="en-US" dirty="0" err="1"/>
              <a:t>dân</a:t>
            </a:r>
            <a:r>
              <a:rPr lang="en-US" dirty="0"/>
              <a:t> </a:t>
            </a:r>
            <a:r>
              <a:rPr lang="en-US" dirty="0" err="1"/>
              <a:t>cư</a:t>
            </a:r>
            <a:r>
              <a:rPr lang="en-US" dirty="0"/>
              <a:t> </a:t>
            </a:r>
            <a:r>
              <a:rPr lang="en-US" dirty="0" err="1"/>
              <a:t>tại</a:t>
            </a:r>
            <a:r>
              <a:rPr lang="en-US" dirty="0"/>
              <a:t> </a:t>
            </a:r>
            <a:r>
              <a:rPr lang="en-US" dirty="0" err="1"/>
              <a:t>xã</a:t>
            </a:r>
            <a:r>
              <a:rPr lang="en-US" dirty="0"/>
              <a:t>. </a:t>
            </a:r>
            <a:r>
              <a:rPr lang="vi-VN" dirty="0"/>
              <a:t>Ví dụ, nếu xã thu mỗi hộ gia đình một trăm nghìn đồng để tu sửa hệ thống loa phát thanh. Nếu loa vang lên rõ ràng, dân thấy ngay hiệu quả và rất đồng tình. Nhưng nếu thu tiền mà loa vẫn tịt ngòi, người dân sẽ bức xúc và ý kiến ngay lập tức lên chủ tịch xã. Đó chính là sự tác động trực tiếp và nhanh chóng.</a:t>
            </a:r>
            <a:endParaRPr lang="en-US" dirty="0"/>
          </a:p>
          <a:p>
            <a:r>
              <a:rPr lang="en-US" dirty="0" err="1"/>
              <a:t>Và</a:t>
            </a:r>
            <a:r>
              <a:rPr lang="en-US" dirty="0"/>
              <a:t> </a:t>
            </a:r>
            <a:r>
              <a:rPr lang="en-US" dirty="0" err="1"/>
              <a:t>đặc</a:t>
            </a:r>
            <a:r>
              <a:rPr lang="en-US" dirty="0"/>
              <a:t> </a:t>
            </a:r>
            <a:r>
              <a:rPr lang="en-US" dirty="0" err="1"/>
              <a:t>điểm</a:t>
            </a:r>
            <a:r>
              <a:rPr lang="en-US" dirty="0"/>
              <a:t> </a:t>
            </a:r>
            <a:r>
              <a:rPr lang="en-US" dirty="0" err="1"/>
              <a:t>cuối</a:t>
            </a:r>
            <a:r>
              <a:rPr lang="en-US" dirty="0"/>
              <a:t> </a:t>
            </a:r>
            <a:r>
              <a:rPr lang="en-US" dirty="0" err="1"/>
              <a:t>cùng</a:t>
            </a:r>
            <a:r>
              <a:rPr lang="en-US" dirty="0"/>
              <a:t>, </a:t>
            </a:r>
            <a:r>
              <a:rPr lang="en-US" dirty="0" err="1"/>
              <a:t>phụ</a:t>
            </a:r>
            <a:r>
              <a:rPr lang="en-US" dirty="0"/>
              <a:t> </a:t>
            </a:r>
            <a:r>
              <a:rPr lang="en-US" dirty="0" err="1"/>
              <a:t>thuộc</a:t>
            </a:r>
            <a:r>
              <a:rPr lang="en-US" dirty="0"/>
              <a:t> </a:t>
            </a:r>
            <a:r>
              <a:rPr lang="en-US" dirty="0" err="1"/>
              <a:t>vào</a:t>
            </a:r>
            <a:r>
              <a:rPr lang="en-US" dirty="0"/>
              <a:t> </a:t>
            </a:r>
            <a:r>
              <a:rPr lang="en-US" dirty="0" err="1"/>
              <a:t>phân</a:t>
            </a:r>
            <a:r>
              <a:rPr lang="en-US" dirty="0"/>
              <a:t> </a:t>
            </a:r>
            <a:r>
              <a:rPr lang="en-US" dirty="0" err="1"/>
              <a:t>cấp</a:t>
            </a:r>
            <a:r>
              <a:rPr lang="en-US" dirty="0"/>
              <a:t> </a:t>
            </a:r>
            <a:r>
              <a:rPr lang="en-US" dirty="0" err="1"/>
              <a:t>quản</a:t>
            </a:r>
            <a:r>
              <a:rPr lang="en-US" dirty="0"/>
              <a:t> </a:t>
            </a:r>
            <a:r>
              <a:rPr lang="en-US" dirty="0" err="1"/>
              <a:t>lý</a:t>
            </a:r>
            <a:r>
              <a:rPr lang="en-US" dirty="0"/>
              <a:t>. Nghĩa </a:t>
            </a:r>
            <a:r>
              <a:rPr lang="en-US" dirty="0" err="1"/>
              <a:t>là</a:t>
            </a:r>
            <a:r>
              <a:rPr lang="en-US" dirty="0"/>
              <a:t> n</a:t>
            </a:r>
            <a:r>
              <a:rPr lang="vi-VN" dirty="0"/>
              <a:t>guồn thu và nhiệm vụ chi của các xã không hề cào bằng giống nhau. Hội đồng nhân dân cấp tỉnh sẽ quyết định phân cấp sao cho phù hợp. Ví dụ, phường </a:t>
            </a:r>
            <a:r>
              <a:rPr lang="en-US" dirty="0"/>
              <a:t>BMT </a:t>
            </a:r>
            <a:r>
              <a:rPr lang="en-US" dirty="0" err="1"/>
              <a:t>của</a:t>
            </a:r>
            <a:r>
              <a:rPr lang="en-US" dirty="0"/>
              <a:t> </a:t>
            </a:r>
            <a:r>
              <a:rPr lang="en-US" dirty="0" err="1"/>
              <a:t>tỉnh</a:t>
            </a:r>
            <a:r>
              <a:rPr lang="en-US" dirty="0"/>
              <a:t> </a:t>
            </a:r>
            <a:r>
              <a:rPr lang="en-US" dirty="0" err="1"/>
              <a:t>Đắk</a:t>
            </a:r>
            <a:r>
              <a:rPr lang="en-US" dirty="0"/>
              <a:t> </a:t>
            </a:r>
            <a:r>
              <a:rPr lang="en-US" dirty="0" err="1"/>
              <a:t>Lắk</a:t>
            </a:r>
            <a:r>
              <a:rPr lang="vi-VN" dirty="0"/>
              <a:t> sẽ có quy mô và nguồn thu khác một xã vùng sâu vùng xa </a:t>
            </a:r>
            <a:r>
              <a:rPr lang="en-US" dirty="0" err="1"/>
              <a:t>của</a:t>
            </a:r>
            <a:r>
              <a:rPr lang="en-US" dirty="0"/>
              <a:t> </a:t>
            </a:r>
            <a:r>
              <a:rPr lang="en-US" dirty="0" err="1"/>
              <a:t>tỉnh</a:t>
            </a:r>
            <a:r>
              <a:rPr lang="en-US" dirty="0"/>
              <a:t> </a:t>
            </a:r>
            <a:r>
              <a:rPr lang="en-US" dirty="0" err="1"/>
              <a:t>Đắk</a:t>
            </a:r>
            <a:r>
              <a:rPr lang="en-US" dirty="0"/>
              <a:t> </a:t>
            </a:r>
            <a:r>
              <a:rPr lang="en-US" dirty="0" err="1"/>
              <a:t>Lắk</a:t>
            </a:r>
            <a:r>
              <a:rPr lang="en-US" dirty="0"/>
              <a:t> </a:t>
            </a:r>
            <a:r>
              <a:rPr lang="en-US" dirty="0" err="1"/>
              <a:t>hoặc</a:t>
            </a:r>
            <a:r>
              <a:rPr lang="vi-VN" dirty="0"/>
              <a:t> tỉnh Hà Giang, để bảo đảm phù hợp với đặc điểm kinh tế, địa lý và dân cư của từng nơi.</a:t>
            </a:r>
            <a:endParaRPr lang="en-US" dirty="0"/>
          </a:p>
        </p:txBody>
      </p:sp>
      <p:sp>
        <p:nvSpPr>
          <p:cNvPr id="4" name="Slide Number Placeholder 3"/>
          <p:cNvSpPr>
            <a:spLocks noGrp="1"/>
          </p:cNvSpPr>
          <p:nvPr>
            <p:ph type="sldNum" sz="quarter" idx="5"/>
          </p:nvPr>
        </p:nvSpPr>
        <p:spPr/>
        <p:txBody>
          <a:bodyPr/>
          <a:lstStyle/>
          <a:p>
            <a:fld id="{1DD107A9-A0C7-4078-AEEF-185A00981267}" type="slidenum">
              <a:rPr lang="en-US" smtClean="0"/>
              <a:t>14</a:t>
            </a:fld>
            <a:endParaRPr lang="en-US"/>
          </a:p>
        </p:txBody>
      </p:sp>
    </p:spTree>
    <p:extLst>
      <p:ext uri="{BB962C8B-B14F-4D97-AF65-F5344CB8AC3E}">
        <p14:creationId xmlns:p14="http://schemas.microsoft.com/office/powerpoint/2010/main" val="2628719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D1C04-584F-093E-CC82-C6A80C7C1E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946F3-BA9F-FD42-5B09-8BBDF08A5C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82F2E3-551F-4616-36E5-C300E7ECE99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331E310-F8CE-EC8B-7E6D-7BD4735FC448}"/>
              </a:ext>
            </a:extLst>
          </p:cNvPr>
          <p:cNvSpPr>
            <a:spLocks noGrp="1"/>
          </p:cNvSpPr>
          <p:nvPr>
            <p:ph type="sldNum" sz="quarter" idx="5"/>
          </p:nvPr>
        </p:nvSpPr>
        <p:spPr/>
        <p:txBody>
          <a:bodyPr/>
          <a:lstStyle/>
          <a:p>
            <a:fld id="{1DD107A9-A0C7-4078-AEEF-185A00981267}" type="slidenum">
              <a:rPr lang="en-US" smtClean="0"/>
              <a:t>15</a:t>
            </a:fld>
            <a:endParaRPr lang="en-US"/>
          </a:p>
        </p:txBody>
      </p:sp>
    </p:spTree>
    <p:extLst>
      <p:ext uri="{BB962C8B-B14F-4D97-AF65-F5344CB8AC3E}">
        <p14:creationId xmlns:p14="http://schemas.microsoft.com/office/powerpoint/2010/main" val="3149495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D7856-A02A-7698-C76F-7493E0907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A49F59-EF54-F8E5-8C69-74B8527FA1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93B3C-B06B-D9F7-B9D4-A9C65DA1940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Và để đảm bảo chính quyền cấp xã luôn chủ động được nguồn tiền, cơ cấu nguồn thu sẽ được cấu thành từ </a:t>
            </a:r>
            <a:r>
              <a:rPr lang="en-US" dirty="0" err="1"/>
              <a:t>hai</a:t>
            </a:r>
            <a:r>
              <a:rPr lang="vi-VN" dirty="0"/>
              <a:t> nhóm chính: </a:t>
            </a:r>
            <a:r>
              <a:rPr lang="en-US" dirty="0"/>
              <a:t>Các </a:t>
            </a:r>
            <a:r>
              <a:rPr lang="en-US" dirty="0" err="1"/>
              <a:t>khoản</a:t>
            </a:r>
            <a:r>
              <a:rPr lang="en-US" dirty="0"/>
              <a:t> t</a:t>
            </a:r>
            <a:r>
              <a:rPr lang="vi-VN" dirty="0"/>
              <a:t>hu </a:t>
            </a:r>
            <a:r>
              <a:rPr lang="en-US" dirty="0"/>
              <a:t>NS </a:t>
            </a:r>
            <a:r>
              <a:rPr lang="en-US" dirty="0" err="1"/>
              <a:t>xã</a:t>
            </a:r>
            <a:r>
              <a:rPr lang="en-US" dirty="0"/>
              <a:t> </a:t>
            </a:r>
            <a:r>
              <a:rPr lang="vi-VN" dirty="0"/>
              <a:t>hưởng </a:t>
            </a:r>
            <a:r>
              <a:rPr lang="en-US" dirty="0" err="1"/>
              <a:t>theo</a:t>
            </a:r>
            <a:r>
              <a:rPr lang="en-US" dirty="0"/>
              <a:t> </a:t>
            </a:r>
            <a:r>
              <a:rPr lang="en-US" dirty="0" err="1"/>
              <a:t>phân</a:t>
            </a:r>
            <a:r>
              <a:rPr lang="en-US" dirty="0"/>
              <a:t> </a:t>
            </a:r>
            <a:r>
              <a:rPr lang="en-US" dirty="0" err="1"/>
              <a:t>cấp</a:t>
            </a:r>
            <a:r>
              <a:rPr lang="en-US" dirty="0"/>
              <a:t> </a:t>
            </a:r>
            <a:r>
              <a:rPr lang="en-US" dirty="0" err="1"/>
              <a:t>và</a:t>
            </a:r>
            <a:r>
              <a:rPr lang="en-US" dirty="0"/>
              <a:t> </a:t>
            </a:r>
            <a:r>
              <a:rPr lang="en-US" dirty="0" err="1"/>
              <a:t>thu</a:t>
            </a:r>
            <a:r>
              <a:rPr lang="en-US" dirty="0"/>
              <a:t> </a:t>
            </a:r>
            <a:r>
              <a:rPr lang="en-US" dirty="0" err="1"/>
              <a:t>bổ</a:t>
            </a:r>
            <a:r>
              <a:rPr lang="en-US" dirty="0"/>
              <a:t> sung </a:t>
            </a:r>
            <a:r>
              <a:rPr lang="en-US" dirty="0" err="1"/>
              <a:t>từ</a:t>
            </a:r>
            <a:r>
              <a:rPr lang="en-US" dirty="0"/>
              <a:t> NS </a:t>
            </a:r>
            <a:r>
              <a:rPr lang="en-US" dirty="0" err="1"/>
              <a:t>cấp</a:t>
            </a:r>
            <a:r>
              <a:rPr lang="en-US" dirty="0"/>
              <a:t> </a:t>
            </a:r>
            <a:r>
              <a:rPr lang="en-US" dirty="0" err="1"/>
              <a:t>trên</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t>
            </a:r>
            <a:r>
              <a:rPr lang="vi-VN" dirty="0"/>
              <a:t>húng ta sẽ mổ xẻ </a:t>
            </a:r>
            <a:r>
              <a:rPr lang="en-US" dirty="0" err="1"/>
              <a:t>hai</a:t>
            </a:r>
            <a:r>
              <a:rPr lang="en-US" dirty="0"/>
              <a:t> </a:t>
            </a:r>
            <a:r>
              <a:rPr lang="vi-VN" dirty="0"/>
              <a:t>nhóm nguồn thu này.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Nhóm thứ nhất</a:t>
            </a:r>
            <a:r>
              <a:rPr lang="en-US" dirty="0"/>
              <a:t> </a:t>
            </a:r>
            <a:r>
              <a:rPr lang="en-US" dirty="0" err="1"/>
              <a:t>là</a:t>
            </a:r>
            <a:r>
              <a:rPr lang="en-US" dirty="0"/>
              <a:t> </a:t>
            </a:r>
            <a:r>
              <a:rPr lang="en-US" dirty="0" err="1"/>
              <a:t>các</a:t>
            </a:r>
            <a:r>
              <a:rPr lang="en-US" dirty="0"/>
              <a:t> </a:t>
            </a:r>
            <a:r>
              <a:rPr lang="en-US" dirty="0" err="1"/>
              <a:t>khoản</a:t>
            </a:r>
            <a:r>
              <a:rPr lang="en-US" dirty="0"/>
              <a:t> </a:t>
            </a:r>
            <a:r>
              <a:rPr lang="en-US" dirty="0" err="1"/>
              <a:t>thu</a:t>
            </a:r>
            <a:r>
              <a:rPr lang="en-US" dirty="0"/>
              <a:t> NS </a:t>
            </a:r>
            <a:r>
              <a:rPr lang="en-US" dirty="0" err="1"/>
              <a:t>xã</a:t>
            </a:r>
            <a:r>
              <a:rPr lang="en-US" dirty="0"/>
              <a:t> </a:t>
            </a:r>
            <a:r>
              <a:rPr lang="en-US" dirty="0" err="1"/>
              <a:t>hưởng</a:t>
            </a:r>
            <a:r>
              <a:rPr lang="en-US" dirty="0"/>
              <a:t> </a:t>
            </a:r>
            <a:r>
              <a:rPr lang="en-US" dirty="0" err="1"/>
              <a:t>theo</a:t>
            </a:r>
            <a:r>
              <a:rPr lang="en-US" dirty="0"/>
              <a:t> </a:t>
            </a:r>
            <a:r>
              <a:rPr lang="en-US" dirty="0" err="1"/>
              <a:t>phân</a:t>
            </a:r>
            <a:r>
              <a:rPr lang="en-US" dirty="0"/>
              <a:t> </a:t>
            </a:r>
            <a:r>
              <a:rPr lang="en-US" dirty="0" err="1"/>
              <a:t>cấp</a:t>
            </a:r>
            <a:r>
              <a:rPr lang="en-US" dirty="0"/>
              <a:t>. Bao </a:t>
            </a:r>
            <a:r>
              <a:rPr lang="en-US" dirty="0" err="1"/>
              <a:t>gồm</a:t>
            </a:r>
            <a:r>
              <a:rPr lang="en-US" dirty="0"/>
              <a:t>: Thu NS </a:t>
            </a:r>
            <a:r>
              <a:rPr lang="en-US" dirty="0" err="1"/>
              <a:t>xã</a:t>
            </a:r>
            <a:r>
              <a:rPr lang="en-US" dirty="0"/>
              <a:t> </a:t>
            </a:r>
            <a:r>
              <a:rPr lang="en-US" dirty="0" err="1"/>
              <a:t>hưởng</a:t>
            </a:r>
            <a:r>
              <a:rPr lang="en-US" dirty="0"/>
              <a:t> 100%, </a:t>
            </a:r>
            <a:r>
              <a:rPr lang="en-US" dirty="0" err="1"/>
              <a:t>thu</a:t>
            </a:r>
            <a:r>
              <a:rPr lang="en-US" dirty="0"/>
              <a:t> </a:t>
            </a:r>
            <a:r>
              <a:rPr lang="en-US" dirty="0" err="1"/>
              <a:t>phân</a:t>
            </a:r>
            <a:r>
              <a:rPr lang="en-US" dirty="0"/>
              <a:t> chia </a:t>
            </a:r>
            <a:r>
              <a:rPr lang="en-US" dirty="0" err="1"/>
              <a:t>giữa</a:t>
            </a:r>
            <a:r>
              <a:rPr lang="en-US" dirty="0"/>
              <a:t> NS </a:t>
            </a:r>
            <a:r>
              <a:rPr lang="en-US" dirty="0" err="1"/>
              <a:t>cấp</a:t>
            </a:r>
            <a:r>
              <a:rPr lang="en-US" dirty="0"/>
              <a:t> </a:t>
            </a:r>
            <a:r>
              <a:rPr lang="en-US" dirty="0" err="1"/>
              <a:t>tỉnh</a:t>
            </a:r>
            <a:r>
              <a:rPr lang="en-US" dirty="0"/>
              <a:t> </a:t>
            </a:r>
            <a:r>
              <a:rPr lang="en-US" dirty="0" err="1"/>
              <a:t>và</a:t>
            </a:r>
            <a:r>
              <a:rPr lang="en-US" dirty="0"/>
              <a:t> NS </a:t>
            </a:r>
            <a:r>
              <a:rPr lang="en-US" dirty="0" err="1"/>
              <a:t>cấp</a:t>
            </a:r>
            <a:r>
              <a:rPr lang="en-US" dirty="0"/>
              <a:t> </a:t>
            </a:r>
            <a:r>
              <a:rPr lang="en-US" dirty="0" err="1"/>
              <a:t>xã</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Thu NS </a:t>
            </a:r>
            <a:r>
              <a:rPr lang="en-US" dirty="0" err="1"/>
              <a:t>xã</a:t>
            </a:r>
            <a:r>
              <a:rPr lang="en-US" dirty="0"/>
              <a:t> </a:t>
            </a:r>
            <a:r>
              <a:rPr lang="en-US" dirty="0" err="1"/>
              <a:t>hưởng</a:t>
            </a:r>
            <a:r>
              <a:rPr lang="en-US" dirty="0"/>
              <a:t> 100%</a:t>
            </a:r>
            <a:r>
              <a:rPr lang="vi-VN" dirty="0"/>
              <a:t> là </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nguồn</a:t>
            </a:r>
            <a:r>
              <a:rPr lang="en-US" dirty="0">
                <a:latin typeface="Times New Roman" panose="02020603050405020304" pitchFamily="18" charset="0"/>
                <a:cs typeface="Times New Roman" panose="02020603050405020304" pitchFamily="18" charset="0"/>
              </a:rPr>
              <a:t> NS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nhiệm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vụ</a:t>
            </a:r>
            <a:r>
              <a:rPr lang="en-US" dirty="0">
                <a:latin typeface="Times New Roman" panose="02020603050405020304" pitchFamily="18" charset="0"/>
                <a:cs typeface="Times New Roman" panose="02020603050405020304" pitchFamily="18" charset="0"/>
              </a:rPr>
              <a:t> chi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vi-VN" dirty="0"/>
              <a:t>Đây là những đồng tiền mà xã thu được bao nhiêu thì giữ lại xài bấy nhiêu.</a:t>
            </a:r>
            <a:r>
              <a:rPr lang="en-US" dirty="0"/>
              <a:t> </a:t>
            </a:r>
            <a:r>
              <a:rPr lang="en-US" dirty="0" err="1"/>
              <a:t>Ví</a:t>
            </a:r>
            <a:r>
              <a:rPr lang="en-US" dirty="0"/>
              <a:t> </a:t>
            </a:r>
            <a:r>
              <a:rPr lang="en-US" dirty="0" err="1"/>
              <a:t>dụ</a:t>
            </a:r>
            <a:r>
              <a:rPr lang="en-US" dirty="0"/>
              <a:t> </a:t>
            </a:r>
            <a:r>
              <a:rPr lang="en-US" dirty="0" err="1"/>
              <a:t>tiền</a:t>
            </a:r>
            <a:r>
              <a:rPr lang="en-US" dirty="0"/>
              <a:t> </a:t>
            </a:r>
            <a:r>
              <a:rPr lang="en-US" dirty="0" err="1"/>
              <a:t>phí</a:t>
            </a:r>
            <a:r>
              <a:rPr lang="en-US" dirty="0"/>
              <a:t> </a:t>
            </a:r>
            <a:r>
              <a:rPr lang="en-US" dirty="0" err="1"/>
              <a:t>gửi</a:t>
            </a:r>
            <a:r>
              <a:rPr lang="en-US" dirty="0"/>
              <a:t> </a:t>
            </a:r>
            <a:r>
              <a:rPr lang="en-US" dirty="0" err="1"/>
              <a:t>xe</a:t>
            </a:r>
            <a:r>
              <a:rPr lang="en-US" dirty="0"/>
              <a:t> ở </a:t>
            </a:r>
            <a:r>
              <a:rPr lang="en-US" dirty="0" err="1"/>
              <a:t>chợ</a:t>
            </a:r>
            <a:r>
              <a:rPr lang="en-US" dirty="0"/>
              <a:t> </a:t>
            </a:r>
            <a:r>
              <a:rPr lang="en-US" dirty="0" err="1"/>
              <a:t>xã</a:t>
            </a:r>
            <a:r>
              <a:rPr lang="en-US" dirty="0"/>
              <a:t>, hay </a:t>
            </a:r>
            <a:r>
              <a:rPr lang="en-US" dirty="0" err="1"/>
              <a:t>tiền</a:t>
            </a:r>
            <a:r>
              <a:rPr lang="en-US" dirty="0"/>
              <a:t> </a:t>
            </a:r>
            <a:r>
              <a:rPr lang="en-US" dirty="0" err="1"/>
              <a:t>bà</a:t>
            </a:r>
            <a:r>
              <a:rPr lang="en-US" dirty="0"/>
              <a:t> con </a:t>
            </a:r>
            <a:r>
              <a:rPr lang="en-US" dirty="0" err="1"/>
              <a:t>đóng</a:t>
            </a:r>
            <a:r>
              <a:rPr lang="en-US" dirty="0"/>
              <a:t> </a:t>
            </a:r>
            <a:r>
              <a:rPr lang="en-US" dirty="0" err="1"/>
              <a:t>góp</a:t>
            </a:r>
            <a:r>
              <a:rPr lang="en-US" dirty="0"/>
              <a:t> </a:t>
            </a:r>
            <a:r>
              <a:rPr lang="en-US" dirty="0" err="1"/>
              <a:t>xây</a:t>
            </a:r>
            <a:r>
              <a:rPr lang="en-US" dirty="0"/>
              <a:t> </a:t>
            </a:r>
            <a:r>
              <a:rPr lang="en-US" dirty="0" err="1"/>
              <a:t>cổng</a:t>
            </a:r>
            <a:r>
              <a:rPr lang="en-US" dirty="0"/>
              <a:t> </a:t>
            </a:r>
            <a:r>
              <a:rPr lang="en-US" dirty="0" err="1"/>
              <a:t>làng</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Thu phân chia theo tỷ lệ phần trăm</a:t>
            </a:r>
            <a:r>
              <a:rPr lang="en-US" dirty="0"/>
              <a:t> </a:t>
            </a:r>
            <a:r>
              <a:rPr lang="en-US" dirty="0" err="1"/>
              <a:t>là</a:t>
            </a:r>
            <a:r>
              <a:rPr lang="en-US" dirty="0"/>
              <a:t>  </a:t>
            </a:r>
            <a:r>
              <a:rPr lang="en-US" dirty="0" err="1"/>
              <a:t>các</a:t>
            </a:r>
            <a:r>
              <a:rPr lang="en-US" dirty="0"/>
              <a:t> </a:t>
            </a:r>
            <a:r>
              <a:rPr lang="en-US" dirty="0" err="1"/>
              <a:t>khoản</a:t>
            </a:r>
            <a:r>
              <a:rPr lang="en-US" dirty="0"/>
              <a:t> </a:t>
            </a:r>
            <a:r>
              <a:rPr lang="en-US" dirty="0" err="1"/>
              <a:t>thu</a:t>
            </a:r>
            <a:r>
              <a:rPr lang="en-US" dirty="0"/>
              <a:t> NS </a:t>
            </a:r>
            <a:r>
              <a:rPr lang="en-US" dirty="0" err="1"/>
              <a:t>xã</a:t>
            </a:r>
            <a:r>
              <a:rPr lang="en-US" dirty="0"/>
              <a:t> </a:t>
            </a:r>
            <a:r>
              <a:rPr lang="en-US" dirty="0" err="1"/>
              <a:t>hưởng</a:t>
            </a:r>
            <a:r>
              <a:rPr lang="en-US" dirty="0"/>
              <a:t> </a:t>
            </a:r>
            <a:r>
              <a:rPr lang="en-US" dirty="0" err="1"/>
              <a:t>theo</a:t>
            </a:r>
            <a:r>
              <a:rPr lang="en-US" dirty="0"/>
              <a:t> </a:t>
            </a:r>
            <a:r>
              <a:rPr lang="en-US" dirty="0" err="1"/>
              <a:t>tỷ</a:t>
            </a:r>
            <a:r>
              <a:rPr lang="en-US" dirty="0"/>
              <a:t> </a:t>
            </a:r>
            <a:r>
              <a:rPr lang="en-US" dirty="0" err="1"/>
              <a:t>lệ</a:t>
            </a:r>
            <a:r>
              <a:rPr lang="en-US" dirty="0"/>
              <a:t> </a:t>
            </a:r>
            <a:r>
              <a:rPr lang="en-US" dirty="0" err="1"/>
              <a:t>phần</a:t>
            </a:r>
            <a:r>
              <a:rPr lang="en-US" dirty="0"/>
              <a:t> </a:t>
            </a:r>
            <a:r>
              <a:rPr lang="en-US" dirty="0" err="1"/>
              <a:t>trăm</a:t>
            </a:r>
            <a:r>
              <a:rPr lang="en-US" dirty="0"/>
              <a:t> </a:t>
            </a:r>
            <a:r>
              <a:rPr lang="en-US" dirty="0" err="1"/>
              <a:t>phân</a:t>
            </a:r>
            <a:r>
              <a:rPr lang="en-US" dirty="0"/>
              <a:t> chia (%) </a:t>
            </a:r>
            <a:r>
              <a:rPr lang="en-US" dirty="0" err="1"/>
              <a:t>giữa</a:t>
            </a:r>
            <a:r>
              <a:rPr lang="en-US" dirty="0"/>
              <a:t> NS </a:t>
            </a:r>
            <a:r>
              <a:rPr lang="en-US" dirty="0" err="1"/>
              <a:t>cấp</a:t>
            </a:r>
            <a:r>
              <a:rPr lang="en-US" dirty="0"/>
              <a:t> </a:t>
            </a:r>
            <a:r>
              <a:rPr lang="en-US" dirty="0" err="1"/>
              <a:t>xã</a:t>
            </a:r>
            <a:r>
              <a:rPr lang="en-US" dirty="0"/>
              <a:t> </a:t>
            </a:r>
            <a:r>
              <a:rPr lang="en-US" dirty="0" err="1"/>
              <a:t>và</a:t>
            </a:r>
            <a:r>
              <a:rPr lang="en-US" dirty="0"/>
              <a:t> NS </a:t>
            </a:r>
            <a:r>
              <a:rPr lang="en-US" dirty="0" err="1"/>
              <a:t>cấp</a:t>
            </a:r>
            <a:r>
              <a:rPr lang="en-US" dirty="0"/>
              <a:t> </a:t>
            </a:r>
            <a:r>
              <a:rPr lang="en-US" dirty="0" err="1"/>
              <a:t>tỉnh</a:t>
            </a:r>
            <a:r>
              <a:rPr lang="en-US" dirty="0"/>
              <a:t>. </a:t>
            </a:r>
            <a:r>
              <a:rPr lang="vi-VN" dirty="0"/>
              <a:t>Nghĩa là có những khoản thuế thu trên địa bàn xã, nhưng xã phải nộp một phần lên cho tỉnh, và chỉ được giữ lại một tỷ lệ phần trăm nhất định</a:t>
            </a:r>
            <a:r>
              <a:rPr lang="en-US" dirty="0"/>
              <a:t>. </a:t>
            </a:r>
            <a:r>
              <a:rPr lang="en-US" dirty="0" err="1"/>
              <a:t>Tỷ</a:t>
            </a:r>
            <a:r>
              <a:rPr lang="en-US" dirty="0"/>
              <a:t> </a:t>
            </a:r>
            <a:r>
              <a:rPr lang="en-US" dirty="0" err="1"/>
              <a:t>lệ</a:t>
            </a:r>
            <a:r>
              <a:rPr lang="en-US" dirty="0"/>
              <a:t> % </a:t>
            </a:r>
            <a:r>
              <a:rPr lang="en-US" dirty="0" err="1"/>
              <a:t>phân</a:t>
            </a:r>
            <a:r>
              <a:rPr lang="en-US" dirty="0"/>
              <a:t> chia </a:t>
            </a:r>
            <a:r>
              <a:rPr lang="en-US" dirty="0" err="1"/>
              <a:t>giữa</a:t>
            </a:r>
            <a:r>
              <a:rPr lang="en-US" dirty="0"/>
              <a:t> </a:t>
            </a:r>
            <a:r>
              <a:rPr lang="en-US" dirty="0" err="1"/>
              <a:t>xã</a:t>
            </a:r>
            <a:r>
              <a:rPr lang="en-US" dirty="0"/>
              <a:t> </a:t>
            </a:r>
            <a:r>
              <a:rPr lang="en-US" dirty="0" err="1"/>
              <a:t>và</a:t>
            </a:r>
            <a:r>
              <a:rPr lang="en-US" dirty="0"/>
              <a:t> </a:t>
            </a:r>
            <a:r>
              <a:rPr lang="en-US" dirty="0" err="1"/>
              <a:t>tỉnh</a:t>
            </a:r>
            <a:r>
              <a:rPr lang="en-US" dirty="0"/>
              <a:t> do HĐND </a:t>
            </a:r>
            <a:r>
              <a:rPr lang="en-US" dirty="0" err="1"/>
              <a:t>tỉnh</a:t>
            </a:r>
            <a:r>
              <a:rPr lang="en-US" dirty="0"/>
              <a:t> </a:t>
            </a:r>
            <a:r>
              <a:rPr lang="en-US" dirty="0" err="1"/>
              <a:t>quyết</a:t>
            </a:r>
            <a:r>
              <a:rPr lang="en-US" dirty="0"/>
              <a:t> </a:t>
            </a:r>
            <a:r>
              <a:rPr lang="en-US" dirty="0" err="1"/>
              <a:t>định</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a:t>
            </a:r>
            <a:r>
              <a:rPr lang="vi-VN" dirty="0"/>
              <a:t>hóm thứ </a:t>
            </a:r>
            <a:r>
              <a:rPr lang="en-US" dirty="0" err="1"/>
              <a:t>hai</a:t>
            </a:r>
            <a:r>
              <a:rPr lang="en-US" dirty="0"/>
              <a:t> </a:t>
            </a:r>
            <a:r>
              <a:rPr lang="vi-VN" dirty="0"/>
              <a:t>là nguồn Bổ sung từ cấp trên. Nhóm này lại chia làm hai loại: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Thu b</a:t>
            </a:r>
            <a:r>
              <a:rPr lang="vi-VN" dirty="0"/>
              <a:t>ổ sung cân đối</a:t>
            </a:r>
            <a:r>
              <a:rPr lang="en-US" dirty="0"/>
              <a:t>: </a:t>
            </a:r>
            <a:r>
              <a:rPr lang="en-US" dirty="0" err="1"/>
              <a:t>giúp</a:t>
            </a:r>
            <a:r>
              <a:rPr lang="en-US" dirty="0"/>
              <a:t> </a:t>
            </a:r>
            <a:r>
              <a:rPr lang="en-US" dirty="0" err="1"/>
              <a:t>xã</a:t>
            </a:r>
            <a:r>
              <a:rPr lang="en-US" dirty="0"/>
              <a:t> </a:t>
            </a:r>
            <a:r>
              <a:rPr lang="en-US" dirty="0" err="1"/>
              <a:t>cân</a:t>
            </a:r>
            <a:r>
              <a:rPr lang="en-US" dirty="0"/>
              <a:t> </a:t>
            </a:r>
            <a:r>
              <a:rPr lang="en-US" dirty="0" err="1"/>
              <a:t>đối</a:t>
            </a:r>
            <a:r>
              <a:rPr lang="en-US" dirty="0"/>
              <a:t> NS </a:t>
            </a:r>
            <a:r>
              <a:rPr lang="en-US" dirty="0" err="1"/>
              <a:t>để</a:t>
            </a:r>
            <a:r>
              <a:rPr lang="en-US" dirty="0"/>
              <a:t> </a:t>
            </a:r>
            <a:r>
              <a:rPr lang="en-US" dirty="0" err="1"/>
              <a:t>thực</a:t>
            </a:r>
            <a:r>
              <a:rPr lang="en-US" dirty="0"/>
              <a:t> </a:t>
            </a:r>
            <a:r>
              <a:rPr lang="en-US" dirty="0" err="1"/>
              <a:t>hiện</a:t>
            </a:r>
            <a:r>
              <a:rPr lang="en-US" dirty="0"/>
              <a:t> </a:t>
            </a:r>
            <a:r>
              <a:rPr lang="en-US" dirty="0" err="1"/>
              <a:t>nhiệm</a:t>
            </a:r>
            <a:r>
              <a:rPr lang="en-US" dirty="0"/>
              <a:t> </a:t>
            </a:r>
            <a:r>
              <a:rPr lang="en-US" dirty="0" err="1"/>
              <a:t>vụ</a:t>
            </a:r>
            <a:r>
              <a:rPr lang="en-US" dirty="0"/>
              <a:t> </a:t>
            </a:r>
            <a:r>
              <a:rPr lang="en-US" dirty="0" err="1"/>
              <a:t>được</a:t>
            </a:r>
            <a:r>
              <a:rPr lang="en-US" dirty="0"/>
              <a:t> </a:t>
            </a:r>
            <a:r>
              <a:rPr lang="en-US" dirty="0" err="1"/>
              <a:t>giao</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Bổ sung có mục tiêu để hỗ trợ xã</a:t>
            </a:r>
            <a:r>
              <a:rPr lang="en-US" dirty="0"/>
              <a:t> </a:t>
            </a:r>
            <a:r>
              <a:rPr lang="en-US" dirty="0" err="1"/>
              <a:t>thực</a:t>
            </a:r>
            <a:r>
              <a:rPr lang="en-US" dirty="0"/>
              <a:t> </a:t>
            </a:r>
            <a:r>
              <a:rPr lang="en-US" dirty="0" err="1"/>
              <a:t>hiện</a:t>
            </a:r>
            <a:r>
              <a:rPr lang="en-US" dirty="0"/>
              <a:t> </a:t>
            </a:r>
            <a:r>
              <a:rPr lang="en-US" dirty="0" err="1"/>
              <a:t>các</a:t>
            </a:r>
            <a:r>
              <a:rPr lang="en-US" dirty="0"/>
              <a:t> </a:t>
            </a:r>
            <a:r>
              <a:rPr lang="en-US" dirty="0" err="1"/>
              <a:t>chính</a:t>
            </a:r>
            <a:r>
              <a:rPr lang="en-US" dirty="0"/>
              <a:t> </a:t>
            </a:r>
            <a:r>
              <a:rPr lang="en-US" dirty="0" err="1"/>
              <a:t>sách</a:t>
            </a:r>
            <a:r>
              <a:rPr lang="en-US" dirty="0"/>
              <a:t> </a:t>
            </a:r>
            <a:r>
              <a:rPr lang="en-US" dirty="0" err="1"/>
              <a:t>mới</a:t>
            </a:r>
            <a:r>
              <a:rPr lang="en-US" dirty="0"/>
              <a:t>, </a:t>
            </a:r>
            <a:r>
              <a:rPr lang="en-US" dirty="0" err="1"/>
              <a:t>các</a:t>
            </a:r>
            <a:r>
              <a:rPr lang="en-US" dirty="0"/>
              <a:t> </a:t>
            </a:r>
            <a:r>
              <a:rPr lang="en-US" dirty="0" err="1"/>
              <a:t>chương</a:t>
            </a:r>
            <a:r>
              <a:rPr lang="en-US" dirty="0"/>
              <a:t> </a:t>
            </a:r>
            <a:r>
              <a:rPr lang="en-US" dirty="0" err="1"/>
              <a:t>trình</a:t>
            </a:r>
            <a:r>
              <a:rPr lang="en-US" dirty="0"/>
              <a:t> </a:t>
            </a:r>
            <a:r>
              <a:rPr lang="en-US" dirty="0" err="1"/>
              <a:t>mục</a:t>
            </a:r>
            <a:r>
              <a:rPr lang="en-US" dirty="0"/>
              <a:t> </a:t>
            </a:r>
            <a:r>
              <a:rPr lang="en-US" dirty="0" err="1"/>
              <a:t>tiêu</a:t>
            </a:r>
            <a:r>
              <a:rPr lang="en-US" dirty="0"/>
              <a:t> </a:t>
            </a:r>
            <a:r>
              <a:rPr lang="en-US" dirty="0" err="1"/>
              <a:t>quốc</a:t>
            </a:r>
            <a:r>
              <a:rPr lang="en-US" dirty="0"/>
              <a:t> </a:t>
            </a:r>
            <a:r>
              <a:rPr lang="en-US" dirty="0" err="1"/>
              <a:t>gia</a:t>
            </a:r>
            <a:r>
              <a:rPr lang="en-US" dirty="0"/>
              <a:t> </a:t>
            </a:r>
            <a:r>
              <a:rPr lang="en-US" dirty="0" err="1"/>
              <a:t>hoặc</a:t>
            </a:r>
            <a:r>
              <a:rPr lang="en-US" dirty="0"/>
              <a:t> </a:t>
            </a:r>
            <a:r>
              <a:rPr lang="en-US" dirty="0" err="1"/>
              <a:t>khắc</a:t>
            </a:r>
            <a:r>
              <a:rPr lang="en-US" dirty="0"/>
              <a:t> </a:t>
            </a:r>
            <a:r>
              <a:rPr lang="en-US" dirty="0" err="1"/>
              <a:t>phục</a:t>
            </a:r>
            <a:r>
              <a:rPr lang="en-US" dirty="0"/>
              <a:t> </a:t>
            </a:r>
            <a:r>
              <a:rPr lang="en-US" dirty="0" err="1"/>
              <a:t>thiên</a:t>
            </a:r>
            <a:r>
              <a:rPr lang="en-US" dirty="0"/>
              <a:t> tai, </a:t>
            </a:r>
            <a:r>
              <a:rPr lang="en-US" dirty="0" err="1"/>
              <a:t>dịch</a:t>
            </a:r>
            <a:r>
              <a:rPr lang="en-US" dirty="0"/>
              <a:t> </a:t>
            </a:r>
            <a:r>
              <a:rPr lang="en-US" dirty="0" err="1"/>
              <a:t>bệnh</a:t>
            </a:r>
            <a:r>
              <a:rPr lang="en-US" dirty="0"/>
              <a:t>…</a:t>
            </a:r>
          </a:p>
        </p:txBody>
      </p:sp>
      <p:sp>
        <p:nvSpPr>
          <p:cNvPr id="4" name="Slide Number Placeholder 3">
            <a:extLst>
              <a:ext uri="{FF2B5EF4-FFF2-40B4-BE49-F238E27FC236}">
                <a16:creationId xmlns:a16="http://schemas.microsoft.com/office/drawing/2014/main" id="{36579065-416E-3453-08A1-AA7B2026BC8B}"/>
              </a:ext>
            </a:extLst>
          </p:cNvPr>
          <p:cNvSpPr>
            <a:spLocks noGrp="1"/>
          </p:cNvSpPr>
          <p:nvPr>
            <p:ph type="sldNum" sz="quarter" idx="5"/>
          </p:nvPr>
        </p:nvSpPr>
        <p:spPr/>
        <p:txBody>
          <a:bodyPr/>
          <a:lstStyle/>
          <a:p>
            <a:fld id="{1DD107A9-A0C7-4078-AEEF-185A00981267}" type="slidenum">
              <a:rPr lang="en-US" smtClean="0"/>
              <a:t>16</a:t>
            </a:fld>
            <a:endParaRPr lang="en-US"/>
          </a:p>
        </p:txBody>
      </p:sp>
    </p:spTree>
    <p:extLst>
      <p:ext uri="{BB962C8B-B14F-4D97-AF65-F5344CB8AC3E}">
        <p14:creationId xmlns:p14="http://schemas.microsoft.com/office/powerpoint/2010/main" val="177486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4F9AF-5407-AC5E-E7EE-BD975B0BB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98A41-E0AA-780A-B499-EF56C64EEA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0669FE-4C69-A28D-F173-4E6FE989AF3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Chúng ta đã biết ngân sách xã là một quỹ tiền, vậy quỹ tiền này thu từ đâu và thu bao nhiêu? Đầu tiên, các em cần nhớ một nguyên tắc then chốt: Phạm vi nguồn thu của ngân sách xã là "không cào bằng". Thẩm quyền quyết định việc xã được thu những gì, tỷ lệ bao nhiêu hoàn toàn do Hội đồng nhân dân cấp tỉnh quyết định.</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Nếu cào bằng thì lại rất bất hợp lý em ạ. Cơ sở để tỉnh phân cấp nguồn thu phải dựa trên đặc điểm kinh tế, địa lý, dân cư và khả năng quản lý của từng xã. Cô lấy ví dụ, một xã ở nông thôn miền núi thu nhập chủ yếu từ nông nghiệp sẽ được tỉnh giao nhiệm vụ thu khác hoàn toàn với một phường sầm uất ở thành phố lớn kinh doanh thương mại tấp nập.</a:t>
            </a:r>
            <a:endParaRPr lang="en-US" dirty="0"/>
          </a:p>
        </p:txBody>
      </p:sp>
      <p:sp>
        <p:nvSpPr>
          <p:cNvPr id="4" name="Slide Number Placeholder 3">
            <a:extLst>
              <a:ext uri="{FF2B5EF4-FFF2-40B4-BE49-F238E27FC236}">
                <a16:creationId xmlns:a16="http://schemas.microsoft.com/office/drawing/2014/main" id="{C0C40976-7A8D-0DEB-30CB-4E6AA2095D8C}"/>
              </a:ext>
            </a:extLst>
          </p:cNvPr>
          <p:cNvSpPr>
            <a:spLocks noGrp="1"/>
          </p:cNvSpPr>
          <p:nvPr>
            <p:ph type="sldNum" sz="quarter" idx="5"/>
          </p:nvPr>
        </p:nvSpPr>
        <p:spPr/>
        <p:txBody>
          <a:bodyPr/>
          <a:lstStyle/>
          <a:p>
            <a:fld id="{1DD107A9-A0C7-4078-AEEF-185A00981267}" type="slidenum">
              <a:rPr lang="en-US" smtClean="0"/>
              <a:t>17</a:t>
            </a:fld>
            <a:endParaRPr lang="en-US"/>
          </a:p>
        </p:txBody>
      </p:sp>
    </p:spTree>
    <p:extLst>
      <p:ext uri="{BB962C8B-B14F-4D97-AF65-F5344CB8AC3E}">
        <p14:creationId xmlns:p14="http://schemas.microsoft.com/office/powerpoint/2010/main" val="3521498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8DBDB-837C-4D25-13F8-6A1F8B594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1FB6E-D489-6CD9-A9A3-37C5D4B04D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CC176-9FA1-7C85-B329-1A0FBDD165F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5F2A3BAA-7188-9605-05CA-A930FF1E022B}"/>
              </a:ext>
            </a:extLst>
          </p:cNvPr>
          <p:cNvSpPr>
            <a:spLocks noGrp="1"/>
          </p:cNvSpPr>
          <p:nvPr>
            <p:ph type="sldNum" sz="quarter" idx="5"/>
          </p:nvPr>
        </p:nvSpPr>
        <p:spPr/>
        <p:txBody>
          <a:bodyPr/>
          <a:lstStyle/>
          <a:p>
            <a:fld id="{1DD107A9-A0C7-4078-AEEF-185A00981267}" type="slidenum">
              <a:rPr lang="en-US" smtClean="0"/>
              <a:t>18</a:t>
            </a:fld>
            <a:endParaRPr lang="en-US"/>
          </a:p>
        </p:txBody>
      </p:sp>
    </p:spTree>
    <p:extLst>
      <p:ext uri="{BB962C8B-B14F-4D97-AF65-F5344CB8AC3E}">
        <p14:creationId xmlns:p14="http://schemas.microsoft.com/office/powerpoint/2010/main" val="20597908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A7EAB-3AD5-9125-7977-D33039AACB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700EC7-62D7-2492-B069-0CD6885F39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4790E1-C014-5697-C8B1-D26FBA8C18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56AFBD9-52AC-0459-61E5-1D793561B0EC}"/>
              </a:ext>
            </a:extLst>
          </p:cNvPr>
          <p:cNvSpPr>
            <a:spLocks noGrp="1"/>
          </p:cNvSpPr>
          <p:nvPr>
            <p:ph type="sldNum" sz="quarter" idx="5"/>
          </p:nvPr>
        </p:nvSpPr>
        <p:spPr/>
        <p:txBody>
          <a:bodyPr/>
          <a:lstStyle/>
          <a:p>
            <a:fld id="{1DD107A9-A0C7-4078-AEEF-185A00981267}" type="slidenum">
              <a:rPr lang="en-US" smtClean="0"/>
              <a:t>19</a:t>
            </a:fld>
            <a:endParaRPr lang="en-US"/>
          </a:p>
        </p:txBody>
      </p:sp>
    </p:spTree>
    <p:extLst>
      <p:ext uri="{BB962C8B-B14F-4D97-AF65-F5344CB8AC3E}">
        <p14:creationId xmlns:p14="http://schemas.microsoft.com/office/powerpoint/2010/main" val="28677846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EA9ED-995B-6A6F-6A5E-6CB1082D2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7D2667-0FF5-F694-4A1F-C550C71DB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793645-7B69-185E-1321-E7DB77DE5F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D6A69C6-001E-7997-AD1B-D3DD2A30D58D}"/>
              </a:ext>
            </a:extLst>
          </p:cNvPr>
          <p:cNvSpPr>
            <a:spLocks noGrp="1"/>
          </p:cNvSpPr>
          <p:nvPr>
            <p:ph type="sldNum" sz="quarter" idx="5"/>
          </p:nvPr>
        </p:nvSpPr>
        <p:spPr/>
        <p:txBody>
          <a:bodyPr/>
          <a:lstStyle/>
          <a:p>
            <a:fld id="{1DD107A9-A0C7-4078-AEEF-185A00981267}" type="slidenum">
              <a:rPr lang="en-US" smtClean="0"/>
              <a:t>20</a:t>
            </a:fld>
            <a:endParaRPr lang="en-US"/>
          </a:p>
        </p:txBody>
      </p:sp>
    </p:spTree>
    <p:extLst>
      <p:ext uri="{BB962C8B-B14F-4D97-AF65-F5344CB8AC3E}">
        <p14:creationId xmlns:p14="http://schemas.microsoft.com/office/powerpoint/2010/main" val="4829486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C8AF8-235D-4229-8DD1-A798FFD12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7BCCF-30D7-82C1-3D70-DE32A4EA55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1B0AD-98B0-4B89-15E0-99431FC84F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CBBA26C-46EA-771B-CE36-672B6201B402}"/>
              </a:ext>
            </a:extLst>
          </p:cNvPr>
          <p:cNvSpPr>
            <a:spLocks noGrp="1"/>
          </p:cNvSpPr>
          <p:nvPr>
            <p:ph type="sldNum" sz="quarter" idx="5"/>
          </p:nvPr>
        </p:nvSpPr>
        <p:spPr/>
        <p:txBody>
          <a:bodyPr/>
          <a:lstStyle/>
          <a:p>
            <a:fld id="{1DD107A9-A0C7-4078-AEEF-185A00981267}" type="slidenum">
              <a:rPr lang="en-US" smtClean="0"/>
              <a:t>21</a:t>
            </a:fld>
            <a:endParaRPr lang="en-US"/>
          </a:p>
        </p:txBody>
      </p:sp>
    </p:spTree>
    <p:extLst>
      <p:ext uri="{BB962C8B-B14F-4D97-AF65-F5344CB8AC3E}">
        <p14:creationId xmlns:p14="http://schemas.microsoft.com/office/powerpoint/2010/main" val="759569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95A9B-56B9-6F67-3E53-A2536BD72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977BCB-DBF1-3DFC-B95B-389DA5C61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64F333-19D9-4D30-50DB-1ADB30B03F9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26EAD17-7622-0C33-5C80-BE0145CE6AA5}"/>
              </a:ext>
            </a:extLst>
          </p:cNvPr>
          <p:cNvSpPr>
            <a:spLocks noGrp="1"/>
          </p:cNvSpPr>
          <p:nvPr>
            <p:ph type="sldNum" sz="quarter" idx="5"/>
          </p:nvPr>
        </p:nvSpPr>
        <p:spPr/>
        <p:txBody>
          <a:bodyPr/>
          <a:lstStyle/>
          <a:p>
            <a:fld id="{1DD107A9-A0C7-4078-AEEF-185A00981267}" type="slidenum">
              <a:rPr lang="en-US" smtClean="0"/>
              <a:t>22</a:t>
            </a:fld>
            <a:endParaRPr lang="en-US"/>
          </a:p>
        </p:txBody>
      </p:sp>
    </p:spTree>
    <p:extLst>
      <p:ext uri="{BB962C8B-B14F-4D97-AF65-F5344CB8AC3E}">
        <p14:creationId xmlns:p14="http://schemas.microsoft.com/office/powerpoint/2010/main" val="526378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A1DFD-24C2-46FA-EE74-FBD06FD64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85495-3AD0-FF2A-78A0-890215FC4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515B-9520-6376-43EC-211F1853FF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C6BC60F-4CB6-8848-51F9-F6BD868261AA}"/>
              </a:ext>
            </a:extLst>
          </p:cNvPr>
          <p:cNvSpPr>
            <a:spLocks noGrp="1"/>
          </p:cNvSpPr>
          <p:nvPr>
            <p:ph type="sldNum" sz="quarter" idx="5"/>
          </p:nvPr>
        </p:nvSpPr>
        <p:spPr/>
        <p:txBody>
          <a:bodyPr/>
          <a:lstStyle/>
          <a:p>
            <a:fld id="{1DD107A9-A0C7-4078-AEEF-185A00981267}" type="slidenum">
              <a:rPr lang="en-US" smtClean="0"/>
              <a:t>23</a:t>
            </a:fld>
            <a:endParaRPr lang="en-US"/>
          </a:p>
        </p:txBody>
      </p:sp>
    </p:spTree>
    <p:extLst>
      <p:ext uri="{BB962C8B-B14F-4D97-AF65-F5344CB8AC3E}">
        <p14:creationId xmlns:p14="http://schemas.microsoft.com/office/powerpoint/2010/main" val="42521554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79E7B-5A7C-587F-349F-E174AF153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F4207-BE3D-FC54-8C34-0AEAD58F2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D70E4C-DEDC-0604-ABEC-C7E6277E22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90A734D-D290-5EE4-46DA-E57A17EFB03E}"/>
              </a:ext>
            </a:extLst>
          </p:cNvPr>
          <p:cNvSpPr>
            <a:spLocks noGrp="1"/>
          </p:cNvSpPr>
          <p:nvPr>
            <p:ph type="sldNum" sz="quarter" idx="5"/>
          </p:nvPr>
        </p:nvSpPr>
        <p:spPr/>
        <p:txBody>
          <a:bodyPr/>
          <a:lstStyle/>
          <a:p>
            <a:fld id="{1DD107A9-A0C7-4078-AEEF-185A00981267}" type="slidenum">
              <a:rPr lang="en-US" smtClean="0"/>
              <a:t>24</a:t>
            </a:fld>
            <a:endParaRPr lang="en-US"/>
          </a:p>
        </p:txBody>
      </p:sp>
    </p:spTree>
    <p:extLst>
      <p:ext uri="{BB962C8B-B14F-4D97-AF65-F5344CB8AC3E}">
        <p14:creationId xmlns:p14="http://schemas.microsoft.com/office/powerpoint/2010/main" val="10599408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9F6DB-0D7C-7DA1-A72D-116C1494C7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5F854-477F-CAE1-680E-B39670DDD6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E1AC5-333D-D431-6E30-F9760C5AB3D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5B6150D-7C04-AD4D-A78F-768491435416}"/>
              </a:ext>
            </a:extLst>
          </p:cNvPr>
          <p:cNvSpPr>
            <a:spLocks noGrp="1"/>
          </p:cNvSpPr>
          <p:nvPr>
            <p:ph type="sldNum" sz="quarter" idx="5"/>
          </p:nvPr>
        </p:nvSpPr>
        <p:spPr/>
        <p:txBody>
          <a:bodyPr/>
          <a:lstStyle/>
          <a:p>
            <a:fld id="{1DD107A9-A0C7-4078-AEEF-185A00981267}" type="slidenum">
              <a:rPr lang="en-US" smtClean="0"/>
              <a:t>25</a:t>
            </a:fld>
            <a:endParaRPr lang="en-US"/>
          </a:p>
        </p:txBody>
      </p:sp>
    </p:spTree>
    <p:extLst>
      <p:ext uri="{BB962C8B-B14F-4D97-AF65-F5344CB8AC3E}">
        <p14:creationId xmlns:p14="http://schemas.microsoft.com/office/powerpoint/2010/main" val="1555229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60279-C8C4-60EC-B2BE-EE461071B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4070A0-9A44-46C8-E949-EB9525F30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6DAC3D-816C-B8D6-6A2D-E1BF7DAEF3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B02D53E-8C94-A8A2-A41A-6C23F647148F}"/>
              </a:ext>
            </a:extLst>
          </p:cNvPr>
          <p:cNvSpPr>
            <a:spLocks noGrp="1"/>
          </p:cNvSpPr>
          <p:nvPr>
            <p:ph type="sldNum" sz="quarter" idx="5"/>
          </p:nvPr>
        </p:nvSpPr>
        <p:spPr/>
        <p:txBody>
          <a:bodyPr/>
          <a:lstStyle/>
          <a:p>
            <a:fld id="{1DD107A9-A0C7-4078-AEEF-185A00981267}" type="slidenum">
              <a:rPr lang="en-US" smtClean="0"/>
              <a:t>26</a:t>
            </a:fld>
            <a:endParaRPr lang="en-US"/>
          </a:p>
        </p:txBody>
      </p:sp>
    </p:spTree>
    <p:extLst>
      <p:ext uri="{BB962C8B-B14F-4D97-AF65-F5344CB8AC3E}">
        <p14:creationId xmlns:p14="http://schemas.microsoft.com/office/powerpoint/2010/main" val="22336478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0A9A5-13C5-5658-D210-05AD9AE45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8B221-0242-111B-1DA1-F4C388224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6246FF-7174-5A40-A575-45A0E91D56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5AE2973-91D0-3D8E-E463-C77B3B46A6A1}"/>
              </a:ext>
            </a:extLst>
          </p:cNvPr>
          <p:cNvSpPr>
            <a:spLocks noGrp="1"/>
          </p:cNvSpPr>
          <p:nvPr>
            <p:ph type="sldNum" sz="quarter" idx="5"/>
          </p:nvPr>
        </p:nvSpPr>
        <p:spPr/>
        <p:txBody>
          <a:bodyPr/>
          <a:lstStyle/>
          <a:p>
            <a:fld id="{1DD107A9-A0C7-4078-AEEF-185A00981267}" type="slidenum">
              <a:rPr lang="en-US" smtClean="0"/>
              <a:t>27</a:t>
            </a:fld>
            <a:endParaRPr lang="en-US"/>
          </a:p>
        </p:txBody>
      </p:sp>
    </p:spTree>
    <p:extLst>
      <p:ext uri="{BB962C8B-B14F-4D97-AF65-F5344CB8AC3E}">
        <p14:creationId xmlns:p14="http://schemas.microsoft.com/office/powerpoint/2010/main" val="14420735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B7DEA-3DF4-911D-237F-93A9776E8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E1BE98-D57D-D54C-7A57-A8EE0381A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116A4D-1EBB-0956-B671-B87AF315AF6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F2F3256-C9C8-BA25-5781-73C790AFC626}"/>
              </a:ext>
            </a:extLst>
          </p:cNvPr>
          <p:cNvSpPr>
            <a:spLocks noGrp="1"/>
          </p:cNvSpPr>
          <p:nvPr>
            <p:ph type="sldNum" sz="quarter" idx="5"/>
          </p:nvPr>
        </p:nvSpPr>
        <p:spPr/>
        <p:txBody>
          <a:bodyPr/>
          <a:lstStyle/>
          <a:p>
            <a:fld id="{1DD107A9-A0C7-4078-AEEF-185A00981267}" type="slidenum">
              <a:rPr lang="en-US" smtClean="0"/>
              <a:t>28</a:t>
            </a:fld>
            <a:endParaRPr lang="en-US"/>
          </a:p>
        </p:txBody>
      </p:sp>
    </p:spTree>
    <p:extLst>
      <p:ext uri="{BB962C8B-B14F-4D97-AF65-F5344CB8AC3E}">
        <p14:creationId xmlns:p14="http://schemas.microsoft.com/office/powerpoint/2010/main" val="4443383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ED890-489B-69F4-5B68-E89250CD2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BABFA-1D9E-0920-3E34-D5C385847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A714B0-C1C2-033F-D6D0-B9F34EAEB8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BF40994-A065-8C8A-D1FB-BCF45C8EDF8F}"/>
              </a:ext>
            </a:extLst>
          </p:cNvPr>
          <p:cNvSpPr>
            <a:spLocks noGrp="1"/>
          </p:cNvSpPr>
          <p:nvPr>
            <p:ph type="sldNum" sz="quarter" idx="5"/>
          </p:nvPr>
        </p:nvSpPr>
        <p:spPr/>
        <p:txBody>
          <a:bodyPr/>
          <a:lstStyle/>
          <a:p>
            <a:fld id="{1DD107A9-A0C7-4078-AEEF-185A00981267}" type="slidenum">
              <a:rPr lang="en-US" smtClean="0"/>
              <a:t>29</a:t>
            </a:fld>
            <a:endParaRPr lang="en-US"/>
          </a:p>
        </p:txBody>
      </p:sp>
    </p:spTree>
    <p:extLst>
      <p:ext uri="{BB962C8B-B14F-4D97-AF65-F5344CB8AC3E}">
        <p14:creationId xmlns:p14="http://schemas.microsoft.com/office/powerpoint/2010/main" val="21947487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FD554-44EE-3D7E-8820-93907870A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BDD51-6470-B836-C0D9-0F70FF2E67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E3EFCD-D85B-BFA8-E35A-D37367B9516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CC6317D-4DC8-0B03-333C-D8345993DDD0}"/>
              </a:ext>
            </a:extLst>
          </p:cNvPr>
          <p:cNvSpPr>
            <a:spLocks noGrp="1"/>
          </p:cNvSpPr>
          <p:nvPr>
            <p:ph type="sldNum" sz="quarter" idx="5"/>
          </p:nvPr>
        </p:nvSpPr>
        <p:spPr/>
        <p:txBody>
          <a:bodyPr/>
          <a:lstStyle/>
          <a:p>
            <a:fld id="{1DD107A9-A0C7-4078-AEEF-185A00981267}" type="slidenum">
              <a:rPr lang="en-US" smtClean="0"/>
              <a:t>30</a:t>
            </a:fld>
            <a:endParaRPr lang="en-US"/>
          </a:p>
        </p:txBody>
      </p:sp>
    </p:spTree>
    <p:extLst>
      <p:ext uri="{BB962C8B-B14F-4D97-AF65-F5344CB8AC3E}">
        <p14:creationId xmlns:p14="http://schemas.microsoft.com/office/powerpoint/2010/main" val="31001418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A2F98-7909-EBB5-D030-F001644761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3E458-DE8B-DD22-4B66-0132E83AE3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008AF-7DDF-829B-B6AB-A8E33759BF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43 </a:t>
            </a:r>
            <a:r>
              <a:rPr lang="en-US" dirty="0" err="1"/>
              <a:t>Luật</a:t>
            </a:r>
            <a:r>
              <a:rPr lang="en-US" dirty="0"/>
              <a:t> NSNN 2025. </a:t>
            </a:r>
            <a:r>
              <a:rPr lang="en-US" dirty="0" err="1"/>
              <a:t>Xác</a:t>
            </a:r>
            <a:r>
              <a:rPr lang="en-US" dirty="0"/>
              <a:t> </a:t>
            </a:r>
            <a:r>
              <a:rPr lang="en-US" dirty="0" err="1"/>
              <a:t>định</a:t>
            </a:r>
            <a:r>
              <a:rPr lang="en-US" dirty="0"/>
              <a:t> </a:t>
            </a:r>
            <a:r>
              <a:rPr lang="en-US" dirty="0" err="1"/>
              <a:t>số</a:t>
            </a:r>
            <a:r>
              <a:rPr lang="en-US" dirty="0"/>
              <a:t> </a:t>
            </a:r>
            <a:r>
              <a:rPr lang="en-US" dirty="0" err="1"/>
              <a:t>bổ</a:t>
            </a:r>
            <a:r>
              <a:rPr lang="en-US" dirty="0"/>
              <a:t> sung </a:t>
            </a:r>
            <a:r>
              <a:rPr lang="en-US" dirty="0" err="1"/>
              <a:t>có</a:t>
            </a:r>
            <a:r>
              <a:rPr lang="en-US" dirty="0"/>
              <a:t> </a:t>
            </a:r>
            <a:r>
              <a:rPr lang="en-US" dirty="0" err="1"/>
              <a:t>mục</a:t>
            </a:r>
            <a:r>
              <a:rPr lang="en-US" dirty="0"/>
              <a:t> </a:t>
            </a:r>
            <a:r>
              <a:rPr lang="en-US" dirty="0" err="1"/>
              <a:t>tiêu</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a:t>
            </a:r>
            <a:r>
              <a:rPr lang="en-US" dirty="0" err="1"/>
              <a:t>Số</a:t>
            </a:r>
            <a:r>
              <a:rPr lang="en-US" dirty="0"/>
              <a:t> </a:t>
            </a:r>
            <a:r>
              <a:rPr lang="en-US" dirty="0" err="1"/>
              <a:t>bổ</a:t>
            </a:r>
            <a:r>
              <a:rPr lang="en-US" dirty="0"/>
              <a:t> sung </a:t>
            </a:r>
            <a:r>
              <a:rPr lang="en-US" dirty="0" err="1"/>
              <a:t>có</a:t>
            </a:r>
            <a:r>
              <a:rPr lang="en-US" dirty="0"/>
              <a:t> </a:t>
            </a:r>
            <a:r>
              <a:rPr lang="en-US" dirty="0" err="1"/>
              <a:t>mục</a:t>
            </a:r>
            <a:r>
              <a:rPr lang="en-US" dirty="0"/>
              <a:t> </a:t>
            </a:r>
            <a:r>
              <a:rPr lang="en-US" dirty="0" err="1"/>
              <a:t>tiêu</a:t>
            </a:r>
            <a:r>
              <a:rPr lang="en-US" dirty="0"/>
              <a:t> </a:t>
            </a:r>
            <a:r>
              <a:rPr lang="en-US" dirty="0" err="1"/>
              <a:t>từ</a:t>
            </a:r>
            <a:r>
              <a:rPr lang="en-US" dirty="0"/>
              <a:t> NS </a:t>
            </a:r>
            <a:r>
              <a:rPr lang="en-US" dirty="0" err="1"/>
              <a:t>cấp</a:t>
            </a:r>
            <a:r>
              <a:rPr lang="en-US" dirty="0"/>
              <a:t> </a:t>
            </a:r>
            <a:r>
              <a:rPr lang="en-US" dirty="0" err="1"/>
              <a:t>trên</a:t>
            </a:r>
            <a:r>
              <a:rPr lang="en-US" dirty="0"/>
              <a:t> </a:t>
            </a:r>
            <a:r>
              <a:rPr lang="en-US" dirty="0" err="1"/>
              <a:t>cho</a:t>
            </a:r>
            <a:r>
              <a:rPr lang="en-US" dirty="0"/>
              <a:t> NS </a:t>
            </a:r>
            <a:r>
              <a:rPr lang="en-US" dirty="0" err="1"/>
              <a:t>cấp</a:t>
            </a:r>
            <a:r>
              <a:rPr lang="en-US" dirty="0"/>
              <a:t> </a:t>
            </a:r>
            <a:r>
              <a:rPr lang="en-US" dirty="0" err="1"/>
              <a:t>dưới</a:t>
            </a:r>
            <a:r>
              <a:rPr lang="en-US" dirty="0"/>
              <a:t> </a:t>
            </a:r>
            <a:r>
              <a:rPr lang="en-US" dirty="0" err="1"/>
              <a:t>được</a:t>
            </a:r>
            <a:r>
              <a:rPr lang="en-US" dirty="0"/>
              <a:t> </a:t>
            </a:r>
            <a:r>
              <a:rPr lang="en-US" dirty="0" err="1"/>
              <a:t>xác</a:t>
            </a:r>
            <a:r>
              <a:rPr lang="en-US" dirty="0"/>
              <a:t> </a:t>
            </a:r>
            <a:r>
              <a:rPr lang="en-US" dirty="0" err="1"/>
              <a:t>định</a:t>
            </a:r>
            <a:r>
              <a:rPr lang="en-US" dirty="0"/>
              <a:t> </a:t>
            </a:r>
            <a:r>
              <a:rPr lang="en-US" dirty="0" err="1"/>
              <a:t>theo</a:t>
            </a:r>
            <a:r>
              <a:rPr lang="en-US" dirty="0"/>
              <a:t> </a:t>
            </a:r>
            <a:r>
              <a:rPr lang="en-US" dirty="0" err="1"/>
              <a:t>nguyên</a:t>
            </a:r>
            <a:r>
              <a:rPr lang="en-US" dirty="0"/>
              <a:t> </a:t>
            </a:r>
            <a:r>
              <a:rPr lang="en-US" dirty="0" err="1"/>
              <a:t>tắc</a:t>
            </a:r>
            <a:r>
              <a:rPr lang="en-US" dirty="0"/>
              <a:t>, </a:t>
            </a:r>
            <a:r>
              <a:rPr lang="en-US" dirty="0" err="1"/>
              <a:t>tiêu</a:t>
            </a:r>
            <a:r>
              <a:rPr lang="en-US" dirty="0"/>
              <a:t> </a:t>
            </a:r>
            <a:r>
              <a:rPr lang="en-US" dirty="0" err="1"/>
              <a:t>chí</a:t>
            </a:r>
            <a:r>
              <a:rPr lang="en-US" dirty="0"/>
              <a:t>, </a:t>
            </a:r>
            <a:r>
              <a:rPr lang="en-US" dirty="0" err="1"/>
              <a:t>định</a:t>
            </a:r>
            <a:r>
              <a:rPr lang="en-US" dirty="0"/>
              <a:t> </a:t>
            </a:r>
            <a:r>
              <a:rPr lang="en-US" dirty="0" err="1"/>
              <a:t>mức</a:t>
            </a:r>
            <a:r>
              <a:rPr lang="en-US" dirty="0"/>
              <a:t> </a:t>
            </a:r>
            <a:r>
              <a:rPr lang="en-US" dirty="0" err="1"/>
              <a:t>phân</a:t>
            </a:r>
            <a:r>
              <a:rPr lang="en-US" dirty="0"/>
              <a:t> </a:t>
            </a:r>
            <a:r>
              <a:rPr lang="en-US" dirty="0" err="1"/>
              <a:t>bổ</a:t>
            </a:r>
            <a:r>
              <a:rPr lang="en-US" dirty="0"/>
              <a:t> </a:t>
            </a:r>
            <a:r>
              <a:rPr lang="en-US" dirty="0" err="1"/>
              <a:t>ngân</a:t>
            </a:r>
            <a:r>
              <a:rPr lang="en-US" dirty="0"/>
              <a:t> </a:t>
            </a:r>
            <a:r>
              <a:rPr lang="en-US" dirty="0" err="1"/>
              <a:t>sách</a:t>
            </a:r>
            <a:r>
              <a:rPr lang="en-US" dirty="0"/>
              <a:t>, </a:t>
            </a:r>
            <a:r>
              <a:rPr lang="en-US" dirty="0" err="1"/>
              <a:t>các</a:t>
            </a:r>
            <a:r>
              <a:rPr lang="en-US" dirty="0"/>
              <a:t> </a:t>
            </a:r>
            <a:r>
              <a:rPr lang="en-US" dirty="0" err="1"/>
              <a:t>chế</a:t>
            </a:r>
            <a:r>
              <a:rPr lang="en-US" dirty="0"/>
              <a:t> </a:t>
            </a:r>
            <a:r>
              <a:rPr lang="en-US" dirty="0" err="1"/>
              <a:t>độ</a:t>
            </a:r>
            <a:r>
              <a:rPr lang="en-US" dirty="0"/>
              <a:t>, </a:t>
            </a:r>
            <a:r>
              <a:rPr lang="en-US" dirty="0" err="1"/>
              <a:t>tiêu</a:t>
            </a:r>
            <a:r>
              <a:rPr lang="en-US" dirty="0"/>
              <a:t> </a:t>
            </a:r>
            <a:r>
              <a:rPr lang="en-US" dirty="0" err="1"/>
              <a:t>chuẩn</a:t>
            </a:r>
            <a:r>
              <a:rPr lang="en-US" dirty="0"/>
              <a:t>, </a:t>
            </a:r>
            <a:r>
              <a:rPr lang="en-US" dirty="0" err="1"/>
              <a:t>định</a:t>
            </a:r>
            <a:r>
              <a:rPr lang="en-US" dirty="0"/>
              <a:t> </a:t>
            </a:r>
            <a:r>
              <a:rPr lang="en-US" dirty="0" err="1"/>
              <a:t>mức</a:t>
            </a:r>
            <a:r>
              <a:rPr lang="en-US" dirty="0"/>
              <a:t> </a:t>
            </a:r>
            <a:r>
              <a:rPr lang="en-US" dirty="0" err="1"/>
              <a:t>chci</a:t>
            </a:r>
            <a:r>
              <a:rPr lang="en-US" dirty="0"/>
              <a:t> NS </a:t>
            </a:r>
            <a:r>
              <a:rPr lang="en-US" dirty="0" err="1"/>
              <a:t>và</a:t>
            </a:r>
            <a:r>
              <a:rPr lang="en-US" dirty="0"/>
              <a:t> </a:t>
            </a:r>
            <a:r>
              <a:rPr lang="en-US" dirty="0" err="1"/>
              <a:t>khả</a:t>
            </a:r>
            <a:r>
              <a:rPr lang="en-US" dirty="0"/>
              <a:t> </a:t>
            </a:r>
            <a:r>
              <a:rPr lang="en-US" dirty="0" err="1"/>
              <a:t>năng</a:t>
            </a:r>
            <a:r>
              <a:rPr lang="en-US" dirty="0"/>
              <a:t> </a:t>
            </a:r>
            <a:r>
              <a:rPr lang="en-US" dirty="0" err="1"/>
              <a:t>của</a:t>
            </a:r>
            <a:r>
              <a:rPr lang="en-US" dirty="0"/>
              <a:t> </a:t>
            </a:r>
            <a:r>
              <a:rPr lang="en-US" dirty="0" err="1"/>
              <a:t>ngân</a:t>
            </a:r>
            <a:r>
              <a:rPr lang="en-US" dirty="0"/>
              <a:t> </a:t>
            </a:r>
            <a:r>
              <a:rPr lang="en-US" dirty="0" err="1"/>
              <a:t>sách</a:t>
            </a:r>
            <a:r>
              <a:rPr lang="en-US" dirty="0"/>
              <a:t> </a:t>
            </a:r>
            <a:r>
              <a:rPr lang="en-US" dirty="0" err="1"/>
              <a:t>cấp</a:t>
            </a:r>
            <a:r>
              <a:rPr lang="en-US" dirty="0"/>
              <a:t> </a:t>
            </a:r>
            <a:r>
              <a:rPr lang="en-US" dirty="0" err="1"/>
              <a:t>trên</a:t>
            </a:r>
            <a:r>
              <a:rPr lang="en-US" dirty="0"/>
              <a:t>, </a:t>
            </a:r>
            <a:r>
              <a:rPr lang="en-US" dirty="0" err="1"/>
              <a:t>khả</a:t>
            </a:r>
            <a:r>
              <a:rPr lang="en-US" dirty="0"/>
              <a:t> </a:t>
            </a:r>
            <a:r>
              <a:rPr lang="en-US" dirty="0" err="1"/>
              <a:t>năng</a:t>
            </a:r>
            <a:r>
              <a:rPr lang="en-US" dirty="0"/>
              <a:t> </a:t>
            </a:r>
            <a:r>
              <a:rPr lang="en-US" dirty="0" err="1"/>
              <a:t>cân</a:t>
            </a:r>
            <a:r>
              <a:rPr lang="en-US" dirty="0"/>
              <a:t> </a:t>
            </a:r>
            <a:r>
              <a:rPr lang="en-US" dirty="0" err="1"/>
              <a:t>đối</a:t>
            </a:r>
            <a:r>
              <a:rPr lang="en-US" dirty="0"/>
              <a:t> </a:t>
            </a:r>
            <a:r>
              <a:rPr lang="en-US" dirty="0" err="1"/>
              <a:t>ngân</a:t>
            </a:r>
            <a:r>
              <a:rPr lang="en-US" dirty="0"/>
              <a:t> </a:t>
            </a:r>
            <a:r>
              <a:rPr lang="en-US" dirty="0" err="1"/>
              <a:t>sách</a:t>
            </a:r>
            <a:r>
              <a:rPr lang="en-US" dirty="0"/>
              <a:t> </a:t>
            </a:r>
            <a:r>
              <a:rPr lang="en-US" dirty="0" err="1"/>
              <a:t>của</a:t>
            </a:r>
            <a:r>
              <a:rPr lang="en-US" dirty="0"/>
              <a:t> </a:t>
            </a:r>
            <a:r>
              <a:rPr lang="en-US" dirty="0" err="1"/>
              <a:t>từng</a:t>
            </a:r>
            <a:r>
              <a:rPr lang="en-US" dirty="0"/>
              <a:t> </a:t>
            </a:r>
            <a:r>
              <a:rPr lang="en-US" dirty="0" err="1"/>
              <a:t>địa</a:t>
            </a:r>
            <a:r>
              <a:rPr lang="en-US" dirty="0"/>
              <a:t> </a:t>
            </a:r>
            <a:r>
              <a:rPr lang="en-US" dirty="0" err="1"/>
              <a:t>phương</a:t>
            </a:r>
            <a:r>
              <a:rPr lang="en-US" dirty="0"/>
              <a:t> </a:t>
            </a:r>
            <a:r>
              <a:rPr lang="en-US" dirty="0" err="1"/>
              <a:t>cấp</a:t>
            </a:r>
            <a:r>
              <a:rPr lang="en-US" dirty="0"/>
              <a:t> </a:t>
            </a:r>
            <a:r>
              <a:rPr lang="en-US" dirty="0" err="1"/>
              <a:t>dưới</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NS </a:t>
            </a:r>
            <a:r>
              <a:rPr lang="en-US" dirty="0" err="1"/>
              <a:t>cấp</a:t>
            </a:r>
            <a:r>
              <a:rPr lang="en-US" dirty="0"/>
              <a:t> </a:t>
            </a:r>
            <a:r>
              <a:rPr lang="en-US" dirty="0" err="1"/>
              <a:t>trên</a:t>
            </a:r>
            <a:r>
              <a:rPr lang="en-US" dirty="0"/>
              <a:t> </a:t>
            </a:r>
            <a:r>
              <a:rPr lang="en-US" dirty="0" err="1"/>
              <a:t>bổ</a:t>
            </a:r>
            <a:r>
              <a:rPr lang="en-US" dirty="0"/>
              <a:t> sung </a:t>
            </a:r>
            <a:r>
              <a:rPr lang="en-US" dirty="0" err="1"/>
              <a:t>có</a:t>
            </a:r>
            <a:r>
              <a:rPr lang="en-US" dirty="0"/>
              <a:t> </a:t>
            </a:r>
            <a:r>
              <a:rPr lang="en-US" dirty="0" err="1"/>
              <a:t>mục</a:t>
            </a:r>
            <a:r>
              <a:rPr lang="en-US" dirty="0"/>
              <a:t> </a:t>
            </a:r>
            <a:r>
              <a:rPr lang="en-US" dirty="0" err="1"/>
              <a:t>tiêu</a:t>
            </a:r>
            <a:r>
              <a:rPr lang="en-US" dirty="0"/>
              <a:t> </a:t>
            </a:r>
            <a:r>
              <a:rPr lang="en-US" dirty="0" err="1"/>
              <a:t>hỗ</a:t>
            </a:r>
            <a:r>
              <a:rPr lang="en-US" dirty="0"/>
              <a:t> </a:t>
            </a:r>
            <a:r>
              <a:rPr lang="en-US" dirty="0" err="1"/>
              <a:t>trợ</a:t>
            </a:r>
            <a:r>
              <a:rPr lang="en-US" dirty="0"/>
              <a:t> </a:t>
            </a:r>
            <a:r>
              <a:rPr lang="en-US" dirty="0" err="1"/>
              <a:t>ngân</a:t>
            </a:r>
            <a:r>
              <a:rPr lang="en-US" dirty="0"/>
              <a:t> </a:t>
            </a:r>
            <a:r>
              <a:rPr lang="en-US" dirty="0" err="1"/>
              <a:t>sách</a:t>
            </a:r>
            <a:r>
              <a:rPr lang="en-US" dirty="0"/>
              <a:t> </a:t>
            </a:r>
            <a:r>
              <a:rPr lang="en-US" dirty="0" err="1"/>
              <a:t>cấp</a:t>
            </a:r>
            <a:r>
              <a:rPr lang="en-US" dirty="0"/>
              <a:t> </a:t>
            </a:r>
            <a:r>
              <a:rPr lang="en-US" dirty="0" err="1"/>
              <a:t>dưới</a:t>
            </a:r>
            <a:r>
              <a:rPr lang="en-US" dirty="0"/>
              <a:t> </a:t>
            </a:r>
            <a:r>
              <a:rPr lang="en-US" dirty="0" err="1"/>
              <a:t>trong</a:t>
            </a:r>
            <a:r>
              <a:rPr lang="en-US" dirty="0"/>
              <a:t> </a:t>
            </a:r>
            <a:r>
              <a:rPr lang="en-US" dirty="0" err="1"/>
              <a:t>các</a:t>
            </a:r>
            <a:r>
              <a:rPr lang="en-US" dirty="0"/>
              <a:t> </a:t>
            </a:r>
            <a:r>
              <a:rPr lang="en-US" dirty="0" err="1"/>
              <a:t>trường</a:t>
            </a:r>
            <a:r>
              <a:rPr lang="en-US" dirty="0"/>
              <a:t> </a:t>
            </a:r>
            <a:r>
              <a:rPr lang="en-US" dirty="0" err="1"/>
              <a:t>hợp</a:t>
            </a:r>
            <a:r>
              <a:rPr lang="en-US" dirty="0"/>
              <a:t> </a:t>
            </a:r>
            <a:r>
              <a:rPr lang="en-US" dirty="0" err="1"/>
              <a:t>sau</a:t>
            </a:r>
            <a:r>
              <a:rPr lang="en-US" dirty="0"/>
              <a:t> </a:t>
            </a:r>
            <a:r>
              <a:rPr lang="en-US" dirty="0" err="1"/>
              <a:t>đây</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r>
              <a:rPr lang="en-US" dirty="0" err="1"/>
              <a:t>Thực</a:t>
            </a:r>
            <a:r>
              <a:rPr lang="en-US" dirty="0"/>
              <a:t> </a:t>
            </a:r>
            <a:r>
              <a:rPr lang="en-US" dirty="0" err="1"/>
              <a:t>hiện</a:t>
            </a:r>
            <a:r>
              <a:rPr lang="en-US" dirty="0"/>
              <a:t> </a:t>
            </a:r>
            <a:r>
              <a:rPr lang="en-US" dirty="0" err="1"/>
              <a:t>các</a:t>
            </a:r>
            <a:r>
              <a:rPr lang="en-US" dirty="0"/>
              <a:t> </a:t>
            </a:r>
            <a:r>
              <a:rPr lang="en-US" dirty="0" err="1"/>
              <a:t>chính</a:t>
            </a:r>
            <a:r>
              <a:rPr lang="en-US" dirty="0"/>
              <a:t> </a:t>
            </a:r>
            <a:r>
              <a:rPr lang="en-US" dirty="0" err="1"/>
              <a:t>sách</a:t>
            </a:r>
            <a:r>
              <a:rPr lang="en-US" dirty="0"/>
              <a:t>, </a:t>
            </a:r>
            <a:r>
              <a:rPr lang="en-US" dirty="0" err="1"/>
              <a:t>chế</a:t>
            </a:r>
            <a:r>
              <a:rPr lang="en-US" dirty="0"/>
              <a:t> </a:t>
            </a:r>
            <a:r>
              <a:rPr lang="en-US" dirty="0" err="1"/>
              <a:t>độ</a:t>
            </a:r>
            <a:r>
              <a:rPr lang="en-US" dirty="0"/>
              <a:t> </a:t>
            </a:r>
            <a:r>
              <a:rPr lang="en-US" dirty="0" err="1"/>
              <a:t>mới</a:t>
            </a:r>
            <a:r>
              <a:rPr lang="en-US" dirty="0"/>
              <a:t> do </a:t>
            </a:r>
            <a:r>
              <a:rPr lang="en-US" dirty="0" err="1"/>
              <a:t>cấp</a:t>
            </a:r>
            <a:r>
              <a:rPr lang="en-US" dirty="0"/>
              <a:t> </a:t>
            </a:r>
            <a:r>
              <a:rPr lang="en-US" dirty="0" err="1"/>
              <a:t>trên</a:t>
            </a:r>
            <a:r>
              <a:rPr lang="en-US" dirty="0"/>
              <a:t> ban </a:t>
            </a:r>
            <a:r>
              <a:rPr lang="en-US" dirty="0" err="1"/>
              <a:t>hành</a:t>
            </a:r>
            <a:r>
              <a:rPr lang="en-US" dirty="0"/>
              <a:t> </a:t>
            </a:r>
            <a:r>
              <a:rPr lang="en-US" dirty="0" err="1"/>
              <a:t>chưa</a:t>
            </a:r>
            <a:r>
              <a:rPr lang="en-US" dirty="0"/>
              <a:t> </a:t>
            </a:r>
            <a:r>
              <a:rPr lang="en-US" dirty="0" err="1"/>
              <a:t>được</a:t>
            </a:r>
            <a:r>
              <a:rPr lang="en-US" dirty="0"/>
              <a:t> </a:t>
            </a:r>
            <a:r>
              <a:rPr lang="en-US" dirty="0" err="1"/>
              <a:t>bố</a:t>
            </a:r>
            <a:r>
              <a:rPr lang="en-US" dirty="0"/>
              <a:t> </a:t>
            </a:r>
            <a:r>
              <a:rPr lang="en-US" dirty="0" err="1"/>
              <a:t>trí</a:t>
            </a:r>
            <a:r>
              <a:rPr lang="en-US" dirty="0"/>
              <a:t> </a:t>
            </a:r>
            <a:r>
              <a:rPr lang="en-US" dirty="0" err="1"/>
              <a:t>trong</a:t>
            </a:r>
            <a:r>
              <a:rPr lang="en-US" dirty="0"/>
              <a:t> </a:t>
            </a:r>
            <a:r>
              <a:rPr lang="en-US" dirty="0" err="1"/>
              <a:t>dự</a:t>
            </a:r>
            <a:r>
              <a:rPr lang="en-US" dirty="0"/>
              <a:t> </a:t>
            </a:r>
            <a:r>
              <a:rPr lang="en-US" dirty="0" err="1"/>
              <a:t>toán</a:t>
            </a:r>
            <a:r>
              <a:rPr lang="en-US" dirty="0"/>
              <a:t> </a:t>
            </a:r>
            <a:r>
              <a:rPr lang="en-US" dirty="0" err="1"/>
              <a:t>ngân</a:t>
            </a:r>
            <a:r>
              <a:rPr lang="en-US" dirty="0"/>
              <a:t> </a:t>
            </a:r>
            <a:r>
              <a:rPr lang="en-US" dirty="0" err="1"/>
              <a:t>sách</a:t>
            </a:r>
            <a:r>
              <a:rPr lang="en-US" dirty="0"/>
              <a:t> hang </a:t>
            </a:r>
            <a:r>
              <a:rPr lang="en-US" dirty="0" err="1"/>
              <a:t>năm</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r>
              <a:rPr lang="en-US" dirty="0" err="1"/>
              <a:t>Thực</a:t>
            </a:r>
            <a:r>
              <a:rPr lang="en-US" dirty="0"/>
              <a:t> </a:t>
            </a:r>
            <a:r>
              <a:rPr lang="en-US" dirty="0" err="1"/>
              <a:t>hiện</a:t>
            </a:r>
            <a:r>
              <a:rPr lang="en-US" dirty="0"/>
              <a:t> </a:t>
            </a:r>
            <a:r>
              <a:rPr lang="en-US" dirty="0" err="1"/>
              <a:t>các</a:t>
            </a:r>
            <a:r>
              <a:rPr lang="en-US" dirty="0"/>
              <a:t> </a:t>
            </a:r>
            <a:r>
              <a:rPr lang="en-US" dirty="0" err="1"/>
              <a:t>chương</a:t>
            </a:r>
            <a:r>
              <a:rPr lang="en-US" dirty="0"/>
              <a:t> </a:t>
            </a:r>
            <a:r>
              <a:rPr lang="en-US" dirty="0" err="1"/>
              <a:t>trình</a:t>
            </a:r>
            <a:r>
              <a:rPr lang="en-US" dirty="0"/>
              <a:t> </a:t>
            </a:r>
            <a:r>
              <a:rPr lang="en-US" dirty="0" err="1"/>
              <a:t>mục</a:t>
            </a:r>
            <a:r>
              <a:rPr lang="en-US" dirty="0"/>
              <a:t> </a:t>
            </a:r>
            <a:r>
              <a:rPr lang="en-US" dirty="0" err="1"/>
              <a:t>tiêu</a:t>
            </a:r>
            <a:r>
              <a:rPr lang="en-US" dirty="0"/>
              <a:t> </a:t>
            </a:r>
            <a:r>
              <a:rPr lang="en-US" dirty="0" err="1"/>
              <a:t>quốc</a:t>
            </a:r>
            <a:r>
              <a:rPr lang="en-US" dirty="0"/>
              <a:t> </a:t>
            </a:r>
            <a:r>
              <a:rPr lang="en-US" dirty="0" err="1"/>
              <a:t>gia</a:t>
            </a:r>
            <a:r>
              <a:rPr lang="en-US" dirty="0"/>
              <a:t> </a:t>
            </a:r>
            <a:r>
              <a:rPr lang="en-US" dirty="0" err="1"/>
              <a:t>và</a:t>
            </a:r>
            <a:r>
              <a:rPr lang="en-US" dirty="0"/>
              <a:t> </a:t>
            </a:r>
            <a:r>
              <a:rPr lang="en-US" dirty="0" err="1"/>
              <a:t>các</a:t>
            </a:r>
            <a:r>
              <a:rPr lang="en-US" dirty="0"/>
              <a:t> </a:t>
            </a:r>
            <a:r>
              <a:rPr lang="en-US" dirty="0" err="1"/>
              <a:t>chương</a:t>
            </a:r>
            <a:r>
              <a:rPr lang="en-US" dirty="0"/>
              <a:t> </a:t>
            </a:r>
            <a:r>
              <a:rPr lang="en-US" dirty="0" err="1"/>
              <a:t>trình</a:t>
            </a:r>
            <a:r>
              <a:rPr lang="en-US" dirty="0"/>
              <a:t>, </a:t>
            </a:r>
            <a:r>
              <a:rPr lang="en-US" dirty="0" err="1"/>
              <a:t>dự</a:t>
            </a:r>
            <a:r>
              <a:rPr lang="en-US" dirty="0"/>
              <a:t> </a:t>
            </a:r>
            <a:r>
              <a:rPr lang="en-US" dirty="0" err="1"/>
              <a:t>án</a:t>
            </a:r>
            <a:r>
              <a:rPr lang="en-US" dirty="0"/>
              <a:t> </a:t>
            </a:r>
            <a:r>
              <a:rPr lang="en-US" dirty="0" err="1"/>
              <a:t>khác</a:t>
            </a:r>
            <a:r>
              <a:rPr lang="en-US" dirty="0"/>
              <a:t> </a:t>
            </a:r>
            <a:r>
              <a:rPr lang="en-US" dirty="0" err="1"/>
              <a:t>của</a:t>
            </a:r>
            <a:r>
              <a:rPr lang="en-US" dirty="0"/>
              <a:t> </a:t>
            </a:r>
            <a:r>
              <a:rPr lang="en-US" dirty="0" err="1"/>
              <a:t>cấp</a:t>
            </a:r>
            <a:r>
              <a:rPr lang="en-US" dirty="0"/>
              <a:t> </a:t>
            </a:r>
            <a:r>
              <a:rPr lang="en-US" dirty="0" err="1"/>
              <a:t>trên</a:t>
            </a:r>
            <a:r>
              <a:rPr lang="en-US" dirty="0"/>
              <a:t>, </a:t>
            </a:r>
            <a:r>
              <a:rPr lang="en-US" dirty="0" err="1"/>
              <a:t>phần</a:t>
            </a:r>
            <a:r>
              <a:rPr lang="en-US" dirty="0"/>
              <a:t> </a:t>
            </a:r>
            <a:r>
              <a:rPr lang="en-US" dirty="0" err="1"/>
              <a:t>giao</a:t>
            </a:r>
            <a:r>
              <a:rPr lang="en-US" dirty="0"/>
              <a:t> </a:t>
            </a:r>
            <a:r>
              <a:rPr lang="en-US" dirty="0" err="1"/>
              <a:t>cho</a:t>
            </a:r>
            <a:r>
              <a:rPr lang="en-US" dirty="0"/>
              <a:t> </a:t>
            </a:r>
            <a:r>
              <a:rPr lang="en-US" dirty="0" err="1"/>
              <a:t>cấp</a:t>
            </a:r>
            <a:r>
              <a:rPr lang="en-US" dirty="0"/>
              <a:t> </a:t>
            </a:r>
            <a:r>
              <a:rPr lang="en-US" dirty="0" err="1"/>
              <a:t>dưới</a:t>
            </a:r>
            <a:r>
              <a:rPr lang="en-US" dirty="0"/>
              <a:t> </a:t>
            </a:r>
            <a:r>
              <a:rPr lang="en-US" dirty="0" err="1"/>
              <a:t>thực</a:t>
            </a:r>
            <a:r>
              <a:rPr lang="en-US" dirty="0"/>
              <a:t> </a:t>
            </a:r>
            <a:r>
              <a:rPr lang="en-US" dirty="0" err="1"/>
              <a:t>hiện</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r>
              <a:rPr lang="en-US" dirty="0" err="1"/>
              <a:t>Hỗ</a:t>
            </a:r>
            <a:r>
              <a:rPr lang="en-US" dirty="0"/>
              <a:t> </a:t>
            </a:r>
            <a:r>
              <a:rPr lang="en-US" dirty="0" err="1"/>
              <a:t>trợ</a:t>
            </a:r>
            <a:r>
              <a:rPr lang="en-US" dirty="0"/>
              <a:t> chi </a:t>
            </a:r>
            <a:r>
              <a:rPr lang="en-US" dirty="0" err="1"/>
              <a:t>khắc</a:t>
            </a:r>
            <a:r>
              <a:rPr lang="en-US" dirty="0"/>
              <a:t> </a:t>
            </a:r>
            <a:r>
              <a:rPr lang="en-US" dirty="0" err="1"/>
              <a:t>phục</a:t>
            </a:r>
            <a:r>
              <a:rPr lang="en-US" dirty="0"/>
              <a:t> </a:t>
            </a:r>
            <a:r>
              <a:rPr lang="en-US" dirty="0" err="1"/>
              <a:t>thiên</a:t>
            </a:r>
            <a:r>
              <a:rPr lang="en-US" dirty="0"/>
              <a:t> tai, </a:t>
            </a:r>
            <a:r>
              <a:rPr lang="en-US" dirty="0" err="1"/>
              <a:t>thảm</a:t>
            </a:r>
            <a:r>
              <a:rPr lang="en-US" dirty="0"/>
              <a:t> </a:t>
            </a:r>
            <a:r>
              <a:rPr lang="en-US" dirty="0" err="1"/>
              <a:t>họa</a:t>
            </a:r>
            <a:r>
              <a:rPr lang="en-US" dirty="0"/>
              <a:t>, </a:t>
            </a:r>
            <a:r>
              <a:rPr lang="en-US" dirty="0" err="1"/>
              <a:t>dịch</a:t>
            </a:r>
            <a:r>
              <a:rPr lang="en-US" dirty="0"/>
              <a:t> </a:t>
            </a:r>
            <a:r>
              <a:rPr lang="en-US" dirty="0" err="1"/>
              <a:t>bệnh</a:t>
            </a:r>
            <a:r>
              <a:rPr lang="en-US" dirty="0"/>
              <a:t> </a:t>
            </a:r>
            <a:r>
              <a:rPr lang="en-US" dirty="0" err="1"/>
              <a:t>vượt</a:t>
            </a:r>
            <a:r>
              <a:rPr lang="en-US" dirty="0"/>
              <a:t> </a:t>
            </a:r>
            <a:r>
              <a:rPr lang="en-US" dirty="0" err="1"/>
              <a:t>quá</a:t>
            </a:r>
            <a:r>
              <a:rPr lang="en-US" dirty="0"/>
              <a:t> </a:t>
            </a:r>
            <a:r>
              <a:rPr lang="en-US" dirty="0" err="1"/>
              <a:t>khả</a:t>
            </a:r>
            <a:r>
              <a:rPr lang="en-US" dirty="0"/>
              <a:t> </a:t>
            </a:r>
            <a:r>
              <a:rPr lang="en-US" dirty="0" err="1"/>
              <a:t>năng</a:t>
            </a:r>
            <a:r>
              <a:rPr lang="en-US" dirty="0"/>
              <a:t> </a:t>
            </a:r>
            <a:r>
              <a:rPr lang="en-US" dirty="0" err="1"/>
              <a:t>cân</a:t>
            </a:r>
            <a:r>
              <a:rPr lang="en-US" dirty="0"/>
              <a:t> </a:t>
            </a:r>
            <a:r>
              <a:rPr lang="en-US" dirty="0" err="1"/>
              <a:t>đối</a:t>
            </a:r>
            <a:r>
              <a:rPr lang="en-US" dirty="0"/>
              <a:t> </a:t>
            </a:r>
            <a:r>
              <a:rPr lang="en-US" dirty="0" err="1"/>
              <a:t>của</a:t>
            </a:r>
            <a:r>
              <a:rPr lang="en-US" dirty="0"/>
              <a:t> NS </a:t>
            </a:r>
            <a:r>
              <a:rPr lang="en-US" dirty="0" err="1"/>
              <a:t>cấp</a:t>
            </a:r>
            <a:r>
              <a:rPr lang="en-US" dirty="0"/>
              <a:t> </a:t>
            </a:r>
            <a:r>
              <a:rPr lang="en-US" dirty="0" err="1"/>
              <a:t>dưới</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r>
              <a:rPr lang="en-US" dirty="0" err="1"/>
              <a:t>Hỗ</a:t>
            </a:r>
            <a:r>
              <a:rPr lang="en-US" dirty="0"/>
              <a:t> </a:t>
            </a:r>
            <a:r>
              <a:rPr lang="en-US" dirty="0" err="1"/>
              <a:t>trợ</a:t>
            </a:r>
            <a:r>
              <a:rPr lang="en-US" dirty="0"/>
              <a:t> </a:t>
            </a:r>
            <a:r>
              <a:rPr lang="en-US" dirty="0" err="1"/>
              <a:t>thực</a:t>
            </a:r>
            <a:r>
              <a:rPr lang="en-US" dirty="0"/>
              <a:t> </a:t>
            </a:r>
            <a:r>
              <a:rPr lang="en-US" dirty="0" err="1"/>
              <a:t>hiện</a:t>
            </a:r>
            <a:r>
              <a:rPr lang="en-US" dirty="0"/>
              <a:t> </a:t>
            </a:r>
            <a:r>
              <a:rPr lang="en-US" dirty="0" err="1"/>
              <a:t>một</a:t>
            </a:r>
            <a:r>
              <a:rPr lang="en-US" dirty="0"/>
              <a:t> </a:t>
            </a:r>
            <a:r>
              <a:rPr lang="en-US" dirty="0" err="1"/>
              <a:t>số</a:t>
            </a:r>
            <a:r>
              <a:rPr lang="en-US" dirty="0"/>
              <a:t> </a:t>
            </a:r>
            <a:r>
              <a:rPr lang="en-US" dirty="0" err="1"/>
              <a:t>chương</a:t>
            </a:r>
            <a:r>
              <a:rPr lang="en-US" dirty="0"/>
              <a:t> </a:t>
            </a:r>
            <a:r>
              <a:rPr lang="en-US" dirty="0" err="1"/>
              <a:t>trình</a:t>
            </a:r>
            <a:r>
              <a:rPr lang="en-US" dirty="0"/>
              <a:t>, </a:t>
            </a:r>
            <a:r>
              <a:rPr lang="en-US" dirty="0" err="1"/>
              <a:t>dự</a:t>
            </a:r>
            <a:r>
              <a:rPr lang="en-US" dirty="0"/>
              <a:t> </a:t>
            </a:r>
            <a:r>
              <a:rPr lang="en-US" dirty="0" err="1"/>
              <a:t>án</a:t>
            </a:r>
            <a:r>
              <a:rPr lang="en-US" dirty="0"/>
              <a:t> </a:t>
            </a:r>
            <a:r>
              <a:rPr lang="en-US" dirty="0" err="1"/>
              <a:t>quan</a:t>
            </a:r>
            <a:r>
              <a:rPr lang="en-US" dirty="0"/>
              <a:t> </a:t>
            </a:r>
            <a:r>
              <a:rPr lang="en-US" dirty="0" err="1"/>
              <a:t>trọng</a:t>
            </a:r>
            <a:r>
              <a:rPr lang="en-US" dirty="0"/>
              <a:t> </a:t>
            </a:r>
            <a:r>
              <a:rPr lang="en-US" dirty="0" err="1"/>
              <a:t>quốc</a:t>
            </a:r>
            <a:r>
              <a:rPr lang="en-US" dirty="0"/>
              <a:t> </a:t>
            </a:r>
            <a:r>
              <a:rPr lang="en-US" dirty="0" err="1"/>
              <a:t>gia</a:t>
            </a:r>
            <a:r>
              <a:rPr lang="en-US" dirty="0"/>
              <a:t>, </a:t>
            </a:r>
            <a:r>
              <a:rPr lang="en-US" dirty="0" err="1"/>
              <a:t>chương</a:t>
            </a:r>
            <a:r>
              <a:rPr lang="en-US" dirty="0"/>
              <a:t> </a:t>
            </a:r>
            <a:r>
              <a:rPr lang="en-US" dirty="0" err="1"/>
              <a:t>trình</a:t>
            </a:r>
            <a:r>
              <a:rPr lang="en-US" dirty="0"/>
              <a:t>, </a:t>
            </a:r>
            <a:r>
              <a:rPr lang="en-US" dirty="0" err="1"/>
              <a:t>dự</a:t>
            </a:r>
            <a:r>
              <a:rPr lang="en-US" dirty="0"/>
              <a:t> </a:t>
            </a:r>
            <a:r>
              <a:rPr lang="en-US" dirty="0" err="1"/>
              <a:t>án</a:t>
            </a:r>
            <a:r>
              <a:rPr lang="en-US" dirty="0"/>
              <a:t> </a:t>
            </a:r>
            <a:r>
              <a:rPr lang="en-US" dirty="0" err="1"/>
              <a:t>trọng</a:t>
            </a:r>
            <a:r>
              <a:rPr lang="en-US" dirty="0"/>
              <a:t> </a:t>
            </a:r>
            <a:r>
              <a:rPr lang="en-US" dirty="0" err="1"/>
              <a:t>điểm</a:t>
            </a:r>
            <a:r>
              <a:rPr lang="en-US" dirty="0"/>
              <a:t> </a:t>
            </a:r>
            <a:r>
              <a:rPr lang="en-US" dirty="0" err="1"/>
              <a:t>có</a:t>
            </a:r>
            <a:r>
              <a:rPr lang="en-US" dirty="0"/>
              <a:t> ý </a:t>
            </a:r>
            <a:r>
              <a:rPr lang="en-US" dirty="0" err="1"/>
              <a:t>nghĩa</a:t>
            </a:r>
            <a:r>
              <a:rPr lang="en-US" dirty="0"/>
              <a:t> </a:t>
            </a:r>
            <a:r>
              <a:rPr lang="en-US" dirty="0" err="1"/>
              <a:t>lớn</a:t>
            </a:r>
            <a:r>
              <a:rPr lang="en-US" dirty="0"/>
              <a:t> </a:t>
            </a:r>
            <a:r>
              <a:rPr lang="en-US" dirty="0" err="1"/>
              <a:t>đối</a:t>
            </a:r>
            <a:r>
              <a:rPr lang="en-US" dirty="0"/>
              <a:t> </a:t>
            </a:r>
            <a:r>
              <a:rPr lang="en-US" dirty="0" err="1"/>
              <a:t>với</a:t>
            </a:r>
            <a:r>
              <a:rPr lang="en-US" dirty="0"/>
              <a:t> </a:t>
            </a:r>
            <a:r>
              <a:rPr lang="en-US" dirty="0" err="1"/>
              <a:t>phát</a:t>
            </a:r>
            <a:r>
              <a:rPr lang="en-US" dirty="0"/>
              <a:t> </a:t>
            </a:r>
            <a:r>
              <a:rPr lang="en-US" dirty="0" err="1"/>
              <a:t>triển</a:t>
            </a:r>
            <a:r>
              <a:rPr lang="en-US" dirty="0"/>
              <a:t> </a:t>
            </a:r>
            <a:r>
              <a:rPr lang="en-US" dirty="0" err="1"/>
              <a:t>kinh</a:t>
            </a:r>
            <a:r>
              <a:rPr lang="en-US" dirty="0"/>
              <a:t> </a:t>
            </a:r>
            <a:r>
              <a:rPr lang="en-US" dirty="0" err="1"/>
              <a:t>tế</a:t>
            </a:r>
            <a:r>
              <a:rPr lang="en-US" dirty="0"/>
              <a:t> - </a:t>
            </a:r>
            <a:r>
              <a:rPr lang="en-US" dirty="0" err="1"/>
              <a:t>xã</a:t>
            </a:r>
            <a:r>
              <a:rPr lang="en-US" dirty="0"/>
              <a:t> </a:t>
            </a:r>
            <a:r>
              <a:rPr lang="en-US" dirty="0" err="1"/>
              <a:t>hội</a:t>
            </a:r>
            <a:r>
              <a:rPr lang="en-US" dirty="0"/>
              <a:t>, </a:t>
            </a:r>
            <a:r>
              <a:rPr lang="en-US" dirty="0" err="1"/>
              <a:t>nhiệm</a:t>
            </a:r>
            <a:r>
              <a:rPr lang="en-US" dirty="0"/>
              <a:t> </a:t>
            </a:r>
            <a:r>
              <a:rPr lang="en-US" dirty="0" err="1"/>
              <a:t>vụ</a:t>
            </a:r>
            <a:r>
              <a:rPr lang="en-US" dirty="0"/>
              <a:t> </a:t>
            </a:r>
            <a:r>
              <a:rPr lang="en-US" dirty="0" err="1"/>
              <a:t>cụ</a:t>
            </a:r>
            <a:r>
              <a:rPr lang="en-US" dirty="0"/>
              <a:t> </a:t>
            </a:r>
            <a:r>
              <a:rPr lang="en-US" dirty="0" err="1"/>
              <a:t>thể</a:t>
            </a:r>
            <a:r>
              <a:rPr lang="en-US" dirty="0"/>
              <a:t> </a:t>
            </a:r>
            <a:r>
              <a:rPr lang="en-US" dirty="0" err="1"/>
              <a:t>khác</a:t>
            </a:r>
            <a:r>
              <a:rPr lang="en-US" dirty="0"/>
              <a:t> </a:t>
            </a:r>
            <a:r>
              <a:rPr lang="en-US" dirty="0" err="1"/>
              <a:t>của</a:t>
            </a:r>
            <a:r>
              <a:rPr lang="en-US" dirty="0"/>
              <a:t> </a:t>
            </a:r>
            <a:r>
              <a:rPr lang="en-US" dirty="0" err="1"/>
              <a:t>địa</a:t>
            </a:r>
            <a:r>
              <a:rPr lang="en-US" dirty="0"/>
              <a:t> </a:t>
            </a:r>
            <a:r>
              <a:rPr lang="en-US" dirty="0" err="1"/>
              <a:t>phương</a:t>
            </a:r>
            <a:r>
              <a:rPr lang="en-US" dirty="0"/>
              <a:t>.</a:t>
            </a:r>
          </a:p>
        </p:txBody>
      </p:sp>
      <p:sp>
        <p:nvSpPr>
          <p:cNvPr id="4" name="Slide Number Placeholder 3">
            <a:extLst>
              <a:ext uri="{FF2B5EF4-FFF2-40B4-BE49-F238E27FC236}">
                <a16:creationId xmlns:a16="http://schemas.microsoft.com/office/drawing/2014/main" id="{24AF9304-B6D6-A607-58E0-5A11134FD2D4}"/>
              </a:ext>
            </a:extLst>
          </p:cNvPr>
          <p:cNvSpPr>
            <a:spLocks noGrp="1"/>
          </p:cNvSpPr>
          <p:nvPr>
            <p:ph type="sldNum" sz="quarter" idx="5"/>
          </p:nvPr>
        </p:nvSpPr>
        <p:spPr/>
        <p:txBody>
          <a:bodyPr/>
          <a:lstStyle/>
          <a:p>
            <a:fld id="{1DD107A9-A0C7-4078-AEEF-185A00981267}" type="slidenum">
              <a:rPr lang="en-US" smtClean="0"/>
              <a:t>31</a:t>
            </a:fld>
            <a:endParaRPr lang="en-US"/>
          </a:p>
        </p:txBody>
      </p:sp>
    </p:spTree>
    <p:extLst>
      <p:ext uri="{BB962C8B-B14F-4D97-AF65-F5344CB8AC3E}">
        <p14:creationId xmlns:p14="http://schemas.microsoft.com/office/powerpoint/2010/main" val="5197182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9BF84-A210-23D8-CBF3-DA13F1755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F7519-5C8D-2F72-2126-9944DF4039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15A472-07D4-7456-8ADB-F8CD16C6C0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43 </a:t>
            </a:r>
            <a:r>
              <a:rPr lang="en-US" dirty="0" err="1"/>
              <a:t>Luật</a:t>
            </a:r>
            <a:r>
              <a:rPr lang="en-US" dirty="0"/>
              <a:t> NSNN 2025. </a:t>
            </a:r>
            <a:r>
              <a:rPr lang="en-US" dirty="0" err="1"/>
              <a:t>Xác</a:t>
            </a:r>
            <a:r>
              <a:rPr lang="en-US" dirty="0"/>
              <a:t> </a:t>
            </a:r>
            <a:r>
              <a:rPr lang="en-US" dirty="0" err="1"/>
              <a:t>định</a:t>
            </a:r>
            <a:r>
              <a:rPr lang="en-US" dirty="0"/>
              <a:t> </a:t>
            </a:r>
            <a:r>
              <a:rPr lang="en-US" dirty="0" err="1"/>
              <a:t>số</a:t>
            </a:r>
            <a:r>
              <a:rPr lang="en-US" dirty="0"/>
              <a:t> </a:t>
            </a:r>
            <a:r>
              <a:rPr lang="en-US" dirty="0" err="1"/>
              <a:t>bổ</a:t>
            </a:r>
            <a:r>
              <a:rPr lang="en-US" dirty="0"/>
              <a:t> sung </a:t>
            </a:r>
            <a:r>
              <a:rPr lang="en-US" dirty="0" err="1"/>
              <a:t>có</a:t>
            </a:r>
            <a:r>
              <a:rPr lang="en-US" dirty="0"/>
              <a:t> </a:t>
            </a:r>
            <a:r>
              <a:rPr lang="en-US" dirty="0" err="1"/>
              <a:t>mục</a:t>
            </a:r>
            <a:r>
              <a:rPr lang="en-US" dirty="0"/>
              <a:t> </a:t>
            </a:r>
            <a:r>
              <a:rPr lang="en-US" dirty="0" err="1"/>
              <a:t>tiêu</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a:t>
            </a:r>
            <a:r>
              <a:rPr lang="en-US" dirty="0" err="1"/>
              <a:t>Số</a:t>
            </a:r>
            <a:r>
              <a:rPr lang="en-US" dirty="0"/>
              <a:t> </a:t>
            </a:r>
            <a:r>
              <a:rPr lang="en-US" dirty="0" err="1"/>
              <a:t>bổ</a:t>
            </a:r>
            <a:r>
              <a:rPr lang="en-US" dirty="0"/>
              <a:t> sung </a:t>
            </a:r>
            <a:r>
              <a:rPr lang="en-US" dirty="0" err="1"/>
              <a:t>có</a:t>
            </a:r>
            <a:r>
              <a:rPr lang="en-US" dirty="0"/>
              <a:t> </a:t>
            </a:r>
            <a:r>
              <a:rPr lang="en-US" dirty="0" err="1"/>
              <a:t>mục</a:t>
            </a:r>
            <a:r>
              <a:rPr lang="en-US" dirty="0"/>
              <a:t> </a:t>
            </a:r>
            <a:r>
              <a:rPr lang="en-US" dirty="0" err="1"/>
              <a:t>tiêu</a:t>
            </a:r>
            <a:r>
              <a:rPr lang="en-US" dirty="0"/>
              <a:t> </a:t>
            </a:r>
            <a:r>
              <a:rPr lang="en-US" dirty="0" err="1"/>
              <a:t>từ</a:t>
            </a:r>
            <a:r>
              <a:rPr lang="en-US" dirty="0"/>
              <a:t> NS </a:t>
            </a:r>
            <a:r>
              <a:rPr lang="en-US" dirty="0" err="1"/>
              <a:t>cấp</a:t>
            </a:r>
            <a:r>
              <a:rPr lang="en-US" dirty="0"/>
              <a:t> </a:t>
            </a:r>
            <a:r>
              <a:rPr lang="en-US" dirty="0" err="1"/>
              <a:t>trên</a:t>
            </a:r>
            <a:r>
              <a:rPr lang="en-US" dirty="0"/>
              <a:t> </a:t>
            </a:r>
            <a:r>
              <a:rPr lang="en-US" dirty="0" err="1"/>
              <a:t>cho</a:t>
            </a:r>
            <a:r>
              <a:rPr lang="en-US" dirty="0"/>
              <a:t> NS </a:t>
            </a:r>
            <a:r>
              <a:rPr lang="en-US" dirty="0" err="1"/>
              <a:t>cấp</a:t>
            </a:r>
            <a:r>
              <a:rPr lang="en-US" dirty="0"/>
              <a:t> </a:t>
            </a:r>
            <a:r>
              <a:rPr lang="en-US" dirty="0" err="1"/>
              <a:t>dưới</a:t>
            </a:r>
            <a:r>
              <a:rPr lang="en-US" dirty="0"/>
              <a:t> </a:t>
            </a:r>
            <a:r>
              <a:rPr lang="en-US" dirty="0" err="1"/>
              <a:t>được</a:t>
            </a:r>
            <a:r>
              <a:rPr lang="en-US" dirty="0"/>
              <a:t> </a:t>
            </a:r>
            <a:r>
              <a:rPr lang="en-US" dirty="0" err="1"/>
              <a:t>xác</a:t>
            </a:r>
            <a:r>
              <a:rPr lang="en-US" dirty="0"/>
              <a:t> </a:t>
            </a:r>
            <a:r>
              <a:rPr lang="en-US" dirty="0" err="1"/>
              <a:t>định</a:t>
            </a:r>
            <a:r>
              <a:rPr lang="en-US" dirty="0"/>
              <a:t> </a:t>
            </a:r>
            <a:r>
              <a:rPr lang="en-US" dirty="0" err="1"/>
              <a:t>theo</a:t>
            </a:r>
            <a:r>
              <a:rPr lang="en-US" dirty="0"/>
              <a:t> </a:t>
            </a:r>
            <a:r>
              <a:rPr lang="en-US" dirty="0" err="1"/>
              <a:t>nguyên</a:t>
            </a:r>
            <a:r>
              <a:rPr lang="en-US" dirty="0"/>
              <a:t> </a:t>
            </a:r>
            <a:r>
              <a:rPr lang="en-US" dirty="0" err="1"/>
              <a:t>tắc</a:t>
            </a:r>
            <a:r>
              <a:rPr lang="en-US" dirty="0"/>
              <a:t>, </a:t>
            </a:r>
            <a:r>
              <a:rPr lang="en-US" dirty="0" err="1"/>
              <a:t>tiêu</a:t>
            </a:r>
            <a:r>
              <a:rPr lang="en-US" dirty="0"/>
              <a:t> </a:t>
            </a:r>
            <a:r>
              <a:rPr lang="en-US" dirty="0" err="1"/>
              <a:t>chí</a:t>
            </a:r>
            <a:r>
              <a:rPr lang="en-US" dirty="0"/>
              <a:t>, </a:t>
            </a:r>
            <a:r>
              <a:rPr lang="en-US" dirty="0" err="1"/>
              <a:t>định</a:t>
            </a:r>
            <a:r>
              <a:rPr lang="en-US" dirty="0"/>
              <a:t> </a:t>
            </a:r>
            <a:r>
              <a:rPr lang="en-US" dirty="0" err="1"/>
              <a:t>mức</a:t>
            </a:r>
            <a:r>
              <a:rPr lang="en-US" dirty="0"/>
              <a:t> </a:t>
            </a:r>
            <a:r>
              <a:rPr lang="en-US" dirty="0" err="1"/>
              <a:t>phân</a:t>
            </a:r>
            <a:r>
              <a:rPr lang="en-US" dirty="0"/>
              <a:t> </a:t>
            </a:r>
            <a:r>
              <a:rPr lang="en-US" dirty="0" err="1"/>
              <a:t>bổ</a:t>
            </a:r>
            <a:r>
              <a:rPr lang="en-US" dirty="0"/>
              <a:t> </a:t>
            </a:r>
            <a:r>
              <a:rPr lang="en-US" dirty="0" err="1"/>
              <a:t>ngân</a:t>
            </a:r>
            <a:r>
              <a:rPr lang="en-US" dirty="0"/>
              <a:t> </a:t>
            </a:r>
            <a:r>
              <a:rPr lang="en-US" dirty="0" err="1"/>
              <a:t>sách</a:t>
            </a:r>
            <a:r>
              <a:rPr lang="en-US" dirty="0"/>
              <a:t>, </a:t>
            </a:r>
            <a:r>
              <a:rPr lang="en-US" dirty="0" err="1"/>
              <a:t>các</a:t>
            </a:r>
            <a:r>
              <a:rPr lang="en-US" dirty="0"/>
              <a:t> </a:t>
            </a:r>
            <a:r>
              <a:rPr lang="en-US" dirty="0" err="1"/>
              <a:t>chế</a:t>
            </a:r>
            <a:r>
              <a:rPr lang="en-US" dirty="0"/>
              <a:t> </a:t>
            </a:r>
            <a:r>
              <a:rPr lang="en-US" dirty="0" err="1"/>
              <a:t>độ</a:t>
            </a:r>
            <a:r>
              <a:rPr lang="en-US" dirty="0"/>
              <a:t>, </a:t>
            </a:r>
            <a:r>
              <a:rPr lang="en-US" dirty="0" err="1"/>
              <a:t>tiêu</a:t>
            </a:r>
            <a:r>
              <a:rPr lang="en-US" dirty="0"/>
              <a:t> </a:t>
            </a:r>
            <a:r>
              <a:rPr lang="en-US" dirty="0" err="1"/>
              <a:t>chuẩn</a:t>
            </a:r>
            <a:r>
              <a:rPr lang="en-US" dirty="0"/>
              <a:t>, </a:t>
            </a:r>
            <a:r>
              <a:rPr lang="en-US" dirty="0" err="1"/>
              <a:t>định</a:t>
            </a:r>
            <a:r>
              <a:rPr lang="en-US" dirty="0"/>
              <a:t> </a:t>
            </a:r>
            <a:r>
              <a:rPr lang="en-US" dirty="0" err="1"/>
              <a:t>mức</a:t>
            </a:r>
            <a:r>
              <a:rPr lang="en-US" dirty="0"/>
              <a:t> </a:t>
            </a:r>
            <a:r>
              <a:rPr lang="en-US" dirty="0" err="1"/>
              <a:t>chci</a:t>
            </a:r>
            <a:r>
              <a:rPr lang="en-US" dirty="0"/>
              <a:t> NS </a:t>
            </a:r>
            <a:r>
              <a:rPr lang="en-US" dirty="0" err="1"/>
              <a:t>và</a:t>
            </a:r>
            <a:r>
              <a:rPr lang="en-US" dirty="0"/>
              <a:t> </a:t>
            </a:r>
            <a:r>
              <a:rPr lang="en-US" dirty="0" err="1"/>
              <a:t>khả</a:t>
            </a:r>
            <a:r>
              <a:rPr lang="en-US" dirty="0"/>
              <a:t> </a:t>
            </a:r>
            <a:r>
              <a:rPr lang="en-US" dirty="0" err="1"/>
              <a:t>năng</a:t>
            </a:r>
            <a:r>
              <a:rPr lang="en-US" dirty="0"/>
              <a:t> </a:t>
            </a:r>
            <a:r>
              <a:rPr lang="en-US" dirty="0" err="1"/>
              <a:t>của</a:t>
            </a:r>
            <a:r>
              <a:rPr lang="en-US" dirty="0"/>
              <a:t> </a:t>
            </a:r>
            <a:r>
              <a:rPr lang="en-US" dirty="0" err="1"/>
              <a:t>ngân</a:t>
            </a:r>
            <a:r>
              <a:rPr lang="en-US" dirty="0"/>
              <a:t> </a:t>
            </a:r>
            <a:r>
              <a:rPr lang="en-US" dirty="0" err="1"/>
              <a:t>sách</a:t>
            </a:r>
            <a:r>
              <a:rPr lang="en-US" dirty="0"/>
              <a:t> </a:t>
            </a:r>
            <a:r>
              <a:rPr lang="en-US" dirty="0" err="1"/>
              <a:t>cấp</a:t>
            </a:r>
            <a:r>
              <a:rPr lang="en-US" dirty="0"/>
              <a:t> </a:t>
            </a:r>
            <a:r>
              <a:rPr lang="en-US" dirty="0" err="1"/>
              <a:t>trên</a:t>
            </a:r>
            <a:r>
              <a:rPr lang="en-US" dirty="0"/>
              <a:t>, </a:t>
            </a:r>
            <a:r>
              <a:rPr lang="en-US" dirty="0" err="1"/>
              <a:t>khả</a:t>
            </a:r>
            <a:r>
              <a:rPr lang="en-US" dirty="0"/>
              <a:t> </a:t>
            </a:r>
            <a:r>
              <a:rPr lang="en-US" dirty="0" err="1"/>
              <a:t>năng</a:t>
            </a:r>
            <a:r>
              <a:rPr lang="en-US" dirty="0"/>
              <a:t> </a:t>
            </a:r>
            <a:r>
              <a:rPr lang="en-US" dirty="0" err="1"/>
              <a:t>cân</a:t>
            </a:r>
            <a:r>
              <a:rPr lang="en-US" dirty="0"/>
              <a:t> </a:t>
            </a:r>
            <a:r>
              <a:rPr lang="en-US" dirty="0" err="1"/>
              <a:t>đối</a:t>
            </a:r>
            <a:r>
              <a:rPr lang="en-US" dirty="0"/>
              <a:t> </a:t>
            </a:r>
            <a:r>
              <a:rPr lang="en-US" dirty="0" err="1"/>
              <a:t>ngân</a:t>
            </a:r>
            <a:r>
              <a:rPr lang="en-US" dirty="0"/>
              <a:t> </a:t>
            </a:r>
            <a:r>
              <a:rPr lang="en-US" dirty="0" err="1"/>
              <a:t>sách</a:t>
            </a:r>
            <a:r>
              <a:rPr lang="en-US" dirty="0"/>
              <a:t> </a:t>
            </a:r>
            <a:r>
              <a:rPr lang="en-US" dirty="0" err="1"/>
              <a:t>của</a:t>
            </a:r>
            <a:r>
              <a:rPr lang="en-US" dirty="0"/>
              <a:t> </a:t>
            </a:r>
            <a:r>
              <a:rPr lang="en-US" dirty="0" err="1"/>
              <a:t>từng</a:t>
            </a:r>
            <a:r>
              <a:rPr lang="en-US" dirty="0"/>
              <a:t> </a:t>
            </a:r>
            <a:r>
              <a:rPr lang="en-US" dirty="0" err="1"/>
              <a:t>địa</a:t>
            </a:r>
            <a:r>
              <a:rPr lang="en-US" dirty="0"/>
              <a:t> </a:t>
            </a:r>
            <a:r>
              <a:rPr lang="en-US" dirty="0" err="1"/>
              <a:t>phương</a:t>
            </a:r>
            <a:r>
              <a:rPr lang="en-US" dirty="0"/>
              <a:t> </a:t>
            </a:r>
            <a:r>
              <a:rPr lang="en-US" dirty="0" err="1"/>
              <a:t>cấp</a:t>
            </a:r>
            <a:r>
              <a:rPr lang="en-US" dirty="0"/>
              <a:t> </a:t>
            </a:r>
            <a:r>
              <a:rPr lang="en-US" dirty="0" err="1"/>
              <a:t>dưới</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NS </a:t>
            </a:r>
            <a:r>
              <a:rPr lang="en-US" dirty="0" err="1"/>
              <a:t>cấp</a:t>
            </a:r>
            <a:r>
              <a:rPr lang="en-US" dirty="0"/>
              <a:t> </a:t>
            </a:r>
            <a:r>
              <a:rPr lang="en-US" dirty="0" err="1"/>
              <a:t>trên</a:t>
            </a:r>
            <a:r>
              <a:rPr lang="en-US" dirty="0"/>
              <a:t> </a:t>
            </a:r>
            <a:r>
              <a:rPr lang="en-US" dirty="0" err="1"/>
              <a:t>bổ</a:t>
            </a:r>
            <a:r>
              <a:rPr lang="en-US" dirty="0"/>
              <a:t> sung </a:t>
            </a:r>
            <a:r>
              <a:rPr lang="en-US" dirty="0" err="1"/>
              <a:t>có</a:t>
            </a:r>
            <a:r>
              <a:rPr lang="en-US" dirty="0"/>
              <a:t> </a:t>
            </a:r>
            <a:r>
              <a:rPr lang="en-US" dirty="0" err="1"/>
              <a:t>mục</a:t>
            </a:r>
            <a:r>
              <a:rPr lang="en-US" dirty="0"/>
              <a:t> </a:t>
            </a:r>
            <a:r>
              <a:rPr lang="en-US" dirty="0" err="1"/>
              <a:t>tiêu</a:t>
            </a:r>
            <a:r>
              <a:rPr lang="en-US" dirty="0"/>
              <a:t> </a:t>
            </a:r>
            <a:r>
              <a:rPr lang="en-US" dirty="0" err="1"/>
              <a:t>hỗ</a:t>
            </a:r>
            <a:r>
              <a:rPr lang="en-US" dirty="0"/>
              <a:t> </a:t>
            </a:r>
            <a:r>
              <a:rPr lang="en-US" dirty="0" err="1"/>
              <a:t>trợ</a:t>
            </a:r>
            <a:r>
              <a:rPr lang="en-US" dirty="0"/>
              <a:t> </a:t>
            </a:r>
            <a:r>
              <a:rPr lang="en-US" dirty="0" err="1"/>
              <a:t>ngân</a:t>
            </a:r>
            <a:r>
              <a:rPr lang="en-US" dirty="0"/>
              <a:t> </a:t>
            </a:r>
            <a:r>
              <a:rPr lang="en-US" dirty="0" err="1"/>
              <a:t>sách</a:t>
            </a:r>
            <a:r>
              <a:rPr lang="en-US" dirty="0"/>
              <a:t> </a:t>
            </a:r>
            <a:r>
              <a:rPr lang="en-US" dirty="0" err="1"/>
              <a:t>cấp</a:t>
            </a:r>
            <a:r>
              <a:rPr lang="en-US" dirty="0"/>
              <a:t> </a:t>
            </a:r>
            <a:r>
              <a:rPr lang="en-US" dirty="0" err="1"/>
              <a:t>dưới</a:t>
            </a:r>
            <a:r>
              <a:rPr lang="en-US" dirty="0"/>
              <a:t> </a:t>
            </a:r>
            <a:r>
              <a:rPr lang="en-US" dirty="0" err="1"/>
              <a:t>trong</a:t>
            </a:r>
            <a:r>
              <a:rPr lang="en-US" dirty="0"/>
              <a:t> </a:t>
            </a:r>
            <a:r>
              <a:rPr lang="en-US" dirty="0" err="1"/>
              <a:t>các</a:t>
            </a:r>
            <a:r>
              <a:rPr lang="en-US" dirty="0"/>
              <a:t> </a:t>
            </a:r>
            <a:r>
              <a:rPr lang="en-US" dirty="0" err="1"/>
              <a:t>trường</a:t>
            </a:r>
            <a:r>
              <a:rPr lang="en-US" dirty="0"/>
              <a:t> </a:t>
            </a:r>
            <a:r>
              <a:rPr lang="en-US" dirty="0" err="1"/>
              <a:t>hợp</a:t>
            </a:r>
            <a:r>
              <a:rPr lang="en-US" dirty="0"/>
              <a:t> </a:t>
            </a:r>
            <a:r>
              <a:rPr lang="en-US" dirty="0" err="1"/>
              <a:t>sau</a:t>
            </a:r>
            <a:r>
              <a:rPr lang="en-US" dirty="0"/>
              <a:t> </a:t>
            </a:r>
            <a:r>
              <a:rPr lang="en-US" dirty="0" err="1"/>
              <a:t>đây</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r>
              <a:rPr lang="en-US" dirty="0" err="1"/>
              <a:t>Thực</a:t>
            </a:r>
            <a:r>
              <a:rPr lang="en-US" dirty="0"/>
              <a:t> </a:t>
            </a:r>
            <a:r>
              <a:rPr lang="en-US" dirty="0" err="1"/>
              <a:t>hiện</a:t>
            </a:r>
            <a:r>
              <a:rPr lang="en-US" dirty="0"/>
              <a:t> </a:t>
            </a:r>
            <a:r>
              <a:rPr lang="en-US" dirty="0" err="1"/>
              <a:t>các</a:t>
            </a:r>
            <a:r>
              <a:rPr lang="en-US" dirty="0"/>
              <a:t> </a:t>
            </a:r>
            <a:r>
              <a:rPr lang="en-US" dirty="0" err="1"/>
              <a:t>chính</a:t>
            </a:r>
            <a:r>
              <a:rPr lang="en-US" dirty="0"/>
              <a:t> </a:t>
            </a:r>
            <a:r>
              <a:rPr lang="en-US" dirty="0" err="1"/>
              <a:t>sách</a:t>
            </a:r>
            <a:r>
              <a:rPr lang="en-US" dirty="0"/>
              <a:t>, </a:t>
            </a:r>
            <a:r>
              <a:rPr lang="en-US" dirty="0" err="1"/>
              <a:t>chế</a:t>
            </a:r>
            <a:r>
              <a:rPr lang="en-US" dirty="0"/>
              <a:t> </a:t>
            </a:r>
            <a:r>
              <a:rPr lang="en-US" dirty="0" err="1"/>
              <a:t>độ</a:t>
            </a:r>
            <a:r>
              <a:rPr lang="en-US" dirty="0"/>
              <a:t> </a:t>
            </a:r>
            <a:r>
              <a:rPr lang="en-US" dirty="0" err="1"/>
              <a:t>mới</a:t>
            </a:r>
            <a:r>
              <a:rPr lang="en-US" dirty="0"/>
              <a:t> do </a:t>
            </a:r>
            <a:r>
              <a:rPr lang="en-US" dirty="0" err="1"/>
              <a:t>cấp</a:t>
            </a:r>
            <a:r>
              <a:rPr lang="en-US" dirty="0"/>
              <a:t> </a:t>
            </a:r>
            <a:r>
              <a:rPr lang="en-US" dirty="0" err="1"/>
              <a:t>trên</a:t>
            </a:r>
            <a:r>
              <a:rPr lang="en-US" dirty="0"/>
              <a:t> ban </a:t>
            </a:r>
            <a:r>
              <a:rPr lang="en-US" dirty="0" err="1"/>
              <a:t>hành</a:t>
            </a:r>
            <a:r>
              <a:rPr lang="en-US" dirty="0"/>
              <a:t> </a:t>
            </a:r>
            <a:r>
              <a:rPr lang="en-US" dirty="0" err="1"/>
              <a:t>chưa</a:t>
            </a:r>
            <a:r>
              <a:rPr lang="en-US" dirty="0"/>
              <a:t> </a:t>
            </a:r>
            <a:r>
              <a:rPr lang="en-US" dirty="0" err="1"/>
              <a:t>được</a:t>
            </a:r>
            <a:r>
              <a:rPr lang="en-US" dirty="0"/>
              <a:t> </a:t>
            </a:r>
            <a:r>
              <a:rPr lang="en-US" dirty="0" err="1"/>
              <a:t>bố</a:t>
            </a:r>
            <a:r>
              <a:rPr lang="en-US" dirty="0"/>
              <a:t> </a:t>
            </a:r>
            <a:r>
              <a:rPr lang="en-US" dirty="0" err="1"/>
              <a:t>trí</a:t>
            </a:r>
            <a:r>
              <a:rPr lang="en-US" dirty="0"/>
              <a:t> </a:t>
            </a:r>
            <a:r>
              <a:rPr lang="en-US" dirty="0" err="1"/>
              <a:t>trong</a:t>
            </a:r>
            <a:r>
              <a:rPr lang="en-US" dirty="0"/>
              <a:t> </a:t>
            </a:r>
            <a:r>
              <a:rPr lang="en-US" dirty="0" err="1"/>
              <a:t>dự</a:t>
            </a:r>
            <a:r>
              <a:rPr lang="en-US" dirty="0"/>
              <a:t> </a:t>
            </a:r>
            <a:r>
              <a:rPr lang="en-US" dirty="0" err="1"/>
              <a:t>toán</a:t>
            </a:r>
            <a:r>
              <a:rPr lang="en-US" dirty="0"/>
              <a:t> </a:t>
            </a:r>
            <a:r>
              <a:rPr lang="en-US" dirty="0" err="1"/>
              <a:t>ngân</a:t>
            </a:r>
            <a:r>
              <a:rPr lang="en-US" dirty="0"/>
              <a:t> </a:t>
            </a:r>
            <a:r>
              <a:rPr lang="en-US" dirty="0" err="1"/>
              <a:t>sách</a:t>
            </a:r>
            <a:r>
              <a:rPr lang="en-US" dirty="0"/>
              <a:t> hang </a:t>
            </a:r>
            <a:r>
              <a:rPr lang="en-US" dirty="0" err="1"/>
              <a:t>năm</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r>
              <a:rPr lang="en-US" dirty="0" err="1"/>
              <a:t>Thực</a:t>
            </a:r>
            <a:r>
              <a:rPr lang="en-US" dirty="0"/>
              <a:t> </a:t>
            </a:r>
            <a:r>
              <a:rPr lang="en-US" dirty="0" err="1"/>
              <a:t>hiện</a:t>
            </a:r>
            <a:r>
              <a:rPr lang="en-US" dirty="0"/>
              <a:t> </a:t>
            </a:r>
            <a:r>
              <a:rPr lang="en-US" dirty="0" err="1"/>
              <a:t>các</a:t>
            </a:r>
            <a:r>
              <a:rPr lang="en-US" dirty="0"/>
              <a:t> </a:t>
            </a:r>
            <a:r>
              <a:rPr lang="en-US" dirty="0" err="1"/>
              <a:t>chương</a:t>
            </a:r>
            <a:r>
              <a:rPr lang="en-US" dirty="0"/>
              <a:t> </a:t>
            </a:r>
            <a:r>
              <a:rPr lang="en-US" dirty="0" err="1"/>
              <a:t>trình</a:t>
            </a:r>
            <a:r>
              <a:rPr lang="en-US" dirty="0"/>
              <a:t> </a:t>
            </a:r>
            <a:r>
              <a:rPr lang="en-US" dirty="0" err="1"/>
              <a:t>mục</a:t>
            </a:r>
            <a:r>
              <a:rPr lang="en-US" dirty="0"/>
              <a:t> </a:t>
            </a:r>
            <a:r>
              <a:rPr lang="en-US" dirty="0" err="1"/>
              <a:t>tiêu</a:t>
            </a:r>
            <a:r>
              <a:rPr lang="en-US" dirty="0"/>
              <a:t> </a:t>
            </a:r>
            <a:r>
              <a:rPr lang="en-US" dirty="0" err="1"/>
              <a:t>quốc</a:t>
            </a:r>
            <a:r>
              <a:rPr lang="en-US" dirty="0"/>
              <a:t> </a:t>
            </a:r>
            <a:r>
              <a:rPr lang="en-US" dirty="0" err="1"/>
              <a:t>gia</a:t>
            </a:r>
            <a:r>
              <a:rPr lang="en-US" dirty="0"/>
              <a:t> </a:t>
            </a:r>
            <a:r>
              <a:rPr lang="en-US" dirty="0" err="1"/>
              <a:t>và</a:t>
            </a:r>
            <a:r>
              <a:rPr lang="en-US" dirty="0"/>
              <a:t> </a:t>
            </a:r>
            <a:r>
              <a:rPr lang="en-US" dirty="0" err="1"/>
              <a:t>các</a:t>
            </a:r>
            <a:r>
              <a:rPr lang="en-US" dirty="0"/>
              <a:t> </a:t>
            </a:r>
            <a:r>
              <a:rPr lang="en-US" dirty="0" err="1"/>
              <a:t>chương</a:t>
            </a:r>
            <a:r>
              <a:rPr lang="en-US" dirty="0"/>
              <a:t> </a:t>
            </a:r>
            <a:r>
              <a:rPr lang="en-US" dirty="0" err="1"/>
              <a:t>trình</a:t>
            </a:r>
            <a:r>
              <a:rPr lang="en-US" dirty="0"/>
              <a:t>, </a:t>
            </a:r>
            <a:r>
              <a:rPr lang="en-US" dirty="0" err="1"/>
              <a:t>dự</a:t>
            </a:r>
            <a:r>
              <a:rPr lang="en-US" dirty="0"/>
              <a:t> </a:t>
            </a:r>
            <a:r>
              <a:rPr lang="en-US" dirty="0" err="1"/>
              <a:t>án</a:t>
            </a:r>
            <a:r>
              <a:rPr lang="en-US" dirty="0"/>
              <a:t> </a:t>
            </a:r>
            <a:r>
              <a:rPr lang="en-US" dirty="0" err="1"/>
              <a:t>khác</a:t>
            </a:r>
            <a:r>
              <a:rPr lang="en-US" dirty="0"/>
              <a:t> </a:t>
            </a:r>
            <a:r>
              <a:rPr lang="en-US" dirty="0" err="1"/>
              <a:t>của</a:t>
            </a:r>
            <a:r>
              <a:rPr lang="en-US" dirty="0"/>
              <a:t> </a:t>
            </a:r>
            <a:r>
              <a:rPr lang="en-US" dirty="0" err="1"/>
              <a:t>cấp</a:t>
            </a:r>
            <a:r>
              <a:rPr lang="en-US" dirty="0"/>
              <a:t> </a:t>
            </a:r>
            <a:r>
              <a:rPr lang="en-US" dirty="0" err="1"/>
              <a:t>trên</a:t>
            </a:r>
            <a:r>
              <a:rPr lang="en-US" dirty="0"/>
              <a:t>, </a:t>
            </a:r>
            <a:r>
              <a:rPr lang="en-US" dirty="0" err="1"/>
              <a:t>phần</a:t>
            </a:r>
            <a:r>
              <a:rPr lang="en-US" dirty="0"/>
              <a:t> </a:t>
            </a:r>
            <a:r>
              <a:rPr lang="en-US" dirty="0" err="1"/>
              <a:t>giao</a:t>
            </a:r>
            <a:r>
              <a:rPr lang="en-US" dirty="0"/>
              <a:t> </a:t>
            </a:r>
            <a:r>
              <a:rPr lang="en-US" dirty="0" err="1"/>
              <a:t>cho</a:t>
            </a:r>
            <a:r>
              <a:rPr lang="en-US" dirty="0"/>
              <a:t> </a:t>
            </a:r>
            <a:r>
              <a:rPr lang="en-US" dirty="0" err="1"/>
              <a:t>cấp</a:t>
            </a:r>
            <a:r>
              <a:rPr lang="en-US" dirty="0"/>
              <a:t> </a:t>
            </a:r>
            <a:r>
              <a:rPr lang="en-US" dirty="0" err="1"/>
              <a:t>dưới</a:t>
            </a:r>
            <a:r>
              <a:rPr lang="en-US" dirty="0"/>
              <a:t> </a:t>
            </a:r>
            <a:r>
              <a:rPr lang="en-US" dirty="0" err="1"/>
              <a:t>thực</a:t>
            </a:r>
            <a:r>
              <a:rPr lang="en-US" dirty="0"/>
              <a:t> </a:t>
            </a:r>
            <a:r>
              <a:rPr lang="en-US" dirty="0" err="1"/>
              <a:t>hiện</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r>
              <a:rPr lang="en-US" dirty="0" err="1"/>
              <a:t>Hỗ</a:t>
            </a:r>
            <a:r>
              <a:rPr lang="en-US" dirty="0"/>
              <a:t> </a:t>
            </a:r>
            <a:r>
              <a:rPr lang="en-US" dirty="0" err="1"/>
              <a:t>trợ</a:t>
            </a:r>
            <a:r>
              <a:rPr lang="en-US" dirty="0"/>
              <a:t> chi </a:t>
            </a:r>
            <a:r>
              <a:rPr lang="en-US" dirty="0" err="1"/>
              <a:t>khắc</a:t>
            </a:r>
            <a:r>
              <a:rPr lang="en-US" dirty="0"/>
              <a:t> </a:t>
            </a:r>
            <a:r>
              <a:rPr lang="en-US" dirty="0" err="1"/>
              <a:t>phục</a:t>
            </a:r>
            <a:r>
              <a:rPr lang="en-US" dirty="0"/>
              <a:t> </a:t>
            </a:r>
            <a:r>
              <a:rPr lang="en-US" dirty="0" err="1"/>
              <a:t>thiên</a:t>
            </a:r>
            <a:r>
              <a:rPr lang="en-US" dirty="0"/>
              <a:t> tai, </a:t>
            </a:r>
            <a:r>
              <a:rPr lang="en-US" dirty="0" err="1"/>
              <a:t>thảm</a:t>
            </a:r>
            <a:r>
              <a:rPr lang="en-US" dirty="0"/>
              <a:t> </a:t>
            </a:r>
            <a:r>
              <a:rPr lang="en-US" dirty="0" err="1"/>
              <a:t>họa</a:t>
            </a:r>
            <a:r>
              <a:rPr lang="en-US" dirty="0"/>
              <a:t>, </a:t>
            </a:r>
            <a:r>
              <a:rPr lang="en-US" dirty="0" err="1"/>
              <a:t>dịch</a:t>
            </a:r>
            <a:r>
              <a:rPr lang="en-US" dirty="0"/>
              <a:t> </a:t>
            </a:r>
            <a:r>
              <a:rPr lang="en-US" dirty="0" err="1"/>
              <a:t>bệnh</a:t>
            </a:r>
            <a:r>
              <a:rPr lang="en-US" dirty="0"/>
              <a:t> </a:t>
            </a:r>
            <a:r>
              <a:rPr lang="en-US" dirty="0" err="1"/>
              <a:t>vượt</a:t>
            </a:r>
            <a:r>
              <a:rPr lang="en-US" dirty="0"/>
              <a:t> </a:t>
            </a:r>
            <a:r>
              <a:rPr lang="en-US" dirty="0" err="1"/>
              <a:t>quá</a:t>
            </a:r>
            <a:r>
              <a:rPr lang="en-US" dirty="0"/>
              <a:t> </a:t>
            </a:r>
            <a:r>
              <a:rPr lang="en-US" dirty="0" err="1"/>
              <a:t>khả</a:t>
            </a:r>
            <a:r>
              <a:rPr lang="en-US" dirty="0"/>
              <a:t> </a:t>
            </a:r>
            <a:r>
              <a:rPr lang="en-US" dirty="0" err="1"/>
              <a:t>năng</a:t>
            </a:r>
            <a:r>
              <a:rPr lang="en-US" dirty="0"/>
              <a:t> </a:t>
            </a:r>
            <a:r>
              <a:rPr lang="en-US" dirty="0" err="1"/>
              <a:t>cân</a:t>
            </a:r>
            <a:r>
              <a:rPr lang="en-US" dirty="0"/>
              <a:t> </a:t>
            </a:r>
            <a:r>
              <a:rPr lang="en-US" dirty="0" err="1"/>
              <a:t>đối</a:t>
            </a:r>
            <a:r>
              <a:rPr lang="en-US" dirty="0"/>
              <a:t> </a:t>
            </a:r>
            <a:r>
              <a:rPr lang="en-US" dirty="0" err="1"/>
              <a:t>của</a:t>
            </a:r>
            <a:r>
              <a:rPr lang="en-US" dirty="0"/>
              <a:t> NS </a:t>
            </a:r>
            <a:r>
              <a:rPr lang="en-US" dirty="0" err="1"/>
              <a:t>cấp</a:t>
            </a:r>
            <a:r>
              <a:rPr lang="en-US" dirty="0"/>
              <a:t> </a:t>
            </a:r>
            <a:r>
              <a:rPr lang="en-US" dirty="0" err="1"/>
              <a:t>dưới</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r>
              <a:rPr lang="en-US" dirty="0" err="1"/>
              <a:t>Hỗ</a:t>
            </a:r>
            <a:r>
              <a:rPr lang="en-US" dirty="0"/>
              <a:t> </a:t>
            </a:r>
            <a:r>
              <a:rPr lang="en-US" dirty="0" err="1"/>
              <a:t>trợ</a:t>
            </a:r>
            <a:r>
              <a:rPr lang="en-US" dirty="0"/>
              <a:t> </a:t>
            </a:r>
            <a:r>
              <a:rPr lang="en-US" dirty="0" err="1"/>
              <a:t>thực</a:t>
            </a:r>
            <a:r>
              <a:rPr lang="en-US" dirty="0"/>
              <a:t> </a:t>
            </a:r>
            <a:r>
              <a:rPr lang="en-US" dirty="0" err="1"/>
              <a:t>hiện</a:t>
            </a:r>
            <a:r>
              <a:rPr lang="en-US" dirty="0"/>
              <a:t> </a:t>
            </a:r>
            <a:r>
              <a:rPr lang="en-US" dirty="0" err="1"/>
              <a:t>một</a:t>
            </a:r>
            <a:r>
              <a:rPr lang="en-US" dirty="0"/>
              <a:t> </a:t>
            </a:r>
            <a:r>
              <a:rPr lang="en-US" dirty="0" err="1"/>
              <a:t>số</a:t>
            </a:r>
            <a:r>
              <a:rPr lang="en-US" dirty="0"/>
              <a:t> </a:t>
            </a:r>
            <a:r>
              <a:rPr lang="en-US" dirty="0" err="1"/>
              <a:t>chương</a:t>
            </a:r>
            <a:r>
              <a:rPr lang="en-US" dirty="0"/>
              <a:t> </a:t>
            </a:r>
            <a:r>
              <a:rPr lang="en-US" dirty="0" err="1"/>
              <a:t>trình</a:t>
            </a:r>
            <a:r>
              <a:rPr lang="en-US" dirty="0"/>
              <a:t>, </a:t>
            </a:r>
            <a:r>
              <a:rPr lang="en-US" dirty="0" err="1"/>
              <a:t>dự</a:t>
            </a:r>
            <a:r>
              <a:rPr lang="en-US" dirty="0"/>
              <a:t> </a:t>
            </a:r>
            <a:r>
              <a:rPr lang="en-US" dirty="0" err="1"/>
              <a:t>án</a:t>
            </a:r>
            <a:r>
              <a:rPr lang="en-US" dirty="0"/>
              <a:t> </a:t>
            </a:r>
            <a:r>
              <a:rPr lang="en-US" dirty="0" err="1"/>
              <a:t>quan</a:t>
            </a:r>
            <a:r>
              <a:rPr lang="en-US" dirty="0"/>
              <a:t> </a:t>
            </a:r>
            <a:r>
              <a:rPr lang="en-US" dirty="0" err="1"/>
              <a:t>trọng</a:t>
            </a:r>
            <a:r>
              <a:rPr lang="en-US" dirty="0"/>
              <a:t> </a:t>
            </a:r>
            <a:r>
              <a:rPr lang="en-US" dirty="0" err="1"/>
              <a:t>quốc</a:t>
            </a:r>
            <a:r>
              <a:rPr lang="en-US" dirty="0"/>
              <a:t> </a:t>
            </a:r>
            <a:r>
              <a:rPr lang="en-US" dirty="0" err="1"/>
              <a:t>gia</a:t>
            </a:r>
            <a:r>
              <a:rPr lang="en-US" dirty="0"/>
              <a:t>, </a:t>
            </a:r>
            <a:r>
              <a:rPr lang="en-US" dirty="0" err="1"/>
              <a:t>chương</a:t>
            </a:r>
            <a:r>
              <a:rPr lang="en-US" dirty="0"/>
              <a:t> </a:t>
            </a:r>
            <a:r>
              <a:rPr lang="en-US" dirty="0" err="1"/>
              <a:t>trình</a:t>
            </a:r>
            <a:r>
              <a:rPr lang="en-US" dirty="0"/>
              <a:t>, </a:t>
            </a:r>
            <a:r>
              <a:rPr lang="en-US" dirty="0" err="1"/>
              <a:t>dự</a:t>
            </a:r>
            <a:r>
              <a:rPr lang="en-US" dirty="0"/>
              <a:t> </a:t>
            </a:r>
            <a:r>
              <a:rPr lang="en-US" dirty="0" err="1"/>
              <a:t>án</a:t>
            </a:r>
            <a:r>
              <a:rPr lang="en-US" dirty="0"/>
              <a:t> </a:t>
            </a:r>
            <a:r>
              <a:rPr lang="en-US" dirty="0" err="1"/>
              <a:t>trọng</a:t>
            </a:r>
            <a:r>
              <a:rPr lang="en-US" dirty="0"/>
              <a:t> </a:t>
            </a:r>
            <a:r>
              <a:rPr lang="en-US" dirty="0" err="1"/>
              <a:t>điểm</a:t>
            </a:r>
            <a:r>
              <a:rPr lang="en-US" dirty="0"/>
              <a:t> </a:t>
            </a:r>
            <a:r>
              <a:rPr lang="en-US" dirty="0" err="1"/>
              <a:t>có</a:t>
            </a:r>
            <a:r>
              <a:rPr lang="en-US" dirty="0"/>
              <a:t> ý </a:t>
            </a:r>
            <a:r>
              <a:rPr lang="en-US" dirty="0" err="1"/>
              <a:t>nghĩa</a:t>
            </a:r>
            <a:r>
              <a:rPr lang="en-US" dirty="0"/>
              <a:t> </a:t>
            </a:r>
            <a:r>
              <a:rPr lang="en-US" dirty="0" err="1"/>
              <a:t>lớn</a:t>
            </a:r>
            <a:r>
              <a:rPr lang="en-US" dirty="0"/>
              <a:t> </a:t>
            </a:r>
            <a:r>
              <a:rPr lang="en-US" dirty="0" err="1"/>
              <a:t>đối</a:t>
            </a:r>
            <a:r>
              <a:rPr lang="en-US" dirty="0"/>
              <a:t> </a:t>
            </a:r>
            <a:r>
              <a:rPr lang="en-US" dirty="0" err="1"/>
              <a:t>với</a:t>
            </a:r>
            <a:r>
              <a:rPr lang="en-US" dirty="0"/>
              <a:t> </a:t>
            </a:r>
            <a:r>
              <a:rPr lang="en-US" dirty="0" err="1"/>
              <a:t>phát</a:t>
            </a:r>
            <a:r>
              <a:rPr lang="en-US" dirty="0"/>
              <a:t> </a:t>
            </a:r>
            <a:r>
              <a:rPr lang="en-US" dirty="0" err="1"/>
              <a:t>triển</a:t>
            </a:r>
            <a:r>
              <a:rPr lang="en-US" dirty="0"/>
              <a:t> </a:t>
            </a:r>
            <a:r>
              <a:rPr lang="en-US" dirty="0" err="1"/>
              <a:t>kinh</a:t>
            </a:r>
            <a:r>
              <a:rPr lang="en-US" dirty="0"/>
              <a:t> </a:t>
            </a:r>
            <a:r>
              <a:rPr lang="en-US" dirty="0" err="1"/>
              <a:t>tế</a:t>
            </a:r>
            <a:r>
              <a:rPr lang="en-US" dirty="0"/>
              <a:t> - </a:t>
            </a:r>
            <a:r>
              <a:rPr lang="en-US" dirty="0" err="1"/>
              <a:t>xã</a:t>
            </a:r>
            <a:r>
              <a:rPr lang="en-US" dirty="0"/>
              <a:t> </a:t>
            </a:r>
            <a:r>
              <a:rPr lang="en-US" dirty="0" err="1"/>
              <a:t>hội</a:t>
            </a:r>
            <a:r>
              <a:rPr lang="en-US" dirty="0"/>
              <a:t>, </a:t>
            </a:r>
            <a:r>
              <a:rPr lang="en-US" dirty="0" err="1"/>
              <a:t>nhiệm</a:t>
            </a:r>
            <a:r>
              <a:rPr lang="en-US" dirty="0"/>
              <a:t> </a:t>
            </a:r>
            <a:r>
              <a:rPr lang="en-US" dirty="0" err="1"/>
              <a:t>vụ</a:t>
            </a:r>
            <a:r>
              <a:rPr lang="en-US" dirty="0"/>
              <a:t> </a:t>
            </a:r>
            <a:r>
              <a:rPr lang="en-US" dirty="0" err="1"/>
              <a:t>cụ</a:t>
            </a:r>
            <a:r>
              <a:rPr lang="en-US" dirty="0"/>
              <a:t> </a:t>
            </a:r>
            <a:r>
              <a:rPr lang="en-US" dirty="0" err="1"/>
              <a:t>thể</a:t>
            </a:r>
            <a:r>
              <a:rPr lang="en-US" dirty="0"/>
              <a:t> </a:t>
            </a:r>
            <a:r>
              <a:rPr lang="en-US" dirty="0" err="1"/>
              <a:t>khác</a:t>
            </a:r>
            <a:r>
              <a:rPr lang="en-US" dirty="0"/>
              <a:t> </a:t>
            </a:r>
            <a:r>
              <a:rPr lang="en-US" dirty="0" err="1"/>
              <a:t>của</a:t>
            </a:r>
            <a:r>
              <a:rPr lang="en-US" dirty="0"/>
              <a:t> </a:t>
            </a:r>
            <a:r>
              <a:rPr lang="en-US" dirty="0" err="1"/>
              <a:t>địa</a:t>
            </a:r>
            <a:r>
              <a:rPr lang="en-US" dirty="0"/>
              <a:t> </a:t>
            </a:r>
            <a:r>
              <a:rPr lang="en-US" dirty="0" err="1"/>
              <a:t>phương</a:t>
            </a:r>
            <a:r>
              <a:rPr lang="en-US" dirty="0"/>
              <a:t>.</a:t>
            </a:r>
          </a:p>
        </p:txBody>
      </p:sp>
      <p:sp>
        <p:nvSpPr>
          <p:cNvPr id="4" name="Slide Number Placeholder 3">
            <a:extLst>
              <a:ext uri="{FF2B5EF4-FFF2-40B4-BE49-F238E27FC236}">
                <a16:creationId xmlns:a16="http://schemas.microsoft.com/office/drawing/2014/main" id="{ACEF8241-74DD-0942-D82A-F5B2A3D2F464}"/>
              </a:ext>
            </a:extLst>
          </p:cNvPr>
          <p:cNvSpPr>
            <a:spLocks noGrp="1"/>
          </p:cNvSpPr>
          <p:nvPr>
            <p:ph type="sldNum" sz="quarter" idx="5"/>
          </p:nvPr>
        </p:nvSpPr>
        <p:spPr/>
        <p:txBody>
          <a:bodyPr/>
          <a:lstStyle/>
          <a:p>
            <a:fld id="{1DD107A9-A0C7-4078-AEEF-185A00981267}" type="slidenum">
              <a:rPr lang="en-US" smtClean="0"/>
              <a:t>32</a:t>
            </a:fld>
            <a:endParaRPr lang="en-US"/>
          </a:p>
        </p:txBody>
      </p:sp>
    </p:spTree>
    <p:extLst>
      <p:ext uri="{BB962C8B-B14F-4D97-AF65-F5344CB8AC3E}">
        <p14:creationId xmlns:p14="http://schemas.microsoft.com/office/powerpoint/2010/main" val="30002824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4E34A-40DF-D47D-0742-485D6E5A2C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310F58-27ED-5EFE-B4A9-937D0DAC9D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845A1-A1D2-7730-8486-7AABE2405D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43 </a:t>
            </a:r>
            <a:r>
              <a:rPr lang="en-US" dirty="0" err="1"/>
              <a:t>Luật</a:t>
            </a:r>
            <a:r>
              <a:rPr lang="en-US" dirty="0"/>
              <a:t> NSNN 2025. </a:t>
            </a:r>
            <a:r>
              <a:rPr lang="en-US" dirty="0" err="1"/>
              <a:t>Xác</a:t>
            </a:r>
            <a:r>
              <a:rPr lang="en-US" dirty="0"/>
              <a:t> </a:t>
            </a:r>
            <a:r>
              <a:rPr lang="en-US" dirty="0" err="1"/>
              <a:t>định</a:t>
            </a:r>
            <a:r>
              <a:rPr lang="en-US" dirty="0"/>
              <a:t> </a:t>
            </a:r>
            <a:r>
              <a:rPr lang="en-US" dirty="0" err="1"/>
              <a:t>số</a:t>
            </a:r>
            <a:r>
              <a:rPr lang="en-US" dirty="0"/>
              <a:t> </a:t>
            </a:r>
            <a:r>
              <a:rPr lang="en-US" dirty="0" err="1"/>
              <a:t>bổ</a:t>
            </a:r>
            <a:r>
              <a:rPr lang="en-US" dirty="0"/>
              <a:t> sung </a:t>
            </a:r>
            <a:r>
              <a:rPr lang="en-US" dirty="0" err="1"/>
              <a:t>có</a:t>
            </a:r>
            <a:r>
              <a:rPr lang="en-US" dirty="0"/>
              <a:t> </a:t>
            </a:r>
            <a:r>
              <a:rPr lang="en-US" dirty="0" err="1"/>
              <a:t>mục</a:t>
            </a:r>
            <a:r>
              <a:rPr lang="en-US" dirty="0"/>
              <a:t> </a:t>
            </a:r>
            <a:r>
              <a:rPr lang="en-US" dirty="0" err="1"/>
              <a:t>tiêu</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a:t>
            </a:r>
            <a:r>
              <a:rPr lang="en-US" dirty="0" err="1"/>
              <a:t>Số</a:t>
            </a:r>
            <a:r>
              <a:rPr lang="en-US" dirty="0"/>
              <a:t> </a:t>
            </a:r>
            <a:r>
              <a:rPr lang="en-US" dirty="0" err="1"/>
              <a:t>bổ</a:t>
            </a:r>
            <a:r>
              <a:rPr lang="en-US" dirty="0"/>
              <a:t> sung </a:t>
            </a:r>
            <a:r>
              <a:rPr lang="en-US" dirty="0" err="1"/>
              <a:t>có</a:t>
            </a:r>
            <a:r>
              <a:rPr lang="en-US" dirty="0"/>
              <a:t> </a:t>
            </a:r>
            <a:r>
              <a:rPr lang="en-US" dirty="0" err="1"/>
              <a:t>mục</a:t>
            </a:r>
            <a:r>
              <a:rPr lang="en-US" dirty="0"/>
              <a:t> </a:t>
            </a:r>
            <a:r>
              <a:rPr lang="en-US" dirty="0" err="1"/>
              <a:t>tiêu</a:t>
            </a:r>
            <a:r>
              <a:rPr lang="en-US" dirty="0"/>
              <a:t> </a:t>
            </a:r>
            <a:r>
              <a:rPr lang="en-US" dirty="0" err="1"/>
              <a:t>từ</a:t>
            </a:r>
            <a:r>
              <a:rPr lang="en-US" dirty="0"/>
              <a:t> NS </a:t>
            </a:r>
            <a:r>
              <a:rPr lang="en-US" dirty="0" err="1"/>
              <a:t>cấp</a:t>
            </a:r>
            <a:r>
              <a:rPr lang="en-US" dirty="0"/>
              <a:t> </a:t>
            </a:r>
            <a:r>
              <a:rPr lang="en-US" dirty="0" err="1"/>
              <a:t>trên</a:t>
            </a:r>
            <a:r>
              <a:rPr lang="en-US" dirty="0"/>
              <a:t> </a:t>
            </a:r>
            <a:r>
              <a:rPr lang="en-US" dirty="0" err="1"/>
              <a:t>cho</a:t>
            </a:r>
            <a:r>
              <a:rPr lang="en-US" dirty="0"/>
              <a:t> NS </a:t>
            </a:r>
            <a:r>
              <a:rPr lang="en-US" dirty="0" err="1"/>
              <a:t>cấp</a:t>
            </a:r>
            <a:r>
              <a:rPr lang="en-US" dirty="0"/>
              <a:t> </a:t>
            </a:r>
            <a:r>
              <a:rPr lang="en-US" dirty="0" err="1"/>
              <a:t>dưới</a:t>
            </a:r>
            <a:r>
              <a:rPr lang="en-US" dirty="0"/>
              <a:t> </a:t>
            </a:r>
            <a:r>
              <a:rPr lang="en-US" dirty="0" err="1"/>
              <a:t>được</a:t>
            </a:r>
            <a:r>
              <a:rPr lang="en-US" dirty="0"/>
              <a:t> </a:t>
            </a:r>
            <a:r>
              <a:rPr lang="en-US" dirty="0" err="1"/>
              <a:t>xác</a:t>
            </a:r>
            <a:r>
              <a:rPr lang="en-US" dirty="0"/>
              <a:t> </a:t>
            </a:r>
            <a:r>
              <a:rPr lang="en-US" dirty="0" err="1"/>
              <a:t>định</a:t>
            </a:r>
            <a:r>
              <a:rPr lang="en-US" dirty="0"/>
              <a:t> </a:t>
            </a:r>
            <a:r>
              <a:rPr lang="en-US" dirty="0" err="1"/>
              <a:t>theo</a:t>
            </a:r>
            <a:r>
              <a:rPr lang="en-US" dirty="0"/>
              <a:t> </a:t>
            </a:r>
            <a:r>
              <a:rPr lang="en-US" dirty="0" err="1"/>
              <a:t>nguyên</a:t>
            </a:r>
            <a:r>
              <a:rPr lang="en-US" dirty="0"/>
              <a:t> </a:t>
            </a:r>
            <a:r>
              <a:rPr lang="en-US" dirty="0" err="1"/>
              <a:t>tắc</a:t>
            </a:r>
            <a:r>
              <a:rPr lang="en-US" dirty="0"/>
              <a:t>, </a:t>
            </a:r>
            <a:r>
              <a:rPr lang="en-US" dirty="0" err="1"/>
              <a:t>tiêu</a:t>
            </a:r>
            <a:r>
              <a:rPr lang="en-US" dirty="0"/>
              <a:t> </a:t>
            </a:r>
            <a:r>
              <a:rPr lang="en-US" dirty="0" err="1"/>
              <a:t>chí</a:t>
            </a:r>
            <a:r>
              <a:rPr lang="en-US" dirty="0"/>
              <a:t>, </a:t>
            </a:r>
            <a:r>
              <a:rPr lang="en-US" dirty="0" err="1"/>
              <a:t>định</a:t>
            </a:r>
            <a:r>
              <a:rPr lang="en-US" dirty="0"/>
              <a:t> </a:t>
            </a:r>
            <a:r>
              <a:rPr lang="en-US" dirty="0" err="1"/>
              <a:t>mức</a:t>
            </a:r>
            <a:r>
              <a:rPr lang="en-US" dirty="0"/>
              <a:t> </a:t>
            </a:r>
            <a:r>
              <a:rPr lang="en-US" dirty="0" err="1"/>
              <a:t>phân</a:t>
            </a:r>
            <a:r>
              <a:rPr lang="en-US" dirty="0"/>
              <a:t> </a:t>
            </a:r>
            <a:r>
              <a:rPr lang="en-US" dirty="0" err="1"/>
              <a:t>bổ</a:t>
            </a:r>
            <a:r>
              <a:rPr lang="en-US" dirty="0"/>
              <a:t> </a:t>
            </a:r>
            <a:r>
              <a:rPr lang="en-US" dirty="0" err="1"/>
              <a:t>ngân</a:t>
            </a:r>
            <a:r>
              <a:rPr lang="en-US" dirty="0"/>
              <a:t> </a:t>
            </a:r>
            <a:r>
              <a:rPr lang="en-US" dirty="0" err="1"/>
              <a:t>sách</a:t>
            </a:r>
            <a:r>
              <a:rPr lang="en-US" dirty="0"/>
              <a:t>, </a:t>
            </a:r>
            <a:r>
              <a:rPr lang="en-US" dirty="0" err="1"/>
              <a:t>các</a:t>
            </a:r>
            <a:r>
              <a:rPr lang="en-US" dirty="0"/>
              <a:t> </a:t>
            </a:r>
            <a:r>
              <a:rPr lang="en-US" dirty="0" err="1"/>
              <a:t>chế</a:t>
            </a:r>
            <a:r>
              <a:rPr lang="en-US" dirty="0"/>
              <a:t> </a:t>
            </a:r>
            <a:r>
              <a:rPr lang="en-US" dirty="0" err="1"/>
              <a:t>độ</a:t>
            </a:r>
            <a:r>
              <a:rPr lang="en-US" dirty="0"/>
              <a:t>, </a:t>
            </a:r>
            <a:r>
              <a:rPr lang="en-US" dirty="0" err="1"/>
              <a:t>tiêu</a:t>
            </a:r>
            <a:r>
              <a:rPr lang="en-US" dirty="0"/>
              <a:t> </a:t>
            </a:r>
            <a:r>
              <a:rPr lang="en-US" dirty="0" err="1"/>
              <a:t>chuẩn</a:t>
            </a:r>
            <a:r>
              <a:rPr lang="en-US" dirty="0"/>
              <a:t>, </a:t>
            </a:r>
            <a:r>
              <a:rPr lang="en-US" dirty="0" err="1"/>
              <a:t>định</a:t>
            </a:r>
            <a:r>
              <a:rPr lang="en-US" dirty="0"/>
              <a:t> </a:t>
            </a:r>
            <a:r>
              <a:rPr lang="en-US" dirty="0" err="1"/>
              <a:t>mức</a:t>
            </a:r>
            <a:r>
              <a:rPr lang="en-US" dirty="0"/>
              <a:t> </a:t>
            </a:r>
            <a:r>
              <a:rPr lang="en-US" dirty="0" err="1"/>
              <a:t>chci</a:t>
            </a:r>
            <a:r>
              <a:rPr lang="en-US" dirty="0"/>
              <a:t> NS </a:t>
            </a:r>
            <a:r>
              <a:rPr lang="en-US" dirty="0" err="1"/>
              <a:t>và</a:t>
            </a:r>
            <a:r>
              <a:rPr lang="en-US" dirty="0"/>
              <a:t> </a:t>
            </a:r>
            <a:r>
              <a:rPr lang="en-US" dirty="0" err="1"/>
              <a:t>khả</a:t>
            </a:r>
            <a:r>
              <a:rPr lang="en-US" dirty="0"/>
              <a:t> </a:t>
            </a:r>
            <a:r>
              <a:rPr lang="en-US" dirty="0" err="1"/>
              <a:t>năng</a:t>
            </a:r>
            <a:r>
              <a:rPr lang="en-US" dirty="0"/>
              <a:t> </a:t>
            </a:r>
            <a:r>
              <a:rPr lang="en-US" dirty="0" err="1"/>
              <a:t>của</a:t>
            </a:r>
            <a:r>
              <a:rPr lang="en-US" dirty="0"/>
              <a:t> </a:t>
            </a:r>
            <a:r>
              <a:rPr lang="en-US" dirty="0" err="1"/>
              <a:t>ngân</a:t>
            </a:r>
            <a:r>
              <a:rPr lang="en-US" dirty="0"/>
              <a:t> </a:t>
            </a:r>
            <a:r>
              <a:rPr lang="en-US" dirty="0" err="1"/>
              <a:t>sách</a:t>
            </a:r>
            <a:r>
              <a:rPr lang="en-US" dirty="0"/>
              <a:t> </a:t>
            </a:r>
            <a:r>
              <a:rPr lang="en-US" dirty="0" err="1"/>
              <a:t>cấp</a:t>
            </a:r>
            <a:r>
              <a:rPr lang="en-US" dirty="0"/>
              <a:t> </a:t>
            </a:r>
            <a:r>
              <a:rPr lang="en-US" dirty="0" err="1"/>
              <a:t>trên</a:t>
            </a:r>
            <a:r>
              <a:rPr lang="en-US" dirty="0"/>
              <a:t>, </a:t>
            </a:r>
            <a:r>
              <a:rPr lang="en-US" dirty="0" err="1"/>
              <a:t>khả</a:t>
            </a:r>
            <a:r>
              <a:rPr lang="en-US" dirty="0"/>
              <a:t> </a:t>
            </a:r>
            <a:r>
              <a:rPr lang="en-US" dirty="0" err="1"/>
              <a:t>năng</a:t>
            </a:r>
            <a:r>
              <a:rPr lang="en-US" dirty="0"/>
              <a:t> </a:t>
            </a:r>
            <a:r>
              <a:rPr lang="en-US" dirty="0" err="1"/>
              <a:t>cân</a:t>
            </a:r>
            <a:r>
              <a:rPr lang="en-US" dirty="0"/>
              <a:t> </a:t>
            </a:r>
            <a:r>
              <a:rPr lang="en-US" dirty="0" err="1"/>
              <a:t>đối</a:t>
            </a:r>
            <a:r>
              <a:rPr lang="en-US" dirty="0"/>
              <a:t> </a:t>
            </a:r>
            <a:r>
              <a:rPr lang="en-US" dirty="0" err="1"/>
              <a:t>ngân</a:t>
            </a:r>
            <a:r>
              <a:rPr lang="en-US" dirty="0"/>
              <a:t> </a:t>
            </a:r>
            <a:r>
              <a:rPr lang="en-US" dirty="0" err="1"/>
              <a:t>sách</a:t>
            </a:r>
            <a:r>
              <a:rPr lang="en-US" dirty="0"/>
              <a:t> </a:t>
            </a:r>
            <a:r>
              <a:rPr lang="en-US" dirty="0" err="1"/>
              <a:t>của</a:t>
            </a:r>
            <a:r>
              <a:rPr lang="en-US" dirty="0"/>
              <a:t> </a:t>
            </a:r>
            <a:r>
              <a:rPr lang="en-US" dirty="0" err="1"/>
              <a:t>từng</a:t>
            </a:r>
            <a:r>
              <a:rPr lang="en-US" dirty="0"/>
              <a:t> </a:t>
            </a:r>
            <a:r>
              <a:rPr lang="en-US" dirty="0" err="1"/>
              <a:t>địa</a:t>
            </a:r>
            <a:r>
              <a:rPr lang="en-US" dirty="0"/>
              <a:t> </a:t>
            </a:r>
            <a:r>
              <a:rPr lang="en-US" dirty="0" err="1"/>
              <a:t>phương</a:t>
            </a:r>
            <a:r>
              <a:rPr lang="en-US" dirty="0"/>
              <a:t> </a:t>
            </a:r>
            <a:r>
              <a:rPr lang="en-US" dirty="0" err="1"/>
              <a:t>cấp</a:t>
            </a:r>
            <a:r>
              <a:rPr lang="en-US" dirty="0"/>
              <a:t> </a:t>
            </a:r>
            <a:r>
              <a:rPr lang="en-US" dirty="0" err="1"/>
              <a:t>dưới</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NS </a:t>
            </a:r>
            <a:r>
              <a:rPr lang="en-US" dirty="0" err="1"/>
              <a:t>cấp</a:t>
            </a:r>
            <a:r>
              <a:rPr lang="en-US" dirty="0"/>
              <a:t> </a:t>
            </a:r>
            <a:r>
              <a:rPr lang="en-US" dirty="0" err="1"/>
              <a:t>trên</a:t>
            </a:r>
            <a:r>
              <a:rPr lang="en-US" dirty="0"/>
              <a:t> </a:t>
            </a:r>
            <a:r>
              <a:rPr lang="en-US" dirty="0" err="1"/>
              <a:t>bổ</a:t>
            </a:r>
            <a:r>
              <a:rPr lang="en-US" dirty="0"/>
              <a:t> sung </a:t>
            </a:r>
            <a:r>
              <a:rPr lang="en-US" dirty="0" err="1"/>
              <a:t>có</a:t>
            </a:r>
            <a:r>
              <a:rPr lang="en-US" dirty="0"/>
              <a:t> </a:t>
            </a:r>
            <a:r>
              <a:rPr lang="en-US" dirty="0" err="1"/>
              <a:t>mục</a:t>
            </a:r>
            <a:r>
              <a:rPr lang="en-US" dirty="0"/>
              <a:t> </a:t>
            </a:r>
            <a:r>
              <a:rPr lang="en-US" dirty="0" err="1"/>
              <a:t>tiêu</a:t>
            </a:r>
            <a:r>
              <a:rPr lang="en-US" dirty="0"/>
              <a:t> </a:t>
            </a:r>
            <a:r>
              <a:rPr lang="en-US" dirty="0" err="1"/>
              <a:t>hỗ</a:t>
            </a:r>
            <a:r>
              <a:rPr lang="en-US" dirty="0"/>
              <a:t> </a:t>
            </a:r>
            <a:r>
              <a:rPr lang="en-US" dirty="0" err="1"/>
              <a:t>trợ</a:t>
            </a:r>
            <a:r>
              <a:rPr lang="en-US" dirty="0"/>
              <a:t> </a:t>
            </a:r>
            <a:r>
              <a:rPr lang="en-US" dirty="0" err="1"/>
              <a:t>ngân</a:t>
            </a:r>
            <a:r>
              <a:rPr lang="en-US" dirty="0"/>
              <a:t> </a:t>
            </a:r>
            <a:r>
              <a:rPr lang="en-US" dirty="0" err="1"/>
              <a:t>sách</a:t>
            </a:r>
            <a:r>
              <a:rPr lang="en-US" dirty="0"/>
              <a:t> </a:t>
            </a:r>
            <a:r>
              <a:rPr lang="en-US" dirty="0" err="1"/>
              <a:t>cấp</a:t>
            </a:r>
            <a:r>
              <a:rPr lang="en-US" dirty="0"/>
              <a:t> </a:t>
            </a:r>
            <a:r>
              <a:rPr lang="en-US" dirty="0" err="1"/>
              <a:t>dưới</a:t>
            </a:r>
            <a:r>
              <a:rPr lang="en-US" dirty="0"/>
              <a:t> </a:t>
            </a:r>
            <a:r>
              <a:rPr lang="en-US" dirty="0" err="1"/>
              <a:t>trong</a:t>
            </a:r>
            <a:r>
              <a:rPr lang="en-US" dirty="0"/>
              <a:t> </a:t>
            </a:r>
            <a:r>
              <a:rPr lang="en-US" dirty="0" err="1"/>
              <a:t>các</a:t>
            </a:r>
            <a:r>
              <a:rPr lang="en-US" dirty="0"/>
              <a:t> </a:t>
            </a:r>
            <a:r>
              <a:rPr lang="en-US" dirty="0" err="1"/>
              <a:t>trường</a:t>
            </a:r>
            <a:r>
              <a:rPr lang="en-US" dirty="0"/>
              <a:t> </a:t>
            </a:r>
            <a:r>
              <a:rPr lang="en-US" dirty="0" err="1"/>
              <a:t>hợp</a:t>
            </a:r>
            <a:r>
              <a:rPr lang="en-US" dirty="0"/>
              <a:t> </a:t>
            </a:r>
            <a:r>
              <a:rPr lang="en-US" dirty="0" err="1"/>
              <a:t>sau</a:t>
            </a:r>
            <a:r>
              <a:rPr lang="en-US" dirty="0"/>
              <a:t> </a:t>
            </a:r>
            <a:r>
              <a:rPr lang="en-US" dirty="0" err="1"/>
              <a:t>đây</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r>
              <a:rPr lang="en-US" dirty="0" err="1"/>
              <a:t>Thực</a:t>
            </a:r>
            <a:r>
              <a:rPr lang="en-US" dirty="0"/>
              <a:t> </a:t>
            </a:r>
            <a:r>
              <a:rPr lang="en-US" dirty="0" err="1"/>
              <a:t>hiện</a:t>
            </a:r>
            <a:r>
              <a:rPr lang="en-US" dirty="0"/>
              <a:t> </a:t>
            </a:r>
            <a:r>
              <a:rPr lang="en-US" dirty="0" err="1"/>
              <a:t>các</a:t>
            </a:r>
            <a:r>
              <a:rPr lang="en-US" dirty="0"/>
              <a:t> </a:t>
            </a:r>
            <a:r>
              <a:rPr lang="en-US" dirty="0" err="1"/>
              <a:t>chính</a:t>
            </a:r>
            <a:r>
              <a:rPr lang="en-US" dirty="0"/>
              <a:t> </a:t>
            </a:r>
            <a:r>
              <a:rPr lang="en-US" dirty="0" err="1"/>
              <a:t>sách</a:t>
            </a:r>
            <a:r>
              <a:rPr lang="en-US" dirty="0"/>
              <a:t>, </a:t>
            </a:r>
            <a:r>
              <a:rPr lang="en-US" dirty="0" err="1"/>
              <a:t>chế</a:t>
            </a:r>
            <a:r>
              <a:rPr lang="en-US" dirty="0"/>
              <a:t> </a:t>
            </a:r>
            <a:r>
              <a:rPr lang="en-US" dirty="0" err="1"/>
              <a:t>độ</a:t>
            </a:r>
            <a:r>
              <a:rPr lang="en-US" dirty="0"/>
              <a:t> </a:t>
            </a:r>
            <a:r>
              <a:rPr lang="en-US" dirty="0" err="1"/>
              <a:t>mới</a:t>
            </a:r>
            <a:r>
              <a:rPr lang="en-US" dirty="0"/>
              <a:t> do </a:t>
            </a:r>
            <a:r>
              <a:rPr lang="en-US" dirty="0" err="1"/>
              <a:t>cấp</a:t>
            </a:r>
            <a:r>
              <a:rPr lang="en-US" dirty="0"/>
              <a:t> </a:t>
            </a:r>
            <a:r>
              <a:rPr lang="en-US" dirty="0" err="1"/>
              <a:t>trên</a:t>
            </a:r>
            <a:r>
              <a:rPr lang="en-US" dirty="0"/>
              <a:t> ban </a:t>
            </a:r>
            <a:r>
              <a:rPr lang="en-US" dirty="0" err="1"/>
              <a:t>hành</a:t>
            </a:r>
            <a:r>
              <a:rPr lang="en-US" dirty="0"/>
              <a:t> </a:t>
            </a:r>
            <a:r>
              <a:rPr lang="en-US" dirty="0" err="1"/>
              <a:t>chưa</a:t>
            </a:r>
            <a:r>
              <a:rPr lang="en-US" dirty="0"/>
              <a:t> </a:t>
            </a:r>
            <a:r>
              <a:rPr lang="en-US" dirty="0" err="1"/>
              <a:t>được</a:t>
            </a:r>
            <a:r>
              <a:rPr lang="en-US" dirty="0"/>
              <a:t> </a:t>
            </a:r>
            <a:r>
              <a:rPr lang="en-US" dirty="0" err="1"/>
              <a:t>bố</a:t>
            </a:r>
            <a:r>
              <a:rPr lang="en-US" dirty="0"/>
              <a:t> </a:t>
            </a:r>
            <a:r>
              <a:rPr lang="en-US" dirty="0" err="1"/>
              <a:t>trí</a:t>
            </a:r>
            <a:r>
              <a:rPr lang="en-US" dirty="0"/>
              <a:t> </a:t>
            </a:r>
            <a:r>
              <a:rPr lang="en-US" dirty="0" err="1"/>
              <a:t>trong</a:t>
            </a:r>
            <a:r>
              <a:rPr lang="en-US" dirty="0"/>
              <a:t> </a:t>
            </a:r>
            <a:r>
              <a:rPr lang="en-US" dirty="0" err="1"/>
              <a:t>dự</a:t>
            </a:r>
            <a:r>
              <a:rPr lang="en-US" dirty="0"/>
              <a:t> </a:t>
            </a:r>
            <a:r>
              <a:rPr lang="en-US" dirty="0" err="1"/>
              <a:t>toán</a:t>
            </a:r>
            <a:r>
              <a:rPr lang="en-US" dirty="0"/>
              <a:t> </a:t>
            </a:r>
            <a:r>
              <a:rPr lang="en-US" dirty="0" err="1"/>
              <a:t>ngân</a:t>
            </a:r>
            <a:r>
              <a:rPr lang="en-US" dirty="0"/>
              <a:t> </a:t>
            </a:r>
            <a:r>
              <a:rPr lang="en-US" dirty="0" err="1"/>
              <a:t>sách</a:t>
            </a:r>
            <a:r>
              <a:rPr lang="en-US" dirty="0"/>
              <a:t> hang </a:t>
            </a:r>
            <a:r>
              <a:rPr lang="en-US" dirty="0" err="1"/>
              <a:t>năm</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r>
              <a:rPr lang="en-US" dirty="0" err="1"/>
              <a:t>Thực</a:t>
            </a:r>
            <a:r>
              <a:rPr lang="en-US" dirty="0"/>
              <a:t> </a:t>
            </a:r>
            <a:r>
              <a:rPr lang="en-US" dirty="0" err="1"/>
              <a:t>hiện</a:t>
            </a:r>
            <a:r>
              <a:rPr lang="en-US" dirty="0"/>
              <a:t> </a:t>
            </a:r>
            <a:r>
              <a:rPr lang="en-US" dirty="0" err="1"/>
              <a:t>các</a:t>
            </a:r>
            <a:r>
              <a:rPr lang="en-US" dirty="0"/>
              <a:t> </a:t>
            </a:r>
            <a:r>
              <a:rPr lang="en-US" dirty="0" err="1"/>
              <a:t>chương</a:t>
            </a:r>
            <a:r>
              <a:rPr lang="en-US" dirty="0"/>
              <a:t> </a:t>
            </a:r>
            <a:r>
              <a:rPr lang="en-US" dirty="0" err="1"/>
              <a:t>trình</a:t>
            </a:r>
            <a:r>
              <a:rPr lang="en-US" dirty="0"/>
              <a:t> </a:t>
            </a:r>
            <a:r>
              <a:rPr lang="en-US" dirty="0" err="1"/>
              <a:t>mục</a:t>
            </a:r>
            <a:r>
              <a:rPr lang="en-US" dirty="0"/>
              <a:t> </a:t>
            </a:r>
            <a:r>
              <a:rPr lang="en-US" dirty="0" err="1"/>
              <a:t>tiêu</a:t>
            </a:r>
            <a:r>
              <a:rPr lang="en-US" dirty="0"/>
              <a:t> </a:t>
            </a:r>
            <a:r>
              <a:rPr lang="en-US" dirty="0" err="1"/>
              <a:t>quốc</a:t>
            </a:r>
            <a:r>
              <a:rPr lang="en-US" dirty="0"/>
              <a:t> </a:t>
            </a:r>
            <a:r>
              <a:rPr lang="en-US" dirty="0" err="1"/>
              <a:t>gia</a:t>
            </a:r>
            <a:r>
              <a:rPr lang="en-US" dirty="0"/>
              <a:t> </a:t>
            </a:r>
            <a:r>
              <a:rPr lang="en-US" dirty="0" err="1"/>
              <a:t>và</a:t>
            </a:r>
            <a:r>
              <a:rPr lang="en-US" dirty="0"/>
              <a:t> </a:t>
            </a:r>
            <a:r>
              <a:rPr lang="en-US" dirty="0" err="1"/>
              <a:t>các</a:t>
            </a:r>
            <a:r>
              <a:rPr lang="en-US" dirty="0"/>
              <a:t> </a:t>
            </a:r>
            <a:r>
              <a:rPr lang="en-US" dirty="0" err="1"/>
              <a:t>chương</a:t>
            </a:r>
            <a:r>
              <a:rPr lang="en-US" dirty="0"/>
              <a:t> </a:t>
            </a:r>
            <a:r>
              <a:rPr lang="en-US" dirty="0" err="1"/>
              <a:t>trình</a:t>
            </a:r>
            <a:r>
              <a:rPr lang="en-US" dirty="0"/>
              <a:t>, </a:t>
            </a:r>
            <a:r>
              <a:rPr lang="en-US" dirty="0" err="1"/>
              <a:t>dự</a:t>
            </a:r>
            <a:r>
              <a:rPr lang="en-US" dirty="0"/>
              <a:t> </a:t>
            </a:r>
            <a:r>
              <a:rPr lang="en-US" dirty="0" err="1"/>
              <a:t>án</a:t>
            </a:r>
            <a:r>
              <a:rPr lang="en-US" dirty="0"/>
              <a:t> </a:t>
            </a:r>
            <a:r>
              <a:rPr lang="en-US" dirty="0" err="1"/>
              <a:t>khác</a:t>
            </a:r>
            <a:r>
              <a:rPr lang="en-US" dirty="0"/>
              <a:t> </a:t>
            </a:r>
            <a:r>
              <a:rPr lang="en-US" dirty="0" err="1"/>
              <a:t>của</a:t>
            </a:r>
            <a:r>
              <a:rPr lang="en-US" dirty="0"/>
              <a:t> </a:t>
            </a:r>
            <a:r>
              <a:rPr lang="en-US" dirty="0" err="1"/>
              <a:t>cấp</a:t>
            </a:r>
            <a:r>
              <a:rPr lang="en-US" dirty="0"/>
              <a:t> </a:t>
            </a:r>
            <a:r>
              <a:rPr lang="en-US" dirty="0" err="1"/>
              <a:t>trên</a:t>
            </a:r>
            <a:r>
              <a:rPr lang="en-US" dirty="0"/>
              <a:t>, </a:t>
            </a:r>
            <a:r>
              <a:rPr lang="en-US" dirty="0" err="1"/>
              <a:t>phần</a:t>
            </a:r>
            <a:r>
              <a:rPr lang="en-US" dirty="0"/>
              <a:t> </a:t>
            </a:r>
            <a:r>
              <a:rPr lang="en-US" dirty="0" err="1"/>
              <a:t>giao</a:t>
            </a:r>
            <a:r>
              <a:rPr lang="en-US" dirty="0"/>
              <a:t> </a:t>
            </a:r>
            <a:r>
              <a:rPr lang="en-US" dirty="0" err="1"/>
              <a:t>cho</a:t>
            </a:r>
            <a:r>
              <a:rPr lang="en-US" dirty="0"/>
              <a:t> </a:t>
            </a:r>
            <a:r>
              <a:rPr lang="en-US" dirty="0" err="1"/>
              <a:t>cấp</a:t>
            </a:r>
            <a:r>
              <a:rPr lang="en-US" dirty="0"/>
              <a:t> </a:t>
            </a:r>
            <a:r>
              <a:rPr lang="en-US" dirty="0" err="1"/>
              <a:t>dưới</a:t>
            </a:r>
            <a:r>
              <a:rPr lang="en-US" dirty="0"/>
              <a:t> </a:t>
            </a:r>
            <a:r>
              <a:rPr lang="en-US" dirty="0" err="1"/>
              <a:t>thực</a:t>
            </a:r>
            <a:r>
              <a:rPr lang="en-US" dirty="0"/>
              <a:t> </a:t>
            </a:r>
            <a:r>
              <a:rPr lang="en-US" dirty="0" err="1"/>
              <a:t>hiện</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r>
              <a:rPr lang="en-US" dirty="0" err="1"/>
              <a:t>Hỗ</a:t>
            </a:r>
            <a:r>
              <a:rPr lang="en-US" dirty="0"/>
              <a:t> </a:t>
            </a:r>
            <a:r>
              <a:rPr lang="en-US" dirty="0" err="1"/>
              <a:t>trợ</a:t>
            </a:r>
            <a:r>
              <a:rPr lang="en-US" dirty="0"/>
              <a:t> chi </a:t>
            </a:r>
            <a:r>
              <a:rPr lang="en-US" dirty="0" err="1"/>
              <a:t>khắc</a:t>
            </a:r>
            <a:r>
              <a:rPr lang="en-US" dirty="0"/>
              <a:t> </a:t>
            </a:r>
            <a:r>
              <a:rPr lang="en-US" dirty="0" err="1"/>
              <a:t>phục</a:t>
            </a:r>
            <a:r>
              <a:rPr lang="en-US" dirty="0"/>
              <a:t> </a:t>
            </a:r>
            <a:r>
              <a:rPr lang="en-US" dirty="0" err="1"/>
              <a:t>thiên</a:t>
            </a:r>
            <a:r>
              <a:rPr lang="en-US" dirty="0"/>
              <a:t> tai, </a:t>
            </a:r>
            <a:r>
              <a:rPr lang="en-US" dirty="0" err="1"/>
              <a:t>thảm</a:t>
            </a:r>
            <a:r>
              <a:rPr lang="en-US" dirty="0"/>
              <a:t> </a:t>
            </a:r>
            <a:r>
              <a:rPr lang="en-US" dirty="0" err="1"/>
              <a:t>họa</a:t>
            </a:r>
            <a:r>
              <a:rPr lang="en-US" dirty="0"/>
              <a:t>, </a:t>
            </a:r>
            <a:r>
              <a:rPr lang="en-US" dirty="0" err="1"/>
              <a:t>dịch</a:t>
            </a:r>
            <a:r>
              <a:rPr lang="en-US" dirty="0"/>
              <a:t> </a:t>
            </a:r>
            <a:r>
              <a:rPr lang="en-US" dirty="0" err="1"/>
              <a:t>bệnh</a:t>
            </a:r>
            <a:r>
              <a:rPr lang="en-US" dirty="0"/>
              <a:t> </a:t>
            </a:r>
            <a:r>
              <a:rPr lang="en-US" dirty="0" err="1"/>
              <a:t>vượt</a:t>
            </a:r>
            <a:r>
              <a:rPr lang="en-US" dirty="0"/>
              <a:t> </a:t>
            </a:r>
            <a:r>
              <a:rPr lang="en-US" dirty="0" err="1"/>
              <a:t>quá</a:t>
            </a:r>
            <a:r>
              <a:rPr lang="en-US" dirty="0"/>
              <a:t> </a:t>
            </a:r>
            <a:r>
              <a:rPr lang="en-US" dirty="0" err="1"/>
              <a:t>khả</a:t>
            </a:r>
            <a:r>
              <a:rPr lang="en-US" dirty="0"/>
              <a:t> </a:t>
            </a:r>
            <a:r>
              <a:rPr lang="en-US" dirty="0" err="1"/>
              <a:t>năng</a:t>
            </a:r>
            <a:r>
              <a:rPr lang="en-US" dirty="0"/>
              <a:t> </a:t>
            </a:r>
            <a:r>
              <a:rPr lang="en-US" dirty="0" err="1"/>
              <a:t>cân</a:t>
            </a:r>
            <a:r>
              <a:rPr lang="en-US" dirty="0"/>
              <a:t> </a:t>
            </a:r>
            <a:r>
              <a:rPr lang="en-US" dirty="0" err="1"/>
              <a:t>đối</a:t>
            </a:r>
            <a:r>
              <a:rPr lang="en-US" dirty="0"/>
              <a:t> </a:t>
            </a:r>
            <a:r>
              <a:rPr lang="en-US" dirty="0" err="1"/>
              <a:t>của</a:t>
            </a:r>
            <a:r>
              <a:rPr lang="en-US" dirty="0"/>
              <a:t> NS </a:t>
            </a:r>
            <a:r>
              <a:rPr lang="en-US" dirty="0" err="1"/>
              <a:t>cấp</a:t>
            </a:r>
            <a:r>
              <a:rPr lang="en-US" dirty="0"/>
              <a:t> </a:t>
            </a:r>
            <a:r>
              <a:rPr lang="en-US" dirty="0" err="1"/>
              <a:t>dưới</a:t>
            </a:r>
            <a:r>
              <a:rPr lang="en-US" dirty="0"/>
              <a:t>;</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r>
              <a:rPr lang="en-US" dirty="0" err="1"/>
              <a:t>Hỗ</a:t>
            </a:r>
            <a:r>
              <a:rPr lang="en-US" dirty="0"/>
              <a:t> </a:t>
            </a:r>
            <a:r>
              <a:rPr lang="en-US" dirty="0" err="1"/>
              <a:t>trợ</a:t>
            </a:r>
            <a:r>
              <a:rPr lang="en-US" dirty="0"/>
              <a:t> </a:t>
            </a:r>
            <a:r>
              <a:rPr lang="en-US" dirty="0" err="1"/>
              <a:t>thực</a:t>
            </a:r>
            <a:r>
              <a:rPr lang="en-US" dirty="0"/>
              <a:t> </a:t>
            </a:r>
            <a:r>
              <a:rPr lang="en-US" dirty="0" err="1"/>
              <a:t>hiện</a:t>
            </a:r>
            <a:r>
              <a:rPr lang="en-US" dirty="0"/>
              <a:t> </a:t>
            </a:r>
            <a:r>
              <a:rPr lang="en-US" dirty="0" err="1"/>
              <a:t>một</a:t>
            </a:r>
            <a:r>
              <a:rPr lang="en-US" dirty="0"/>
              <a:t> </a:t>
            </a:r>
            <a:r>
              <a:rPr lang="en-US" dirty="0" err="1"/>
              <a:t>số</a:t>
            </a:r>
            <a:r>
              <a:rPr lang="en-US" dirty="0"/>
              <a:t> </a:t>
            </a:r>
            <a:r>
              <a:rPr lang="en-US" dirty="0" err="1"/>
              <a:t>chương</a:t>
            </a:r>
            <a:r>
              <a:rPr lang="en-US" dirty="0"/>
              <a:t> </a:t>
            </a:r>
            <a:r>
              <a:rPr lang="en-US" dirty="0" err="1"/>
              <a:t>trình</a:t>
            </a:r>
            <a:r>
              <a:rPr lang="en-US" dirty="0"/>
              <a:t>, </a:t>
            </a:r>
            <a:r>
              <a:rPr lang="en-US" dirty="0" err="1"/>
              <a:t>dự</a:t>
            </a:r>
            <a:r>
              <a:rPr lang="en-US" dirty="0"/>
              <a:t> </a:t>
            </a:r>
            <a:r>
              <a:rPr lang="en-US" dirty="0" err="1"/>
              <a:t>án</a:t>
            </a:r>
            <a:r>
              <a:rPr lang="en-US" dirty="0"/>
              <a:t> </a:t>
            </a:r>
            <a:r>
              <a:rPr lang="en-US" dirty="0" err="1"/>
              <a:t>quan</a:t>
            </a:r>
            <a:r>
              <a:rPr lang="en-US" dirty="0"/>
              <a:t> </a:t>
            </a:r>
            <a:r>
              <a:rPr lang="en-US" dirty="0" err="1"/>
              <a:t>trọng</a:t>
            </a:r>
            <a:r>
              <a:rPr lang="en-US" dirty="0"/>
              <a:t> </a:t>
            </a:r>
            <a:r>
              <a:rPr lang="en-US" dirty="0" err="1"/>
              <a:t>quốc</a:t>
            </a:r>
            <a:r>
              <a:rPr lang="en-US" dirty="0"/>
              <a:t> </a:t>
            </a:r>
            <a:r>
              <a:rPr lang="en-US" dirty="0" err="1"/>
              <a:t>gia</a:t>
            </a:r>
            <a:r>
              <a:rPr lang="en-US" dirty="0"/>
              <a:t>, </a:t>
            </a:r>
            <a:r>
              <a:rPr lang="en-US" dirty="0" err="1"/>
              <a:t>chương</a:t>
            </a:r>
            <a:r>
              <a:rPr lang="en-US" dirty="0"/>
              <a:t> </a:t>
            </a:r>
            <a:r>
              <a:rPr lang="en-US" dirty="0" err="1"/>
              <a:t>trình</a:t>
            </a:r>
            <a:r>
              <a:rPr lang="en-US" dirty="0"/>
              <a:t>, </a:t>
            </a:r>
            <a:r>
              <a:rPr lang="en-US" dirty="0" err="1"/>
              <a:t>dự</a:t>
            </a:r>
            <a:r>
              <a:rPr lang="en-US" dirty="0"/>
              <a:t> </a:t>
            </a:r>
            <a:r>
              <a:rPr lang="en-US" dirty="0" err="1"/>
              <a:t>án</a:t>
            </a:r>
            <a:r>
              <a:rPr lang="en-US" dirty="0"/>
              <a:t> </a:t>
            </a:r>
            <a:r>
              <a:rPr lang="en-US" dirty="0" err="1"/>
              <a:t>trọng</a:t>
            </a:r>
            <a:r>
              <a:rPr lang="en-US" dirty="0"/>
              <a:t> </a:t>
            </a:r>
            <a:r>
              <a:rPr lang="en-US" dirty="0" err="1"/>
              <a:t>điểm</a:t>
            </a:r>
            <a:r>
              <a:rPr lang="en-US" dirty="0"/>
              <a:t> </a:t>
            </a:r>
            <a:r>
              <a:rPr lang="en-US" dirty="0" err="1"/>
              <a:t>có</a:t>
            </a:r>
            <a:r>
              <a:rPr lang="en-US" dirty="0"/>
              <a:t> ý </a:t>
            </a:r>
            <a:r>
              <a:rPr lang="en-US" dirty="0" err="1"/>
              <a:t>nghĩa</a:t>
            </a:r>
            <a:r>
              <a:rPr lang="en-US" dirty="0"/>
              <a:t> </a:t>
            </a:r>
            <a:r>
              <a:rPr lang="en-US" dirty="0" err="1"/>
              <a:t>lớn</a:t>
            </a:r>
            <a:r>
              <a:rPr lang="en-US" dirty="0"/>
              <a:t> </a:t>
            </a:r>
            <a:r>
              <a:rPr lang="en-US" dirty="0" err="1"/>
              <a:t>đối</a:t>
            </a:r>
            <a:r>
              <a:rPr lang="en-US" dirty="0"/>
              <a:t> </a:t>
            </a:r>
            <a:r>
              <a:rPr lang="en-US" dirty="0" err="1"/>
              <a:t>với</a:t>
            </a:r>
            <a:r>
              <a:rPr lang="en-US" dirty="0"/>
              <a:t> </a:t>
            </a:r>
            <a:r>
              <a:rPr lang="en-US" dirty="0" err="1"/>
              <a:t>phát</a:t>
            </a:r>
            <a:r>
              <a:rPr lang="en-US" dirty="0"/>
              <a:t> </a:t>
            </a:r>
            <a:r>
              <a:rPr lang="en-US" dirty="0" err="1"/>
              <a:t>triển</a:t>
            </a:r>
            <a:r>
              <a:rPr lang="en-US" dirty="0"/>
              <a:t> </a:t>
            </a:r>
            <a:r>
              <a:rPr lang="en-US" dirty="0" err="1"/>
              <a:t>kinh</a:t>
            </a:r>
            <a:r>
              <a:rPr lang="en-US" dirty="0"/>
              <a:t> </a:t>
            </a:r>
            <a:r>
              <a:rPr lang="en-US" dirty="0" err="1"/>
              <a:t>tế</a:t>
            </a:r>
            <a:r>
              <a:rPr lang="en-US" dirty="0"/>
              <a:t> - </a:t>
            </a:r>
            <a:r>
              <a:rPr lang="en-US" dirty="0" err="1"/>
              <a:t>xã</a:t>
            </a:r>
            <a:r>
              <a:rPr lang="en-US" dirty="0"/>
              <a:t> </a:t>
            </a:r>
            <a:r>
              <a:rPr lang="en-US" dirty="0" err="1"/>
              <a:t>hội</a:t>
            </a:r>
            <a:r>
              <a:rPr lang="en-US" dirty="0"/>
              <a:t>, </a:t>
            </a:r>
            <a:r>
              <a:rPr lang="en-US" dirty="0" err="1"/>
              <a:t>nhiệm</a:t>
            </a:r>
            <a:r>
              <a:rPr lang="en-US" dirty="0"/>
              <a:t> </a:t>
            </a:r>
            <a:r>
              <a:rPr lang="en-US" dirty="0" err="1"/>
              <a:t>vụ</a:t>
            </a:r>
            <a:r>
              <a:rPr lang="en-US" dirty="0"/>
              <a:t> </a:t>
            </a:r>
            <a:r>
              <a:rPr lang="en-US" dirty="0" err="1"/>
              <a:t>cụ</a:t>
            </a:r>
            <a:r>
              <a:rPr lang="en-US" dirty="0"/>
              <a:t> </a:t>
            </a:r>
            <a:r>
              <a:rPr lang="en-US" dirty="0" err="1"/>
              <a:t>thể</a:t>
            </a:r>
            <a:r>
              <a:rPr lang="en-US" dirty="0"/>
              <a:t> </a:t>
            </a:r>
            <a:r>
              <a:rPr lang="en-US" dirty="0" err="1"/>
              <a:t>khác</a:t>
            </a:r>
            <a:r>
              <a:rPr lang="en-US" dirty="0"/>
              <a:t> </a:t>
            </a:r>
            <a:r>
              <a:rPr lang="en-US" dirty="0" err="1"/>
              <a:t>của</a:t>
            </a:r>
            <a:r>
              <a:rPr lang="en-US" dirty="0"/>
              <a:t> </a:t>
            </a:r>
            <a:r>
              <a:rPr lang="en-US" dirty="0" err="1"/>
              <a:t>địa</a:t>
            </a:r>
            <a:r>
              <a:rPr lang="en-US" dirty="0"/>
              <a:t> </a:t>
            </a:r>
            <a:r>
              <a:rPr lang="en-US" dirty="0" err="1"/>
              <a:t>phương</a:t>
            </a:r>
            <a:r>
              <a:rPr lang="en-US" dirty="0"/>
              <a:t>.</a:t>
            </a:r>
          </a:p>
        </p:txBody>
      </p:sp>
      <p:sp>
        <p:nvSpPr>
          <p:cNvPr id="4" name="Slide Number Placeholder 3">
            <a:extLst>
              <a:ext uri="{FF2B5EF4-FFF2-40B4-BE49-F238E27FC236}">
                <a16:creationId xmlns:a16="http://schemas.microsoft.com/office/drawing/2014/main" id="{33204802-506B-0B97-326F-5816C6D28E5D}"/>
              </a:ext>
            </a:extLst>
          </p:cNvPr>
          <p:cNvSpPr>
            <a:spLocks noGrp="1"/>
          </p:cNvSpPr>
          <p:nvPr>
            <p:ph type="sldNum" sz="quarter" idx="5"/>
          </p:nvPr>
        </p:nvSpPr>
        <p:spPr/>
        <p:txBody>
          <a:bodyPr/>
          <a:lstStyle/>
          <a:p>
            <a:fld id="{1DD107A9-A0C7-4078-AEEF-185A00981267}" type="slidenum">
              <a:rPr lang="en-US" smtClean="0"/>
              <a:t>33</a:t>
            </a:fld>
            <a:endParaRPr lang="en-US"/>
          </a:p>
        </p:txBody>
      </p:sp>
    </p:spTree>
    <p:extLst>
      <p:ext uri="{BB962C8B-B14F-4D97-AF65-F5344CB8AC3E}">
        <p14:creationId xmlns:p14="http://schemas.microsoft.com/office/powerpoint/2010/main" val="18609795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EF2F3-CAA7-7D45-E064-02D39848CD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EC2E2-E60D-61E2-C79D-5EBCAF6E1D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15D70-FDCD-4A9F-8F7F-32225CF54E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4934BB2-74F1-3592-94A9-3B8FDD37BE24}"/>
              </a:ext>
            </a:extLst>
          </p:cNvPr>
          <p:cNvSpPr>
            <a:spLocks noGrp="1"/>
          </p:cNvSpPr>
          <p:nvPr>
            <p:ph type="sldNum" sz="quarter" idx="5"/>
          </p:nvPr>
        </p:nvSpPr>
        <p:spPr/>
        <p:txBody>
          <a:bodyPr/>
          <a:lstStyle/>
          <a:p>
            <a:fld id="{1DD107A9-A0C7-4078-AEEF-185A00981267}" type="slidenum">
              <a:rPr lang="en-US" smtClean="0"/>
              <a:t>34</a:t>
            </a:fld>
            <a:endParaRPr lang="en-US"/>
          </a:p>
        </p:txBody>
      </p:sp>
    </p:spTree>
    <p:extLst>
      <p:ext uri="{BB962C8B-B14F-4D97-AF65-F5344CB8AC3E}">
        <p14:creationId xmlns:p14="http://schemas.microsoft.com/office/powerpoint/2010/main" val="17931766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9B081-32D4-6D93-AFEF-3259A8EFD8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F02585-CC91-CA8C-C66F-CB1994ED8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F07A0F-DC0E-530E-1BF3-E7D0681B16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Thu tiền vào rồi thì chi ra thế nào? Slide số tám sẽ phân loại các nhiệm vụ chi của xã. Phạm vi chi được chia thành hai mảng lớn: Chi đầu tư phát triển và Chi thường xuyên.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Về chi đầu tư phát triển, xã sẽ dùng tiền để đầu tư cho các chương trình, dự án do cấp xã quản lý theo quy định của pháp luật về đầu tư công, ví dụ như trải đường bê tông nông thôn hay xây trạm y tế.</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Chi thường xuyên là các khoản chi để duy trì hoạt động bộ máy và đời sống xã hội. Nó gồm ba nhóm nhiệm vụ chính. Một là, chi hoạt động cho Ủy ban nhân dân, Hội đồng nhân dân, Đảng, Mặt trận Tổ quốc và các đoàn thể tại xã. Hai là, chi bảo đảm quốc phòng, an ninh, trật tự như tiền bồi dưỡng cho lực lượng dân quân tự vệ.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Và ba là, chi cho các hoạt động kinh tế, văn hóa, thể thao, môi trường tại cơ sở, ví dụ như chi tổ chức lễ hội truyền thống của làng hay trả tiền thu gom rác thải dọn dẹp vệ sinh đường làng ngõ xóm.</a:t>
            </a:r>
            <a:endParaRPr lang="en-US" dirty="0"/>
          </a:p>
        </p:txBody>
      </p:sp>
      <p:sp>
        <p:nvSpPr>
          <p:cNvPr id="4" name="Slide Number Placeholder 3">
            <a:extLst>
              <a:ext uri="{FF2B5EF4-FFF2-40B4-BE49-F238E27FC236}">
                <a16:creationId xmlns:a16="http://schemas.microsoft.com/office/drawing/2014/main" id="{646C4471-C1FD-BF62-A109-1FAD77DBB261}"/>
              </a:ext>
            </a:extLst>
          </p:cNvPr>
          <p:cNvSpPr>
            <a:spLocks noGrp="1"/>
          </p:cNvSpPr>
          <p:nvPr>
            <p:ph type="sldNum" sz="quarter" idx="5"/>
          </p:nvPr>
        </p:nvSpPr>
        <p:spPr/>
        <p:txBody>
          <a:bodyPr/>
          <a:lstStyle/>
          <a:p>
            <a:fld id="{1DD107A9-A0C7-4078-AEEF-185A00981267}" type="slidenum">
              <a:rPr lang="en-US" smtClean="0"/>
              <a:t>35</a:t>
            </a:fld>
            <a:endParaRPr lang="en-US"/>
          </a:p>
        </p:txBody>
      </p:sp>
    </p:spTree>
    <p:extLst>
      <p:ext uri="{BB962C8B-B14F-4D97-AF65-F5344CB8AC3E}">
        <p14:creationId xmlns:p14="http://schemas.microsoft.com/office/powerpoint/2010/main" val="1520547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76443-5B84-8024-DA29-1E368F477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E17167-4888-05D7-F16C-21655BABB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C001A2-FD36-2370-004D-80D4138B64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Thu tiền vào rồi thì chi ra thế nào? Slide số tám sẽ phân loại các nhiệm vụ chi của xã. Phạm vi chi được chia thành hai mảng lớn: Chi đầu tư phát triển và Chi thường xuyên.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Về chi đầu tư phát triển, xã sẽ dùng tiền để đầu tư cho các chương trình, dự án do cấp xã quản lý theo quy định của pháp luật về đầu tư công, ví dụ như trải đường bê tông nông thôn hay xây trạm y tế.</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Chi thường xuyên là các khoản chi để duy trì hoạt động bộ máy và đời sống xã hội. Nó gồm ba nhóm nhiệm vụ chính. Một là, chi hoạt động cho Ủy ban nhân dân, Hội đồng nhân dân, Đảng, Mặt trận Tổ quốc và các đoàn thể tại xã. Hai là, chi bảo đảm quốc phòng, an ninh, trật tự như tiền bồi dưỡng cho lực lượng dân quân tự vệ.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Và ba là, chi cho các hoạt động kinh tế, văn hóa, thể thao, môi trường tại cơ sở, ví dụ như chi tổ chức lễ hội truyền thống của làng hay trả tiền thu gom rác thải dọn dẹp vệ sinh đường làng ngõ xóm.</a:t>
            </a:r>
            <a:endParaRPr lang="en-US" dirty="0"/>
          </a:p>
        </p:txBody>
      </p:sp>
      <p:sp>
        <p:nvSpPr>
          <p:cNvPr id="4" name="Slide Number Placeholder 3">
            <a:extLst>
              <a:ext uri="{FF2B5EF4-FFF2-40B4-BE49-F238E27FC236}">
                <a16:creationId xmlns:a16="http://schemas.microsoft.com/office/drawing/2014/main" id="{996E0B93-4066-9780-DB34-E4981910B621}"/>
              </a:ext>
            </a:extLst>
          </p:cNvPr>
          <p:cNvSpPr>
            <a:spLocks noGrp="1"/>
          </p:cNvSpPr>
          <p:nvPr>
            <p:ph type="sldNum" sz="quarter" idx="5"/>
          </p:nvPr>
        </p:nvSpPr>
        <p:spPr/>
        <p:txBody>
          <a:bodyPr/>
          <a:lstStyle/>
          <a:p>
            <a:fld id="{1DD107A9-A0C7-4078-AEEF-185A00981267}" type="slidenum">
              <a:rPr lang="en-US" smtClean="0"/>
              <a:t>36</a:t>
            </a:fld>
            <a:endParaRPr lang="en-US"/>
          </a:p>
        </p:txBody>
      </p:sp>
    </p:spTree>
    <p:extLst>
      <p:ext uri="{BB962C8B-B14F-4D97-AF65-F5344CB8AC3E}">
        <p14:creationId xmlns:p14="http://schemas.microsoft.com/office/powerpoint/2010/main" val="16940938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BEA24-7C9A-7E4B-6C4C-008876143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C6193-A73C-C481-7A29-C18DD8F0D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5E93CE-8D37-5BA5-CD3F-F46CF5F8E4B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Thu tiền vào rồi thì chi ra thế nào? Slide số tám sẽ phân loại các nhiệm vụ chi của xã. Phạm vi chi được chia thành hai mảng lớn: Chi đầu tư phát triển và Chi thường xuyên.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Về chi đầu tư phát triển, xã sẽ dùng tiền để đầu tư cho các chương trình, dự án do cấp xã quản lý theo quy định của pháp luật về đầu tư công, ví dụ như trải đường bê tông nông thôn hay xây trạm y tế.</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Chi thường xuyên là các khoản chi để duy trì hoạt động bộ máy và đời sống xã hội. Nó gồm ba nhóm nhiệm vụ chính. Một là, chi hoạt động cho Ủy ban nhân dân, Hội đồng nhân dân, Đảng, Mặt trận Tổ quốc và các đoàn thể tại xã. Hai là, chi bảo đảm quốc phòng, an ninh, trật tự như tiền bồi dưỡng cho lực lượng dân quân tự vệ.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Và ba là, chi cho các hoạt động kinh tế, văn hóa, thể thao, môi trường tại cơ sở, ví dụ như chi tổ chức lễ hội truyền thống của làng hay trả tiền thu gom rác thải dọn dẹp vệ sinh đường làng ngõ xóm.</a:t>
            </a:r>
            <a:endParaRPr lang="en-US" dirty="0"/>
          </a:p>
        </p:txBody>
      </p:sp>
      <p:sp>
        <p:nvSpPr>
          <p:cNvPr id="4" name="Slide Number Placeholder 3">
            <a:extLst>
              <a:ext uri="{FF2B5EF4-FFF2-40B4-BE49-F238E27FC236}">
                <a16:creationId xmlns:a16="http://schemas.microsoft.com/office/drawing/2014/main" id="{D1521270-4D15-7AB2-AB50-E5EF007580E4}"/>
              </a:ext>
            </a:extLst>
          </p:cNvPr>
          <p:cNvSpPr>
            <a:spLocks noGrp="1"/>
          </p:cNvSpPr>
          <p:nvPr>
            <p:ph type="sldNum" sz="quarter" idx="5"/>
          </p:nvPr>
        </p:nvSpPr>
        <p:spPr/>
        <p:txBody>
          <a:bodyPr/>
          <a:lstStyle/>
          <a:p>
            <a:fld id="{1DD107A9-A0C7-4078-AEEF-185A00981267}" type="slidenum">
              <a:rPr lang="en-US" smtClean="0"/>
              <a:t>37</a:t>
            </a:fld>
            <a:endParaRPr lang="en-US"/>
          </a:p>
        </p:txBody>
      </p:sp>
    </p:spTree>
    <p:extLst>
      <p:ext uri="{BB962C8B-B14F-4D97-AF65-F5344CB8AC3E}">
        <p14:creationId xmlns:p14="http://schemas.microsoft.com/office/powerpoint/2010/main" val="39920762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6A6C1-1D34-8127-8AC3-D844B4499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D2D4C-5879-36A2-43FC-B63830F752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ED8B0D-DFC3-A800-8A16-40B1122C16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Thu tiền vào rồi thì chi ra thế nào? Slide số tám sẽ phân loại các nhiệm vụ chi của xã. Phạm vi chi được chia thành hai mảng lớn: Chi đầu tư phát triển và Chi thường xuyên.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Về chi đầu tư phát triển, xã sẽ dùng tiền để đầu tư cho các chương trình, dự án do cấp xã quản lý theo quy định của pháp luật về đầu tư công, ví dụ như trải đường bê tông nông thôn hay xây trạm y tế.</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Chi thường xuyên là các khoản chi để duy trì hoạt động bộ máy và đời sống xã hội. Nó gồm ba nhóm nhiệm vụ chính. Một là, chi hoạt động cho Ủy ban nhân dân, Hội đồng nhân dân, Đảng, Mặt trận Tổ quốc và các đoàn thể tại xã. Hai là, chi bảo đảm quốc phòng, an ninh, trật tự như tiền bồi dưỡng cho lực lượng dân quân tự vệ.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Và ba là, chi cho các hoạt động kinh tế, văn hóa, thể thao, môi trường tại cơ sở, ví dụ như chi tổ chức lễ hội truyền thống của làng hay trả tiền thu gom rác thải dọn dẹp vệ sinh đường làng ngõ xóm.</a:t>
            </a:r>
            <a:endParaRPr lang="en-US" dirty="0"/>
          </a:p>
        </p:txBody>
      </p:sp>
      <p:sp>
        <p:nvSpPr>
          <p:cNvPr id="4" name="Slide Number Placeholder 3">
            <a:extLst>
              <a:ext uri="{FF2B5EF4-FFF2-40B4-BE49-F238E27FC236}">
                <a16:creationId xmlns:a16="http://schemas.microsoft.com/office/drawing/2014/main" id="{F7C68365-A618-D16C-A3DB-68BC7B47AAB2}"/>
              </a:ext>
            </a:extLst>
          </p:cNvPr>
          <p:cNvSpPr>
            <a:spLocks noGrp="1"/>
          </p:cNvSpPr>
          <p:nvPr>
            <p:ph type="sldNum" sz="quarter" idx="5"/>
          </p:nvPr>
        </p:nvSpPr>
        <p:spPr/>
        <p:txBody>
          <a:bodyPr/>
          <a:lstStyle/>
          <a:p>
            <a:fld id="{1DD107A9-A0C7-4078-AEEF-185A00981267}" type="slidenum">
              <a:rPr lang="en-US" smtClean="0"/>
              <a:t>38</a:t>
            </a:fld>
            <a:endParaRPr lang="en-US"/>
          </a:p>
        </p:txBody>
      </p:sp>
    </p:spTree>
    <p:extLst>
      <p:ext uri="{BB962C8B-B14F-4D97-AF65-F5344CB8AC3E}">
        <p14:creationId xmlns:p14="http://schemas.microsoft.com/office/powerpoint/2010/main" val="1812398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07601-5E70-93CD-8E2D-0E253B733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8E2C5-440B-5B39-1E1D-2C6CEC888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9888C8-C0E5-31B7-8DF2-4EE1A79DACC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Thu tiền vào rồi thì chi ra thế nào? Slide số tám sẽ phân loại các nhiệm vụ chi của xã. Phạm vi chi được chia thành hai mảng lớn: Chi đầu tư phát triển và Chi thường xuyên.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Về chi đầu tư phát triển, xã sẽ dùng tiền để đầu tư cho các chương trình, dự án do cấp xã quản lý theo quy định của pháp luật về đầu tư công, ví dụ như trải đường bê tông nông thôn hay xây trạm y tế.</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Chi thường xuyên là các khoản chi để duy trì hoạt động bộ máy và đời sống xã hội. Nó gồm ba nhóm nhiệm vụ chính. Một là, chi hoạt động cho Ủy ban nhân dân, Hội đồng nhân dân, Đảng, Mặt trận Tổ quốc và các đoàn thể tại xã. Hai là, chi bảo đảm quốc phòng, an ninh, trật tự như tiền bồi dưỡng cho lực lượng dân quân tự vệ.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Và ba là, chi cho các hoạt động kinh tế, văn hóa, thể thao, môi trường tại cơ sở, ví dụ như chi tổ chức lễ hội truyền thống của làng hay trả tiền thu gom rác thải dọn dẹp vệ sinh đường làng ngõ xóm.</a:t>
            </a:r>
            <a:endParaRPr lang="en-US" dirty="0"/>
          </a:p>
        </p:txBody>
      </p:sp>
      <p:sp>
        <p:nvSpPr>
          <p:cNvPr id="4" name="Slide Number Placeholder 3">
            <a:extLst>
              <a:ext uri="{FF2B5EF4-FFF2-40B4-BE49-F238E27FC236}">
                <a16:creationId xmlns:a16="http://schemas.microsoft.com/office/drawing/2014/main" id="{78D641F9-31E9-FABC-364C-663473A595C5}"/>
              </a:ext>
            </a:extLst>
          </p:cNvPr>
          <p:cNvSpPr>
            <a:spLocks noGrp="1"/>
          </p:cNvSpPr>
          <p:nvPr>
            <p:ph type="sldNum" sz="quarter" idx="5"/>
          </p:nvPr>
        </p:nvSpPr>
        <p:spPr/>
        <p:txBody>
          <a:bodyPr/>
          <a:lstStyle/>
          <a:p>
            <a:fld id="{1DD107A9-A0C7-4078-AEEF-185A00981267}" type="slidenum">
              <a:rPr lang="en-US" smtClean="0"/>
              <a:t>39</a:t>
            </a:fld>
            <a:endParaRPr lang="en-US"/>
          </a:p>
        </p:txBody>
      </p:sp>
    </p:spTree>
    <p:extLst>
      <p:ext uri="{BB962C8B-B14F-4D97-AF65-F5344CB8AC3E}">
        <p14:creationId xmlns:p14="http://schemas.microsoft.com/office/powerpoint/2010/main" val="1577844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5A989-D036-1512-C10C-1D1E392D6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B66A8-1B13-1CA9-38FF-7DC0658B9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201B6-CE1C-5FFF-DF26-EE89C84CE40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Thu tiền vào rồi thì chi ra thế nào? Slide số tám sẽ phân loại các nhiệm vụ chi của xã. Phạm vi chi được chia thành hai mảng lớn: Chi đầu tư phát triển và Chi thường xuyên.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Về chi đầu tư phát triển, xã sẽ dùng tiền để đầu tư cho các chương trình, dự án do cấp xã quản lý theo quy định của pháp luật về đầu tư công, ví dụ như trải đường bê tông nông thôn hay xây trạm y tế.</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Chi thường xuyên là các khoản chi để duy trì hoạt động bộ máy và đời sống xã hội. Nó gồm ba nhóm nhiệm vụ chính. Một là, chi hoạt động cho Ủy ban nhân dân, Hội đồng nhân dân, Đảng, Mặt trận Tổ quốc và các đoàn thể tại xã. Hai là, chi bảo đảm quốc phòng, an ninh, trật tự như tiền bồi dưỡng cho lực lượng dân quân tự vệ.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Và ba là, chi cho các hoạt động kinh tế, văn hóa, thể thao, môi trường tại cơ sở, ví dụ như chi tổ chức lễ hội truyền thống của làng hay trả tiền thu gom rác thải dọn dẹp vệ sinh đường làng ngõ xóm.</a:t>
            </a:r>
            <a:endParaRPr lang="en-US" dirty="0"/>
          </a:p>
        </p:txBody>
      </p:sp>
      <p:sp>
        <p:nvSpPr>
          <p:cNvPr id="4" name="Slide Number Placeholder 3">
            <a:extLst>
              <a:ext uri="{FF2B5EF4-FFF2-40B4-BE49-F238E27FC236}">
                <a16:creationId xmlns:a16="http://schemas.microsoft.com/office/drawing/2014/main" id="{DE08EE0A-14F6-8EBA-A0D6-54443EC9159F}"/>
              </a:ext>
            </a:extLst>
          </p:cNvPr>
          <p:cNvSpPr>
            <a:spLocks noGrp="1"/>
          </p:cNvSpPr>
          <p:nvPr>
            <p:ph type="sldNum" sz="quarter" idx="5"/>
          </p:nvPr>
        </p:nvSpPr>
        <p:spPr/>
        <p:txBody>
          <a:bodyPr/>
          <a:lstStyle/>
          <a:p>
            <a:fld id="{1DD107A9-A0C7-4078-AEEF-185A00981267}" type="slidenum">
              <a:rPr lang="en-US" smtClean="0"/>
              <a:t>40</a:t>
            </a:fld>
            <a:endParaRPr lang="en-US"/>
          </a:p>
        </p:txBody>
      </p:sp>
    </p:spTree>
    <p:extLst>
      <p:ext uri="{BB962C8B-B14F-4D97-AF65-F5344CB8AC3E}">
        <p14:creationId xmlns:p14="http://schemas.microsoft.com/office/powerpoint/2010/main" val="4263942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7C8CA-C97D-49C0-0D5B-5DFFA8EE2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FEA2A-F8D7-FE9E-C559-0B5E7F9A3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9461C-0778-6815-51E9-F2FFF2268D5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Thu tiền vào rồi thì chi ra thế nào? Slide số tám sẽ phân loại các nhiệm vụ chi của xã. Phạm vi chi được chia thành hai mảng lớn: Chi đầu tư phát triển và Chi thường xuyên.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Về chi đầu tư phát triển, xã sẽ dùng tiền để đầu tư cho các chương trình, dự án do cấp xã quản lý theo quy định của pháp luật về đầu tư công, ví dụ như trải đường bê tông nông thôn hay xây trạm y tế.</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Chi thường xuyên là các khoản chi để duy trì hoạt động bộ máy và đời sống xã hội. Nó gồm ba nhóm nhiệm vụ chính. Một là, chi hoạt động cho Ủy ban nhân dân, Hội đồng nhân dân, Đảng, Mặt trận Tổ quốc và các đoàn thể tại xã. Hai là, chi bảo đảm quốc phòng, an ninh, trật tự như tiền bồi dưỡng cho lực lượng dân quân tự vệ.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Và ba là, chi cho các hoạt động kinh tế, văn hóa, thể thao, môi trường tại cơ sở, ví dụ như chi tổ chức lễ hội truyền thống của làng hay trả tiền thu gom rác thải dọn dẹp vệ sinh đường làng ngõ xóm.</a:t>
            </a:r>
            <a:endParaRPr lang="en-US" dirty="0"/>
          </a:p>
        </p:txBody>
      </p:sp>
      <p:sp>
        <p:nvSpPr>
          <p:cNvPr id="4" name="Slide Number Placeholder 3">
            <a:extLst>
              <a:ext uri="{FF2B5EF4-FFF2-40B4-BE49-F238E27FC236}">
                <a16:creationId xmlns:a16="http://schemas.microsoft.com/office/drawing/2014/main" id="{2D465042-3819-6135-0A91-4E02BB4594E5}"/>
              </a:ext>
            </a:extLst>
          </p:cNvPr>
          <p:cNvSpPr>
            <a:spLocks noGrp="1"/>
          </p:cNvSpPr>
          <p:nvPr>
            <p:ph type="sldNum" sz="quarter" idx="5"/>
          </p:nvPr>
        </p:nvSpPr>
        <p:spPr/>
        <p:txBody>
          <a:bodyPr/>
          <a:lstStyle/>
          <a:p>
            <a:fld id="{1DD107A9-A0C7-4078-AEEF-185A00981267}" type="slidenum">
              <a:rPr lang="en-US" smtClean="0"/>
              <a:t>41</a:t>
            </a:fld>
            <a:endParaRPr lang="en-US"/>
          </a:p>
        </p:txBody>
      </p:sp>
    </p:spTree>
    <p:extLst>
      <p:ext uri="{BB962C8B-B14F-4D97-AF65-F5344CB8AC3E}">
        <p14:creationId xmlns:p14="http://schemas.microsoft.com/office/powerpoint/2010/main" val="6159090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C68B9-ED06-3C4B-BB47-D45BCF1CD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D3FAA-AF4B-7562-E553-A1AF1B71C4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AE468C-DACD-2F3F-B9F1-64F5A5FAB5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Thu tiền vào rồi thì chi ra thế nào? Slide số tám sẽ phân loại các nhiệm vụ chi của xã. Phạm vi chi được chia thành hai mảng lớn: Chi đầu tư phát triển và Chi thường xuyên.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Về chi đầu tư phát triển, xã sẽ dùng tiền để đầu tư cho các chương trình, dự án do cấp xã quản lý theo quy định của pháp luật về đầu tư công, ví dụ như trải đường bê tông nông thôn hay xây trạm y tế.</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Chi thường xuyên là các khoản chi để duy trì hoạt động bộ máy và đời sống xã hội. Nó gồm ba nhóm nhiệm vụ chính. Một là, chi hoạt động cho Ủy ban nhân dân, Hội đồng nhân dân, Đảng, Mặt trận Tổ quốc và các đoàn thể tại xã. Hai là, chi bảo đảm quốc phòng, an ninh, trật tự như tiền bồi dưỡng cho lực lượng dân quân tự vệ.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Và ba là, chi cho các hoạt động kinh tế, văn hóa, thể thao, môi trường tại cơ sở, ví dụ như chi tổ chức lễ hội truyền thống của làng hay trả tiền thu gom rác thải dọn dẹp vệ sinh đường làng ngõ xóm.</a:t>
            </a:r>
            <a:endParaRPr lang="en-US" dirty="0"/>
          </a:p>
        </p:txBody>
      </p:sp>
      <p:sp>
        <p:nvSpPr>
          <p:cNvPr id="4" name="Slide Number Placeholder 3">
            <a:extLst>
              <a:ext uri="{FF2B5EF4-FFF2-40B4-BE49-F238E27FC236}">
                <a16:creationId xmlns:a16="http://schemas.microsoft.com/office/drawing/2014/main" id="{A00C980C-52CD-3855-164C-537E64D1D47F}"/>
              </a:ext>
            </a:extLst>
          </p:cNvPr>
          <p:cNvSpPr>
            <a:spLocks noGrp="1"/>
          </p:cNvSpPr>
          <p:nvPr>
            <p:ph type="sldNum" sz="quarter" idx="5"/>
          </p:nvPr>
        </p:nvSpPr>
        <p:spPr/>
        <p:txBody>
          <a:bodyPr/>
          <a:lstStyle/>
          <a:p>
            <a:fld id="{1DD107A9-A0C7-4078-AEEF-185A00981267}" type="slidenum">
              <a:rPr lang="en-US" smtClean="0"/>
              <a:t>42</a:t>
            </a:fld>
            <a:endParaRPr lang="en-US"/>
          </a:p>
        </p:txBody>
      </p:sp>
    </p:spTree>
    <p:extLst>
      <p:ext uri="{BB962C8B-B14F-4D97-AF65-F5344CB8AC3E}">
        <p14:creationId xmlns:p14="http://schemas.microsoft.com/office/powerpoint/2010/main" val="36024518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31E9D-1795-9BC8-93E3-B2762DBA8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891A9-58BA-7D50-97E1-C8AAE22AC7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6B3DD-7607-7B59-FDE5-8EB1AABA3B8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Thu tiền vào rồi thì chi ra thế nào? Slide số tám sẽ phân loại các nhiệm vụ chi của xã. Phạm vi chi được chia thành hai mảng lớn: Chi đầu tư phát triển và Chi thường xuyên.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 Về chi đầu tư phát triển, xã sẽ dùng tiền để đầu tư cho các chương trình, dự án do cấp xã quản lý theo quy định của pháp luật về đầu tư công, ví dụ như trải đường bê tông nông thôn hay xây trạm y tế.</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Chi thường xuyên là các khoản chi để duy trì hoạt động bộ máy và đời sống xã hội. Nó gồm ba nhóm nhiệm vụ chính. Một là, chi hoạt động cho Ủy ban nhân dân, Hội đồng nhân dân, Đảng, Mặt trận Tổ quốc và các đoàn thể tại xã. Hai là, chi bảo đảm quốc phòng, an ninh, trật tự như tiền bồi dưỡng cho lực lượng dân quân tự vệ.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Và ba là, chi cho các hoạt động kinh tế, văn hóa, thể thao, môi trường tại cơ sở, ví dụ như chi tổ chức lễ hội truyền thống của làng hay trả tiền thu gom rác thải dọn dẹp vệ sinh đường làng ngõ xóm.</a:t>
            </a:r>
            <a:endParaRPr lang="en-US" dirty="0"/>
          </a:p>
        </p:txBody>
      </p:sp>
      <p:sp>
        <p:nvSpPr>
          <p:cNvPr id="4" name="Slide Number Placeholder 3">
            <a:extLst>
              <a:ext uri="{FF2B5EF4-FFF2-40B4-BE49-F238E27FC236}">
                <a16:creationId xmlns:a16="http://schemas.microsoft.com/office/drawing/2014/main" id="{E48C902C-A491-DFA8-CC33-BAC3FEFF64DD}"/>
              </a:ext>
            </a:extLst>
          </p:cNvPr>
          <p:cNvSpPr>
            <a:spLocks noGrp="1"/>
          </p:cNvSpPr>
          <p:nvPr>
            <p:ph type="sldNum" sz="quarter" idx="5"/>
          </p:nvPr>
        </p:nvSpPr>
        <p:spPr/>
        <p:txBody>
          <a:bodyPr/>
          <a:lstStyle/>
          <a:p>
            <a:fld id="{1DD107A9-A0C7-4078-AEEF-185A00981267}" type="slidenum">
              <a:rPr lang="en-US" smtClean="0"/>
              <a:t>43</a:t>
            </a:fld>
            <a:endParaRPr lang="en-US"/>
          </a:p>
        </p:txBody>
      </p:sp>
    </p:spTree>
    <p:extLst>
      <p:ext uri="{BB962C8B-B14F-4D97-AF65-F5344CB8AC3E}">
        <p14:creationId xmlns:p14="http://schemas.microsoft.com/office/powerpoint/2010/main" val="5631571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9931A-1035-65DC-AA57-1749D96C0D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36F57-9153-50DF-01DD-9CE2729839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B387F8-D811-2A83-F8AD-5EDEAD828EA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C7C6CC9-7EB4-3B83-F437-E51FAD6C2F43}"/>
              </a:ext>
            </a:extLst>
          </p:cNvPr>
          <p:cNvSpPr>
            <a:spLocks noGrp="1"/>
          </p:cNvSpPr>
          <p:nvPr>
            <p:ph type="sldNum" sz="quarter" idx="5"/>
          </p:nvPr>
        </p:nvSpPr>
        <p:spPr/>
        <p:txBody>
          <a:bodyPr/>
          <a:lstStyle/>
          <a:p>
            <a:fld id="{1DD107A9-A0C7-4078-AEEF-185A00981267}" type="slidenum">
              <a:rPr lang="en-US" smtClean="0"/>
              <a:t>44</a:t>
            </a:fld>
            <a:endParaRPr lang="en-US"/>
          </a:p>
        </p:txBody>
      </p:sp>
    </p:spTree>
    <p:extLst>
      <p:ext uri="{BB962C8B-B14F-4D97-AF65-F5344CB8AC3E}">
        <p14:creationId xmlns:p14="http://schemas.microsoft.com/office/powerpoint/2010/main" val="37566037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6F1D4-3F5F-0B4A-7C5B-C16AD1595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88341-600F-55A9-C17F-2F57A77773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04C25-7573-D5DD-7C4C-720F2DE3CC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DCB51C7-4284-3AB8-3895-16E77C63A0B8}"/>
              </a:ext>
            </a:extLst>
          </p:cNvPr>
          <p:cNvSpPr>
            <a:spLocks noGrp="1"/>
          </p:cNvSpPr>
          <p:nvPr>
            <p:ph type="sldNum" sz="quarter" idx="5"/>
          </p:nvPr>
        </p:nvSpPr>
        <p:spPr/>
        <p:txBody>
          <a:bodyPr/>
          <a:lstStyle/>
          <a:p>
            <a:fld id="{1DD107A9-A0C7-4078-AEEF-185A00981267}" type="slidenum">
              <a:rPr lang="en-US" smtClean="0"/>
              <a:t>45</a:t>
            </a:fld>
            <a:endParaRPr lang="en-US"/>
          </a:p>
        </p:txBody>
      </p:sp>
    </p:spTree>
    <p:extLst>
      <p:ext uri="{BB962C8B-B14F-4D97-AF65-F5344CB8AC3E}">
        <p14:creationId xmlns:p14="http://schemas.microsoft.com/office/powerpoint/2010/main" val="11448385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B8008-DC58-B704-B54B-ED2724791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64D9E-57D7-12F0-D277-4E49438B3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21054C-7B31-7962-CC2E-323C88A55C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92186EC-AD55-A7F7-92EA-4E3C8CF56158}"/>
              </a:ext>
            </a:extLst>
          </p:cNvPr>
          <p:cNvSpPr>
            <a:spLocks noGrp="1"/>
          </p:cNvSpPr>
          <p:nvPr>
            <p:ph type="sldNum" sz="quarter" idx="5"/>
          </p:nvPr>
        </p:nvSpPr>
        <p:spPr/>
        <p:txBody>
          <a:bodyPr/>
          <a:lstStyle/>
          <a:p>
            <a:fld id="{1DD107A9-A0C7-4078-AEEF-185A00981267}" type="slidenum">
              <a:rPr lang="en-US" smtClean="0"/>
              <a:t>46</a:t>
            </a:fld>
            <a:endParaRPr lang="en-US"/>
          </a:p>
        </p:txBody>
      </p:sp>
    </p:spTree>
    <p:extLst>
      <p:ext uri="{BB962C8B-B14F-4D97-AF65-F5344CB8AC3E}">
        <p14:creationId xmlns:p14="http://schemas.microsoft.com/office/powerpoint/2010/main" val="36726948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60A38-3CD5-C4DD-B653-436E383AE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D2B3E-4CCA-10E6-B207-8FCAF62C7F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CAC8F-6F6E-93C9-582B-69300FB1764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BD5DF22-AAF1-9ED0-7C9B-A65D51639E74}"/>
              </a:ext>
            </a:extLst>
          </p:cNvPr>
          <p:cNvSpPr>
            <a:spLocks noGrp="1"/>
          </p:cNvSpPr>
          <p:nvPr>
            <p:ph type="sldNum" sz="quarter" idx="5"/>
          </p:nvPr>
        </p:nvSpPr>
        <p:spPr/>
        <p:txBody>
          <a:bodyPr/>
          <a:lstStyle/>
          <a:p>
            <a:fld id="{1DD107A9-A0C7-4078-AEEF-185A00981267}" type="slidenum">
              <a:rPr lang="en-US" smtClean="0"/>
              <a:t>47</a:t>
            </a:fld>
            <a:endParaRPr lang="en-US"/>
          </a:p>
        </p:txBody>
      </p:sp>
    </p:spTree>
    <p:extLst>
      <p:ext uri="{BB962C8B-B14F-4D97-AF65-F5344CB8AC3E}">
        <p14:creationId xmlns:p14="http://schemas.microsoft.com/office/powerpoint/2010/main" val="34893138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5C9E1-BBA4-F764-525B-8828F08BF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E9639B-730E-031F-215B-9D9813A98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40DD7-0FBA-A33F-1003-73D2F46244A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D1959F8-E195-C2E8-43A9-230B3D068D9D}"/>
              </a:ext>
            </a:extLst>
          </p:cNvPr>
          <p:cNvSpPr>
            <a:spLocks noGrp="1"/>
          </p:cNvSpPr>
          <p:nvPr>
            <p:ph type="sldNum" sz="quarter" idx="5"/>
          </p:nvPr>
        </p:nvSpPr>
        <p:spPr/>
        <p:txBody>
          <a:bodyPr/>
          <a:lstStyle/>
          <a:p>
            <a:fld id="{1DD107A9-A0C7-4078-AEEF-185A00981267}" type="slidenum">
              <a:rPr lang="en-US" smtClean="0"/>
              <a:t>48</a:t>
            </a:fld>
            <a:endParaRPr lang="en-US"/>
          </a:p>
        </p:txBody>
      </p:sp>
    </p:spTree>
    <p:extLst>
      <p:ext uri="{BB962C8B-B14F-4D97-AF65-F5344CB8AC3E}">
        <p14:creationId xmlns:p14="http://schemas.microsoft.com/office/powerpoint/2010/main" val="9005193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84068-2137-0B3D-5228-15B44A698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73D1D-D701-4DC7-039A-F1E2956CF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3EA46A-3BDA-C1C8-7D73-4AD60BF371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6D8F97F-8CF1-2372-7158-A93E7238133A}"/>
              </a:ext>
            </a:extLst>
          </p:cNvPr>
          <p:cNvSpPr>
            <a:spLocks noGrp="1"/>
          </p:cNvSpPr>
          <p:nvPr>
            <p:ph type="sldNum" sz="quarter" idx="5"/>
          </p:nvPr>
        </p:nvSpPr>
        <p:spPr/>
        <p:txBody>
          <a:bodyPr/>
          <a:lstStyle/>
          <a:p>
            <a:fld id="{1DD107A9-A0C7-4078-AEEF-185A00981267}" type="slidenum">
              <a:rPr lang="en-US" smtClean="0"/>
              <a:t>49</a:t>
            </a:fld>
            <a:endParaRPr lang="en-US"/>
          </a:p>
        </p:txBody>
      </p:sp>
    </p:spTree>
    <p:extLst>
      <p:ext uri="{BB962C8B-B14F-4D97-AF65-F5344CB8AC3E}">
        <p14:creationId xmlns:p14="http://schemas.microsoft.com/office/powerpoint/2010/main" val="15491030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A7F46-3DFA-81A4-7AA2-9264FADEA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141D8-2D1D-BAFD-1256-F6A9CF277D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503756-3D7E-8D1B-42A5-EE811853185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EA7E9EF-C71C-EBA4-77AE-FAD6D0BB4B94}"/>
              </a:ext>
            </a:extLst>
          </p:cNvPr>
          <p:cNvSpPr>
            <a:spLocks noGrp="1"/>
          </p:cNvSpPr>
          <p:nvPr>
            <p:ph type="sldNum" sz="quarter" idx="5"/>
          </p:nvPr>
        </p:nvSpPr>
        <p:spPr/>
        <p:txBody>
          <a:bodyPr/>
          <a:lstStyle/>
          <a:p>
            <a:fld id="{1DD107A9-A0C7-4078-AEEF-185A00981267}" type="slidenum">
              <a:rPr lang="en-US" smtClean="0"/>
              <a:t>51</a:t>
            </a:fld>
            <a:endParaRPr lang="en-US"/>
          </a:p>
        </p:txBody>
      </p:sp>
    </p:spTree>
    <p:extLst>
      <p:ext uri="{BB962C8B-B14F-4D97-AF65-F5344CB8AC3E}">
        <p14:creationId xmlns:p14="http://schemas.microsoft.com/office/powerpoint/2010/main" val="26540838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7CB82-B4E3-16D4-90C4-0D3396BCC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1E33F-10C3-A79A-5E05-FB3ABA0DF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94C49F-1521-D2C2-712C-860B59736CA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7DF80D1-E88B-308F-52F9-C5DE8EA4A669}"/>
              </a:ext>
            </a:extLst>
          </p:cNvPr>
          <p:cNvSpPr>
            <a:spLocks noGrp="1"/>
          </p:cNvSpPr>
          <p:nvPr>
            <p:ph type="sldNum" sz="quarter" idx="5"/>
          </p:nvPr>
        </p:nvSpPr>
        <p:spPr/>
        <p:txBody>
          <a:bodyPr/>
          <a:lstStyle/>
          <a:p>
            <a:fld id="{1DD107A9-A0C7-4078-AEEF-185A00981267}" type="slidenum">
              <a:rPr lang="en-US" smtClean="0"/>
              <a:t>53</a:t>
            </a:fld>
            <a:endParaRPr lang="en-US"/>
          </a:p>
        </p:txBody>
      </p:sp>
    </p:spTree>
    <p:extLst>
      <p:ext uri="{BB962C8B-B14F-4D97-AF65-F5344CB8AC3E}">
        <p14:creationId xmlns:p14="http://schemas.microsoft.com/office/powerpoint/2010/main" val="28871688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FD574-900C-AFA1-136F-14F7FDA71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2F885-4024-9DA0-CF9D-8B56778598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1DC50D-053C-052F-3741-FC5EAC0977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B049151-84BC-138F-E94B-68C83277DF11}"/>
              </a:ext>
            </a:extLst>
          </p:cNvPr>
          <p:cNvSpPr>
            <a:spLocks noGrp="1"/>
          </p:cNvSpPr>
          <p:nvPr>
            <p:ph type="sldNum" sz="quarter" idx="5"/>
          </p:nvPr>
        </p:nvSpPr>
        <p:spPr/>
        <p:txBody>
          <a:bodyPr/>
          <a:lstStyle/>
          <a:p>
            <a:fld id="{1DD107A9-A0C7-4078-AEEF-185A00981267}" type="slidenum">
              <a:rPr lang="en-US" smtClean="0"/>
              <a:t>54</a:t>
            </a:fld>
            <a:endParaRPr lang="en-US"/>
          </a:p>
        </p:txBody>
      </p:sp>
    </p:spTree>
    <p:extLst>
      <p:ext uri="{BB962C8B-B14F-4D97-AF65-F5344CB8AC3E}">
        <p14:creationId xmlns:p14="http://schemas.microsoft.com/office/powerpoint/2010/main" val="27849466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FAC7F-B959-8D16-3A45-782725344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946764-CB59-4F27-2BB4-674A27AB51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8A753-B031-86AF-3073-ABAFCFA8DF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374FCB9-3DA3-1D24-1ECC-4B9CF82402CD}"/>
              </a:ext>
            </a:extLst>
          </p:cNvPr>
          <p:cNvSpPr>
            <a:spLocks noGrp="1"/>
          </p:cNvSpPr>
          <p:nvPr>
            <p:ph type="sldNum" sz="quarter" idx="5"/>
          </p:nvPr>
        </p:nvSpPr>
        <p:spPr/>
        <p:txBody>
          <a:bodyPr/>
          <a:lstStyle/>
          <a:p>
            <a:fld id="{1DD107A9-A0C7-4078-AEEF-185A00981267}" type="slidenum">
              <a:rPr lang="en-US" smtClean="0"/>
              <a:t>55</a:t>
            </a:fld>
            <a:endParaRPr lang="en-US"/>
          </a:p>
        </p:txBody>
      </p:sp>
    </p:spTree>
    <p:extLst>
      <p:ext uri="{BB962C8B-B14F-4D97-AF65-F5344CB8AC3E}">
        <p14:creationId xmlns:p14="http://schemas.microsoft.com/office/powerpoint/2010/main" val="37382576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0E4E6-1F7E-3B4A-DC4F-B30734C26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95A9A-5AB2-33FB-9391-5F42AB625C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67B28F-7ED4-6F96-76BA-4F108AAB46D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0321365-BACF-7289-879D-7C87A5FBEC60}"/>
              </a:ext>
            </a:extLst>
          </p:cNvPr>
          <p:cNvSpPr>
            <a:spLocks noGrp="1"/>
          </p:cNvSpPr>
          <p:nvPr>
            <p:ph type="sldNum" sz="quarter" idx="5"/>
          </p:nvPr>
        </p:nvSpPr>
        <p:spPr/>
        <p:txBody>
          <a:bodyPr/>
          <a:lstStyle/>
          <a:p>
            <a:fld id="{1DD107A9-A0C7-4078-AEEF-185A00981267}" type="slidenum">
              <a:rPr lang="en-US" smtClean="0"/>
              <a:t>56</a:t>
            </a:fld>
            <a:endParaRPr lang="en-US"/>
          </a:p>
        </p:txBody>
      </p:sp>
    </p:spTree>
    <p:extLst>
      <p:ext uri="{BB962C8B-B14F-4D97-AF65-F5344CB8AC3E}">
        <p14:creationId xmlns:p14="http://schemas.microsoft.com/office/powerpoint/2010/main" val="7130900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C6AE5-7701-E16C-04D7-FADFDCFE3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49890C-2B08-4035-35AF-6EC4096CA6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31FB2-4F45-17C7-9DFB-DED45428DB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2338945-0A1F-9A1D-BDE2-056449EABCAE}"/>
              </a:ext>
            </a:extLst>
          </p:cNvPr>
          <p:cNvSpPr>
            <a:spLocks noGrp="1"/>
          </p:cNvSpPr>
          <p:nvPr>
            <p:ph type="sldNum" sz="quarter" idx="5"/>
          </p:nvPr>
        </p:nvSpPr>
        <p:spPr/>
        <p:txBody>
          <a:bodyPr/>
          <a:lstStyle/>
          <a:p>
            <a:fld id="{1DD107A9-A0C7-4078-AEEF-185A00981267}" type="slidenum">
              <a:rPr lang="en-US" smtClean="0"/>
              <a:t>57</a:t>
            </a:fld>
            <a:endParaRPr lang="en-US"/>
          </a:p>
        </p:txBody>
      </p:sp>
    </p:spTree>
    <p:extLst>
      <p:ext uri="{BB962C8B-B14F-4D97-AF65-F5344CB8AC3E}">
        <p14:creationId xmlns:p14="http://schemas.microsoft.com/office/powerpoint/2010/main" val="39146726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7A72A-62D3-4360-F1E2-84CBC0095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5A97B-6501-DD19-412D-D8AB9AA54F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FA47A1-5018-AD80-4EA3-84203FDFC9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582D6D0-8C19-2436-39D0-01B1A9F3875C}"/>
              </a:ext>
            </a:extLst>
          </p:cNvPr>
          <p:cNvSpPr>
            <a:spLocks noGrp="1"/>
          </p:cNvSpPr>
          <p:nvPr>
            <p:ph type="sldNum" sz="quarter" idx="5"/>
          </p:nvPr>
        </p:nvSpPr>
        <p:spPr/>
        <p:txBody>
          <a:bodyPr/>
          <a:lstStyle/>
          <a:p>
            <a:fld id="{1DD107A9-A0C7-4078-AEEF-185A00981267}" type="slidenum">
              <a:rPr lang="en-US" smtClean="0"/>
              <a:t>58</a:t>
            </a:fld>
            <a:endParaRPr lang="en-US"/>
          </a:p>
        </p:txBody>
      </p:sp>
    </p:spTree>
    <p:extLst>
      <p:ext uri="{BB962C8B-B14F-4D97-AF65-F5344CB8AC3E}">
        <p14:creationId xmlns:p14="http://schemas.microsoft.com/office/powerpoint/2010/main" val="37878888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2F837-735C-1F7D-2218-75C7534F4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356E0-0BC1-D0C3-525C-CEA81FB47E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B8C0-570D-6CA1-8C67-DBEE4EBF814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0D3A0F2-7881-E7CD-F765-54996B42544A}"/>
              </a:ext>
            </a:extLst>
          </p:cNvPr>
          <p:cNvSpPr>
            <a:spLocks noGrp="1"/>
          </p:cNvSpPr>
          <p:nvPr>
            <p:ph type="sldNum" sz="quarter" idx="5"/>
          </p:nvPr>
        </p:nvSpPr>
        <p:spPr/>
        <p:txBody>
          <a:bodyPr/>
          <a:lstStyle/>
          <a:p>
            <a:fld id="{1DD107A9-A0C7-4078-AEEF-185A00981267}" type="slidenum">
              <a:rPr lang="en-US" smtClean="0"/>
              <a:t>59</a:t>
            </a:fld>
            <a:endParaRPr lang="en-US"/>
          </a:p>
        </p:txBody>
      </p:sp>
    </p:spTree>
    <p:extLst>
      <p:ext uri="{BB962C8B-B14F-4D97-AF65-F5344CB8AC3E}">
        <p14:creationId xmlns:p14="http://schemas.microsoft.com/office/powerpoint/2010/main" val="39921845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F5CAB-4326-E4BB-0E35-6137FFF6D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C1A89-5F6F-2FC3-6C93-CBDC7DD48E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ABC73B-761C-8FDF-AE2D-150DA1D710F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A7337A6-F16A-66E8-AB3C-CA4BC9679165}"/>
              </a:ext>
            </a:extLst>
          </p:cNvPr>
          <p:cNvSpPr>
            <a:spLocks noGrp="1"/>
          </p:cNvSpPr>
          <p:nvPr>
            <p:ph type="sldNum" sz="quarter" idx="5"/>
          </p:nvPr>
        </p:nvSpPr>
        <p:spPr/>
        <p:txBody>
          <a:bodyPr/>
          <a:lstStyle/>
          <a:p>
            <a:fld id="{1DD107A9-A0C7-4078-AEEF-185A00981267}" type="slidenum">
              <a:rPr lang="en-US" smtClean="0"/>
              <a:t>60</a:t>
            </a:fld>
            <a:endParaRPr lang="en-US"/>
          </a:p>
        </p:txBody>
      </p:sp>
    </p:spTree>
    <p:extLst>
      <p:ext uri="{BB962C8B-B14F-4D97-AF65-F5344CB8AC3E}">
        <p14:creationId xmlns:p14="http://schemas.microsoft.com/office/powerpoint/2010/main" val="23800410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9D3FB-4FF9-8589-9679-22BB48EDC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2A3CF-2003-5390-3A07-8D206298A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6D1B49-9C3E-274F-F04E-3AE1EBE89F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93B8433-0B9A-C403-77BC-C8F5DF48D7FA}"/>
              </a:ext>
            </a:extLst>
          </p:cNvPr>
          <p:cNvSpPr>
            <a:spLocks noGrp="1"/>
          </p:cNvSpPr>
          <p:nvPr>
            <p:ph type="sldNum" sz="quarter" idx="5"/>
          </p:nvPr>
        </p:nvSpPr>
        <p:spPr/>
        <p:txBody>
          <a:bodyPr/>
          <a:lstStyle/>
          <a:p>
            <a:fld id="{1DD107A9-A0C7-4078-AEEF-185A00981267}" type="slidenum">
              <a:rPr lang="en-US" smtClean="0"/>
              <a:t>61</a:t>
            </a:fld>
            <a:endParaRPr lang="en-US"/>
          </a:p>
        </p:txBody>
      </p:sp>
    </p:spTree>
    <p:extLst>
      <p:ext uri="{BB962C8B-B14F-4D97-AF65-F5344CB8AC3E}">
        <p14:creationId xmlns:p14="http://schemas.microsoft.com/office/powerpoint/2010/main" val="40133859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894BA-952D-005D-3D58-90B414550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3D890F-AF08-5398-E00F-FB37AFCAD1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2EBE7-5EAE-EDE3-72BC-E05243B7A3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6C3B35E-FE44-3214-FB97-01E8D3FBB900}"/>
              </a:ext>
            </a:extLst>
          </p:cNvPr>
          <p:cNvSpPr>
            <a:spLocks noGrp="1"/>
          </p:cNvSpPr>
          <p:nvPr>
            <p:ph type="sldNum" sz="quarter" idx="5"/>
          </p:nvPr>
        </p:nvSpPr>
        <p:spPr/>
        <p:txBody>
          <a:bodyPr/>
          <a:lstStyle/>
          <a:p>
            <a:fld id="{1DD107A9-A0C7-4078-AEEF-185A00981267}" type="slidenum">
              <a:rPr lang="en-US" smtClean="0"/>
              <a:t>62</a:t>
            </a:fld>
            <a:endParaRPr lang="en-US"/>
          </a:p>
        </p:txBody>
      </p:sp>
    </p:spTree>
    <p:extLst>
      <p:ext uri="{BB962C8B-B14F-4D97-AF65-F5344CB8AC3E}">
        <p14:creationId xmlns:p14="http://schemas.microsoft.com/office/powerpoint/2010/main" val="36260661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67D75-369A-22CF-9DF4-2BEDCAA72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13B33-C5E2-4BED-0120-BCF29FC2EB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F97B37-078E-4FB1-B524-E25B60167A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661C8DF-3CA1-15BA-D87E-1EF582EAD01D}"/>
              </a:ext>
            </a:extLst>
          </p:cNvPr>
          <p:cNvSpPr>
            <a:spLocks noGrp="1"/>
          </p:cNvSpPr>
          <p:nvPr>
            <p:ph type="sldNum" sz="quarter" idx="5"/>
          </p:nvPr>
        </p:nvSpPr>
        <p:spPr/>
        <p:txBody>
          <a:bodyPr/>
          <a:lstStyle/>
          <a:p>
            <a:fld id="{1DD107A9-A0C7-4078-AEEF-185A00981267}" type="slidenum">
              <a:rPr lang="en-US" smtClean="0"/>
              <a:t>63</a:t>
            </a:fld>
            <a:endParaRPr lang="en-US"/>
          </a:p>
        </p:txBody>
      </p:sp>
    </p:spTree>
    <p:extLst>
      <p:ext uri="{BB962C8B-B14F-4D97-AF65-F5344CB8AC3E}">
        <p14:creationId xmlns:p14="http://schemas.microsoft.com/office/powerpoint/2010/main" val="5837086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3B7F9-4698-B2D6-3243-F281E4509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63BCB-1C41-77A8-9FF4-B059BE205E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400239-EC63-6329-122B-90B1E7310C8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F3DB7D0C-76E9-2EE2-EBA3-EE44DECFAD8F}"/>
              </a:ext>
            </a:extLst>
          </p:cNvPr>
          <p:cNvSpPr>
            <a:spLocks noGrp="1"/>
          </p:cNvSpPr>
          <p:nvPr>
            <p:ph type="sldNum" sz="quarter" idx="5"/>
          </p:nvPr>
        </p:nvSpPr>
        <p:spPr/>
        <p:txBody>
          <a:bodyPr/>
          <a:lstStyle/>
          <a:p>
            <a:fld id="{1DD107A9-A0C7-4078-AEEF-185A00981267}" type="slidenum">
              <a:rPr lang="en-US" smtClean="0"/>
              <a:t>64</a:t>
            </a:fld>
            <a:endParaRPr lang="en-US"/>
          </a:p>
        </p:txBody>
      </p:sp>
    </p:spTree>
    <p:extLst>
      <p:ext uri="{BB962C8B-B14F-4D97-AF65-F5344CB8AC3E}">
        <p14:creationId xmlns:p14="http://schemas.microsoft.com/office/powerpoint/2010/main" val="10733004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FB04D-ECA1-F96E-E5FD-55D3659EE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8F105-DB1B-23B0-27F9-351AB065D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60850-29EB-472A-F782-08E2472E62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5946EB1-05D0-EF81-4FEC-6D0F669F905B}"/>
              </a:ext>
            </a:extLst>
          </p:cNvPr>
          <p:cNvSpPr>
            <a:spLocks noGrp="1"/>
          </p:cNvSpPr>
          <p:nvPr>
            <p:ph type="sldNum" sz="quarter" idx="5"/>
          </p:nvPr>
        </p:nvSpPr>
        <p:spPr/>
        <p:txBody>
          <a:bodyPr/>
          <a:lstStyle/>
          <a:p>
            <a:fld id="{1DD107A9-A0C7-4078-AEEF-185A00981267}" type="slidenum">
              <a:rPr lang="en-US" smtClean="0"/>
              <a:t>65</a:t>
            </a:fld>
            <a:endParaRPr lang="en-US"/>
          </a:p>
        </p:txBody>
      </p:sp>
    </p:spTree>
    <p:extLst>
      <p:ext uri="{BB962C8B-B14F-4D97-AF65-F5344CB8AC3E}">
        <p14:creationId xmlns:p14="http://schemas.microsoft.com/office/powerpoint/2010/main" val="101916258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61D8C-B8A0-145E-242C-D7659E4E84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9A812-7E37-C2BE-143F-7D76199D7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DA59B9-DA8D-BD92-A2F6-5563C100DA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BCAE030-EDA3-910E-D0BE-F3E872458DD7}"/>
              </a:ext>
            </a:extLst>
          </p:cNvPr>
          <p:cNvSpPr>
            <a:spLocks noGrp="1"/>
          </p:cNvSpPr>
          <p:nvPr>
            <p:ph type="sldNum" sz="quarter" idx="5"/>
          </p:nvPr>
        </p:nvSpPr>
        <p:spPr/>
        <p:txBody>
          <a:bodyPr/>
          <a:lstStyle/>
          <a:p>
            <a:fld id="{1DD107A9-A0C7-4078-AEEF-185A00981267}" type="slidenum">
              <a:rPr lang="en-US" smtClean="0"/>
              <a:t>66</a:t>
            </a:fld>
            <a:endParaRPr lang="en-US"/>
          </a:p>
        </p:txBody>
      </p:sp>
    </p:spTree>
    <p:extLst>
      <p:ext uri="{BB962C8B-B14F-4D97-AF65-F5344CB8AC3E}">
        <p14:creationId xmlns:p14="http://schemas.microsoft.com/office/powerpoint/2010/main" val="13599796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9EF2C-0B44-F909-01A6-D5C04F69E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184105-5BFF-DD1B-1840-7A39317F76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0AD55C-0700-B1E2-31BB-0693BC4F54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448C096-6FE8-24F2-15CA-4ED1DD655562}"/>
              </a:ext>
            </a:extLst>
          </p:cNvPr>
          <p:cNvSpPr>
            <a:spLocks noGrp="1"/>
          </p:cNvSpPr>
          <p:nvPr>
            <p:ph type="sldNum" sz="quarter" idx="5"/>
          </p:nvPr>
        </p:nvSpPr>
        <p:spPr/>
        <p:txBody>
          <a:bodyPr/>
          <a:lstStyle/>
          <a:p>
            <a:fld id="{1DD107A9-A0C7-4078-AEEF-185A00981267}" type="slidenum">
              <a:rPr lang="en-US" smtClean="0"/>
              <a:t>67</a:t>
            </a:fld>
            <a:endParaRPr lang="en-US"/>
          </a:p>
        </p:txBody>
      </p:sp>
    </p:spTree>
    <p:extLst>
      <p:ext uri="{BB962C8B-B14F-4D97-AF65-F5344CB8AC3E}">
        <p14:creationId xmlns:p14="http://schemas.microsoft.com/office/powerpoint/2010/main" val="27754947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03DF3-0CCF-51A1-B543-04FC364235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79208-358E-7484-A204-38DAD438F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BBB6C-C345-965C-9FFD-C9A1308FB65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0C352D1-5E63-7BFF-8BCA-53C2EA0D2C5F}"/>
              </a:ext>
            </a:extLst>
          </p:cNvPr>
          <p:cNvSpPr>
            <a:spLocks noGrp="1"/>
          </p:cNvSpPr>
          <p:nvPr>
            <p:ph type="sldNum" sz="quarter" idx="5"/>
          </p:nvPr>
        </p:nvSpPr>
        <p:spPr/>
        <p:txBody>
          <a:bodyPr/>
          <a:lstStyle/>
          <a:p>
            <a:fld id="{1DD107A9-A0C7-4078-AEEF-185A00981267}" type="slidenum">
              <a:rPr lang="en-US" smtClean="0"/>
              <a:t>68</a:t>
            </a:fld>
            <a:endParaRPr lang="en-US"/>
          </a:p>
        </p:txBody>
      </p:sp>
    </p:spTree>
    <p:extLst>
      <p:ext uri="{BB962C8B-B14F-4D97-AF65-F5344CB8AC3E}">
        <p14:creationId xmlns:p14="http://schemas.microsoft.com/office/powerpoint/2010/main" val="2556899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919E8-C866-0E85-3277-B8C6992757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308F0850-3C3A-432D-CA6D-115123B8DB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18F375A3-D5F6-4400-164F-792E0CB98503}"/>
              </a:ext>
            </a:extLst>
          </p:cNvPr>
          <p:cNvSpPr>
            <a:spLocks noGrp="1"/>
          </p:cNvSpPr>
          <p:nvPr>
            <p:ph type="dt" sz="half" idx="10"/>
          </p:nvPr>
        </p:nvSpPr>
        <p:spPr/>
        <p:txBody>
          <a:bodyPr/>
          <a:lstStyle/>
          <a:p>
            <a:fld id="{06E996D4-7AAD-2A44-8BE7-1727DCC42208}" type="datetimeFigureOut">
              <a:rPr lang="en-VN" smtClean="0"/>
              <a:t>04/23/2026</a:t>
            </a:fld>
            <a:endParaRPr lang="en-VN"/>
          </a:p>
        </p:txBody>
      </p:sp>
      <p:sp>
        <p:nvSpPr>
          <p:cNvPr id="5" name="Footer Placeholder 4">
            <a:extLst>
              <a:ext uri="{FF2B5EF4-FFF2-40B4-BE49-F238E27FC236}">
                <a16:creationId xmlns:a16="http://schemas.microsoft.com/office/drawing/2014/main" id="{A41D7DA0-7091-52FC-5129-B2371C2E9C9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C52DEB31-02C1-29BF-E5A5-95FE85F7F125}"/>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1096608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7CBBD-C804-DAD2-B81F-98170CF431C5}"/>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0DC6D03D-2F04-C332-3A9D-3D3C89290C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1997D471-379F-E81E-7D22-5DDE168A169B}"/>
              </a:ext>
            </a:extLst>
          </p:cNvPr>
          <p:cNvSpPr>
            <a:spLocks noGrp="1"/>
          </p:cNvSpPr>
          <p:nvPr>
            <p:ph type="dt" sz="half" idx="10"/>
          </p:nvPr>
        </p:nvSpPr>
        <p:spPr/>
        <p:txBody>
          <a:bodyPr/>
          <a:lstStyle/>
          <a:p>
            <a:fld id="{06E996D4-7AAD-2A44-8BE7-1727DCC42208}" type="datetimeFigureOut">
              <a:rPr lang="en-VN" smtClean="0"/>
              <a:t>04/23/2026</a:t>
            </a:fld>
            <a:endParaRPr lang="en-VN"/>
          </a:p>
        </p:txBody>
      </p:sp>
      <p:sp>
        <p:nvSpPr>
          <p:cNvPr id="5" name="Footer Placeholder 4">
            <a:extLst>
              <a:ext uri="{FF2B5EF4-FFF2-40B4-BE49-F238E27FC236}">
                <a16:creationId xmlns:a16="http://schemas.microsoft.com/office/drawing/2014/main" id="{CCEA1277-D7A7-969C-492A-DAC04E0553C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236E63A6-1528-FD92-5062-84088251F670}"/>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104668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90B44-73BA-45E8-B90C-FF02F828B0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556C897A-A7A7-7A9E-7572-921645D814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028200-CE4A-29DD-9B08-5D59EE079539}"/>
              </a:ext>
            </a:extLst>
          </p:cNvPr>
          <p:cNvSpPr>
            <a:spLocks noGrp="1"/>
          </p:cNvSpPr>
          <p:nvPr>
            <p:ph type="dt" sz="half" idx="10"/>
          </p:nvPr>
        </p:nvSpPr>
        <p:spPr/>
        <p:txBody>
          <a:bodyPr/>
          <a:lstStyle/>
          <a:p>
            <a:fld id="{06E996D4-7AAD-2A44-8BE7-1727DCC42208}" type="datetimeFigureOut">
              <a:rPr lang="en-VN" smtClean="0"/>
              <a:t>04/23/2026</a:t>
            </a:fld>
            <a:endParaRPr lang="en-VN"/>
          </a:p>
        </p:txBody>
      </p:sp>
      <p:sp>
        <p:nvSpPr>
          <p:cNvPr id="5" name="Footer Placeholder 4">
            <a:extLst>
              <a:ext uri="{FF2B5EF4-FFF2-40B4-BE49-F238E27FC236}">
                <a16:creationId xmlns:a16="http://schemas.microsoft.com/office/drawing/2014/main" id="{2857265B-3C64-1719-FA7C-3D09926CABA3}"/>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7448DDF6-402B-3E97-9925-7ED2EB4B2D06}"/>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17737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C819-A214-85AB-F9E4-13E8A8988158}"/>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CA9D00F6-B668-C3E8-8F6F-47268F02A9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7DE64A4E-11B2-ED3F-DDE3-FACD9EB5E8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43848483-C9FB-58BE-AFB2-B2F35FF4210A}"/>
              </a:ext>
            </a:extLst>
          </p:cNvPr>
          <p:cNvSpPr>
            <a:spLocks noGrp="1"/>
          </p:cNvSpPr>
          <p:nvPr>
            <p:ph type="dt" sz="half" idx="10"/>
          </p:nvPr>
        </p:nvSpPr>
        <p:spPr/>
        <p:txBody>
          <a:bodyPr/>
          <a:lstStyle/>
          <a:p>
            <a:fld id="{06E996D4-7AAD-2A44-8BE7-1727DCC42208}" type="datetimeFigureOut">
              <a:rPr lang="en-VN" smtClean="0"/>
              <a:t>04/23/2026</a:t>
            </a:fld>
            <a:endParaRPr lang="en-VN"/>
          </a:p>
        </p:txBody>
      </p:sp>
      <p:sp>
        <p:nvSpPr>
          <p:cNvPr id="6" name="Footer Placeholder 5">
            <a:extLst>
              <a:ext uri="{FF2B5EF4-FFF2-40B4-BE49-F238E27FC236}">
                <a16:creationId xmlns:a16="http://schemas.microsoft.com/office/drawing/2014/main" id="{1B115912-C43E-0F7D-DBE9-B02BBDDD1ED0}"/>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1AFDADB5-E6F4-703C-F6F7-7EB0CFE8B2E9}"/>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305362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3D139-474E-CCCD-2F1E-998B9D8F4370}"/>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9CDA755E-D89F-980C-09DF-E0FD86D4FE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B4759F-465A-8984-E798-91A03E35B5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3DD81737-1D83-27E4-C4B8-F805A70E4C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A9810-A2E7-51B6-9DEC-0ED5F26087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4BAF915C-B42F-F88C-26AA-DB99B374C653}"/>
              </a:ext>
            </a:extLst>
          </p:cNvPr>
          <p:cNvSpPr>
            <a:spLocks noGrp="1"/>
          </p:cNvSpPr>
          <p:nvPr>
            <p:ph type="dt" sz="half" idx="10"/>
          </p:nvPr>
        </p:nvSpPr>
        <p:spPr/>
        <p:txBody>
          <a:bodyPr/>
          <a:lstStyle/>
          <a:p>
            <a:fld id="{06E996D4-7AAD-2A44-8BE7-1727DCC42208}" type="datetimeFigureOut">
              <a:rPr lang="en-VN" smtClean="0"/>
              <a:t>04/23/2026</a:t>
            </a:fld>
            <a:endParaRPr lang="en-VN"/>
          </a:p>
        </p:txBody>
      </p:sp>
      <p:sp>
        <p:nvSpPr>
          <p:cNvPr id="8" name="Footer Placeholder 7">
            <a:extLst>
              <a:ext uri="{FF2B5EF4-FFF2-40B4-BE49-F238E27FC236}">
                <a16:creationId xmlns:a16="http://schemas.microsoft.com/office/drawing/2014/main" id="{098F6EEB-2EA5-2E0C-22B7-8CF155B9A455}"/>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34EBDCFD-FC7C-EF07-4E83-F2D7956E1EC1}"/>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657852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C4FC3-7CA6-AB15-FFE1-54E0D8AB81AB}"/>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456300B3-3FD0-F392-7440-E3A6806D3701}"/>
              </a:ext>
            </a:extLst>
          </p:cNvPr>
          <p:cNvSpPr>
            <a:spLocks noGrp="1"/>
          </p:cNvSpPr>
          <p:nvPr>
            <p:ph type="dt" sz="half" idx="10"/>
          </p:nvPr>
        </p:nvSpPr>
        <p:spPr/>
        <p:txBody>
          <a:bodyPr/>
          <a:lstStyle/>
          <a:p>
            <a:fld id="{06E996D4-7AAD-2A44-8BE7-1727DCC42208}" type="datetimeFigureOut">
              <a:rPr lang="en-VN" smtClean="0"/>
              <a:t>04/23/2026</a:t>
            </a:fld>
            <a:endParaRPr lang="en-VN"/>
          </a:p>
        </p:txBody>
      </p:sp>
      <p:sp>
        <p:nvSpPr>
          <p:cNvPr id="4" name="Footer Placeholder 3">
            <a:extLst>
              <a:ext uri="{FF2B5EF4-FFF2-40B4-BE49-F238E27FC236}">
                <a16:creationId xmlns:a16="http://schemas.microsoft.com/office/drawing/2014/main" id="{39EE939F-DA44-2088-C19F-E747AC7E659A}"/>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F14A2417-57C2-8FF3-AACB-E3417558F08C}"/>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917902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6D39B6-5E89-66DA-EB19-0D2A9723AC9B}"/>
              </a:ext>
            </a:extLst>
          </p:cNvPr>
          <p:cNvSpPr>
            <a:spLocks noGrp="1"/>
          </p:cNvSpPr>
          <p:nvPr>
            <p:ph type="dt" sz="half" idx="10"/>
          </p:nvPr>
        </p:nvSpPr>
        <p:spPr/>
        <p:txBody>
          <a:bodyPr/>
          <a:lstStyle/>
          <a:p>
            <a:fld id="{06E996D4-7AAD-2A44-8BE7-1727DCC42208}" type="datetimeFigureOut">
              <a:rPr lang="en-VN" smtClean="0"/>
              <a:t>04/23/2026</a:t>
            </a:fld>
            <a:endParaRPr lang="en-VN"/>
          </a:p>
        </p:txBody>
      </p:sp>
      <p:sp>
        <p:nvSpPr>
          <p:cNvPr id="3" name="Footer Placeholder 2">
            <a:extLst>
              <a:ext uri="{FF2B5EF4-FFF2-40B4-BE49-F238E27FC236}">
                <a16:creationId xmlns:a16="http://schemas.microsoft.com/office/drawing/2014/main" id="{DAEAFB0C-6320-ECA9-3630-D6760BF2904D}"/>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6CB9763E-3638-9284-734B-ED09A8766722}"/>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2690275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D833C-F7D5-0222-A265-8D9E830E2B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7A30A460-9514-6B68-DC85-C682ED63C6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7BCA776D-FB3B-D341-DC06-53DA4C6C42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BFAA7B-8D38-956A-B3C8-9189A78E6A17}"/>
              </a:ext>
            </a:extLst>
          </p:cNvPr>
          <p:cNvSpPr>
            <a:spLocks noGrp="1"/>
          </p:cNvSpPr>
          <p:nvPr>
            <p:ph type="dt" sz="half" idx="10"/>
          </p:nvPr>
        </p:nvSpPr>
        <p:spPr/>
        <p:txBody>
          <a:bodyPr/>
          <a:lstStyle/>
          <a:p>
            <a:fld id="{06E996D4-7AAD-2A44-8BE7-1727DCC42208}" type="datetimeFigureOut">
              <a:rPr lang="en-VN" smtClean="0"/>
              <a:t>04/23/2026</a:t>
            </a:fld>
            <a:endParaRPr lang="en-VN"/>
          </a:p>
        </p:txBody>
      </p:sp>
      <p:sp>
        <p:nvSpPr>
          <p:cNvPr id="6" name="Footer Placeholder 5">
            <a:extLst>
              <a:ext uri="{FF2B5EF4-FFF2-40B4-BE49-F238E27FC236}">
                <a16:creationId xmlns:a16="http://schemas.microsoft.com/office/drawing/2014/main" id="{0DCDEF49-E2C9-6F98-F66E-04968EB7CE89}"/>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23924F5D-E524-70F9-17BC-C7BB81E902F7}"/>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2475010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29236-B38C-04A4-1515-A6E70C3679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6B74C4FF-B914-4590-C700-2C4BA0355E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FFEA8981-5307-ED6B-7393-58C1FA86C7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B32F05-54D9-AC2F-BCDD-45C40D548EA2}"/>
              </a:ext>
            </a:extLst>
          </p:cNvPr>
          <p:cNvSpPr>
            <a:spLocks noGrp="1"/>
          </p:cNvSpPr>
          <p:nvPr>
            <p:ph type="dt" sz="half" idx="10"/>
          </p:nvPr>
        </p:nvSpPr>
        <p:spPr/>
        <p:txBody>
          <a:bodyPr/>
          <a:lstStyle/>
          <a:p>
            <a:fld id="{06E996D4-7AAD-2A44-8BE7-1727DCC42208}" type="datetimeFigureOut">
              <a:rPr lang="en-VN" smtClean="0"/>
              <a:t>04/23/2026</a:t>
            </a:fld>
            <a:endParaRPr lang="en-VN"/>
          </a:p>
        </p:txBody>
      </p:sp>
      <p:sp>
        <p:nvSpPr>
          <p:cNvPr id="6" name="Footer Placeholder 5">
            <a:extLst>
              <a:ext uri="{FF2B5EF4-FFF2-40B4-BE49-F238E27FC236}">
                <a16:creationId xmlns:a16="http://schemas.microsoft.com/office/drawing/2014/main" id="{1956D5E2-8FEF-F7E6-E1D3-0A00B73822A8}"/>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96957B6D-00FC-595D-8C5E-9C06B99BBF98}"/>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94880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11D75-82A0-ACE5-AEAC-67A1068E978D}"/>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54A4E0E5-677E-319F-0419-AEA14E6BD8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D7790C5C-4FA2-9494-7621-8383AC4DE79B}"/>
              </a:ext>
            </a:extLst>
          </p:cNvPr>
          <p:cNvSpPr>
            <a:spLocks noGrp="1"/>
          </p:cNvSpPr>
          <p:nvPr>
            <p:ph type="dt" sz="half" idx="10"/>
          </p:nvPr>
        </p:nvSpPr>
        <p:spPr/>
        <p:txBody>
          <a:bodyPr/>
          <a:lstStyle/>
          <a:p>
            <a:fld id="{06E996D4-7AAD-2A44-8BE7-1727DCC42208}" type="datetimeFigureOut">
              <a:rPr lang="en-VN" smtClean="0"/>
              <a:t>04/23/2026</a:t>
            </a:fld>
            <a:endParaRPr lang="en-VN"/>
          </a:p>
        </p:txBody>
      </p:sp>
      <p:sp>
        <p:nvSpPr>
          <p:cNvPr id="5" name="Footer Placeholder 4">
            <a:extLst>
              <a:ext uri="{FF2B5EF4-FFF2-40B4-BE49-F238E27FC236}">
                <a16:creationId xmlns:a16="http://schemas.microsoft.com/office/drawing/2014/main" id="{C1711235-FAEA-8718-21BB-631EAE8A91DA}"/>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E3C58324-DAF8-8E8F-8AD2-A6CF5A723ABB}"/>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53514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3A9EEE-7BB9-82A5-DDBC-EF8A30B54F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B6CFCDB4-AEB2-4571-3BB2-DB8A3D236E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2B9B0936-EDB1-8D52-D4D3-0EE0D7D3F4D6}"/>
              </a:ext>
            </a:extLst>
          </p:cNvPr>
          <p:cNvSpPr>
            <a:spLocks noGrp="1"/>
          </p:cNvSpPr>
          <p:nvPr>
            <p:ph type="dt" sz="half" idx="10"/>
          </p:nvPr>
        </p:nvSpPr>
        <p:spPr/>
        <p:txBody>
          <a:bodyPr/>
          <a:lstStyle/>
          <a:p>
            <a:fld id="{06E996D4-7AAD-2A44-8BE7-1727DCC42208}" type="datetimeFigureOut">
              <a:rPr lang="en-VN" smtClean="0"/>
              <a:t>04/23/2026</a:t>
            </a:fld>
            <a:endParaRPr lang="en-VN"/>
          </a:p>
        </p:txBody>
      </p:sp>
      <p:sp>
        <p:nvSpPr>
          <p:cNvPr id="5" name="Footer Placeholder 4">
            <a:extLst>
              <a:ext uri="{FF2B5EF4-FFF2-40B4-BE49-F238E27FC236}">
                <a16:creationId xmlns:a16="http://schemas.microsoft.com/office/drawing/2014/main" id="{22CFE319-5EAA-F060-29F5-842601545CA8}"/>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0202313A-C5D1-8E45-43C5-CDD5166D1287}"/>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39846588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E996D4-7AAD-2A44-8BE7-1727DCC42208}" type="datetimeFigureOut">
              <a:rPr lang="en-VN" smtClean="0"/>
              <a:t>04/23/2026</a:t>
            </a:fld>
            <a:endParaRPr lang="en-VN"/>
          </a:p>
        </p:txBody>
      </p:sp>
      <p:sp>
        <p:nvSpPr>
          <p:cNvPr id="5" name="Footer Placeholder 4"/>
          <p:cNvSpPr>
            <a:spLocks noGrp="1"/>
          </p:cNvSpPr>
          <p:nvPr>
            <p:ph type="ftr" sz="quarter" idx="11"/>
          </p:nvPr>
        </p:nvSpPr>
        <p:spPr>
          <a:xfrm>
            <a:off x="2416500" y="329307"/>
            <a:ext cx="4973915" cy="309201"/>
          </a:xfrm>
        </p:spPr>
        <p:txBody>
          <a:bodyPr/>
          <a:lstStyle/>
          <a:p>
            <a:endParaRPr lang="en-VN"/>
          </a:p>
        </p:txBody>
      </p:sp>
      <p:sp>
        <p:nvSpPr>
          <p:cNvPr id="6" name="Slide Number Placeholder 5"/>
          <p:cNvSpPr>
            <a:spLocks noGrp="1"/>
          </p:cNvSpPr>
          <p:nvPr>
            <p:ph type="sldNum" sz="quarter" idx="12"/>
          </p:nvPr>
        </p:nvSpPr>
        <p:spPr>
          <a:xfrm>
            <a:off x="1437664" y="798973"/>
            <a:ext cx="811019" cy="503578"/>
          </a:xfrm>
        </p:spPr>
        <p:txBody>
          <a:bodyPr/>
          <a:lstStyle/>
          <a:p>
            <a:fld id="{BC9FB2B2-7097-B344-B47F-CA906A8B5746}" type="slidenum">
              <a:rPr lang="en-VN" smtClean="0"/>
              <a:t>‹#›</a:t>
            </a:fld>
            <a:endParaRPr lang="en-V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492672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E996D4-7AAD-2A44-8BE7-1727DCC42208}" type="datetimeFigureOut">
              <a:rPr lang="en-VN" smtClean="0"/>
              <a:t>04/23/2026</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BC9FB2B2-7097-B344-B47F-CA906A8B5746}" type="slidenum">
              <a:rPr lang="en-VN" smtClean="0"/>
              <a:t>‹#›</a:t>
            </a:fld>
            <a:endParaRPr lang="en-V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0985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E996D4-7AAD-2A44-8BE7-1727DCC42208}" type="datetimeFigureOut">
              <a:rPr lang="en-VN" smtClean="0"/>
              <a:t>04/23/2026</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BC9FB2B2-7097-B344-B47F-CA906A8B5746}" type="slidenum">
              <a:rPr lang="en-VN" smtClean="0"/>
              <a:t>‹#›</a:t>
            </a:fld>
            <a:endParaRPr lang="en-V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471954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E996D4-7AAD-2A44-8BE7-1727DCC42208}" type="datetimeFigureOut">
              <a:rPr lang="en-VN" smtClean="0"/>
              <a:t>04/23/2026</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BC9FB2B2-7097-B344-B47F-CA906A8B5746}" type="slidenum">
              <a:rPr lang="en-VN" smtClean="0"/>
              <a:t>‹#›</a:t>
            </a:fld>
            <a:endParaRPr lang="en-V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414148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E996D4-7AAD-2A44-8BE7-1727DCC42208}" type="datetimeFigureOut">
              <a:rPr lang="en-VN" smtClean="0"/>
              <a:t>04/23/2026</a:t>
            </a:fld>
            <a:endParaRPr lang="en-VN"/>
          </a:p>
        </p:txBody>
      </p:sp>
      <p:sp>
        <p:nvSpPr>
          <p:cNvPr id="8" name="Footer Placeholder 7"/>
          <p:cNvSpPr>
            <a:spLocks noGrp="1"/>
          </p:cNvSpPr>
          <p:nvPr>
            <p:ph type="ftr" sz="quarter" idx="11"/>
          </p:nvPr>
        </p:nvSpPr>
        <p:spPr/>
        <p:txBody>
          <a:bodyPr/>
          <a:lstStyle/>
          <a:p>
            <a:endParaRPr lang="en-VN"/>
          </a:p>
        </p:txBody>
      </p:sp>
      <p:sp>
        <p:nvSpPr>
          <p:cNvPr id="9" name="Slide Number Placeholder 8"/>
          <p:cNvSpPr>
            <a:spLocks noGrp="1"/>
          </p:cNvSpPr>
          <p:nvPr>
            <p:ph type="sldNum" sz="quarter" idx="12"/>
          </p:nvPr>
        </p:nvSpPr>
        <p:spPr/>
        <p:txBody>
          <a:bodyPr/>
          <a:lstStyle/>
          <a:p>
            <a:fld id="{BC9FB2B2-7097-B344-B47F-CA906A8B5746}" type="slidenum">
              <a:rPr lang="en-VN" smtClean="0"/>
              <a:t>‹#›</a:t>
            </a:fld>
            <a:endParaRPr lang="en-V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21635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E996D4-7AAD-2A44-8BE7-1727DCC42208}" type="datetimeFigureOut">
              <a:rPr lang="en-VN" smtClean="0"/>
              <a:t>04/23/2026</a:t>
            </a:fld>
            <a:endParaRPr lang="en-VN"/>
          </a:p>
        </p:txBody>
      </p:sp>
      <p:sp>
        <p:nvSpPr>
          <p:cNvPr id="4" name="Footer Placeholder 3"/>
          <p:cNvSpPr>
            <a:spLocks noGrp="1"/>
          </p:cNvSpPr>
          <p:nvPr>
            <p:ph type="ftr" sz="quarter" idx="11"/>
          </p:nvPr>
        </p:nvSpPr>
        <p:spPr/>
        <p:txBody>
          <a:bodyPr/>
          <a:lstStyle/>
          <a:p>
            <a:endParaRPr lang="en-VN"/>
          </a:p>
        </p:txBody>
      </p:sp>
      <p:sp>
        <p:nvSpPr>
          <p:cNvPr id="5" name="Slide Number Placeholder 4"/>
          <p:cNvSpPr>
            <a:spLocks noGrp="1"/>
          </p:cNvSpPr>
          <p:nvPr>
            <p:ph type="sldNum" sz="quarter" idx="12"/>
          </p:nvPr>
        </p:nvSpPr>
        <p:spPr/>
        <p:txBody>
          <a:bodyPr/>
          <a:lstStyle/>
          <a:p>
            <a:fld id="{BC9FB2B2-7097-B344-B47F-CA906A8B5746}" type="slidenum">
              <a:rPr lang="en-VN" smtClean="0"/>
              <a:t>‹#›</a:t>
            </a:fld>
            <a:endParaRPr lang="en-V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808419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E996D4-7AAD-2A44-8BE7-1727DCC42208}" type="datetimeFigureOut">
              <a:rPr lang="en-VN" smtClean="0"/>
              <a:t>04/23/2026</a:t>
            </a:fld>
            <a:endParaRPr lang="en-VN"/>
          </a:p>
        </p:txBody>
      </p:sp>
      <p:sp>
        <p:nvSpPr>
          <p:cNvPr id="3" name="Footer Placeholder 2"/>
          <p:cNvSpPr>
            <a:spLocks noGrp="1"/>
          </p:cNvSpPr>
          <p:nvPr>
            <p:ph type="ftr" sz="quarter" idx="11"/>
          </p:nvPr>
        </p:nvSpPr>
        <p:spPr/>
        <p:txBody>
          <a:bodyPr/>
          <a:lstStyle/>
          <a:p>
            <a:endParaRPr lang="en-VN"/>
          </a:p>
        </p:txBody>
      </p:sp>
      <p:sp>
        <p:nvSpPr>
          <p:cNvPr id="4" name="Slide Number Placeholder 3"/>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21446321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E996D4-7AAD-2A44-8BE7-1727DCC42208}" type="datetimeFigureOut">
              <a:rPr lang="en-VN" smtClean="0"/>
              <a:t>04/23/2026</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BC9FB2B2-7097-B344-B47F-CA906A8B5746}" type="slidenum">
              <a:rPr lang="en-VN" smtClean="0"/>
              <a:t>‹#›</a:t>
            </a:fld>
            <a:endParaRPr lang="en-V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8890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6E996D4-7AAD-2A44-8BE7-1727DCC42208}" type="datetimeFigureOut">
              <a:rPr lang="en-VN" smtClean="0"/>
              <a:t>04/23/2026</a:t>
            </a:fld>
            <a:endParaRPr lang="en-VN"/>
          </a:p>
        </p:txBody>
      </p:sp>
      <p:sp>
        <p:nvSpPr>
          <p:cNvPr id="6" name="Footer Placeholder 5"/>
          <p:cNvSpPr>
            <a:spLocks noGrp="1"/>
          </p:cNvSpPr>
          <p:nvPr>
            <p:ph type="ftr" sz="quarter" idx="11"/>
          </p:nvPr>
        </p:nvSpPr>
        <p:spPr>
          <a:xfrm>
            <a:off x="1447382" y="318640"/>
            <a:ext cx="5541004" cy="320931"/>
          </a:xfrm>
        </p:spPr>
        <p:txBody>
          <a:bodyPr/>
          <a:lstStyle/>
          <a:p>
            <a:endParaRPr lang="en-VN"/>
          </a:p>
        </p:txBody>
      </p:sp>
      <p:sp>
        <p:nvSpPr>
          <p:cNvPr id="7" name="Slide Number Placeholder 6"/>
          <p:cNvSpPr>
            <a:spLocks noGrp="1"/>
          </p:cNvSpPr>
          <p:nvPr>
            <p:ph type="sldNum" sz="quarter" idx="12"/>
          </p:nvPr>
        </p:nvSpPr>
        <p:spPr/>
        <p:txBody>
          <a:bodyPr/>
          <a:lstStyle/>
          <a:p>
            <a:fld id="{BC9FB2B2-7097-B344-B47F-CA906A8B5746}" type="slidenum">
              <a:rPr lang="en-VN" smtClean="0"/>
              <a:t>‹#›</a:t>
            </a:fld>
            <a:endParaRPr lang="en-V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503061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E996D4-7AAD-2A44-8BE7-1727DCC42208}" type="datetimeFigureOut">
              <a:rPr lang="en-VN" smtClean="0"/>
              <a:t>04/23/2026</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BC9FB2B2-7097-B344-B47F-CA906A8B5746}" type="slidenum">
              <a:rPr lang="en-VN" smtClean="0"/>
              <a:t>‹#›</a:t>
            </a:fld>
            <a:endParaRPr lang="en-V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43024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E996D4-7AAD-2A44-8BE7-1727DCC42208}" type="datetimeFigureOut">
              <a:rPr lang="en-VN" smtClean="0"/>
              <a:t>04/23/2026</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BC9FB2B2-7097-B344-B47F-CA906A8B5746}" type="slidenum">
              <a:rPr lang="en-VN" smtClean="0"/>
              <a:t>‹#›</a:t>
            </a:fld>
            <a:endParaRPr lang="en-V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69714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8C9955-552A-CE70-F829-5F452221B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57344CC6-27E5-D574-E5EE-8558C4A232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1B79254D-7687-5709-147A-2574AA31C4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E996D4-7AAD-2A44-8BE7-1727DCC42208}" type="datetimeFigureOut">
              <a:rPr lang="en-VN" smtClean="0"/>
              <a:t>04/23/2026</a:t>
            </a:fld>
            <a:endParaRPr lang="en-VN"/>
          </a:p>
        </p:txBody>
      </p:sp>
      <p:sp>
        <p:nvSpPr>
          <p:cNvPr id="5" name="Footer Placeholder 4">
            <a:extLst>
              <a:ext uri="{FF2B5EF4-FFF2-40B4-BE49-F238E27FC236}">
                <a16:creationId xmlns:a16="http://schemas.microsoft.com/office/drawing/2014/main" id="{89235861-A636-014E-4913-210DEA1DA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02FC3369-5A30-D5DF-D02A-852FA88D12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9FB2B2-7097-B344-B47F-CA906A8B5746}" type="slidenum">
              <a:rPr lang="en-VN" smtClean="0"/>
              <a:t>‹#›</a:t>
            </a:fld>
            <a:endParaRPr lang="en-VN"/>
          </a:p>
        </p:txBody>
      </p:sp>
    </p:spTree>
    <p:extLst>
      <p:ext uri="{BB962C8B-B14F-4D97-AF65-F5344CB8AC3E}">
        <p14:creationId xmlns:p14="http://schemas.microsoft.com/office/powerpoint/2010/main" val="2277011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6E996D4-7AAD-2A44-8BE7-1727DCC42208}" type="datetimeFigureOut">
              <a:rPr lang="en-VN" smtClean="0"/>
              <a:t>04/23/2026</a:t>
            </a:fld>
            <a:endParaRPr lang="en-V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V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C9FB2B2-7097-B344-B47F-CA906A8B5746}" type="slidenum">
              <a:rPr lang="en-VN" smtClean="0"/>
              <a:t>‹#›</a:t>
            </a:fld>
            <a:endParaRPr lang="en-V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043783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mof.gov.vn/" TargetMode="External"/><Relationship Id="rId2" Type="http://schemas.openxmlformats.org/officeDocument/2006/relationships/hyperlink" Target="https://chinhphu.v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www.quanlynhanuoc.vn/2025/04/22/to-chuc-va-hoat-dong-chinh-quyen-dia-phuong-o-viet-nam-thuc-trang-va-yeu-cau-doi-moi/"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A0D40366-CC2F-BB4A-C904-ACCCE1418C90}"/>
              </a:ext>
            </a:extLst>
          </p:cNvPr>
          <p:cNvGrpSpPr>
            <a:grpSpLocks noGrp="1" noUngrp="1" noRot="1" noMove="1" noResize="1"/>
          </p:cNvGrpSpPr>
          <p:nvPr/>
        </p:nvGrpSpPr>
        <p:grpSpPr>
          <a:xfrm>
            <a:off x="2535753" y="325034"/>
            <a:ext cx="7377415" cy="630942"/>
            <a:chOff x="2535753" y="325034"/>
            <a:chExt cx="7377415" cy="630942"/>
          </a:xfrm>
        </p:grpSpPr>
        <p:pic>
          <p:nvPicPr>
            <p:cNvPr id="7" name="Picture 6">
              <a:extLst>
                <a:ext uri="{FF2B5EF4-FFF2-40B4-BE49-F238E27FC236}">
                  <a16:creationId xmlns:a16="http://schemas.microsoft.com/office/drawing/2014/main" id="{62630845-8820-6A94-2861-35458DDC5035}"/>
                </a:ext>
              </a:extLst>
            </p:cNvPr>
            <p:cNvPicPr>
              <a:picLocks noGrp="1" noRot="1" noChangeAspect="1" noMove="1" noResize="1" noEditPoints="1" noAdjustHandles="1" noChangeArrowheads="1" noChangeShapeType="1" noCrop="1"/>
            </p:cNvPicPr>
            <p:nvPr/>
          </p:nvPicPr>
          <p:blipFill>
            <a:blip r:embed="rId3"/>
            <a:stretch>
              <a:fillRect/>
            </a:stretch>
          </p:blipFill>
          <p:spPr>
            <a:xfrm>
              <a:off x="2535753" y="435129"/>
              <a:ext cx="1455885" cy="420589"/>
            </a:xfrm>
            <a:prstGeom prst="rect">
              <a:avLst/>
            </a:prstGeom>
          </p:spPr>
        </p:pic>
        <p:sp>
          <p:nvSpPr>
            <p:cNvPr id="10" name="TextBox 9">
              <a:extLst>
                <a:ext uri="{FF2B5EF4-FFF2-40B4-BE49-F238E27FC236}">
                  <a16:creationId xmlns:a16="http://schemas.microsoft.com/office/drawing/2014/main" id="{73FA787E-3561-4D42-93FF-8DEB3F25AF34}"/>
                </a:ext>
              </a:extLst>
            </p:cNvPr>
            <p:cNvSpPr txBox="1">
              <a:spLocks noGrp="1" noRot="1" noMove="1" noResize="1" noEditPoints="1" noAdjustHandles="1" noChangeArrowheads="1" noChangeShapeType="1"/>
            </p:cNvSpPr>
            <p:nvPr/>
          </p:nvSpPr>
          <p:spPr>
            <a:xfrm>
              <a:off x="3991638" y="325034"/>
              <a:ext cx="5921530" cy="630942"/>
            </a:xfrm>
            <a:prstGeom prst="rect">
              <a:avLst/>
            </a:prstGeom>
            <a:noFill/>
          </p:spPr>
          <p:txBody>
            <a:bodyPr wrap="square">
              <a:spAutoFit/>
            </a:bodyPr>
            <a:lstStyle/>
            <a:p>
              <a:pPr algn="ctr"/>
              <a:r>
                <a:rPr lang="en-VN" sz="1600" spc="100" dirty="0">
                  <a:solidFill>
                    <a:srgbClr val="2C2B7D"/>
                  </a:solidFill>
                  <a:latin typeface="Chivo" pitchFamily="2" charset="77"/>
                  <a:cs typeface="Times New Roman" panose="02020603050405020304" pitchFamily="18" charset="0"/>
                </a:rPr>
                <a:t>HỌC VIỆN </a:t>
              </a:r>
              <a:r>
                <a:rPr lang="en-US" sz="1600" spc="100" dirty="0">
                  <a:solidFill>
                    <a:srgbClr val="2C2B7D"/>
                  </a:solidFill>
                  <a:latin typeface="Chivo" pitchFamily="2" charset="77"/>
                  <a:cs typeface="Times New Roman" panose="02020603050405020304" pitchFamily="18" charset="0"/>
                </a:rPr>
                <a:t>CHÍNH TRỊ QUỐC GIA HỒ CHÍ MINH</a:t>
              </a:r>
              <a:endParaRPr lang="en-VN" sz="1600" spc="100" dirty="0">
                <a:solidFill>
                  <a:srgbClr val="2C2B7D"/>
                </a:solidFill>
                <a:latin typeface="Chivo" pitchFamily="2" charset="77"/>
                <a:cs typeface="Times New Roman" panose="02020603050405020304" pitchFamily="18" charset="0"/>
              </a:endParaRPr>
            </a:p>
            <a:p>
              <a:pPr algn="ctr"/>
              <a:r>
                <a:rPr lang="en-VN" sz="1900" b="1" spc="100" dirty="0">
                  <a:solidFill>
                    <a:srgbClr val="2C2B7D"/>
                  </a:solidFill>
                  <a:latin typeface="Chivo" pitchFamily="2" charset="77"/>
                  <a:cs typeface="Times New Roman" panose="02020603050405020304" pitchFamily="18" charset="0"/>
                </a:rPr>
                <a:t>HỌC VIỆN HÀNH CHÍNH VÀ QUẢN TRỊ CÔNG</a:t>
              </a:r>
              <a:endParaRPr lang="en-VN" sz="1900" b="1" dirty="0">
                <a:solidFill>
                  <a:srgbClr val="2C2B7D"/>
                </a:solidFill>
                <a:latin typeface="Chivo" pitchFamily="2" charset="77"/>
                <a:cs typeface="Times New Roman" panose="02020603050405020304" pitchFamily="18" charset="0"/>
              </a:endParaRPr>
            </a:p>
          </p:txBody>
        </p:sp>
      </p:grpSp>
      <p:sp>
        <p:nvSpPr>
          <p:cNvPr id="14" name="TextBox 13">
            <a:extLst>
              <a:ext uri="{FF2B5EF4-FFF2-40B4-BE49-F238E27FC236}">
                <a16:creationId xmlns:a16="http://schemas.microsoft.com/office/drawing/2014/main" id="{1E97EC90-0777-4F85-F985-CC5EAB09F807}"/>
              </a:ext>
            </a:extLst>
          </p:cNvPr>
          <p:cNvSpPr txBox="1"/>
          <p:nvPr/>
        </p:nvSpPr>
        <p:spPr>
          <a:xfrm>
            <a:off x="1504335" y="2301249"/>
            <a:ext cx="9276736" cy="923330"/>
          </a:xfrm>
          <a:prstGeom prst="rect">
            <a:avLst/>
          </a:prstGeom>
          <a:noFill/>
        </p:spPr>
        <p:txBody>
          <a:bodyPr wrap="square">
            <a:spAutoFit/>
          </a:bodyPr>
          <a:lstStyle/>
          <a:p>
            <a:pPr algn="ctr"/>
            <a:r>
              <a:rPr lang="en-US" sz="5400" dirty="0">
                <a:solidFill>
                  <a:schemeClr val="bg1"/>
                </a:solidFill>
                <a:latin typeface="Chivo Medium" pitchFamily="2" charset="77"/>
                <a:cs typeface="Chivo Medium" pitchFamily="2" charset="77"/>
              </a:rPr>
              <a:t>QUẢN LÝ TÀI CHÍNH CÔNG</a:t>
            </a:r>
            <a:endParaRPr lang="en-VN" sz="5400" dirty="0">
              <a:solidFill>
                <a:schemeClr val="bg1"/>
              </a:solidFill>
              <a:latin typeface="Chivo Medium" pitchFamily="2" charset="77"/>
              <a:cs typeface="Chivo Medium" pitchFamily="2" charset="77"/>
            </a:endParaRPr>
          </a:p>
        </p:txBody>
      </p:sp>
      <p:sp>
        <p:nvSpPr>
          <p:cNvPr id="17" name="TextBox 16">
            <a:extLst>
              <a:ext uri="{FF2B5EF4-FFF2-40B4-BE49-F238E27FC236}">
                <a16:creationId xmlns:a16="http://schemas.microsoft.com/office/drawing/2014/main" id="{C8F2C2B0-6CD3-172C-F787-58B651C1A91A}"/>
              </a:ext>
            </a:extLst>
          </p:cNvPr>
          <p:cNvSpPr txBox="1"/>
          <p:nvPr/>
        </p:nvSpPr>
        <p:spPr>
          <a:xfrm>
            <a:off x="5692871" y="4516569"/>
            <a:ext cx="6228326" cy="1862048"/>
          </a:xfrm>
          <a:prstGeom prst="rect">
            <a:avLst/>
          </a:prstGeom>
          <a:noFill/>
        </p:spPr>
        <p:txBody>
          <a:bodyPr wrap="square">
            <a:spAutoFit/>
          </a:bodyPr>
          <a:lstStyle/>
          <a:p>
            <a:pPr>
              <a:spcBef>
                <a:spcPts val="600"/>
              </a:spcBef>
            </a:pPr>
            <a:r>
              <a:rPr lang="en-VN" sz="2100" b="1" dirty="0">
                <a:solidFill>
                  <a:schemeClr val="bg1"/>
                </a:solidFill>
                <a:latin typeface="Chivo" pitchFamily="2" charset="77"/>
                <a:cs typeface="Chivo" pitchFamily="2" charset="77"/>
              </a:rPr>
              <a:t>T</a:t>
            </a:r>
            <a:r>
              <a:rPr lang="en-US" sz="2100" b="1" dirty="0">
                <a:solidFill>
                  <a:schemeClr val="bg1"/>
                </a:solidFill>
                <a:latin typeface="Chivo" pitchFamily="2" charset="77"/>
                <a:cs typeface="Chivo" pitchFamily="2" charset="77"/>
              </a:rPr>
              <a:t>h</a:t>
            </a:r>
            <a:r>
              <a:rPr lang="en-VN" sz="2100" b="1" dirty="0">
                <a:solidFill>
                  <a:schemeClr val="bg1"/>
                </a:solidFill>
                <a:latin typeface="Chivo" pitchFamily="2" charset="77"/>
                <a:cs typeface="Chivo" pitchFamily="2" charset="77"/>
              </a:rPr>
              <a:t>S.GV. </a:t>
            </a:r>
            <a:r>
              <a:rPr lang="en-US" sz="2100" b="1" dirty="0">
                <a:solidFill>
                  <a:schemeClr val="bg1"/>
                </a:solidFill>
                <a:latin typeface="Chivo" pitchFamily="2" charset="77"/>
                <a:cs typeface="Chivo" pitchFamily="2" charset="77"/>
              </a:rPr>
              <a:t>NGUYỄN ĐÀO XUÂN</a:t>
            </a:r>
            <a:endParaRPr lang="en-VN" sz="2100" b="1" dirty="0">
              <a:solidFill>
                <a:schemeClr val="bg1"/>
              </a:solidFill>
              <a:latin typeface="Chivo" pitchFamily="2" charset="77"/>
              <a:cs typeface="Chivo" pitchFamily="2" charset="77"/>
            </a:endParaRPr>
          </a:p>
          <a:p>
            <a:pPr>
              <a:spcBef>
                <a:spcPts val="600"/>
              </a:spcBef>
            </a:pPr>
            <a:r>
              <a:rPr lang="en-US" sz="2000" dirty="0">
                <a:solidFill>
                  <a:schemeClr val="bg1"/>
                </a:solidFill>
                <a:latin typeface="Chivo" pitchFamily="2" charset="77"/>
                <a:cs typeface="Chivo" pitchFamily="2" charset="77"/>
              </a:rPr>
              <a:t>KHOA LUẬT VÀ KHOA HỌC LIÊN NGÀNH</a:t>
            </a:r>
            <a:endParaRPr lang="en-VN" sz="2000" dirty="0">
              <a:solidFill>
                <a:schemeClr val="bg1"/>
              </a:solidFill>
              <a:latin typeface="Chivo" pitchFamily="2" charset="77"/>
              <a:cs typeface="Chivo" pitchFamily="2" charset="77"/>
            </a:endParaRPr>
          </a:p>
          <a:p>
            <a:pPr>
              <a:spcBef>
                <a:spcPts val="600"/>
              </a:spcBef>
            </a:pPr>
            <a:r>
              <a:rPr lang="en-US" dirty="0" err="1">
                <a:solidFill>
                  <a:schemeClr val="bg1"/>
                </a:solidFill>
                <a:latin typeface="Chivo" pitchFamily="2" charset="77"/>
                <a:cs typeface="Chivo" pitchFamily="2" charset="77"/>
              </a:rPr>
              <a:t>Phân</a:t>
            </a:r>
            <a:r>
              <a:rPr lang="en-US" dirty="0">
                <a:solidFill>
                  <a:schemeClr val="bg1"/>
                </a:solidFill>
                <a:latin typeface="Chivo" pitchFamily="2" charset="77"/>
                <a:cs typeface="Chivo" pitchFamily="2" charset="77"/>
              </a:rPr>
              <a:t> </a:t>
            </a:r>
            <a:r>
              <a:rPr lang="en-US" dirty="0" err="1">
                <a:solidFill>
                  <a:schemeClr val="bg1"/>
                </a:solidFill>
                <a:latin typeface="Chivo" pitchFamily="2" charset="77"/>
                <a:cs typeface="Chivo" pitchFamily="2" charset="77"/>
              </a:rPr>
              <a:t>hiệu</a:t>
            </a:r>
            <a:r>
              <a:rPr lang="en-US" dirty="0">
                <a:solidFill>
                  <a:schemeClr val="bg1"/>
                </a:solidFill>
                <a:latin typeface="Chivo" pitchFamily="2" charset="77"/>
                <a:cs typeface="Chivo" pitchFamily="2" charset="77"/>
              </a:rPr>
              <a:t> </a:t>
            </a:r>
            <a:r>
              <a:rPr lang="en-VN" dirty="0">
                <a:solidFill>
                  <a:schemeClr val="bg1"/>
                </a:solidFill>
                <a:latin typeface="Chivo" pitchFamily="2" charset="77"/>
                <a:cs typeface="Chivo" pitchFamily="2" charset="77"/>
              </a:rPr>
              <a:t>Học viện Hành chính và Quản trị công</a:t>
            </a:r>
            <a:r>
              <a:rPr lang="en-US" dirty="0">
                <a:solidFill>
                  <a:schemeClr val="bg1"/>
                </a:solidFill>
                <a:latin typeface="Chivo" pitchFamily="2" charset="77"/>
                <a:cs typeface="Chivo" pitchFamily="2" charset="77"/>
              </a:rPr>
              <a:t> </a:t>
            </a:r>
            <a:r>
              <a:rPr lang="en-US" dirty="0" err="1">
                <a:solidFill>
                  <a:schemeClr val="bg1"/>
                </a:solidFill>
                <a:latin typeface="Chivo" pitchFamily="2" charset="77"/>
                <a:cs typeface="Chivo" pitchFamily="2" charset="77"/>
              </a:rPr>
              <a:t>tại</a:t>
            </a:r>
            <a:r>
              <a:rPr lang="en-US" dirty="0">
                <a:solidFill>
                  <a:schemeClr val="bg1"/>
                </a:solidFill>
                <a:latin typeface="Chivo" pitchFamily="2" charset="77"/>
                <a:cs typeface="Chivo" pitchFamily="2" charset="77"/>
              </a:rPr>
              <a:t> </a:t>
            </a:r>
            <a:r>
              <a:rPr lang="en-US" dirty="0" err="1">
                <a:solidFill>
                  <a:schemeClr val="bg1"/>
                </a:solidFill>
                <a:latin typeface="Chivo" pitchFamily="2" charset="77"/>
                <a:cs typeface="Chivo" pitchFamily="2" charset="77"/>
              </a:rPr>
              <a:t>tỉnh</a:t>
            </a:r>
            <a:r>
              <a:rPr lang="en-US" dirty="0">
                <a:solidFill>
                  <a:schemeClr val="bg1"/>
                </a:solidFill>
                <a:latin typeface="Chivo" pitchFamily="2" charset="77"/>
                <a:cs typeface="Chivo" pitchFamily="2" charset="77"/>
              </a:rPr>
              <a:t> </a:t>
            </a:r>
            <a:r>
              <a:rPr lang="en-US" dirty="0" err="1">
                <a:solidFill>
                  <a:schemeClr val="bg1"/>
                </a:solidFill>
                <a:latin typeface="Chivo" pitchFamily="2" charset="77"/>
                <a:cs typeface="Chivo" pitchFamily="2" charset="77"/>
              </a:rPr>
              <a:t>Đắk</a:t>
            </a:r>
            <a:r>
              <a:rPr lang="en-US" dirty="0">
                <a:solidFill>
                  <a:schemeClr val="bg1"/>
                </a:solidFill>
                <a:latin typeface="Chivo" pitchFamily="2" charset="77"/>
                <a:cs typeface="Chivo" pitchFamily="2" charset="77"/>
              </a:rPr>
              <a:t> </a:t>
            </a:r>
            <a:r>
              <a:rPr lang="en-US" dirty="0" err="1">
                <a:solidFill>
                  <a:schemeClr val="bg1"/>
                </a:solidFill>
                <a:latin typeface="Chivo" pitchFamily="2" charset="77"/>
                <a:cs typeface="Chivo" pitchFamily="2" charset="77"/>
              </a:rPr>
              <a:t>Lắk</a:t>
            </a:r>
            <a:endParaRPr lang="en-VN" dirty="0">
              <a:solidFill>
                <a:schemeClr val="bg1"/>
              </a:solidFill>
              <a:latin typeface="Chivo" pitchFamily="2" charset="77"/>
              <a:cs typeface="Chivo" pitchFamily="2" charset="77"/>
            </a:endParaRPr>
          </a:p>
          <a:p>
            <a:pPr>
              <a:spcBef>
                <a:spcPts val="600"/>
              </a:spcBef>
            </a:pPr>
            <a:r>
              <a:rPr lang="en-VN" dirty="0">
                <a:solidFill>
                  <a:schemeClr val="bg1"/>
                </a:solidFill>
                <a:latin typeface="Chivo" pitchFamily="2" charset="77"/>
                <a:cs typeface="Chivo" pitchFamily="2" charset="77"/>
              </a:rPr>
              <a:t>ĐT: 09</a:t>
            </a:r>
            <a:r>
              <a:rPr lang="en-US" dirty="0">
                <a:solidFill>
                  <a:schemeClr val="bg1"/>
                </a:solidFill>
                <a:latin typeface="Chivo" pitchFamily="2" charset="77"/>
                <a:cs typeface="Chivo" pitchFamily="2" charset="77"/>
              </a:rPr>
              <a:t>34.878.789</a:t>
            </a:r>
            <a:endParaRPr lang="en-VN" dirty="0">
              <a:solidFill>
                <a:schemeClr val="bg1"/>
              </a:solidFill>
              <a:latin typeface="Chivo" pitchFamily="2" charset="77"/>
              <a:cs typeface="Chivo" pitchFamily="2" charset="77"/>
            </a:endParaRPr>
          </a:p>
          <a:p>
            <a:pPr>
              <a:spcBef>
                <a:spcPts val="600"/>
              </a:spcBef>
            </a:pPr>
            <a:r>
              <a:rPr lang="en-VN" dirty="0">
                <a:solidFill>
                  <a:schemeClr val="bg1"/>
                </a:solidFill>
                <a:latin typeface="Chivo" pitchFamily="2" charset="77"/>
                <a:cs typeface="Chivo" pitchFamily="2" charset="77"/>
              </a:rPr>
              <a:t>Email: </a:t>
            </a:r>
            <a:r>
              <a:rPr lang="en-US" dirty="0" err="1">
                <a:solidFill>
                  <a:schemeClr val="bg1"/>
                </a:solidFill>
                <a:latin typeface="Chivo" pitchFamily="2" charset="77"/>
                <a:cs typeface="Chivo" pitchFamily="2" charset="77"/>
              </a:rPr>
              <a:t>xuannd</a:t>
            </a:r>
            <a:r>
              <a:rPr lang="en-VN" dirty="0">
                <a:solidFill>
                  <a:schemeClr val="bg1"/>
                </a:solidFill>
                <a:latin typeface="Chivo" pitchFamily="2" charset="77"/>
                <a:cs typeface="Chivo" pitchFamily="2" charset="77"/>
              </a:rPr>
              <a:t>@apag.edu.vn</a:t>
            </a:r>
          </a:p>
        </p:txBody>
      </p:sp>
    </p:spTree>
    <p:extLst>
      <p:ext uri="{BB962C8B-B14F-4D97-AF65-F5344CB8AC3E}">
        <p14:creationId xmlns:p14="http://schemas.microsoft.com/office/powerpoint/2010/main" val="209198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05C869C-64C7-7383-A834-C6574861AA95}"/>
              </a:ext>
            </a:extLst>
          </p:cNvPr>
          <p:cNvSpPr/>
          <p:nvPr/>
        </p:nvSpPr>
        <p:spPr>
          <a:xfrm>
            <a:off x="0" y="0"/>
            <a:ext cx="12216580" cy="6858000"/>
          </a:xfrm>
          <a:prstGeom prst="rect">
            <a:avLst/>
          </a:prstGeom>
          <a:solidFill>
            <a:srgbClr val="F8F8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F560E46-AAB4-95A3-AA43-56FB823EC1DE}"/>
              </a:ext>
            </a:extLst>
          </p:cNvPr>
          <p:cNvSpPr/>
          <p:nvPr/>
        </p:nvSpPr>
        <p:spPr>
          <a:xfrm>
            <a:off x="0" y="0"/>
            <a:ext cx="12192000" cy="887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A33D66-F7BE-A800-B469-B6550E248CE4}"/>
              </a:ext>
            </a:extLst>
          </p:cNvPr>
          <p:cNvSpPr>
            <a:spLocks noGrp="1"/>
          </p:cNvSpPr>
          <p:nvPr>
            <p:ph type="title"/>
          </p:nvPr>
        </p:nvSpPr>
        <p:spPr>
          <a:xfrm>
            <a:off x="838200" y="70160"/>
            <a:ext cx="10515600" cy="817350"/>
          </a:xfrm>
        </p:spPr>
        <p:txBody>
          <a:bodyPr/>
          <a:lstStyle/>
          <a:p>
            <a:pPr algn="ctr"/>
            <a:r>
              <a:rPr lang="en-US" b="1" dirty="0">
                <a:solidFill>
                  <a:schemeClr val="bg1"/>
                </a:solidFill>
                <a:latin typeface="Times New Roman" pitchFamily="18" charset="0"/>
                <a:cs typeface="Times New Roman" pitchFamily="18" charset="0"/>
              </a:rPr>
              <a:t>NỘI DUNG</a:t>
            </a:r>
            <a:endParaRPr lang="en-US" dirty="0">
              <a:solidFill>
                <a:schemeClr val="bg1"/>
              </a:solidFill>
            </a:endParaRPr>
          </a:p>
        </p:txBody>
      </p:sp>
      <p:sp>
        <p:nvSpPr>
          <p:cNvPr id="3" name="Content Placeholder 2">
            <a:extLst>
              <a:ext uri="{FF2B5EF4-FFF2-40B4-BE49-F238E27FC236}">
                <a16:creationId xmlns:a16="http://schemas.microsoft.com/office/drawing/2014/main" id="{1F679DA0-4ABD-51B6-86C9-ADA9211A955D}"/>
              </a:ext>
            </a:extLst>
          </p:cNvPr>
          <p:cNvSpPr>
            <a:spLocks noGrp="1"/>
          </p:cNvSpPr>
          <p:nvPr>
            <p:ph idx="1"/>
          </p:nvPr>
        </p:nvSpPr>
        <p:spPr>
          <a:xfrm>
            <a:off x="162233" y="887512"/>
            <a:ext cx="11710220" cy="3197792"/>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C8C9FD7C-D720-2093-8500-8964B61E6698}"/>
              </a:ext>
            </a:extLst>
          </p:cNvPr>
          <p:cNvGraphicFramePr>
            <a:graphicFrameLocks/>
          </p:cNvGraphicFramePr>
          <p:nvPr/>
        </p:nvGraphicFramePr>
        <p:xfrm>
          <a:off x="308106" y="1071350"/>
          <a:ext cx="11710220" cy="5481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441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graphicEl>
                                              <a:dgm id="{FBEFBF75-64EB-4F7E-A926-A4E66F89C7B0}"/>
                                            </p:graphicEl>
                                          </p:spTgt>
                                        </p:tgtEl>
                                        <p:attrNameLst>
                                          <p:attrName>style.visibility</p:attrName>
                                        </p:attrNameLst>
                                      </p:cBhvr>
                                      <p:to>
                                        <p:strVal val="visible"/>
                                      </p:to>
                                    </p:set>
                                    <p:anim calcmode="lin" valueType="num">
                                      <p:cBhvr additive="base">
                                        <p:cTn id="7" dur="500" fill="hold"/>
                                        <p:tgtEl>
                                          <p:spTgt spid="5">
                                            <p:graphicEl>
                                              <a:dgm id="{FBEFBF75-64EB-4F7E-A926-A4E66F89C7B0}"/>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graphicEl>
                                              <a:dgm id="{FBEFBF75-64EB-4F7E-A926-A4E66F89C7B0}"/>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
                                            <p:graphicEl>
                                              <a:dgm id="{666DCB58-F458-4F2E-B413-E6EC71986A16}"/>
                                            </p:graphicEl>
                                          </p:spTgt>
                                        </p:tgtEl>
                                        <p:attrNameLst>
                                          <p:attrName>style.visibility</p:attrName>
                                        </p:attrNameLst>
                                      </p:cBhvr>
                                      <p:to>
                                        <p:strVal val="visible"/>
                                      </p:to>
                                    </p:set>
                                    <p:anim calcmode="lin" valueType="num">
                                      <p:cBhvr additive="base">
                                        <p:cTn id="11" dur="500" fill="hold"/>
                                        <p:tgtEl>
                                          <p:spTgt spid="5">
                                            <p:graphicEl>
                                              <a:dgm id="{666DCB58-F458-4F2E-B413-E6EC71986A16}"/>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
                                            <p:graphicEl>
                                              <a:dgm id="{666DCB58-F458-4F2E-B413-E6EC71986A16}"/>
                                            </p:graphic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5">
                                            <p:graphicEl>
                                              <a:dgm id="{903D4C07-2F7B-4768-B940-9EC734D124AC}"/>
                                            </p:graphicEl>
                                          </p:spTgt>
                                        </p:tgtEl>
                                        <p:attrNameLst>
                                          <p:attrName>style.visibility</p:attrName>
                                        </p:attrNameLst>
                                      </p:cBhvr>
                                      <p:to>
                                        <p:strVal val="visible"/>
                                      </p:to>
                                    </p:set>
                                    <p:anim calcmode="lin" valueType="num">
                                      <p:cBhvr additive="base">
                                        <p:cTn id="15" dur="500" fill="hold"/>
                                        <p:tgtEl>
                                          <p:spTgt spid="5">
                                            <p:graphicEl>
                                              <a:dgm id="{903D4C07-2F7B-4768-B940-9EC734D124AC}"/>
                                            </p:graphic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
                                            <p:graphicEl>
                                              <a:dgm id="{903D4C07-2F7B-4768-B940-9EC734D124AC}"/>
                                            </p:graphic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5">
                                            <p:graphicEl>
                                              <a:dgm id="{03B14AF4-B5B8-4120-A94F-C42F3ACBD4C0}"/>
                                            </p:graphicEl>
                                          </p:spTgt>
                                        </p:tgtEl>
                                        <p:attrNameLst>
                                          <p:attrName>style.visibility</p:attrName>
                                        </p:attrNameLst>
                                      </p:cBhvr>
                                      <p:to>
                                        <p:strVal val="visible"/>
                                      </p:to>
                                    </p:set>
                                    <p:anim calcmode="lin" valueType="num">
                                      <p:cBhvr additive="base">
                                        <p:cTn id="21" dur="500" fill="hold"/>
                                        <p:tgtEl>
                                          <p:spTgt spid="5">
                                            <p:graphicEl>
                                              <a:dgm id="{03B14AF4-B5B8-4120-A94F-C42F3ACBD4C0}"/>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
                                            <p:graphicEl>
                                              <a:dgm id="{03B14AF4-B5B8-4120-A94F-C42F3ACBD4C0}"/>
                                            </p:graphic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5">
                                            <p:graphicEl>
                                              <a:dgm id="{A5EF71E6-87C1-4DA1-AFF7-D586E2B69EAC}"/>
                                            </p:graphicEl>
                                          </p:spTgt>
                                        </p:tgtEl>
                                        <p:attrNameLst>
                                          <p:attrName>style.visibility</p:attrName>
                                        </p:attrNameLst>
                                      </p:cBhvr>
                                      <p:to>
                                        <p:strVal val="visible"/>
                                      </p:to>
                                    </p:set>
                                    <p:anim calcmode="lin" valueType="num">
                                      <p:cBhvr additive="base">
                                        <p:cTn id="25" dur="500" fill="hold"/>
                                        <p:tgtEl>
                                          <p:spTgt spid="5">
                                            <p:graphicEl>
                                              <a:dgm id="{A5EF71E6-87C1-4DA1-AFF7-D586E2B69EAC}"/>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
                                            <p:graphicEl>
                                              <a:dgm id="{A5EF71E6-87C1-4DA1-AFF7-D586E2B69EAC}"/>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
                                            <p:graphicEl>
                                              <a:dgm id="{7E79FFA8-5D9C-4C34-BC10-348E5B7963B1}"/>
                                            </p:graphicEl>
                                          </p:spTgt>
                                        </p:tgtEl>
                                        <p:attrNameLst>
                                          <p:attrName>style.visibility</p:attrName>
                                        </p:attrNameLst>
                                      </p:cBhvr>
                                      <p:to>
                                        <p:strVal val="visible"/>
                                      </p:to>
                                    </p:set>
                                    <p:anim calcmode="lin" valueType="num">
                                      <p:cBhvr additive="base">
                                        <p:cTn id="31" dur="500" fill="hold"/>
                                        <p:tgtEl>
                                          <p:spTgt spid="5">
                                            <p:graphicEl>
                                              <a:dgm id="{7E79FFA8-5D9C-4C34-BC10-348E5B7963B1}"/>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
                                            <p:graphicEl>
                                              <a:dgm id="{7E79FFA8-5D9C-4C34-BC10-348E5B7963B1}"/>
                                            </p:graphic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5">
                                            <p:graphicEl>
                                              <a:dgm id="{F24AED53-8AE0-4CB9-A674-944D01F5AFA7}"/>
                                            </p:graphicEl>
                                          </p:spTgt>
                                        </p:tgtEl>
                                        <p:attrNameLst>
                                          <p:attrName>style.visibility</p:attrName>
                                        </p:attrNameLst>
                                      </p:cBhvr>
                                      <p:to>
                                        <p:strVal val="visible"/>
                                      </p:to>
                                    </p:set>
                                    <p:anim calcmode="lin" valueType="num">
                                      <p:cBhvr additive="base">
                                        <p:cTn id="35" dur="500" fill="hold"/>
                                        <p:tgtEl>
                                          <p:spTgt spid="5">
                                            <p:graphicEl>
                                              <a:dgm id="{F24AED53-8AE0-4CB9-A674-944D01F5AFA7}"/>
                                            </p:graphic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
                                            <p:graphicEl>
                                              <a:dgm id="{F24AED53-8AE0-4CB9-A674-944D01F5AFA7}"/>
                                            </p:graphic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5">
                                            <p:graphicEl>
                                              <a:dgm id="{6E402C4B-EDFD-42F0-AB38-9FE8CE6F595A}"/>
                                            </p:graphicEl>
                                          </p:spTgt>
                                        </p:tgtEl>
                                        <p:attrNameLst>
                                          <p:attrName>style.visibility</p:attrName>
                                        </p:attrNameLst>
                                      </p:cBhvr>
                                      <p:to>
                                        <p:strVal val="visible"/>
                                      </p:to>
                                    </p:set>
                                    <p:anim calcmode="lin" valueType="num">
                                      <p:cBhvr additive="base">
                                        <p:cTn id="41" dur="500" fill="hold"/>
                                        <p:tgtEl>
                                          <p:spTgt spid="5">
                                            <p:graphicEl>
                                              <a:dgm id="{6E402C4B-EDFD-42F0-AB38-9FE8CE6F595A}"/>
                                            </p:graphic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5">
                                            <p:graphicEl>
                                              <a:dgm id="{6E402C4B-EDFD-42F0-AB38-9FE8CE6F595A}"/>
                                            </p:graphic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5">
                                            <p:graphicEl>
                                              <a:dgm id="{6217FA50-8478-467B-ACA9-B6E1B62BD4D6}"/>
                                            </p:graphicEl>
                                          </p:spTgt>
                                        </p:tgtEl>
                                        <p:attrNameLst>
                                          <p:attrName>style.visibility</p:attrName>
                                        </p:attrNameLst>
                                      </p:cBhvr>
                                      <p:to>
                                        <p:strVal val="visible"/>
                                      </p:to>
                                    </p:set>
                                    <p:anim calcmode="lin" valueType="num">
                                      <p:cBhvr additive="base">
                                        <p:cTn id="45" dur="500" fill="hold"/>
                                        <p:tgtEl>
                                          <p:spTgt spid="5">
                                            <p:graphicEl>
                                              <a:dgm id="{6217FA50-8478-467B-ACA9-B6E1B62BD4D6}"/>
                                            </p:graphic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5">
                                            <p:graphicEl>
                                              <a:dgm id="{6217FA50-8478-467B-ACA9-B6E1B62BD4D6}"/>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FD289D-433D-686B-CA41-9A94F90A84BC}"/>
              </a:ext>
            </a:extLst>
          </p:cNvPr>
          <p:cNvSpPr txBox="1"/>
          <p:nvPr/>
        </p:nvSpPr>
        <p:spPr>
          <a:xfrm>
            <a:off x="214009" y="1595335"/>
            <a:ext cx="11977991" cy="2154436"/>
          </a:xfrm>
          <a:prstGeom prst="rect">
            <a:avLst/>
          </a:prstGeom>
          <a:noFill/>
        </p:spPr>
        <p:txBody>
          <a:bodyPr wrap="square" rtlCol="0">
            <a:spAutoFit/>
          </a:bodyPr>
          <a:lstStyle/>
          <a:p>
            <a:r>
              <a:rPr lang="en-US" sz="4400" b="1" dirty="0">
                <a:solidFill>
                  <a:srgbClr val="C00000"/>
                </a:solidFill>
                <a:latin typeface="Arial" panose="020B0604020202020204" pitchFamily="34" charset="0"/>
                <a:cs typeface="Arial" panose="020B0604020202020204" pitchFamily="34" charset="0"/>
              </a:rPr>
              <a:t>CHƯƠNG 3: </a:t>
            </a:r>
          </a:p>
          <a:p>
            <a:endParaRPr lang="en-US" sz="3600" b="1" dirty="0">
              <a:solidFill>
                <a:schemeClr val="bg2">
                  <a:lumMod val="10000"/>
                </a:schemeClr>
              </a:solidFill>
              <a:latin typeface="Arial" panose="020B0604020202020204" pitchFamily="34" charset="0"/>
              <a:cs typeface="Arial" panose="020B0604020202020204" pitchFamily="34" charset="0"/>
            </a:endParaRPr>
          </a:p>
          <a:p>
            <a:pPr algn="ctr"/>
            <a:r>
              <a:rPr lang="en-US" sz="5400" b="1" dirty="0">
                <a:solidFill>
                  <a:schemeClr val="bg2">
                    <a:lumMod val="10000"/>
                  </a:schemeClr>
                </a:solidFill>
                <a:latin typeface="Arial" panose="020B0604020202020204" pitchFamily="34" charset="0"/>
                <a:cs typeface="Arial" panose="020B0604020202020204" pitchFamily="34" charset="0"/>
              </a:rPr>
              <a:t>QUẢN LÝ NGÂN SÁCH XÃ</a:t>
            </a:r>
          </a:p>
        </p:txBody>
      </p:sp>
    </p:spTree>
    <p:extLst>
      <p:ext uri="{BB962C8B-B14F-4D97-AF65-F5344CB8AC3E}">
        <p14:creationId xmlns:p14="http://schemas.microsoft.com/office/powerpoint/2010/main" val="3459495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695AC-698A-D080-A48E-6E9BAB49C97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85DAFC4-4492-41DB-BCB6-F09BC9749C52}"/>
              </a:ext>
            </a:extLst>
          </p:cNvPr>
          <p:cNvSpPr/>
          <p:nvPr/>
        </p:nvSpPr>
        <p:spPr>
          <a:xfrm>
            <a:off x="0" y="0"/>
            <a:ext cx="12216580" cy="6858000"/>
          </a:xfrm>
          <a:prstGeom prst="rect">
            <a:avLst/>
          </a:prstGeom>
          <a:solidFill>
            <a:srgbClr val="F8F8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58B5CE5-CE24-3B70-F79F-BE051F05E610}"/>
              </a:ext>
            </a:extLst>
          </p:cNvPr>
          <p:cNvSpPr/>
          <p:nvPr/>
        </p:nvSpPr>
        <p:spPr>
          <a:xfrm>
            <a:off x="0" y="0"/>
            <a:ext cx="12192000" cy="887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3CA020-CDAC-0532-20F7-73EE30AECF30}"/>
              </a:ext>
            </a:extLst>
          </p:cNvPr>
          <p:cNvSpPr>
            <a:spLocks noGrp="1"/>
          </p:cNvSpPr>
          <p:nvPr>
            <p:ph type="title"/>
          </p:nvPr>
        </p:nvSpPr>
        <p:spPr>
          <a:xfrm>
            <a:off x="838200" y="70160"/>
            <a:ext cx="10515600" cy="817350"/>
          </a:xfrm>
        </p:spPr>
        <p:txBody>
          <a:bodyPr/>
          <a:lstStyle/>
          <a:p>
            <a:pPr algn="ctr"/>
            <a:r>
              <a:rPr lang="en-US" b="1" dirty="0">
                <a:solidFill>
                  <a:schemeClr val="bg1"/>
                </a:solidFill>
                <a:latin typeface="Times New Roman" pitchFamily="18" charset="0"/>
                <a:cs typeface="Times New Roman" pitchFamily="18" charset="0"/>
              </a:rPr>
              <a:t>MỤC TIÊU CHƯƠNG 3</a:t>
            </a:r>
            <a:endParaRPr lang="en-US" dirty="0">
              <a:solidFill>
                <a:schemeClr val="bg1"/>
              </a:solidFill>
            </a:endParaRPr>
          </a:p>
        </p:txBody>
      </p:sp>
      <p:sp>
        <p:nvSpPr>
          <p:cNvPr id="10" name="Content Placeholder 2">
            <a:extLst>
              <a:ext uri="{FF2B5EF4-FFF2-40B4-BE49-F238E27FC236}">
                <a16:creationId xmlns:a16="http://schemas.microsoft.com/office/drawing/2014/main" id="{F2BC65DA-E0DC-B060-488A-AA9FBD79BD99}"/>
              </a:ext>
            </a:extLst>
          </p:cNvPr>
          <p:cNvSpPr>
            <a:spLocks noGrp="1"/>
          </p:cNvSpPr>
          <p:nvPr>
            <p:ph idx="1"/>
          </p:nvPr>
        </p:nvSpPr>
        <p:spPr>
          <a:xfrm>
            <a:off x="24580" y="887510"/>
            <a:ext cx="12192000" cy="6079560"/>
          </a:xfrm>
        </p:spPr>
        <p:txBody>
          <a:bodyPr>
            <a:noAutofit/>
          </a:bodyPr>
          <a:lstStyle/>
          <a:p>
            <a:pPr marL="457200" lvl="1" indent="0" algn="just">
              <a:lnSpc>
                <a:spcPct val="150000"/>
              </a:lnSpc>
              <a:buNone/>
            </a:pPr>
            <a:r>
              <a:rPr lang="en-US" sz="2800" b="1" dirty="0" err="1">
                <a:latin typeface="Times New Roman" panose="02020603050405020304" pitchFamily="18" charset="0"/>
                <a:cs typeface="Times New Roman" panose="02020603050405020304" pitchFamily="18" charset="0"/>
              </a:rPr>
              <a:t>Về</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kiến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thức</a:t>
            </a:r>
            <a:r>
              <a:rPr lang="en-US" sz="2800" b="1"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800" dirty="0" err="1">
                <a:latin typeface="Times New Roman" panose="02020603050405020304" pitchFamily="18" charset="0"/>
                <a:cs typeface="Times New Roman" panose="02020603050405020304" pitchFamily="18" charset="0"/>
              </a:rPr>
              <a:t>Trình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bày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phạm</a:t>
            </a:r>
            <a:r>
              <a:rPr lang="en-US" sz="2800" dirty="0">
                <a:latin typeface="Times New Roman" panose="02020603050405020304" pitchFamily="18" charset="0"/>
                <a:cs typeface="Times New Roman" panose="02020603050405020304" pitchFamily="18" charset="0"/>
              </a:rPr>
              <a:t> vi </a:t>
            </a:r>
            <a:r>
              <a:rPr lang="en-US" sz="2800" dirty="0" err="1">
                <a:latin typeface="Times New Roman" panose="02020603050405020304" pitchFamily="18" charset="0"/>
                <a:cs typeface="Times New Roman" panose="02020603050405020304" pitchFamily="18" charset="0"/>
              </a:rPr>
              <a:t>thu</a:t>
            </a:r>
            <a:r>
              <a:rPr lang="en-US" sz="2800" dirty="0">
                <a:latin typeface="Times New Roman" panose="02020603050405020304" pitchFamily="18" charset="0"/>
                <a:cs typeface="Times New Roman" panose="02020603050405020304" pitchFamily="18" charset="0"/>
              </a:rPr>
              <a:t>, chi NS </a:t>
            </a:r>
            <a:r>
              <a:rPr lang="en-US" sz="2800" dirty="0" err="1">
                <a:latin typeface="Times New Roman" panose="02020603050405020304" pitchFamily="18" charset="0"/>
                <a:cs typeface="Times New Roman" panose="02020603050405020304" pitchFamily="18" charset="0"/>
              </a:rPr>
              <a:t>xã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điểm</a:t>
            </a:r>
            <a:r>
              <a:rPr lang="en-US" sz="2800" dirty="0">
                <a:latin typeface="Times New Roman" panose="02020603050405020304" pitchFamily="18" charset="0"/>
                <a:cs typeface="Times New Roman" panose="02020603050405020304" pitchFamily="18" charset="0"/>
              </a:rPr>
              <a:t> NS </a:t>
            </a:r>
            <a:r>
              <a:rPr lang="en-US" sz="2800" dirty="0" err="1">
                <a:latin typeface="Times New Roman" panose="02020603050405020304" pitchFamily="18" charset="0"/>
                <a:cs typeface="Times New Roman" panose="02020603050405020304" pitchFamily="18" charset="0"/>
              </a:rPr>
              <a:t>xã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niệm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nguyên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tắc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lý</a:t>
            </a:r>
            <a:r>
              <a:rPr lang="en-US" sz="2800" dirty="0">
                <a:latin typeface="Times New Roman" panose="02020603050405020304" pitchFamily="18" charset="0"/>
                <a:cs typeface="Times New Roman" panose="02020603050405020304" pitchFamily="18" charset="0"/>
              </a:rPr>
              <a:t> NS </a:t>
            </a:r>
            <a:r>
              <a:rPr lang="en-US" sz="2800" dirty="0" err="1">
                <a:latin typeface="Times New Roman" panose="02020603050405020304" pitchFamily="18" charset="0"/>
                <a:cs typeface="Times New Roman" panose="02020603050405020304" pitchFamily="18" charset="0"/>
              </a:rPr>
              <a:t>xã</a:t>
            </a:r>
            <a:r>
              <a:rPr lang="en-US" sz="2800" dirty="0">
                <a:latin typeface="Times New Roman" panose="02020603050405020304" pitchFamily="18" charset="0"/>
                <a:cs typeface="Times New Roman" panose="02020603050405020304" pitchFamily="18" charset="0"/>
              </a:rPr>
              <a:t>, chu </a:t>
            </a:r>
            <a:r>
              <a:rPr lang="en-US" sz="2800" dirty="0" err="1">
                <a:latin typeface="Times New Roman" panose="02020603050405020304" pitchFamily="18" charset="0"/>
                <a:cs typeface="Times New Roman" panose="02020603050405020304" pitchFamily="18" charset="0"/>
              </a:rPr>
              <a:t>trình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lý</a:t>
            </a:r>
            <a:r>
              <a:rPr lang="en-US" sz="2800" dirty="0">
                <a:latin typeface="Times New Roman" panose="02020603050405020304" pitchFamily="18" charset="0"/>
                <a:cs typeface="Times New Roman" panose="02020603050405020304" pitchFamily="18" charset="0"/>
              </a:rPr>
              <a:t> NS </a:t>
            </a:r>
            <a:r>
              <a:rPr lang="en-US" sz="2800" dirty="0" err="1">
                <a:latin typeface="Times New Roman" panose="02020603050405020304" pitchFamily="18" charset="0"/>
                <a:cs typeface="Times New Roman" panose="02020603050405020304" pitchFamily="18" charset="0"/>
              </a:rPr>
              <a:t>xã</a:t>
            </a:r>
            <a:r>
              <a:rPr lang="en-US" sz="2800"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800" b="1" dirty="0" err="1">
                <a:latin typeface="Times New Roman" panose="02020603050405020304" pitchFamily="18" charset="0"/>
                <a:cs typeface="Times New Roman" panose="02020603050405020304" pitchFamily="18" charset="0"/>
              </a:rPr>
              <a:t>Về</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kỹ</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năng</a:t>
            </a:r>
            <a:r>
              <a:rPr lang="en-US" sz="2800" b="1"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800" dirty="0" err="1">
                <a:latin typeface="Times New Roman" panose="02020603050405020304" pitchFamily="18" charset="0"/>
                <a:cs typeface="Times New Roman" panose="02020603050405020304" pitchFamily="18" charset="0"/>
              </a:rPr>
              <a:t>Phân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số</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liệu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đến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lý</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sách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xã</a:t>
            </a:r>
            <a:r>
              <a:rPr lang="en-US" sz="2800"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800" b="1" dirty="0" err="1">
                <a:latin typeface="Times New Roman" panose="02020603050405020304" pitchFamily="18" charset="0"/>
                <a:cs typeface="Times New Roman" panose="02020603050405020304" pitchFamily="18" charset="0"/>
              </a:rPr>
              <a:t>Về</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thái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độ</a:t>
            </a:r>
            <a:r>
              <a:rPr lang="en-US" sz="2800" b="1"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trách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nhiệm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hội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tinh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thần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tuân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thủ</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pháp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luật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chấp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hành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nội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chế</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đơn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về</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lý</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tài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công</a:t>
            </a:r>
            <a:r>
              <a:rPr lang="en-US" sz="2800" dirty="0">
                <a:latin typeface="Times New Roman" panose="02020603050405020304" pitchFamily="18" charset="0"/>
                <a:cs typeface="Times New Roman" panose="02020603050405020304" pitchFamily="18" charset="0"/>
              </a:rPr>
              <a:t>.</a:t>
            </a:r>
          </a:p>
          <a:p>
            <a:pPr lvl="1" algn="just">
              <a:lnSpc>
                <a:spcPct val="150000"/>
              </a:lnSpc>
              <a:buFontTx/>
              <a:buChar char="-"/>
            </a:pPr>
            <a:endParaRPr lang="en-US" sz="2800" dirty="0">
              <a:latin typeface="Times New Roman" panose="02020603050405020304" pitchFamily="18" charset="0"/>
              <a:cs typeface="Times New Roman" panose="02020603050405020304" pitchFamily="18" charset="0"/>
            </a:endParaRPr>
          </a:p>
          <a:p>
            <a:pPr marL="0" indent="0">
              <a:lnSpc>
                <a:spcPct val="150000"/>
              </a:lnSpc>
              <a:buNone/>
            </a:pPr>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457200" lvl="1" indent="0" algn="just">
              <a:lnSpc>
                <a:spcPct val="150000"/>
              </a:lnSpc>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5237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2E16C-D5D3-156A-8580-CDA4F749E7E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C026659-57A0-BC57-85EA-D6327FD99FB4}"/>
              </a:ext>
            </a:extLst>
          </p:cNvPr>
          <p:cNvSpPr/>
          <p:nvPr/>
        </p:nvSpPr>
        <p:spPr>
          <a:xfrm>
            <a:off x="0" y="0"/>
            <a:ext cx="12216580" cy="6858000"/>
          </a:xfrm>
          <a:prstGeom prst="rect">
            <a:avLst/>
          </a:prstGeom>
          <a:solidFill>
            <a:srgbClr val="F8F8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7B9C133-8170-9151-0A09-D63720DCBC67}"/>
              </a:ext>
            </a:extLst>
          </p:cNvPr>
          <p:cNvSpPr/>
          <p:nvPr/>
        </p:nvSpPr>
        <p:spPr>
          <a:xfrm>
            <a:off x="0" y="0"/>
            <a:ext cx="12192000" cy="887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174D3B-8D6B-37D4-FE63-5AAA68D7FC03}"/>
              </a:ext>
            </a:extLst>
          </p:cNvPr>
          <p:cNvSpPr>
            <a:spLocks noGrp="1"/>
          </p:cNvSpPr>
          <p:nvPr>
            <p:ph type="title"/>
          </p:nvPr>
        </p:nvSpPr>
        <p:spPr>
          <a:xfrm>
            <a:off x="838200" y="0"/>
            <a:ext cx="10515600" cy="887509"/>
          </a:xfrm>
        </p:spPr>
        <p:txBody>
          <a:bodyPr/>
          <a:lstStyle/>
          <a:p>
            <a:pPr algn="ctr"/>
            <a:r>
              <a:rPr lang="en-US" b="1" dirty="0">
                <a:solidFill>
                  <a:schemeClr val="bg1"/>
                </a:solidFill>
                <a:latin typeface="Times New Roman" pitchFamily="18" charset="0"/>
                <a:cs typeface="Times New Roman" pitchFamily="18" charset="0"/>
              </a:rPr>
              <a:t>TÀI LIỆU HỌC TẬP</a:t>
            </a:r>
            <a:endParaRPr lang="en-US" dirty="0">
              <a:solidFill>
                <a:schemeClr val="bg1"/>
              </a:solidFill>
            </a:endParaRPr>
          </a:p>
        </p:txBody>
      </p:sp>
      <p:sp>
        <p:nvSpPr>
          <p:cNvPr id="3" name="Content Placeholder 2">
            <a:extLst>
              <a:ext uri="{FF2B5EF4-FFF2-40B4-BE49-F238E27FC236}">
                <a16:creationId xmlns:a16="http://schemas.microsoft.com/office/drawing/2014/main" id="{724075A8-DF1C-A1EB-93AE-7FC5F53F52CB}"/>
              </a:ext>
            </a:extLst>
          </p:cNvPr>
          <p:cNvSpPr>
            <a:spLocks noGrp="1"/>
          </p:cNvSpPr>
          <p:nvPr>
            <p:ph idx="1"/>
          </p:nvPr>
        </p:nvSpPr>
        <p:spPr>
          <a:xfrm>
            <a:off x="331076" y="1100757"/>
            <a:ext cx="11541376" cy="4574769"/>
          </a:xfrm>
        </p:spPr>
        <p:txBody>
          <a:bodyPr>
            <a:normAutofit fontScale="92500" lnSpcReduction="10000"/>
          </a:bodyPr>
          <a:lstStyle/>
          <a:p>
            <a:pPr marL="457200" lvl="1" indent="0" algn="just">
              <a:lnSpc>
                <a:spcPct val="150000"/>
              </a:lnSpc>
              <a:buNone/>
            </a:pPr>
            <a:r>
              <a:rPr lang="vi-VN" sz="2600" b="1" dirty="0">
                <a:latin typeface="Times New Roman" panose="02020603050405020304" pitchFamily="18" charset="0"/>
                <a:cs typeface="Times New Roman" panose="02020603050405020304" pitchFamily="18" charset="0"/>
              </a:rPr>
              <a:t>Tài liệu/giáo trình:</a:t>
            </a:r>
          </a:p>
          <a:p>
            <a:pPr marL="457200" lvl="1" indent="0" algn="just">
              <a:lnSpc>
                <a:spcPct val="150000"/>
              </a:lnSpc>
              <a:buNone/>
            </a:pPr>
            <a:r>
              <a:rPr lang="vi-VN" sz="2600" dirty="0">
                <a:latin typeface="Times New Roman" panose="02020603050405020304" pitchFamily="18" charset="0"/>
                <a:cs typeface="Times New Roman" panose="02020603050405020304" pitchFamily="18" charset="0"/>
              </a:rPr>
              <a:t>[1]. </a:t>
            </a:r>
            <a:r>
              <a:rPr lang="en-US" sz="2600" dirty="0">
                <a:latin typeface="Times New Roman" panose="02020603050405020304" pitchFamily="18" charset="0"/>
                <a:cs typeface="Times New Roman" panose="02020603050405020304" pitchFamily="18" charset="0"/>
              </a:rPr>
              <a:t>TS. Bùi Tiến Hanh, TS. Phạm Thị Hoàng Phương (2016), </a:t>
            </a:r>
            <a:r>
              <a:rPr lang="en-US" sz="2600" dirty="0" err="1">
                <a:latin typeface="Times New Roman" panose="02020603050405020304" pitchFamily="18" charset="0"/>
                <a:cs typeface="Times New Roman" panose="02020603050405020304" pitchFamily="18" charset="0"/>
              </a:rPr>
              <a:t>Giáo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trình</a:t>
            </a:r>
            <a:r>
              <a:rPr lang="en-US" sz="2600" dirty="0">
                <a:latin typeface="Times New Roman" panose="02020603050405020304" pitchFamily="18" charset="0"/>
                <a:cs typeface="Times New Roman" panose="02020603050405020304" pitchFamily="18" charset="0"/>
              </a:rPr>
              <a:t> Quản </a:t>
            </a:r>
            <a:r>
              <a:rPr lang="en-US" sz="2600" dirty="0" err="1">
                <a:latin typeface="Times New Roman" panose="02020603050405020304" pitchFamily="18" charset="0"/>
                <a:cs typeface="Times New Roman" panose="02020603050405020304" pitchFamily="18" charset="0"/>
              </a:rPr>
              <a:t>lý</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tài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công</a:t>
            </a:r>
            <a:r>
              <a:rPr lang="en-US" sz="2600" dirty="0">
                <a:latin typeface="Times New Roman" panose="02020603050405020304" pitchFamily="18" charset="0"/>
                <a:cs typeface="Times New Roman" panose="02020603050405020304" pitchFamily="18" charset="0"/>
              </a:rPr>
              <a:t>, NXB Tài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rPr>
              <a:t>[2] PGS.TS. Dương </a:t>
            </a:r>
            <a:r>
              <a:rPr lang="en-US" sz="2600" dirty="0" err="1">
                <a:latin typeface="Times New Roman" panose="02020603050405020304" pitchFamily="18" charset="0"/>
                <a:cs typeface="Times New Roman" panose="02020603050405020304" pitchFamily="18" charset="0"/>
              </a:rPr>
              <a:t>Đăng</a:t>
            </a:r>
            <a:r>
              <a:rPr lang="en-US" sz="2600" dirty="0">
                <a:latin typeface="Times New Roman" panose="02020603050405020304" pitchFamily="18" charset="0"/>
                <a:cs typeface="Times New Roman" panose="02020603050405020304" pitchFamily="18" charset="0"/>
              </a:rPr>
              <a:t> Chinh, TS. Phạm Văn </a:t>
            </a:r>
            <a:r>
              <a:rPr lang="en-US" sz="2600" dirty="0" err="1">
                <a:latin typeface="Times New Roman" panose="02020603050405020304" pitchFamily="18" charset="0"/>
                <a:cs typeface="Times New Roman" panose="02020603050405020304" pitchFamily="18" charset="0"/>
              </a:rPr>
              <a:t>Khoan</a:t>
            </a:r>
            <a:r>
              <a:rPr lang="en-US" sz="2600" dirty="0">
                <a:latin typeface="Times New Roman" panose="02020603050405020304" pitchFamily="18" charset="0"/>
                <a:cs typeface="Times New Roman" panose="02020603050405020304" pitchFamily="18" charset="0"/>
              </a:rPr>
              <a:t> (2009), </a:t>
            </a:r>
            <a:r>
              <a:rPr lang="en-US" sz="2600" dirty="0" err="1">
                <a:latin typeface="Times New Roman" panose="02020603050405020304" pitchFamily="18" charset="0"/>
                <a:cs typeface="Times New Roman" panose="02020603050405020304" pitchFamily="18" charset="0"/>
              </a:rPr>
              <a:t>Giáo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trình</a:t>
            </a:r>
            <a:r>
              <a:rPr lang="en-US" sz="2600" dirty="0">
                <a:latin typeface="Times New Roman" panose="02020603050405020304" pitchFamily="18" charset="0"/>
                <a:cs typeface="Times New Roman" panose="02020603050405020304" pitchFamily="18" charset="0"/>
              </a:rPr>
              <a:t> Quản </a:t>
            </a:r>
            <a:r>
              <a:rPr lang="en-US" sz="2600" dirty="0" err="1">
                <a:latin typeface="Times New Roman" panose="02020603050405020304" pitchFamily="18" charset="0"/>
                <a:cs typeface="Times New Roman" panose="02020603050405020304" pitchFamily="18" charset="0"/>
              </a:rPr>
              <a:t>lý</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tài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công</a:t>
            </a:r>
            <a:r>
              <a:rPr lang="en-US" sz="2600" dirty="0">
                <a:latin typeface="Times New Roman" panose="02020603050405020304" pitchFamily="18" charset="0"/>
                <a:cs typeface="Times New Roman" panose="02020603050405020304" pitchFamily="18" charset="0"/>
              </a:rPr>
              <a:t>, NXB Tài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a:t>
            </a:r>
            <a:endParaRPr lang="vi-VN" sz="2600"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vi-VN" sz="2600"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3</a:t>
            </a:r>
            <a:r>
              <a:rPr lang="vi-VN" sz="2600" dirty="0">
                <a:latin typeface="Times New Roman" panose="02020603050405020304" pitchFamily="18" charset="0"/>
                <a:cs typeface="Times New Roman" panose="02020603050405020304" pitchFamily="18" charset="0"/>
              </a:rPr>
              <a:t>]. PGS. TS Trần Văn Giao (2019), Giáo trình Quản lý tài chính công, Nhà xuất bản Bách Khoa</a:t>
            </a:r>
            <a:endParaRPr lang="en-US" sz="2600" dirty="0">
              <a:latin typeface="Times New Roman" panose="02020603050405020304" pitchFamily="18" charset="0"/>
              <a:cs typeface="Times New Roman" panose="02020603050405020304" pitchFamily="18" charset="0"/>
            </a:endParaRPr>
          </a:p>
          <a:p>
            <a:pPr marL="457200" lvl="1" indent="0" algn="ctr">
              <a:lnSpc>
                <a:spcPct val="150000"/>
              </a:lnSpc>
              <a:buNone/>
            </a:pPr>
            <a:r>
              <a:rPr lang="en-US" sz="2600" dirty="0">
                <a:solidFill>
                  <a:srgbClr val="FF0000"/>
                </a:solidFill>
                <a:latin typeface="Times New Roman" panose="02020603050405020304" pitchFamily="18" charset="0"/>
                <a:cs typeface="Times New Roman" panose="02020603050405020304" pitchFamily="18" charset="0"/>
              </a:rPr>
              <a:t>(</a:t>
            </a:r>
            <a:r>
              <a:rPr lang="en-US" sz="2600" dirty="0" err="1">
                <a:solidFill>
                  <a:srgbClr val="FF0000"/>
                </a:solidFill>
                <a:latin typeface="Times New Roman" panose="02020603050405020304" pitchFamily="18" charset="0"/>
                <a:cs typeface="Times New Roman" panose="02020603050405020304" pitchFamily="18" charset="0"/>
              </a:rPr>
              <a:t>Một</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số</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nội</a:t>
            </a:r>
            <a:r>
              <a:rPr lang="en-US" sz="2600" dirty="0">
                <a:solidFill>
                  <a:srgbClr val="FF0000"/>
                </a:solidFill>
                <a:latin typeface="Times New Roman" panose="02020603050405020304" pitchFamily="18" charset="0"/>
                <a:cs typeface="Times New Roman" panose="02020603050405020304" pitchFamily="18" charset="0"/>
              </a:rPr>
              <a:t> dung </a:t>
            </a:r>
            <a:r>
              <a:rPr lang="en-US" sz="2600" dirty="0" err="1">
                <a:solidFill>
                  <a:srgbClr val="FF0000"/>
                </a:solidFill>
                <a:latin typeface="Times New Roman" panose="02020603050405020304" pitchFamily="18" charset="0"/>
                <a:cs typeface="Times New Roman" panose="02020603050405020304" pitchFamily="18" charset="0"/>
              </a:rPr>
              <a:t>trong</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các</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tài</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liệu</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có</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giá</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trị</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tham</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khảo</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mang</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tính</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lịch</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sử</a:t>
            </a:r>
            <a:r>
              <a:rPr lang="en-US" sz="2600" dirty="0">
                <a:solidFill>
                  <a:srgbClr val="FF0000"/>
                </a:solidFill>
                <a:latin typeface="Times New Roman" panose="02020603050405020304" pitchFamily="18" charset="0"/>
                <a:cs typeface="Times New Roman" panose="02020603050405020304" pitchFamily="18" charset="0"/>
              </a:rPr>
              <a:t>)</a:t>
            </a:r>
            <a:endParaRPr lang="vi-VN" sz="2600" dirty="0">
              <a:solidFill>
                <a:srgbClr val="FF0000"/>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6263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898DD-D4E3-623A-0315-DE29B79B1D6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76A7322-D690-AE0E-CA24-E56D6D23A503}"/>
              </a:ext>
            </a:extLst>
          </p:cNvPr>
          <p:cNvSpPr/>
          <p:nvPr/>
        </p:nvSpPr>
        <p:spPr>
          <a:xfrm>
            <a:off x="-24580" y="0"/>
            <a:ext cx="12216580" cy="6858000"/>
          </a:xfrm>
          <a:prstGeom prst="rect">
            <a:avLst/>
          </a:prstGeom>
          <a:solidFill>
            <a:srgbClr val="F8F8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2610C75-C5FF-867D-0512-265FA44FF3C1}"/>
              </a:ext>
            </a:extLst>
          </p:cNvPr>
          <p:cNvSpPr/>
          <p:nvPr/>
        </p:nvSpPr>
        <p:spPr>
          <a:xfrm>
            <a:off x="0" y="0"/>
            <a:ext cx="12192000" cy="887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1A2CB1D-348C-9889-3AD9-8FF234194B46}"/>
              </a:ext>
            </a:extLst>
          </p:cNvPr>
          <p:cNvSpPr>
            <a:spLocks noGrp="1"/>
          </p:cNvSpPr>
          <p:nvPr>
            <p:ph idx="1"/>
          </p:nvPr>
        </p:nvSpPr>
        <p:spPr>
          <a:xfrm>
            <a:off x="0" y="934110"/>
            <a:ext cx="12192000" cy="5923890"/>
          </a:xfrm>
        </p:spPr>
        <p:txBody>
          <a:bodyPr>
            <a:noAutofit/>
          </a:bodyPr>
          <a:lstStyle/>
          <a:p>
            <a:pPr marL="457200" lvl="1" indent="0" algn="just">
              <a:lnSpc>
                <a:spcPct val="150000"/>
              </a:lnSpc>
              <a:buNone/>
            </a:pPr>
            <a:r>
              <a:rPr lang="en-US" sz="2800" b="1" dirty="0">
                <a:latin typeface="Times New Roman" panose="02020603050405020304" pitchFamily="18" charset="0"/>
                <a:cs typeface="Times New Roman" panose="02020603050405020304" pitchFamily="18" charset="0"/>
              </a:rPr>
              <a:t>Văn </a:t>
            </a:r>
            <a:r>
              <a:rPr lang="en-US" sz="2800" b="1" dirty="0" err="1">
                <a:latin typeface="Times New Roman" panose="02020603050405020304" pitchFamily="18" charset="0"/>
                <a:cs typeface="Times New Roman" panose="02020603050405020304" pitchFamily="18" charset="0"/>
              </a:rPr>
              <a:t>bản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quy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phạm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pháp</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luật</a:t>
            </a:r>
            <a:r>
              <a:rPr lang="vi-VN" sz="2800" b="1" dirty="0">
                <a:latin typeface="Times New Roman" panose="02020603050405020304" pitchFamily="18" charset="0"/>
                <a:cs typeface="Times New Roman" panose="02020603050405020304" pitchFamily="18" charset="0"/>
              </a:rPr>
              <a:t>:</a:t>
            </a:r>
          </a:p>
          <a:p>
            <a:pPr marL="457200" lvl="1" indent="0" algn="just">
              <a:lnSpc>
                <a:spcPct val="150000"/>
              </a:lnSpc>
              <a:buNone/>
            </a:pPr>
            <a:r>
              <a:rPr lang="vi-VN" sz="28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4</a:t>
            </a:r>
            <a:r>
              <a:rPr lang="vi-VN"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NSNN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83/2015/QH13 </a:t>
            </a:r>
            <a:r>
              <a:rPr lang="en-US" dirty="0" err="1">
                <a:latin typeface="Times New Roman" panose="02020603050405020304" pitchFamily="18" charset="0"/>
                <a:cs typeface="Times New Roman" panose="02020603050405020304" pitchFamily="18" charset="0"/>
              </a:rPr>
              <a:t>ngày</a:t>
            </a:r>
            <a:r>
              <a:rPr lang="en-US" dirty="0">
                <a:latin typeface="Times New Roman" panose="02020603050405020304" pitchFamily="18" charset="0"/>
                <a:cs typeface="Times New Roman" panose="02020603050405020304" pitchFamily="18" charset="0"/>
              </a:rPr>
              <a:t> 25/6/2015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Quốc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bổ</a:t>
            </a:r>
            <a:r>
              <a:rPr lang="en-US" dirty="0">
                <a:latin typeface="Times New Roman" panose="02020603050405020304" pitchFamily="18" charset="0"/>
                <a:cs typeface="Times New Roman" panose="02020603050405020304" pitchFamily="18" charset="0"/>
              </a:rPr>
              <a:t> sung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Doanh </a:t>
            </a:r>
            <a:r>
              <a:rPr lang="en-US" dirty="0" err="1">
                <a:latin typeface="Times New Roman" panose="02020603050405020304" pitchFamily="18" charset="0"/>
                <a:cs typeface="Times New Roman" panose="02020603050405020304" pitchFamily="18" charset="0"/>
              </a:rPr>
              <a:t>nghiệp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59/2020/QH14 </a:t>
            </a:r>
            <a:r>
              <a:rPr lang="en-US" dirty="0" err="1">
                <a:latin typeface="Times New Roman" panose="02020603050405020304" pitchFamily="18" charset="0"/>
                <a:cs typeface="Times New Roman" panose="02020603050405020304" pitchFamily="18" charset="0"/>
              </a:rPr>
              <a:t>ngày</a:t>
            </a:r>
            <a:r>
              <a:rPr lang="en-US" dirty="0">
                <a:latin typeface="Times New Roman" panose="02020603050405020304" pitchFamily="18" charset="0"/>
                <a:cs typeface="Times New Roman" panose="02020603050405020304" pitchFamily="18" charset="0"/>
              </a:rPr>
              <a:t> 17/6/2020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Quốc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56/2024/QH15 </a:t>
            </a:r>
            <a:r>
              <a:rPr lang="en-US" dirty="0" err="1">
                <a:latin typeface="Times New Roman" panose="02020603050405020304" pitchFamily="18" charset="0"/>
                <a:cs typeface="Times New Roman" panose="02020603050405020304" pitchFamily="18" charset="0"/>
              </a:rPr>
              <a:t>ngày</a:t>
            </a:r>
            <a:r>
              <a:rPr lang="en-US" dirty="0">
                <a:latin typeface="Times New Roman" panose="02020603050405020304" pitchFamily="18" charset="0"/>
                <a:cs typeface="Times New Roman" panose="02020603050405020304" pitchFamily="18" charset="0"/>
              </a:rPr>
              <a:t> 29/11/2024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Quốc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a:t>
            </a:r>
            <a:r>
              <a:rPr lang="en-US" dirty="0" err="1">
                <a:solidFill>
                  <a:srgbClr val="FF0000"/>
                </a:solidFill>
                <a:latin typeface="Times New Roman" panose="02020603050405020304" pitchFamily="18" charset="0"/>
                <a:cs typeface="Times New Roman" panose="02020603050405020304" pitchFamily="18" charset="0"/>
              </a:rPr>
              <a:t>hết</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hiệu</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lực</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từ</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năm</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ngân</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sách</a:t>
            </a:r>
            <a:r>
              <a:rPr lang="en-US" dirty="0">
                <a:solidFill>
                  <a:srgbClr val="FF0000"/>
                </a:solidFill>
                <a:latin typeface="Times New Roman" panose="02020603050405020304" pitchFamily="18" charset="0"/>
                <a:cs typeface="Times New Roman" panose="02020603050405020304" pitchFamily="18" charset="0"/>
              </a:rPr>
              <a:t> 2026).</a:t>
            </a:r>
            <a:endParaRPr lang="en-US"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en-US" dirty="0">
                <a:latin typeface="Times New Roman" panose="02020603050405020304" pitchFamily="18" charset="0"/>
                <a:cs typeface="Times New Roman" panose="02020603050405020304" pitchFamily="18" charset="0"/>
              </a:rPr>
              <a:t>[5]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NSNN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89/2025/QH15 </a:t>
            </a:r>
            <a:r>
              <a:rPr lang="en-US" dirty="0" err="1">
                <a:latin typeface="Times New Roman" panose="02020603050405020304" pitchFamily="18" charset="0"/>
                <a:cs typeface="Times New Roman" panose="02020603050405020304" pitchFamily="18" charset="0"/>
              </a:rPr>
              <a:t>ngày</a:t>
            </a:r>
            <a:r>
              <a:rPr lang="en-US" dirty="0">
                <a:latin typeface="Times New Roman" panose="02020603050405020304" pitchFamily="18" charset="0"/>
                <a:cs typeface="Times New Roman" panose="02020603050405020304" pitchFamily="18" charset="0"/>
              </a:rPr>
              <a:t> 25/6/2025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Quốc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a:t>
            </a:r>
            <a:r>
              <a:rPr lang="en-US" dirty="0" err="1">
                <a:solidFill>
                  <a:srgbClr val="FF0000"/>
                </a:solidFill>
                <a:latin typeface="Times New Roman" panose="02020603050405020304" pitchFamily="18" charset="0"/>
                <a:cs typeface="Times New Roman" panose="02020603050405020304" pitchFamily="18" charset="0"/>
              </a:rPr>
              <a:t>có</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hiệu</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lực</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từ</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năm</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ngân</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sách</a:t>
            </a:r>
            <a:r>
              <a:rPr lang="en-US" dirty="0">
                <a:solidFill>
                  <a:srgbClr val="FF0000"/>
                </a:solidFill>
                <a:latin typeface="Times New Roman" panose="02020603050405020304" pitchFamily="18" charset="0"/>
                <a:cs typeface="Times New Roman" panose="02020603050405020304" pitchFamily="18" charset="0"/>
              </a:rPr>
              <a:t> 2026).</a:t>
            </a:r>
          </a:p>
          <a:p>
            <a:pPr marL="457200" lvl="1" indent="0" algn="just">
              <a:lnSpc>
                <a:spcPct val="150000"/>
              </a:lnSpc>
              <a:buNone/>
            </a:pPr>
            <a:r>
              <a:rPr lang="en-US" dirty="0">
                <a:latin typeface="Times New Roman" panose="02020603050405020304" pitchFamily="18" charset="0"/>
                <a:cs typeface="Times New Roman" panose="02020603050405020304" pitchFamily="18" charset="0"/>
              </a:rPr>
              <a:t>[6]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58/2024/QH15 </a:t>
            </a:r>
            <a:r>
              <a:rPr lang="en-US" dirty="0" err="1">
                <a:latin typeface="Times New Roman" panose="02020603050405020304" pitchFamily="18" charset="0"/>
                <a:cs typeface="Times New Roman" panose="02020603050405020304" pitchFamily="18" charset="0"/>
              </a:rPr>
              <a:t>ngày</a:t>
            </a:r>
            <a:r>
              <a:rPr lang="en-US" dirty="0">
                <a:latin typeface="Times New Roman" panose="02020603050405020304" pitchFamily="18" charset="0"/>
                <a:cs typeface="Times New Roman" panose="02020603050405020304" pitchFamily="18" charset="0"/>
              </a:rPr>
              <a:t> 29/11/2024,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bổ</a:t>
            </a:r>
            <a:r>
              <a:rPr lang="en-US" dirty="0">
                <a:latin typeface="Times New Roman" panose="02020603050405020304" pitchFamily="18" charset="0"/>
                <a:cs typeface="Times New Roman" panose="02020603050405020304" pitchFamily="18" charset="0"/>
              </a:rPr>
              <a:t> sung </a:t>
            </a:r>
            <a:r>
              <a:rPr lang="en-US" dirty="0" err="1">
                <a:latin typeface="Times New Roman" panose="02020603050405020304" pitchFamily="18" charset="0"/>
                <a:cs typeface="Times New Roman" panose="02020603050405020304" pitchFamily="18" charset="0"/>
              </a:rPr>
              <a:t>bởi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90/2025/QH15.</a:t>
            </a:r>
          </a:p>
          <a:p>
            <a:endParaRPr lang="en-US"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9DC0775A-A033-B2E6-8B99-89D4FBB40E92}"/>
              </a:ext>
            </a:extLst>
          </p:cNvPr>
          <p:cNvSpPr>
            <a:spLocks noGrp="1"/>
          </p:cNvSpPr>
          <p:nvPr>
            <p:ph type="title"/>
          </p:nvPr>
        </p:nvSpPr>
        <p:spPr>
          <a:xfrm>
            <a:off x="838200" y="0"/>
            <a:ext cx="10515600" cy="887509"/>
          </a:xfrm>
        </p:spPr>
        <p:txBody>
          <a:bodyPr/>
          <a:lstStyle/>
          <a:p>
            <a:pPr algn="ctr"/>
            <a:r>
              <a:rPr lang="en-US" b="1" dirty="0">
                <a:solidFill>
                  <a:schemeClr val="bg1"/>
                </a:solidFill>
                <a:latin typeface="Times New Roman" pitchFamily="18" charset="0"/>
                <a:cs typeface="Times New Roman" pitchFamily="18" charset="0"/>
              </a:rPr>
              <a:t>TÀI LIỆU HỌC TẬP</a:t>
            </a:r>
            <a:endParaRPr lang="en-US" dirty="0">
              <a:solidFill>
                <a:schemeClr val="bg1"/>
              </a:solidFill>
            </a:endParaRPr>
          </a:p>
        </p:txBody>
      </p:sp>
    </p:spTree>
    <p:extLst>
      <p:ext uri="{BB962C8B-B14F-4D97-AF65-F5344CB8AC3E}">
        <p14:creationId xmlns:p14="http://schemas.microsoft.com/office/powerpoint/2010/main" val="3919087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C7703-03FA-CC1F-B5BF-B109F33A7F9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1722E9B-0CE9-7C4C-9120-2CF7B40F5A1F}"/>
              </a:ext>
            </a:extLst>
          </p:cNvPr>
          <p:cNvSpPr/>
          <p:nvPr/>
        </p:nvSpPr>
        <p:spPr>
          <a:xfrm>
            <a:off x="0" y="0"/>
            <a:ext cx="12216580" cy="6858000"/>
          </a:xfrm>
          <a:prstGeom prst="rect">
            <a:avLst/>
          </a:prstGeom>
          <a:solidFill>
            <a:srgbClr val="F8F8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01CAB3D-9B61-9E2F-5E28-3856F5B54284}"/>
              </a:ext>
            </a:extLst>
          </p:cNvPr>
          <p:cNvSpPr>
            <a:spLocks noGrp="1"/>
          </p:cNvSpPr>
          <p:nvPr>
            <p:ph idx="1"/>
          </p:nvPr>
        </p:nvSpPr>
        <p:spPr>
          <a:xfrm>
            <a:off x="0" y="887508"/>
            <a:ext cx="12192000" cy="5970491"/>
          </a:xfrm>
        </p:spPr>
        <p:txBody>
          <a:bodyPr>
            <a:normAutofit fontScale="85000" lnSpcReduction="20000"/>
          </a:bodyPr>
          <a:lstStyle/>
          <a:p>
            <a:pPr marL="457200" lvl="1" indent="0" algn="just">
              <a:lnSpc>
                <a:spcPct val="150000"/>
              </a:lnSpc>
              <a:buNone/>
            </a:pPr>
            <a:r>
              <a:rPr lang="en-US" sz="2600" b="1" dirty="0">
                <a:latin typeface="Times New Roman" panose="02020603050405020304" pitchFamily="18" charset="0"/>
                <a:cs typeface="Times New Roman" panose="02020603050405020304" pitchFamily="18" charset="0"/>
              </a:rPr>
              <a:t>Văn </a:t>
            </a:r>
            <a:r>
              <a:rPr lang="en-US" sz="2600" b="1" dirty="0" err="1">
                <a:latin typeface="Times New Roman" panose="02020603050405020304" pitchFamily="18" charset="0"/>
                <a:cs typeface="Times New Roman" panose="02020603050405020304" pitchFamily="18" charset="0"/>
              </a:rPr>
              <a:t>bản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quy</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phạm</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pháp</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luật</a:t>
            </a:r>
            <a:r>
              <a:rPr lang="vi-VN" sz="2600" b="1" dirty="0">
                <a:latin typeface="Times New Roman" panose="02020603050405020304" pitchFamily="18" charset="0"/>
                <a:cs typeface="Times New Roman" panose="02020603050405020304" pitchFamily="18" charset="0"/>
              </a:rPr>
              <a:t>:</a:t>
            </a:r>
            <a:endParaRPr lang="en-US" sz="2600" b="1"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vi-VN" sz="2600"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7</a:t>
            </a:r>
            <a:r>
              <a:rPr lang="vi-VN"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Nghị</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73/2026/NĐ-CP </a:t>
            </a:r>
            <a:r>
              <a:rPr lang="en-US" sz="2600" dirty="0" err="1">
                <a:latin typeface="Times New Roman" panose="02020603050405020304" pitchFamily="18" charset="0"/>
                <a:cs typeface="Times New Roman" panose="02020603050405020304" pitchFamily="18" charset="0"/>
              </a:rPr>
              <a:t>ngày</a:t>
            </a:r>
            <a:r>
              <a:rPr lang="en-US" sz="2600" dirty="0">
                <a:latin typeface="Times New Roman" panose="02020603050405020304" pitchFamily="18" charset="0"/>
                <a:cs typeface="Times New Roman" panose="02020603050405020304" pitchFamily="18" charset="0"/>
              </a:rPr>
              <a:t> 10/3/2026 </a:t>
            </a:r>
            <a:r>
              <a:rPr lang="en-US" sz="2600" dirty="0" err="1">
                <a:latin typeface="Times New Roman" panose="02020603050405020304" pitchFamily="18" charset="0"/>
                <a:cs typeface="Times New Roman" panose="02020603050405020304" pitchFamily="18" charset="0"/>
              </a:rPr>
              <a:t>quy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định</a:t>
            </a:r>
            <a:r>
              <a:rPr lang="en-US" sz="2600" dirty="0">
                <a:latin typeface="Times New Roman" panose="02020603050405020304" pitchFamily="18" charset="0"/>
                <a:cs typeface="Times New Roman" panose="02020603050405020304" pitchFamily="18" charset="0"/>
              </a:rPr>
              <a:t> chi </a:t>
            </a:r>
            <a:r>
              <a:rPr lang="en-US" sz="2600" dirty="0" err="1">
                <a:latin typeface="Times New Roman" panose="02020603050405020304" pitchFamily="18" charset="0"/>
                <a:cs typeface="Times New Roman" panose="02020603050405020304" pitchFamily="18" charset="0"/>
              </a:rPr>
              <a:t>tiết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hướng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dẫn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hành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một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điều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của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Luật</a:t>
            </a:r>
            <a:r>
              <a:rPr lang="en-US" sz="2600" dirty="0">
                <a:latin typeface="Times New Roman" panose="02020603050405020304" pitchFamily="18" charset="0"/>
                <a:cs typeface="Times New Roman" panose="02020603050405020304" pitchFamily="18" charset="0"/>
              </a:rPr>
              <a:t> NSNN;</a:t>
            </a: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rPr>
              <a:t>[8] Thông </a:t>
            </a:r>
            <a:r>
              <a:rPr lang="en-US" sz="2600" dirty="0" err="1">
                <a:latin typeface="Times New Roman" panose="02020603050405020304" pitchFamily="18" charset="0"/>
                <a:cs typeface="Times New Roman" panose="02020603050405020304" pitchFamily="18" charset="0"/>
              </a:rPr>
              <a:t>tư</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26/2026/TT-BTC </a:t>
            </a:r>
            <a:r>
              <a:rPr lang="en-US" sz="2600" dirty="0" err="1">
                <a:latin typeface="Times New Roman" panose="02020603050405020304" pitchFamily="18" charset="0"/>
                <a:cs typeface="Times New Roman" panose="02020603050405020304" pitchFamily="18" charset="0"/>
              </a:rPr>
              <a:t>ngày</a:t>
            </a:r>
            <a:r>
              <a:rPr lang="en-US" sz="2600" dirty="0">
                <a:latin typeface="Times New Roman" panose="02020603050405020304" pitchFamily="18" charset="0"/>
                <a:cs typeface="Times New Roman" panose="02020603050405020304" pitchFamily="18" charset="0"/>
              </a:rPr>
              <a:t> 25/3/2026 </a:t>
            </a:r>
            <a:r>
              <a:rPr lang="en-US" sz="2600" dirty="0" err="1">
                <a:latin typeface="Times New Roman" panose="02020603050405020304" pitchFamily="18" charset="0"/>
                <a:cs typeface="Times New Roman" panose="02020603050405020304" pitchFamily="18" charset="0"/>
              </a:rPr>
              <a:t>quy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định</a:t>
            </a:r>
            <a:r>
              <a:rPr lang="en-US" sz="2600" dirty="0">
                <a:latin typeface="Times New Roman" panose="02020603050405020304" pitchFamily="18" charset="0"/>
                <a:cs typeface="Times New Roman" panose="02020603050405020304" pitchFamily="18" charset="0"/>
              </a:rPr>
              <a:t> chi </a:t>
            </a:r>
            <a:r>
              <a:rPr lang="en-US" sz="2600" dirty="0" err="1">
                <a:latin typeface="Times New Roman" panose="02020603050405020304" pitchFamily="18" charset="0"/>
                <a:cs typeface="Times New Roman" panose="02020603050405020304" pitchFamily="18" charset="0"/>
              </a:rPr>
              <a:t>tiết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hướng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dẫn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hành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một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điều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của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Nghị</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73/2026/NĐ-CP </a:t>
            </a:r>
            <a:r>
              <a:rPr lang="en-US" sz="2600" dirty="0" err="1">
                <a:latin typeface="Times New Roman" panose="02020603050405020304" pitchFamily="18" charset="0"/>
                <a:cs typeface="Times New Roman" panose="02020603050405020304" pitchFamily="18" charset="0"/>
              </a:rPr>
              <a:t>ngày</a:t>
            </a:r>
            <a:r>
              <a:rPr lang="en-US" sz="2600" dirty="0">
                <a:latin typeface="Times New Roman" panose="02020603050405020304" pitchFamily="18" charset="0"/>
                <a:cs typeface="Times New Roman" panose="02020603050405020304" pitchFamily="18" charset="0"/>
              </a:rPr>
              <a:t> 10/3/2026 </a:t>
            </a:r>
            <a:r>
              <a:rPr lang="en-US" sz="2600" dirty="0" err="1">
                <a:latin typeface="Times New Roman" panose="02020603050405020304" pitchFamily="18" charset="0"/>
                <a:cs typeface="Times New Roman" panose="02020603050405020304" pitchFamily="18" charset="0"/>
              </a:rPr>
              <a:t>của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phủ</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định</a:t>
            </a:r>
            <a:r>
              <a:rPr lang="en-US" sz="2600" dirty="0">
                <a:latin typeface="Times New Roman" panose="02020603050405020304" pitchFamily="18" charset="0"/>
                <a:cs typeface="Times New Roman" panose="02020603050405020304" pitchFamily="18" charset="0"/>
              </a:rPr>
              <a:t> chi </a:t>
            </a:r>
            <a:r>
              <a:rPr lang="en-US" sz="2600" dirty="0" err="1">
                <a:latin typeface="Times New Roman" panose="02020603050405020304" pitchFamily="18" charset="0"/>
                <a:cs typeface="Times New Roman" panose="02020603050405020304" pitchFamily="18" charset="0"/>
              </a:rPr>
              <a:t>tiết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hướng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dẫn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hành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một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điều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của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Luật</a:t>
            </a:r>
            <a:r>
              <a:rPr lang="en-US" sz="2600" dirty="0">
                <a:latin typeface="Times New Roman" panose="02020603050405020304" pitchFamily="18" charset="0"/>
                <a:cs typeface="Times New Roman" panose="02020603050405020304" pitchFamily="18" charset="0"/>
              </a:rPr>
              <a:t> NSNN;</a:t>
            </a:r>
          </a:p>
          <a:p>
            <a:pPr marL="457200" lvl="1" indent="0" algn="just">
              <a:lnSpc>
                <a:spcPct val="150000"/>
              </a:lnSpc>
              <a:buNone/>
            </a:pPr>
            <a:r>
              <a:rPr lang="vi-VN" sz="2600"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9</a:t>
            </a:r>
            <a:r>
              <a:rPr lang="vi-V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Thông </a:t>
            </a:r>
            <a:r>
              <a:rPr lang="en-US" sz="2600" dirty="0" err="1">
                <a:latin typeface="Times New Roman" panose="02020603050405020304" pitchFamily="18" charset="0"/>
                <a:cs typeface="Times New Roman" panose="02020603050405020304" pitchFamily="18" charset="0"/>
              </a:rPr>
              <a:t>tư</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344/2016/TT-BTC </a:t>
            </a:r>
            <a:r>
              <a:rPr lang="en-US" sz="2600" dirty="0" err="1">
                <a:latin typeface="Times New Roman" panose="02020603050405020304" pitchFamily="18" charset="0"/>
                <a:cs typeface="Times New Roman" panose="02020603050405020304" pitchFamily="18" charset="0"/>
              </a:rPr>
              <a:t>ngày</a:t>
            </a:r>
            <a:r>
              <a:rPr lang="en-US" sz="2600" dirty="0">
                <a:latin typeface="Times New Roman" panose="02020603050405020304" pitchFamily="18" charset="0"/>
                <a:cs typeface="Times New Roman" panose="02020603050405020304" pitchFamily="18" charset="0"/>
              </a:rPr>
              <a:t> 30/12/2016 </a:t>
            </a:r>
            <a:r>
              <a:rPr lang="en-US" sz="2600" dirty="0" err="1">
                <a:latin typeface="Times New Roman" panose="02020603050405020304" pitchFamily="18" charset="0"/>
                <a:cs typeface="Times New Roman" panose="02020603050405020304" pitchFamily="18" charset="0"/>
              </a:rPr>
              <a:t>quy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quản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lý</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ngân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sách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xã</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các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hoạt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tài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khác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của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xã</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phường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thị</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trấn</a:t>
            </a:r>
            <a:r>
              <a:rPr lang="en-US" sz="2600" dirty="0">
                <a:latin typeface="Times New Roman" panose="02020603050405020304" pitchFamily="18" charset="0"/>
                <a:cs typeface="Times New Roman" panose="02020603050405020304" pitchFamily="18" charset="0"/>
              </a:rPr>
              <a:t> </a:t>
            </a:r>
            <a:r>
              <a:rPr lang="en-US" sz="2600" dirty="0">
                <a:solidFill>
                  <a:srgbClr val="FF0000"/>
                </a:solidFill>
                <a:latin typeface="Times New Roman" panose="02020603050405020304" pitchFamily="18" charset="0"/>
                <a:cs typeface="Times New Roman" panose="02020603050405020304" pitchFamily="18" charset="0"/>
              </a:rPr>
              <a:t>(</a:t>
            </a:r>
            <a:r>
              <a:rPr lang="en-US" sz="2600" dirty="0" err="1">
                <a:solidFill>
                  <a:srgbClr val="FF0000"/>
                </a:solidFill>
                <a:latin typeface="Times New Roman" panose="02020603050405020304" pitchFamily="18" charset="0"/>
                <a:cs typeface="Times New Roman" panose="02020603050405020304" pitchFamily="18" charset="0"/>
              </a:rPr>
              <a:t>Hết</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hiệu</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lực</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từ</a:t>
            </a:r>
            <a:r>
              <a:rPr lang="en-US" sz="2600" dirty="0">
                <a:solidFill>
                  <a:srgbClr val="FF0000"/>
                </a:solidFill>
                <a:latin typeface="Times New Roman" panose="02020603050405020304" pitchFamily="18" charset="0"/>
                <a:cs typeface="Times New Roman" panose="02020603050405020304" pitchFamily="18" charset="0"/>
              </a:rPr>
              <a:t> 25/3/2026, </a:t>
            </a:r>
            <a:r>
              <a:rPr lang="en-US" sz="2600" dirty="0" err="1">
                <a:solidFill>
                  <a:srgbClr val="FF0000"/>
                </a:solidFill>
                <a:latin typeface="Times New Roman" panose="02020603050405020304" pitchFamily="18" charset="0"/>
                <a:cs typeface="Times New Roman" panose="02020603050405020304" pitchFamily="18" charset="0"/>
              </a:rPr>
              <a:t>Một</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số</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nội</a:t>
            </a:r>
            <a:r>
              <a:rPr lang="en-US" sz="2600" dirty="0">
                <a:solidFill>
                  <a:srgbClr val="FF0000"/>
                </a:solidFill>
                <a:latin typeface="Times New Roman" panose="02020603050405020304" pitchFamily="18" charset="0"/>
                <a:cs typeface="Times New Roman" panose="02020603050405020304" pitchFamily="18" charset="0"/>
              </a:rPr>
              <a:t> dung </a:t>
            </a:r>
            <a:r>
              <a:rPr lang="en-US" sz="2600" dirty="0" err="1">
                <a:solidFill>
                  <a:srgbClr val="FF0000"/>
                </a:solidFill>
                <a:latin typeface="Times New Roman" panose="02020603050405020304" pitchFamily="18" charset="0"/>
                <a:cs typeface="Times New Roman" panose="02020603050405020304" pitchFamily="18" charset="0"/>
              </a:rPr>
              <a:t>trong</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tài</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liệu</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có</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giá</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trị</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tham</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khảo</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mang</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tính</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lịch</a:t>
            </a:r>
            <a:r>
              <a:rPr lang="en-US" sz="2600" dirty="0">
                <a:solidFill>
                  <a:srgbClr val="FF0000"/>
                </a:solidFill>
                <a:latin typeface="Times New Roman" panose="02020603050405020304" pitchFamily="18" charset="0"/>
                <a:cs typeface="Times New Roman" panose="02020603050405020304" pitchFamily="18" charset="0"/>
              </a:rPr>
              <a:t> </a:t>
            </a:r>
            <a:r>
              <a:rPr lang="en-US" sz="2600" dirty="0" err="1">
                <a:solidFill>
                  <a:srgbClr val="FF0000"/>
                </a:solidFill>
                <a:latin typeface="Times New Roman" panose="02020603050405020304" pitchFamily="18" charset="0"/>
                <a:cs typeface="Times New Roman" panose="02020603050405020304" pitchFamily="18" charset="0"/>
              </a:rPr>
              <a:t>sử</a:t>
            </a:r>
            <a:r>
              <a:rPr lang="en-US" sz="2600" dirty="0">
                <a:solidFill>
                  <a:srgbClr val="FF0000"/>
                </a:solidFill>
                <a:latin typeface="Times New Roman" panose="02020603050405020304" pitchFamily="18" charset="0"/>
                <a:cs typeface="Times New Roman" panose="02020603050405020304" pitchFamily="18" charset="0"/>
              </a:rPr>
              <a:t>);</a:t>
            </a: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rPr>
              <a:t>[10] </a:t>
            </a:r>
            <a:r>
              <a:rPr lang="en-US" sz="2600" dirty="0" err="1">
                <a:latin typeface="Times New Roman" panose="02020603050405020304" pitchFamily="18" charset="0"/>
                <a:cs typeface="Times New Roman" panose="02020603050405020304" pitchFamily="18" charset="0"/>
              </a:rPr>
              <a:t>Luật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tổ</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chức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quyền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phương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72/2025/QH15 </a:t>
            </a:r>
            <a:r>
              <a:rPr lang="en-US" sz="2600" dirty="0" err="1">
                <a:latin typeface="Times New Roman" panose="02020603050405020304" pitchFamily="18" charset="0"/>
                <a:cs typeface="Times New Roman" panose="02020603050405020304" pitchFamily="18" charset="0"/>
              </a:rPr>
              <a:t>ngày</a:t>
            </a:r>
            <a:r>
              <a:rPr lang="en-US" sz="2600" dirty="0">
                <a:latin typeface="Times New Roman" panose="02020603050405020304" pitchFamily="18" charset="0"/>
                <a:cs typeface="Times New Roman" panose="02020603050405020304" pitchFamily="18" charset="0"/>
              </a:rPr>
              <a:t> 16/6/2024;</a:t>
            </a: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rPr>
              <a:t>[11] Các </a:t>
            </a:r>
            <a:r>
              <a:rPr lang="en-US" sz="2600" dirty="0" err="1">
                <a:latin typeface="Times New Roman" panose="02020603050405020304" pitchFamily="18" charset="0"/>
                <a:cs typeface="Times New Roman" panose="02020603050405020304" pitchFamily="18" charset="0"/>
              </a:rPr>
              <a:t>văn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bản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liên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quan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hướng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dẫn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về</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nội</a:t>
            </a:r>
            <a:r>
              <a:rPr lang="en-US" sz="2600" dirty="0">
                <a:latin typeface="Times New Roman" panose="02020603050405020304" pitchFamily="18" charset="0"/>
                <a:cs typeface="Times New Roman" panose="02020603050405020304" pitchFamily="18" charset="0"/>
              </a:rPr>
              <a:t> dung </a:t>
            </a:r>
            <a:r>
              <a:rPr lang="en-US" sz="2600" dirty="0" err="1">
                <a:latin typeface="Times New Roman" panose="02020603050405020304" pitchFamily="18" charset="0"/>
                <a:cs typeface="Times New Roman" panose="02020603050405020304" pitchFamily="18" charset="0"/>
              </a:rPr>
              <a:t>tài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ngân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sách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cấp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xã</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sau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vận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hành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mô</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hình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quyền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địa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phương</a:t>
            </a:r>
            <a:r>
              <a:rPr lang="en-US" sz="2600" dirty="0">
                <a:latin typeface="Times New Roman" panose="02020603050405020304" pitchFamily="18" charset="0"/>
                <a:cs typeface="Times New Roman" panose="02020603050405020304" pitchFamily="18" charset="0"/>
              </a:rPr>
              <a:t> 2 </a:t>
            </a:r>
            <a:r>
              <a:rPr lang="en-US" sz="2600" dirty="0" err="1">
                <a:latin typeface="Times New Roman" panose="02020603050405020304" pitchFamily="18" charset="0"/>
                <a:cs typeface="Times New Roman" panose="02020603050405020304" pitchFamily="18" charset="0"/>
              </a:rPr>
              <a:t>cấp</a:t>
            </a:r>
            <a:r>
              <a:rPr lang="en-US" sz="2600" dirty="0">
                <a:latin typeface="Times New Roman" panose="02020603050405020304" pitchFamily="18" charset="0"/>
                <a:cs typeface="Times New Roman" panose="02020603050405020304" pitchFamily="18" charset="0"/>
              </a:rPr>
              <a:t>.</a:t>
            </a:r>
          </a:p>
        </p:txBody>
      </p:sp>
      <p:sp>
        <p:nvSpPr>
          <p:cNvPr id="4" name="Rectangle 3">
            <a:extLst>
              <a:ext uri="{FF2B5EF4-FFF2-40B4-BE49-F238E27FC236}">
                <a16:creationId xmlns:a16="http://schemas.microsoft.com/office/drawing/2014/main" id="{9351D084-ABA2-515C-97F5-3B4937A14330}"/>
              </a:ext>
            </a:extLst>
          </p:cNvPr>
          <p:cNvSpPr/>
          <p:nvPr/>
        </p:nvSpPr>
        <p:spPr>
          <a:xfrm>
            <a:off x="0" y="0"/>
            <a:ext cx="12192000" cy="887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B5DF6AE0-3627-D7C5-23E3-8C4BC8BC7486}"/>
              </a:ext>
            </a:extLst>
          </p:cNvPr>
          <p:cNvSpPr>
            <a:spLocks noGrp="1"/>
          </p:cNvSpPr>
          <p:nvPr>
            <p:ph type="title"/>
          </p:nvPr>
        </p:nvSpPr>
        <p:spPr>
          <a:xfrm>
            <a:off x="838200" y="0"/>
            <a:ext cx="10515600" cy="887509"/>
          </a:xfrm>
        </p:spPr>
        <p:txBody>
          <a:bodyPr/>
          <a:lstStyle/>
          <a:p>
            <a:pPr algn="ctr"/>
            <a:r>
              <a:rPr lang="en-US" b="1" dirty="0">
                <a:solidFill>
                  <a:schemeClr val="bg1"/>
                </a:solidFill>
                <a:latin typeface="Times New Roman" pitchFamily="18" charset="0"/>
                <a:cs typeface="Times New Roman" pitchFamily="18" charset="0"/>
              </a:rPr>
              <a:t>TÀI LIỆU HỌC TẬP</a:t>
            </a:r>
            <a:endParaRPr lang="en-US" dirty="0">
              <a:solidFill>
                <a:schemeClr val="bg1"/>
              </a:solidFill>
            </a:endParaRPr>
          </a:p>
        </p:txBody>
      </p:sp>
    </p:spTree>
    <p:extLst>
      <p:ext uri="{BB962C8B-B14F-4D97-AF65-F5344CB8AC3E}">
        <p14:creationId xmlns:p14="http://schemas.microsoft.com/office/powerpoint/2010/main" val="2846320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644E3-5411-0986-A775-8B26A3DD734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149B116-64A2-30A1-C60E-C200C6BEB837}"/>
              </a:ext>
            </a:extLst>
          </p:cNvPr>
          <p:cNvSpPr/>
          <p:nvPr/>
        </p:nvSpPr>
        <p:spPr>
          <a:xfrm>
            <a:off x="0" y="0"/>
            <a:ext cx="12216580" cy="6858000"/>
          </a:xfrm>
          <a:prstGeom prst="rect">
            <a:avLst/>
          </a:prstGeom>
          <a:solidFill>
            <a:srgbClr val="F8F8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76E2714-7C28-9497-A799-C5F77F367612}"/>
              </a:ext>
            </a:extLst>
          </p:cNvPr>
          <p:cNvSpPr>
            <a:spLocks noGrp="1"/>
          </p:cNvSpPr>
          <p:nvPr>
            <p:ph idx="1"/>
          </p:nvPr>
        </p:nvSpPr>
        <p:spPr>
          <a:xfrm>
            <a:off x="294968" y="1135117"/>
            <a:ext cx="11497639" cy="4835374"/>
          </a:xfrm>
        </p:spPr>
        <p:txBody>
          <a:bodyPr>
            <a:normAutofit/>
          </a:bodyPr>
          <a:lstStyle/>
          <a:p>
            <a:pPr marL="457200" lvl="1" indent="0" algn="just">
              <a:lnSpc>
                <a:spcPct val="150000"/>
              </a:lnSpc>
              <a:buNone/>
            </a:pPr>
            <a:r>
              <a:rPr lang="en-US" sz="2600" b="1" dirty="0">
                <a:latin typeface="Times New Roman" panose="02020603050405020304" pitchFamily="18" charset="0"/>
                <a:cs typeface="Times New Roman" panose="02020603050405020304" pitchFamily="18" charset="0"/>
              </a:rPr>
              <a:t>Các website:</a:t>
            </a:r>
            <a:endParaRPr lang="en-US" sz="2600"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hlinkClick r:id="rId2"/>
              </a:rPr>
              <a:t>https://chinhphu.vn/</a:t>
            </a:r>
            <a:endParaRPr lang="en-US" sz="2600"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hlinkClick r:id="rId3"/>
              </a:rPr>
              <a:t>https://www.mof.gov.vn/</a:t>
            </a:r>
            <a:endParaRPr lang="en-US" sz="2600"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en-US" sz="2600" dirty="0">
                <a:latin typeface="Times New Roman" panose="02020603050405020304" pitchFamily="18" charset="0"/>
                <a:cs typeface="Times New Roman" panose="02020603050405020304" pitchFamily="18" charset="0"/>
              </a:rPr>
              <a:t>….</a:t>
            </a:r>
          </a:p>
          <a:p>
            <a:pPr marL="457200" lvl="1" indent="0" algn="just">
              <a:lnSpc>
                <a:spcPct val="150000"/>
              </a:lnSpc>
              <a:buNone/>
            </a:pPr>
            <a:endParaRPr lang="en-US" sz="2600" b="1" dirty="0">
              <a:latin typeface="Times New Roman" panose="02020603050405020304" pitchFamily="18" charset="0"/>
              <a:cs typeface="Times New Roman" panose="02020603050405020304" pitchFamily="18" charset="0"/>
            </a:endParaRPr>
          </a:p>
          <a:p>
            <a:pPr marL="457200" lvl="1" indent="0" algn="just">
              <a:lnSpc>
                <a:spcPct val="150000"/>
              </a:lnSpc>
              <a:buNone/>
            </a:pPr>
            <a:endParaRPr lang="en-US" sz="2600" dirty="0">
              <a:latin typeface="Times New Roman" panose="02020603050405020304" pitchFamily="18" charset="0"/>
              <a:cs typeface="Times New Roman" panose="02020603050405020304" pitchFamily="18" charset="0"/>
            </a:endParaRPr>
          </a:p>
          <a:p>
            <a:pPr marL="457200" lvl="1" indent="0" algn="just">
              <a:lnSpc>
                <a:spcPct val="150000"/>
              </a:lnSpc>
              <a:buNone/>
            </a:pPr>
            <a:endParaRPr lang="en-US" sz="2600"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C55C0059-A252-DD42-658E-D6E782414D14}"/>
              </a:ext>
            </a:extLst>
          </p:cNvPr>
          <p:cNvSpPr>
            <a:spLocks noGrp="1"/>
          </p:cNvSpPr>
          <p:nvPr>
            <p:ph type="title"/>
          </p:nvPr>
        </p:nvSpPr>
        <p:spPr>
          <a:xfrm>
            <a:off x="838200" y="0"/>
            <a:ext cx="10515600" cy="887509"/>
          </a:xfrm>
        </p:spPr>
        <p:txBody>
          <a:bodyPr/>
          <a:lstStyle/>
          <a:p>
            <a:pPr algn="ctr"/>
            <a:r>
              <a:rPr lang="en-US" b="1" dirty="0">
                <a:solidFill>
                  <a:schemeClr val="bg1"/>
                </a:solidFill>
                <a:latin typeface="Times New Roman" pitchFamily="18" charset="0"/>
                <a:cs typeface="Times New Roman" pitchFamily="18" charset="0"/>
              </a:rPr>
              <a:t>TÀI LIỆU HỌC TẬP</a:t>
            </a:r>
            <a:endParaRPr lang="en-US" dirty="0">
              <a:solidFill>
                <a:schemeClr val="bg1"/>
              </a:solidFill>
            </a:endParaRPr>
          </a:p>
        </p:txBody>
      </p:sp>
      <p:sp>
        <p:nvSpPr>
          <p:cNvPr id="7" name="Rectangle 6">
            <a:extLst>
              <a:ext uri="{FF2B5EF4-FFF2-40B4-BE49-F238E27FC236}">
                <a16:creationId xmlns:a16="http://schemas.microsoft.com/office/drawing/2014/main" id="{ED568D5A-E7FF-2A6F-25B8-A87C13F67FAD}"/>
              </a:ext>
            </a:extLst>
          </p:cNvPr>
          <p:cNvSpPr/>
          <p:nvPr/>
        </p:nvSpPr>
        <p:spPr>
          <a:xfrm>
            <a:off x="0" y="0"/>
            <a:ext cx="12192000" cy="887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466A2EF3-0164-5571-50BB-BAF6721A10B4}"/>
              </a:ext>
            </a:extLst>
          </p:cNvPr>
          <p:cNvSpPr txBox="1">
            <a:spLocks/>
          </p:cNvSpPr>
          <p:nvPr/>
        </p:nvSpPr>
        <p:spPr>
          <a:xfrm>
            <a:off x="990600" y="78660"/>
            <a:ext cx="10515600" cy="8875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latin typeface="Times New Roman" pitchFamily="18" charset="0"/>
                <a:cs typeface="Times New Roman" pitchFamily="18" charset="0"/>
              </a:rPr>
              <a:t>TÀI LIỆU HỌC TẬP</a:t>
            </a:r>
            <a:endParaRPr lang="en-US" dirty="0">
              <a:solidFill>
                <a:schemeClr val="bg1"/>
              </a:solidFill>
            </a:endParaRPr>
          </a:p>
        </p:txBody>
      </p:sp>
    </p:spTree>
    <p:extLst>
      <p:ext uri="{BB962C8B-B14F-4D97-AF65-F5344CB8AC3E}">
        <p14:creationId xmlns:p14="http://schemas.microsoft.com/office/powerpoint/2010/main" val="1182709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8555CAA1-716E-8173-625D-56B185A34C58}"/>
              </a:ext>
            </a:extLst>
          </p:cNvPr>
          <p:cNvGraphicFramePr>
            <a:graphicFrameLocks/>
          </p:cNvGraphicFramePr>
          <p:nvPr>
            <p:extLst>
              <p:ext uri="{D42A27DB-BD31-4B8C-83A1-F6EECF244321}">
                <p14:modId xmlns:p14="http://schemas.microsoft.com/office/powerpoint/2010/main" val="1231332389"/>
              </p:ext>
            </p:extLst>
          </p:nvPr>
        </p:nvGraphicFramePr>
        <p:xfrm>
          <a:off x="308106" y="1577191"/>
          <a:ext cx="11710220" cy="5481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6AE95A0B-0260-7CB1-24BA-86B01D314897}"/>
              </a:ext>
            </a:extLst>
          </p:cNvPr>
          <p:cNvSpPr/>
          <p:nvPr/>
        </p:nvSpPr>
        <p:spPr>
          <a:xfrm>
            <a:off x="0" y="0"/>
            <a:ext cx="12192000" cy="1533832"/>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000" b="1" dirty="0">
                <a:latin typeface="Times New Roman" panose="02020603050405020304" pitchFamily="18" charset="0"/>
                <a:cs typeface="Times New Roman" panose="02020603050405020304" pitchFamily="18" charset="0"/>
              </a:rPr>
              <a:t>CHƯƠNG 3: QUẢN LÝ NGÂN SÁCH XÃ</a:t>
            </a:r>
          </a:p>
        </p:txBody>
      </p:sp>
    </p:spTree>
    <p:extLst>
      <p:ext uri="{BB962C8B-B14F-4D97-AF65-F5344CB8AC3E}">
        <p14:creationId xmlns:p14="http://schemas.microsoft.com/office/powerpoint/2010/main" val="1131776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graphicEl>
                                              <a:dgm id="{FBEFBF75-64EB-4F7E-A926-A4E66F89C7B0}"/>
                                            </p:graphicEl>
                                          </p:spTgt>
                                        </p:tgtEl>
                                        <p:attrNameLst>
                                          <p:attrName>style.visibility</p:attrName>
                                        </p:attrNameLst>
                                      </p:cBhvr>
                                      <p:to>
                                        <p:strVal val="visible"/>
                                      </p:to>
                                    </p:set>
                                    <p:anim calcmode="lin" valueType="num">
                                      <p:cBhvr additive="base">
                                        <p:cTn id="7" dur="500" fill="hold"/>
                                        <p:tgtEl>
                                          <p:spTgt spid="4">
                                            <p:graphicEl>
                                              <a:dgm id="{FBEFBF75-64EB-4F7E-A926-A4E66F89C7B0}"/>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FBEFBF75-64EB-4F7E-A926-A4E66F89C7B0}"/>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graphicEl>
                                              <a:dgm id="{666DCB58-F458-4F2E-B413-E6EC71986A16}"/>
                                            </p:graphicEl>
                                          </p:spTgt>
                                        </p:tgtEl>
                                        <p:attrNameLst>
                                          <p:attrName>style.visibility</p:attrName>
                                        </p:attrNameLst>
                                      </p:cBhvr>
                                      <p:to>
                                        <p:strVal val="visible"/>
                                      </p:to>
                                    </p:set>
                                    <p:anim calcmode="lin" valueType="num">
                                      <p:cBhvr additive="base">
                                        <p:cTn id="11" dur="500" fill="hold"/>
                                        <p:tgtEl>
                                          <p:spTgt spid="4">
                                            <p:graphicEl>
                                              <a:dgm id="{666DCB58-F458-4F2E-B413-E6EC71986A16}"/>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
                                            <p:graphicEl>
                                              <a:dgm id="{666DCB58-F458-4F2E-B413-E6EC71986A16}"/>
                                            </p:graphic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
                                            <p:graphicEl>
                                              <a:dgm id="{903D4C07-2F7B-4768-B940-9EC734D124AC}"/>
                                            </p:graphicEl>
                                          </p:spTgt>
                                        </p:tgtEl>
                                        <p:attrNameLst>
                                          <p:attrName>style.visibility</p:attrName>
                                        </p:attrNameLst>
                                      </p:cBhvr>
                                      <p:to>
                                        <p:strVal val="visible"/>
                                      </p:to>
                                    </p:set>
                                    <p:anim calcmode="lin" valueType="num">
                                      <p:cBhvr additive="base">
                                        <p:cTn id="15" dur="500" fill="hold"/>
                                        <p:tgtEl>
                                          <p:spTgt spid="4">
                                            <p:graphicEl>
                                              <a:dgm id="{903D4C07-2F7B-4768-B940-9EC734D124AC}"/>
                                            </p:graphic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
                                            <p:graphicEl>
                                              <a:dgm id="{903D4C07-2F7B-4768-B940-9EC734D124AC}"/>
                                            </p:graphic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4">
                                            <p:graphicEl>
                                              <a:dgm id="{03B14AF4-B5B8-4120-A94F-C42F3ACBD4C0}"/>
                                            </p:graphicEl>
                                          </p:spTgt>
                                        </p:tgtEl>
                                        <p:attrNameLst>
                                          <p:attrName>style.visibility</p:attrName>
                                        </p:attrNameLst>
                                      </p:cBhvr>
                                      <p:to>
                                        <p:strVal val="visible"/>
                                      </p:to>
                                    </p:set>
                                    <p:anim calcmode="lin" valueType="num">
                                      <p:cBhvr additive="base">
                                        <p:cTn id="21" dur="500" fill="hold"/>
                                        <p:tgtEl>
                                          <p:spTgt spid="4">
                                            <p:graphicEl>
                                              <a:dgm id="{03B14AF4-B5B8-4120-A94F-C42F3ACBD4C0}"/>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
                                            <p:graphicEl>
                                              <a:dgm id="{03B14AF4-B5B8-4120-A94F-C42F3ACBD4C0}"/>
                                            </p:graphic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4">
                                            <p:graphicEl>
                                              <a:dgm id="{A5EF71E6-87C1-4DA1-AFF7-D586E2B69EAC}"/>
                                            </p:graphicEl>
                                          </p:spTgt>
                                        </p:tgtEl>
                                        <p:attrNameLst>
                                          <p:attrName>style.visibility</p:attrName>
                                        </p:attrNameLst>
                                      </p:cBhvr>
                                      <p:to>
                                        <p:strVal val="visible"/>
                                      </p:to>
                                    </p:set>
                                    <p:anim calcmode="lin" valueType="num">
                                      <p:cBhvr additive="base">
                                        <p:cTn id="25" dur="500" fill="hold"/>
                                        <p:tgtEl>
                                          <p:spTgt spid="4">
                                            <p:graphicEl>
                                              <a:dgm id="{A5EF71E6-87C1-4DA1-AFF7-D586E2B69EAC}"/>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graphicEl>
                                              <a:dgm id="{A5EF71E6-87C1-4DA1-AFF7-D586E2B69EAC}"/>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graphicEl>
                                              <a:dgm id="{7E79FFA8-5D9C-4C34-BC10-348E5B7963B1}"/>
                                            </p:graphicEl>
                                          </p:spTgt>
                                        </p:tgtEl>
                                        <p:attrNameLst>
                                          <p:attrName>style.visibility</p:attrName>
                                        </p:attrNameLst>
                                      </p:cBhvr>
                                      <p:to>
                                        <p:strVal val="visible"/>
                                      </p:to>
                                    </p:set>
                                    <p:anim calcmode="lin" valueType="num">
                                      <p:cBhvr additive="base">
                                        <p:cTn id="31" dur="500" fill="hold"/>
                                        <p:tgtEl>
                                          <p:spTgt spid="4">
                                            <p:graphicEl>
                                              <a:dgm id="{7E79FFA8-5D9C-4C34-BC10-348E5B7963B1}"/>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graphicEl>
                                              <a:dgm id="{7E79FFA8-5D9C-4C34-BC10-348E5B7963B1}"/>
                                            </p:graphic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4">
                                            <p:graphicEl>
                                              <a:dgm id="{F24AED53-8AE0-4CB9-A674-944D01F5AFA7}"/>
                                            </p:graphicEl>
                                          </p:spTgt>
                                        </p:tgtEl>
                                        <p:attrNameLst>
                                          <p:attrName>style.visibility</p:attrName>
                                        </p:attrNameLst>
                                      </p:cBhvr>
                                      <p:to>
                                        <p:strVal val="visible"/>
                                      </p:to>
                                    </p:set>
                                    <p:anim calcmode="lin" valueType="num">
                                      <p:cBhvr additive="base">
                                        <p:cTn id="35" dur="500" fill="hold"/>
                                        <p:tgtEl>
                                          <p:spTgt spid="4">
                                            <p:graphicEl>
                                              <a:dgm id="{F24AED53-8AE0-4CB9-A674-944D01F5AFA7}"/>
                                            </p:graphic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4">
                                            <p:graphicEl>
                                              <a:dgm id="{F24AED53-8AE0-4CB9-A674-944D01F5AFA7}"/>
                                            </p:graphic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4">
                                            <p:graphicEl>
                                              <a:dgm id="{6E402C4B-EDFD-42F0-AB38-9FE8CE6F595A}"/>
                                            </p:graphicEl>
                                          </p:spTgt>
                                        </p:tgtEl>
                                        <p:attrNameLst>
                                          <p:attrName>style.visibility</p:attrName>
                                        </p:attrNameLst>
                                      </p:cBhvr>
                                      <p:to>
                                        <p:strVal val="visible"/>
                                      </p:to>
                                    </p:set>
                                    <p:anim calcmode="lin" valueType="num">
                                      <p:cBhvr additive="base">
                                        <p:cTn id="41" dur="500" fill="hold"/>
                                        <p:tgtEl>
                                          <p:spTgt spid="4">
                                            <p:graphicEl>
                                              <a:dgm id="{6E402C4B-EDFD-42F0-AB38-9FE8CE6F595A}"/>
                                            </p:graphic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4">
                                            <p:graphicEl>
                                              <a:dgm id="{6E402C4B-EDFD-42F0-AB38-9FE8CE6F595A}"/>
                                            </p:graphic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4">
                                            <p:graphicEl>
                                              <a:dgm id="{6217FA50-8478-467B-ACA9-B6E1B62BD4D6}"/>
                                            </p:graphicEl>
                                          </p:spTgt>
                                        </p:tgtEl>
                                        <p:attrNameLst>
                                          <p:attrName>style.visibility</p:attrName>
                                        </p:attrNameLst>
                                      </p:cBhvr>
                                      <p:to>
                                        <p:strVal val="visible"/>
                                      </p:to>
                                    </p:set>
                                    <p:anim calcmode="lin" valueType="num">
                                      <p:cBhvr additive="base">
                                        <p:cTn id="45" dur="500" fill="hold"/>
                                        <p:tgtEl>
                                          <p:spTgt spid="4">
                                            <p:graphicEl>
                                              <a:dgm id="{6217FA50-8478-467B-ACA9-B6E1B62BD4D6}"/>
                                            </p:graphic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4">
                                            <p:graphicEl>
                                              <a:dgm id="{6217FA50-8478-467B-ACA9-B6E1B62BD4D6}"/>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0338F-3C2B-DB62-487A-D402271B1DD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4406854-407A-3CCE-A301-BE8ECBAC88A5}"/>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 PHẠM VI THU, CHI</a:t>
            </a:r>
          </a:p>
          <a:p>
            <a:pPr algn="ctr"/>
            <a:r>
              <a:rPr lang="en-US" sz="4400" b="1" dirty="0">
                <a:latin typeface="Times New Roman" panose="02020603050405020304" pitchFamily="18" charset="0"/>
                <a:cs typeface="Times New Roman" panose="02020603050405020304" pitchFamily="18" charset="0"/>
              </a:rPr>
              <a:t> VÀ ĐẶC ĐIỂM NGÂN SÁCH XÃ</a:t>
            </a:r>
          </a:p>
        </p:txBody>
      </p:sp>
      <p:sp>
        <p:nvSpPr>
          <p:cNvPr id="5" name="Rectangle: Rounded Corners 4">
            <a:extLst>
              <a:ext uri="{FF2B5EF4-FFF2-40B4-BE49-F238E27FC236}">
                <a16:creationId xmlns:a16="http://schemas.microsoft.com/office/drawing/2014/main" id="{702BD8B1-DEFF-BFB6-1C39-D224379FCB99}"/>
              </a:ext>
            </a:extLst>
          </p:cNvPr>
          <p:cNvSpPr/>
          <p:nvPr/>
        </p:nvSpPr>
        <p:spPr>
          <a:xfrm>
            <a:off x="2154859" y="1664461"/>
            <a:ext cx="3182124" cy="44037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a:solidFill>
                  <a:schemeClr val="tx1"/>
                </a:solidFill>
                <a:latin typeface="Times New Roman" panose="02020603050405020304" pitchFamily="18" charset="0"/>
                <a:cs typeface="Times New Roman" panose="02020603050405020304" pitchFamily="18" charset="0"/>
              </a:rPr>
              <a:t>ĐẶC ĐIỂM</a:t>
            </a:r>
          </a:p>
        </p:txBody>
      </p:sp>
      <p:sp>
        <p:nvSpPr>
          <p:cNvPr id="3" name="Rectangle: Rounded Corners 2">
            <a:extLst>
              <a:ext uri="{FF2B5EF4-FFF2-40B4-BE49-F238E27FC236}">
                <a16:creationId xmlns:a16="http://schemas.microsoft.com/office/drawing/2014/main" id="{2F9C1B63-EC56-E2DD-0C0E-BD88A62F9187}"/>
              </a:ext>
            </a:extLst>
          </p:cNvPr>
          <p:cNvSpPr/>
          <p:nvPr/>
        </p:nvSpPr>
        <p:spPr>
          <a:xfrm>
            <a:off x="6855019" y="1645411"/>
            <a:ext cx="3182124" cy="44037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a:solidFill>
                  <a:schemeClr val="tx1"/>
                </a:solidFill>
                <a:latin typeface="Times New Roman" panose="02020603050405020304" pitchFamily="18" charset="0"/>
                <a:cs typeface="Times New Roman" panose="02020603050405020304" pitchFamily="18" charset="0"/>
              </a:rPr>
              <a:t>PHẠM </a:t>
            </a:r>
          </a:p>
          <a:p>
            <a:pPr algn="ctr"/>
            <a:r>
              <a:rPr lang="en-US" sz="4400" b="1" dirty="0">
                <a:solidFill>
                  <a:schemeClr val="tx1"/>
                </a:solidFill>
                <a:latin typeface="Times New Roman" panose="02020603050405020304" pitchFamily="18" charset="0"/>
                <a:cs typeface="Times New Roman" panose="02020603050405020304" pitchFamily="18" charset="0"/>
              </a:rPr>
              <a:t>VI</a:t>
            </a:r>
          </a:p>
        </p:txBody>
      </p:sp>
    </p:spTree>
    <p:extLst>
      <p:ext uri="{BB962C8B-B14F-4D97-AF65-F5344CB8AC3E}">
        <p14:creationId xmlns:p14="http://schemas.microsoft.com/office/powerpoint/2010/main" val="3828982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7BFE55-5806-F8EA-1734-298C9D6E00BB}"/>
              </a:ext>
            </a:extLst>
          </p:cNvPr>
          <p:cNvSpPr txBox="1"/>
          <p:nvPr/>
        </p:nvSpPr>
        <p:spPr>
          <a:xfrm>
            <a:off x="662152" y="630625"/>
            <a:ext cx="11529847" cy="707886"/>
          </a:xfrm>
          <a:prstGeom prst="rect">
            <a:avLst/>
          </a:prstGeom>
          <a:noFill/>
        </p:spPr>
        <p:txBody>
          <a:bodyPr wrap="square" rtlCol="0">
            <a:spAutoFit/>
          </a:bodyPr>
          <a:lstStyle/>
          <a:p>
            <a:r>
              <a:rPr lang="en-US" sz="4000" b="1" dirty="0" err="1">
                <a:latin typeface="Arial" panose="020B0604020202020204" pitchFamily="34" charset="0"/>
                <a:cs typeface="Arial" panose="020B0604020202020204" pitchFamily="34" charset="0"/>
              </a:rPr>
              <a:t>Bối</a:t>
            </a:r>
            <a:r>
              <a:rPr lang="en-US" sz="4000" b="1" dirty="0">
                <a:latin typeface="Arial" panose="020B0604020202020204" pitchFamily="34" charset="0"/>
                <a:cs typeface="Arial" panose="020B0604020202020204" pitchFamily="34" charset="0"/>
              </a:rPr>
              <a:t> </a:t>
            </a:r>
            <a:r>
              <a:rPr lang="en-US" sz="4000" b="1" dirty="0" err="1">
                <a:latin typeface="Arial" panose="020B0604020202020204" pitchFamily="34" charset="0"/>
                <a:cs typeface="Arial" panose="020B0604020202020204" pitchFamily="34" charset="0"/>
              </a:rPr>
              <a:t>cảnh</a:t>
            </a:r>
            <a:r>
              <a:rPr lang="en-US" sz="4000" b="1" dirty="0">
                <a:latin typeface="Arial" panose="020B0604020202020204" pitchFamily="34" charset="0"/>
                <a:cs typeface="Arial" panose="020B0604020202020204" pitchFamily="34" charset="0"/>
              </a:rPr>
              <a:t>:</a:t>
            </a:r>
          </a:p>
        </p:txBody>
      </p:sp>
      <p:sp>
        <p:nvSpPr>
          <p:cNvPr id="4" name="TextBox 3">
            <a:extLst>
              <a:ext uri="{FF2B5EF4-FFF2-40B4-BE49-F238E27FC236}">
                <a16:creationId xmlns:a16="http://schemas.microsoft.com/office/drawing/2014/main" id="{F0CA1345-BC7E-14DF-7076-03D5E95CC6EB}"/>
              </a:ext>
            </a:extLst>
          </p:cNvPr>
          <p:cNvSpPr txBox="1"/>
          <p:nvPr/>
        </p:nvSpPr>
        <p:spPr>
          <a:xfrm>
            <a:off x="662152" y="1694385"/>
            <a:ext cx="5139558" cy="4524315"/>
          </a:xfrm>
          <a:prstGeom prst="rect">
            <a:avLst/>
          </a:prstGeom>
          <a:noFill/>
        </p:spPr>
        <p:txBody>
          <a:bodyPr wrap="square" rtlCol="0">
            <a:spAutoFit/>
          </a:bodyPr>
          <a:lstStyle/>
          <a:p>
            <a:r>
              <a:rPr lang="en-US" sz="2400" b="1" dirty="0" err="1">
                <a:latin typeface="Arial" panose="020B0604020202020204" pitchFamily="34" charset="0"/>
                <a:cs typeface="Arial" panose="020B0604020202020204" pitchFamily="34" charset="0"/>
              </a:rPr>
              <a:t>Trước</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ngày</a:t>
            </a:r>
            <a:r>
              <a:rPr lang="en-US" sz="2400" b="1" dirty="0">
                <a:latin typeface="Arial" panose="020B0604020202020204" pitchFamily="34" charset="0"/>
                <a:cs typeface="Arial" panose="020B0604020202020204" pitchFamily="34" charset="0"/>
              </a:rPr>
              <a:t> 1/7/2025:</a:t>
            </a:r>
          </a:p>
          <a:p>
            <a:r>
              <a:rPr lang="en-US" sz="2400" dirty="0">
                <a:latin typeface="Arial" panose="020B0604020202020204" pitchFamily="34" charset="0"/>
                <a:cs typeface="Arial" panose="020B0604020202020204" pitchFamily="34" charset="0"/>
              </a:rPr>
              <a:t>63  </a:t>
            </a:r>
            <a:r>
              <a:rPr lang="en-US" sz="2400" dirty="0" err="1">
                <a:latin typeface="Arial" panose="020B0604020202020204" pitchFamily="34" charset="0"/>
                <a:cs typeface="Arial" panose="020B0604020202020204" pitchFamily="34" charset="0"/>
              </a:rPr>
              <a:t>tỉnh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thành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phố</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thuộc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trung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ương</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696 </a:t>
            </a:r>
            <a:r>
              <a:rPr lang="en-US" sz="2400" dirty="0" err="1">
                <a:latin typeface="Arial" panose="020B0604020202020204" pitchFamily="34" charset="0"/>
                <a:cs typeface="Arial" panose="020B0604020202020204" pitchFamily="34" charset="0"/>
              </a:rPr>
              <a:t>huyện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quận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thành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phố</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thuộc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tỉnh</a:t>
            </a:r>
            <a:r>
              <a:rPr lang="en-US" sz="2400" dirty="0">
                <a:latin typeface="Arial" panose="020B0604020202020204" pitchFamily="34" charset="0"/>
                <a:cs typeface="Arial" panose="020B0604020202020204" pitchFamily="34" charset="0"/>
              </a:rPr>
              <a:t>;</a:t>
            </a:r>
          </a:p>
          <a:p>
            <a:r>
              <a:rPr lang="en-US" sz="2400" dirty="0">
                <a:latin typeface="Arial" panose="020B0604020202020204" pitchFamily="34" charset="0"/>
                <a:cs typeface="Arial" panose="020B0604020202020204" pitchFamily="34" charset="0"/>
              </a:rPr>
              <a:t>10.035 </a:t>
            </a:r>
            <a:r>
              <a:rPr lang="en-US" sz="2400" dirty="0" err="1">
                <a:latin typeface="Arial" panose="020B0604020202020204" pitchFamily="34" charset="0"/>
                <a:cs typeface="Arial" panose="020B0604020202020204" pitchFamily="34" charset="0"/>
              </a:rPr>
              <a:t>xã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phường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trấn</a:t>
            </a:r>
            <a:endParaRPr lang="en-US" sz="2400" dirty="0">
              <a:latin typeface="Arial" panose="020B0604020202020204" pitchFamily="34" charset="0"/>
              <a:cs typeface="Arial" panose="020B0604020202020204" pitchFamily="34" charset="0"/>
            </a:endParaRPr>
          </a:p>
          <a:p>
            <a:r>
              <a:rPr lang="en-US" sz="2400" b="1" dirty="0" err="1">
                <a:latin typeface="Arial" panose="020B0604020202020204" pitchFamily="34" charset="0"/>
                <a:cs typeface="Arial" panose="020B0604020202020204" pitchFamily="34" charset="0"/>
                <a:hlinkClick r:id="rId3"/>
              </a:rPr>
              <a:t>Nguồn</a:t>
            </a:r>
            <a:r>
              <a:rPr lang="en-US" sz="2400" b="1" dirty="0">
                <a:latin typeface="Arial" panose="020B0604020202020204" pitchFamily="34" charset="0"/>
                <a:cs typeface="Arial" panose="020B0604020202020204" pitchFamily="34" charset="0"/>
                <a:hlinkClick r:id="rId3"/>
              </a:rPr>
              <a:t>: </a:t>
            </a:r>
          </a:p>
          <a:p>
            <a:r>
              <a:rPr lang="vi-VN" sz="2400" dirty="0">
                <a:latin typeface="Arial" panose="020B0604020202020204" pitchFamily="34" charset="0"/>
                <a:cs typeface="Arial" panose="020B0604020202020204" pitchFamily="34" charset="0"/>
                <a:hlinkClick r:id="rId3"/>
              </a:rPr>
              <a:t>Tổ chức và hoạt động chính quyền địa phương ở Việt Nam – thực trạng và yêu cầu đổi mới  | Tạp chí Quản lý nhà nước</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EBD8142E-6AC9-BB1D-D6BA-143A6B97B10B}"/>
              </a:ext>
            </a:extLst>
          </p:cNvPr>
          <p:cNvSpPr txBox="1"/>
          <p:nvPr/>
        </p:nvSpPr>
        <p:spPr>
          <a:xfrm>
            <a:off x="6390291" y="1525952"/>
            <a:ext cx="4803225" cy="3785652"/>
          </a:xfrm>
          <a:prstGeom prst="rect">
            <a:avLst/>
          </a:prstGeom>
          <a:noFill/>
        </p:spPr>
        <p:txBody>
          <a:bodyPr wrap="square" rtlCol="0">
            <a:spAutoFit/>
          </a:bodyPr>
          <a:lstStyle/>
          <a:p>
            <a:r>
              <a:rPr lang="en-US" sz="2400" b="1" dirty="0" err="1">
                <a:latin typeface="Arial" panose="020B0604020202020204" pitchFamily="34" charset="0"/>
                <a:cs typeface="Arial" panose="020B0604020202020204" pitchFamily="34" charset="0"/>
              </a:rPr>
              <a:t>Từ</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ngày</a:t>
            </a:r>
            <a:r>
              <a:rPr lang="en-US" sz="2400" b="1" dirty="0">
                <a:latin typeface="Arial" panose="020B0604020202020204" pitchFamily="34" charset="0"/>
                <a:cs typeface="Arial" panose="020B0604020202020204" pitchFamily="34" charset="0"/>
              </a:rPr>
              <a:t> 1/7/2025:</a:t>
            </a:r>
          </a:p>
          <a:p>
            <a:r>
              <a:rPr lang="en-US" sz="2400" dirty="0">
                <a:latin typeface="Arial" panose="020B0604020202020204" pitchFamily="34" charset="0"/>
                <a:cs typeface="Arial" panose="020B0604020202020204" pitchFamily="34" charset="0"/>
              </a:rPr>
              <a:t>34  </a:t>
            </a:r>
            <a:r>
              <a:rPr lang="en-US" sz="2400" dirty="0" err="1">
                <a:latin typeface="Arial" panose="020B0604020202020204" pitchFamily="34" charset="0"/>
                <a:cs typeface="Arial" panose="020B0604020202020204" pitchFamily="34" charset="0"/>
              </a:rPr>
              <a:t>tỉnh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thành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phố</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thuộc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trung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ương</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3.321 </a:t>
            </a:r>
            <a:r>
              <a:rPr lang="en-US" sz="2400" dirty="0" err="1">
                <a:latin typeface="Arial" panose="020B0604020202020204" pitchFamily="34" charset="0"/>
                <a:cs typeface="Arial" panose="020B0604020202020204" pitchFamily="34" charset="0"/>
              </a:rPr>
              <a:t>xã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phường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đặc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khu</a:t>
            </a:r>
            <a:endParaRPr lang="en-US" sz="2400" dirty="0">
              <a:latin typeface="Arial" panose="020B0604020202020204" pitchFamily="34" charset="0"/>
              <a:cs typeface="Arial" panose="020B0604020202020204" pitchFamily="34" charset="0"/>
            </a:endParaRPr>
          </a:p>
          <a:p>
            <a:r>
              <a:rPr lang="en-US" sz="2400" dirty="0" err="1">
                <a:latin typeface="Arial" panose="020B0604020202020204" pitchFamily="34" charset="0"/>
                <a:cs typeface="Arial" panose="020B0604020202020204" pitchFamily="34" charset="0"/>
              </a:rPr>
              <a:t>Nguồn</a:t>
            </a:r>
            <a:r>
              <a:rPr lang="en-US" sz="2400" dirty="0">
                <a:latin typeface="Arial" panose="020B0604020202020204" pitchFamily="34" charset="0"/>
                <a:cs typeface="Arial" panose="020B0604020202020204" pitchFamily="34" charset="0"/>
              </a:rPr>
              <a:t>: https://dangcongsan.org.vn/laocai/tin-tuc-hoat-dong/nhung-doi-hoi-tu-thuc-te-trong-van-hanh-mo-hinh-chinh-quyen-dia-phuong-2-cap.html</a:t>
            </a:r>
          </a:p>
        </p:txBody>
      </p:sp>
    </p:spTree>
    <p:extLst>
      <p:ext uri="{BB962C8B-B14F-4D97-AF65-F5344CB8AC3E}">
        <p14:creationId xmlns:p14="http://schemas.microsoft.com/office/powerpoint/2010/main" val="2276940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65367-2629-4FB4-9F69-B5BD97A8FEC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D501C0-F412-B51A-5700-CD83B000E6EE}"/>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 ĐẶC ĐIỂM NGÂN SÁCH XÃ</a:t>
            </a:r>
          </a:p>
        </p:txBody>
      </p:sp>
      <p:pic>
        <p:nvPicPr>
          <p:cNvPr id="5" name="Picture 4">
            <a:extLst>
              <a:ext uri="{FF2B5EF4-FFF2-40B4-BE49-F238E27FC236}">
                <a16:creationId xmlns:a16="http://schemas.microsoft.com/office/drawing/2014/main" id="{9D7DC163-66EF-4BC4-48CC-62C3AE4AFEA4}"/>
              </a:ext>
            </a:extLst>
          </p:cNvPr>
          <p:cNvPicPr>
            <a:picLocks noChangeAspect="1"/>
          </p:cNvPicPr>
          <p:nvPr/>
        </p:nvPicPr>
        <p:blipFill>
          <a:blip r:embed="rId3"/>
          <a:stretch>
            <a:fillRect/>
          </a:stretch>
        </p:blipFill>
        <p:spPr>
          <a:xfrm>
            <a:off x="0" y="1205345"/>
            <a:ext cx="12192000" cy="5652655"/>
          </a:xfrm>
          <a:prstGeom prst="rect">
            <a:avLst/>
          </a:prstGeom>
        </p:spPr>
      </p:pic>
    </p:spTree>
    <p:extLst>
      <p:ext uri="{BB962C8B-B14F-4D97-AF65-F5344CB8AC3E}">
        <p14:creationId xmlns:p14="http://schemas.microsoft.com/office/powerpoint/2010/main" val="2474591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4C347-9B54-529E-8E9F-B3F5DB18AB4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EFDAF1D-F49F-0303-8426-EF5AFFAF219A}"/>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a:latin typeface="Times New Roman" panose="02020603050405020304" pitchFamily="18" charset="0"/>
                <a:cs typeface="Times New Roman" panose="02020603050405020304" pitchFamily="18" charset="0"/>
              </a:rPr>
              <a:t>3.1.1. ĐẶC ĐIỂM NGÂN SÁCH XÃ</a:t>
            </a:r>
            <a:endParaRPr lang="en-US" sz="4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5269079-24C0-F419-0BE6-29F1EED83B4B}"/>
              </a:ext>
            </a:extLst>
          </p:cNvPr>
          <p:cNvSpPr txBox="1"/>
          <p:nvPr/>
        </p:nvSpPr>
        <p:spPr>
          <a:xfrm>
            <a:off x="133350" y="1248550"/>
            <a:ext cx="12058650" cy="4677434"/>
          </a:xfrm>
          <a:prstGeom prst="rect">
            <a:avLst/>
          </a:prstGeom>
          <a:noFill/>
        </p:spPr>
        <p:txBody>
          <a:bodyPr wrap="square">
            <a:spAutoFit/>
          </a:bodyPr>
          <a:lstStyle/>
          <a:p>
            <a:pPr algn="just">
              <a:lnSpc>
                <a:spcPct val="150000"/>
              </a:lnSpc>
              <a:buFontTx/>
              <a:buChar char="-"/>
            </a:pPr>
            <a:r>
              <a:rPr lang="en-US" sz="2400" b="1" dirty="0">
                <a:latin typeface="Arial" panose="020B0604020202020204" pitchFamily="34" charset="0"/>
                <a:cs typeface="Arial" panose="020B0604020202020204" pitchFamily="34" charset="0"/>
              </a:rPr>
              <a:t> </a:t>
            </a:r>
            <a:r>
              <a:rPr lang="vi-VN" sz="2400" b="1" dirty="0">
                <a:solidFill>
                  <a:srgbClr val="FF0000"/>
                </a:solidFill>
                <a:latin typeface="Arial" panose="020B0604020202020204" pitchFamily="34" charset="0"/>
                <a:cs typeface="Arial" panose="020B0604020202020204" pitchFamily="34" charset="0"/>
              </a:rPr>
              <a:t>NSX là một cấp</a:t>
            </a:r>
            <a:r>
              <a:rPr lang="en-US" sz="2400" b="1" dirty="0">
                <a:solidFill>
                  <a:srgbClr val="FF0000"/>
                </a:solidFill>
                <a:latin typeface="Arial" panose="020B0604020202020204" pitchFamily="34" charset="0"/>
                <a:cs typeface="Arial" panose="020B0604020202020204" pitchFamily="34" charset="0"/>
              </a:rPr>
              <a:t> </a:t>
            </a:r>
            <a:r>
              <a:rPr lang="en-US" sz="2400" b="1" dirty="0" err="1">
                <a:solidFill>
                  <a:srgbClr val="FF0000"/>
                </a:solidFill>
                <a:latin typeface="Arial" panose="020B0604020202020204" pitchFamily="34" charset="0"/>
                <a:cs typeface="Arial" panose="020B0604020202020204" pitchFamily="34" charset="0"/>
              </a:rPr>
              <a:t>của</a:t>
            </a:r>
            <a:r>
              <a:rPr lang="en-US" sz="2400" b="1" dirty="0">
                <a:solidFill>
                  <a:srgbClr val="FF0000"/>
                </a:solidFill>
                <a:latin typeface="Arial" panose="020B0604020202020204" pitchFamily="34" charset="0"/>
                <a:cs typeface="Arial" panose="020B0604020202020204" pitchFamily="34" charset="0"/>
              </a:rPr>
              <a:t> </a:t>
            </a:r>
            <a:r>
              <a:rPr lang="en-US" sz="2400" b="1" dirty="0" err="1">
                <a:solidFill>
                  <a:srgbClr val="FF0000"/>
                </a:solidFill>
                <a:latin typeface="Arial" panose="020B0604020202020204" pitchFamily="34" charset="0"/>
                <a:cs typeface="Arial" panose="020B0604020202020204" pitchFamily="34" charset="0"/>
              </a:rPr>
              <a:t>hệ</a:t>
            </a:r>
            <a:r>
              <a:rPr lang="en-US" sz="2400" b="1" dirty="0">
                <a:solidFill>
                  <a:srgbClr val="FF0000"/>
                </a:solidFill>
                <a:latin typeface="Arial" panose="020B0604020202020204" pitchFamily="34" charset="0"/>
                <a:cs typeface="Arial" panose="020B0604020202020204" pitchFamily="34" charset="0"/>
              </a:rPr>
              <a:t> </a:t>
            </a:r>
            <a:r>
              <a:rPr lang="en-US" sz="2400" b="1" dirty="0" err="1">
                <a:solidFill>
                  <a:srgbClr val="FF0000"/>
                </a:solidFill>
                <a:latin typeface="Arial" panose="020B0604020202020204" pitchFamily="34" charset="0"/>
                <a:cs typeface="Arial" panose="020B0604020202020204" pitchFamily="34" charset="0"/>
              </a:rPr>
              <a:t>thống</a:t>
            </a:r>
            <a:r>
              <a:rPr lang="vi-VN" sz="2400" b="1" dirty="0">
                <a:solidFill>
                  <a:srgbClr val="FF0000"/>
                </a:solidFill>
                <a:latin typeface="Arial" panose="020B0604020202020204" pitchFamily="34" charset="0"/>
                <a:cs typeface="Arial" panose="020B0604020202020204" pitchFamily="34" charset="0"/>
              </a:rPr>
              <a:t> NSNN nên nó mang đầy đủ những đặc điểm chung của NSNN, cụ thể: </a:t>
            </a:r>
          </a:p>
          <a:p>
            <a:pPr marL="0" indent="0" algn="just">
              <a:lnSpc>
                <a:spcPct val="150000"/>
              </a:lnSpc>
              <a:buNone/>
            </a:pPr>
            <a:r>
              <a:rPr lang="vi-VN" sz="2400" dirty="0">
                <a:latin typeface="Arial" panose="020B0604020202020204" pitchFamily="34" charset="0"/>
                <a:cs typeface="Arial" panose="020B0604020202020204" pitchFamily="34" charset="0"/>
              </a:rPr>
              <a:t>+ Các khoản thu, chi ngân sách xã được dự toán và thực hiện trong một khoảng thời gian nhất định,</a:t>
            </a:r>
            <a:r>
              <a:rPr lang="en-US" sz="2400"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theo một quy trình: lập dự toán, chấp hành và quyết toán ngân sách.</a:t>
            </a:r>
            <a:endParaRPr lang="en-US" sz="2400" dirty="0">
              <a:latin typeface="Arial" panose="020B0604020202020204" pitchFamily="34" charset="0"/>
              <a:cs typeface="Arial" panose="020B0604020202020204" pitchFamily="34" charset="0"/>
            </a:endParaRPr>
          </a:p>
          <a:p>
            <a:pPr algn="just">
              <a:lnSpc>
                <a:spcPct val="120000"/>
              </a:lnSpc>
            </a:pPr>
            <a:r>
              <a:rPr lang="en-US" sz="2400" dirty="0">
                <a:latin typeface="Arial" panose="020B0604020202020204" pitchFamily="34" charset="0"/>
                <a:cs typeface="Arial" panose="020B0604020202020204" pitchFamily="34" charset="0"/>
              </a:rPr>
              <a:t>+ </a:t>
            </a:r>
            <a:r>
              <a:rPr lang="vi-VN" sz="2400" dirty="0">
                <a:cs typeface="Arial" panose="020B0604020202020204" pitchFamily="34" charset="0"/>
              </a:rPr>
              <a:t>Thu NSX bao gồm các khoản thu NSNN phân cấp cho </a:t>
            </a:r>
            <a:r>
              <a:rPr lang="en-US" sz="2400" dirty="0" err="1">
                <a:latin typeface="Arial" panose="020B0604020202020204" pitchFamily="34" charset="0"/>
                <a:cs typeface="Arial" panose="020B0604020202020204" pitchFamily="34" charset="0"/>
              </a:rPr>
              <a:t>cấp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hưởng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bổ</a:t>
            </a:r>
            <a:r>
              <a:rPr lang="en-US" sz="2400" dirty="0">
                <a:latin typeface="Arial" panose="020B0604020202020204" pitchFamily="34" charset="0"/>
                <a:cs typeface="Arial" panose="020B0604020202020204" pitchFamily="34" charset="0"/>
              </a:rPr>
              <a:t> sung </a:t>
            </a:r>
            <a:r>
              <a:rPr lang="en-US" sz="2400" dirty="0" err="1">
                <a:latin typeface="Arial" panose="020B0604020202020204" pitchFamily="34" charset="0"/>
                <a:cs typeface="Arial" panose="020B0604020202020204" pitchFamily="34" charset="0"/>
              </a:rPr>
              <a:t>từ</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ngân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sách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cấp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cho</a:t>
            </a:r>
            <a:r>
              <a:rPr lang="en-US" sz="2400" dirty="0">
                <a:latin typeface="Arial" panose="020B0604020202020204" pitchFamily="34" charset="0"/>
                <a:cs typeface="Arial" panose="020B0604020202020204" pitchFamily="34" charset="0"/>
              </a:rPr>
              <a:t> NS </a:t>
            </a:r>
            <a:r>
              <a:rPr lang="en-US" sz="2400" dirty="0" err="1">
                <a:latin typeface="Arial" panose="020B0604020202020204" pitchFamily="34" charset="0"/>
                <a:cs typeface="Arial" panose="020B0604020202020204" pitchFamily="34" charset="0"/>
              </a:rPr>
              <a:t>cấp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khoản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theo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định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PL;</a:t>
            </a:r>
            <a:endParaRPr lang="vi-VN" sz="2400" dirty="0">
              <a:cs typeface="Arial" panose="020B0604020202020204" pitchFamily="34" charset="0"/>
            </a:endParaRPr>
          </a:p>
          <a:p>
            <a:pPr algn="just">
              <a:lnSpc>
                <a:spcPct val="120000"/>
              </a:lnSpc>
            </a:pPr>
            <a:r>
              <a:rPr lang="vi-VN" sz="2400" dirty="0">
                <a:cs typeface="Arial" panose="020B0604020202020204" pitchFamily="34" charset="0"/>
              </a:rPr>
              <a:t>+ Chi NSX gồm chi ĐTPT và chi thường xuyên theo phân cấp quản lý NN cho xã</a:t>
            </a:r>
            <a:r>
              <a:rPr lang="en-US" sz="2400" dirty="0">
                <a:latin typeface="Arial" panose="020B0604020202020204" pitchFamily="34" charset="0"/>
                <a:cs typeface="Arial" panose="020B0604020202020204" pitchFamily="34" charset="0"/>
              </a:rPr>
              <a:t>;</a:t>
            </a:r>
            <a:endParaRPr lang="vi-VN" sz="2400" dirty="0">
              <a:latin typeface="Arial" panose="020B0604020202020204" pitchFamily="34" charset="0"/>
              <a:cs typeface="Arial" panose="020B0604020202020204" pitchFamily="34" charset="0"/>
            </a:endParaRPr>
          </a:p>
          <a:p>
            <a:pPr marL="0" indent="0" algn="just">
              <a:lnSpc>
                <a:spcPct val="150000"/>
              </a:lnSpc>
              <a:buNone/>
            </a:pPr>
            <a:r>
              <a:rPr lang="vi-VN" sz="2400" dirty="0">
                <a:latin typeface="Arial" panose="020B0604020202020204" pitchFamily="34" charset="0"/>
                <a:cs typeface="Arial" panose="020B0604020202020204" pitchFamily="34" charset="0"/>
              </a:rPr>
              <a:t>+ Được quản lý và điều hành theo dự toán và theo chế độ, tiêu chuẩn, định mức do cơ quan có thẩm quyền quy định.</a:t>
            </a:r>
          </a:p>
        </p:txBody>
      </p:sp>
    </p:spTree>
    <p:extLst>
      <p:ext uri="{BB962C8B-B14F-4D97-AF65-F5344CB8AC3E}">
        <p14:creationId xmlns:p14="http://schemas.microsoft.com/office/powerpoint/2010/main" val="921866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7B4ED58-41C3-43C8-E5D6-8B8B5859EAA7}"/>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3.1.1. ĐẶC ĐIỂM NGÂN SÁCH XÃ</a:t>
            </a:r>
          </a:p>
        </p:txBody>
      </p:sp>
      <p:pic>
        <p:nvPicPr>
          <p:cNvPr id="8" name="Picture 7">
            <a:extLst>
              <a:ext uri="{FF2B5EF4-FFF2-40B4-BE49-F238E27FC236}">
                <a16:creationId xmlns:a16="http://schemas.microsoft.com/office/drawing/2014/main" id="{E3178327-5142-E19E-D74A-8B518479C14F}"/>
              </a:ext>
            </a:extLst>
          </p:cNvPr>
          <p:cNvPicPr>
            <a:picLocks noChangeAspect="1"/>
          </p:cNvPicPr>
          <p:nvPr/>
        </p:nvPicPr>
        <p:blipFill>
          <a:blip r:embed="rId3"/>
          <a:stretch>
            <a:fillRect/>
          </a:stretch>
        </p:blipFill>
        <p:spPr>
          <a:xfrm>
            <a:off x="-2" y="1205346"/>
            <a:ext cx="12192001" cy="5652654"/>
          </a:xfrm>
          <a:prstGeom prst="rect">
            <a:avLst/>
          </a:prstGeom>
        </p:spPr>
      </p:pic>
      <p:sp>
        <p:nvSpPr>
          <p:cNvPr id="9" name="TextBox 8">
            <a:extLst>
              <a:ext uri="{FF2B5EF4-FFF2-40B4-BE49-F238E27FC236}">
                <a16:creationId xmlns:a16="http://schemas.microsoft.com/office/drawing/2014/main" id="{3EE2848F-8603-D153-941A-612D612B1EA3}"/>
              </a:ext>
            </a:extLst>
          </p:cNvPr>
          <p:cNvSpPr txBox="1"/>
          <p:nvPr/>
        </p:nvSpPr>
        <p:spPr>
          <a:xfrm>
            <a:off x="1093305" y="3538334"/>
            <a:ext cx="2385392" cy="1754326"/>
          </a:xfrm>
          <a:prstGeom prst="rect">
            <a:avLst/>
          </a:prstGeom>
          <a:noFill/>
        </p:spPr>
        <p:txBody>
          <a:bodyPr wrap="square" rtlCol="0">
            <a:spAutoFit/>
          </a:bodyPr>
          <a:lstStyle/>
          <a:p>
            <a:pPr algn="ct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vai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trò</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trọng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việc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nhiệm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vụ</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cấp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triển</a:t>
            </a:r>
            <a:r>
              <a:rPr lang="en-US" dirty="0">
                <a:latin typeface="Arial" panose="020B0604020202020204" pitchFamily="34" charset="0"/>
                <a:cs typeface="Arial" panose="020B0604020202020204" pitchFamily="34" charset="0"/>
              </a:rPr>
              <a:t> KT-XH </a:t>
            </a:r>
            <a:r>
              <a:rPr lang="en-US" dirty="0" err="1">
                <a:latin typeface="Arial" panose="020B0604020202020204" pitchFamily="34" charset="0"/>
                <a:cs typeface="Arial" panose="020B0604020202020204" pitchFamily="34" charset="0"/>
              </a:rPr>
              <a:t>trên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bàn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xã</a:t>
            </a:r>
            <a:r>
              <a:rPr lang="en-US" dirty="0">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C501C0D1-C16B-9906-E512-EA4A9E4ACA86}"/>
              </a:ext>
            </a:extLst>
          </p:cNvPr>
          <p:cNvSpPr txBox="1"/>
          <p:nvPr/>
        </p:nvSpPr>
        <p:spPr>
          <a:xfrm>
            <a:off x="5049078" y="3816626"/>
            <a:ext cx="2007705" cy="1477328"/>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Thu, chi NS </a:t>
            </a:r>
            <a:r>
              <a:rPr lang="en-US" dirty="0" err="1">
                <a:latin typeface="Arial" panose="020B0604020202020204" pitchFamily="34" charset="0"/>
                <a:cs typeface="Arial" panose="020B0604020202020204" pitchFamily="34" charset="0"/>
              </a:rPr>
              <a:t>xã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tiếp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nhanh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chóng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cư</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xã</a:t>
            </a:r>
            <a:endParaRPr lang="en-US"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BCD1F796-7E82-9EB7-188A-750829549243}"/>
              </a:ext>
            </a:extLst>
          </p:cNvPr>
          <p:cNvSpPr txBox="1"/>
          <p:nvPr/>
        </p:nvSpPr>
        <p:spPr>
          <a:xfrm>
            <a:off x="8931964" y="3717488"/>
            <a:ext cx="2166731" cy="2862322"/>
          </a:xfrm>
          <a:prstGeom prst="rect">
            <a:avLst/>
          </a:prstGeom>
          <a:noFill/>
        </p:spPr>
        <p:txBody>
          <a:bodyPr wrap="square" rtlCol="0">
            <a:spAutoFit/>
          </a:bodyPr>
          <a:lstStyle/>
          <a:p>
            <a:pPr algn="ctr"/>
            <a:r>
              <a:rPr lang="en-US" dirty="0" err="1">
                <a:latin typeface="Arial" panose="020B0604020202020204" pitchFamily="34" charset="0"/>
                <a:cs typeface="Arial" panose="020B0604020202020204" pitchFamily="34" charset="0"/>
              </a:rPr>
              <a:t>Phân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cấp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nguồn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nhiệm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vụ</a:t>
            </a:r>
            <a:r>
              <a:rPr lang="en-US" dirty="0">
                <a:latin typeface="Arial" panose="020B0604020202020204" pitchFamily="34" charset="0"/>
                <a:cs typeface="Arial" panose="020B0604020202020204" pitchFamily="34" charset="0"/>
              </a:rPr>
              <a:t> chi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NS </a:t>
            </a:r>
            <a:r>
              <a:rPr lang="en-US" dirty="0" err="1">
                <a:latin typeface="Arial" panose="020B0604020202020204" pitchFamily="34" charset="0"/>
                <a:cs typeface="Arial" panose="020B0604020202020204" pitchFamily="34" charset="0"/>
              </a:rPr>
              <a:t>xã</a:t>
            </a:r>
            <a:r>
              <a:rPr lang="en-US" dirty="0">
                <a:latin typeface="Arial" panose="020B0604020202020204" pitchFamily="34" charset="0"/>
                <a:cs typeface="Arial" panose="020B0604020202020204" pitchFamily="34" charset="0"/>
              </a:rPr>
              <a:t>  do HĐND </a:t>
            </a:r>
            <a:r>
              <a:rPr lang="en-US" dirty="0" err="1">
                <a:latin typeface="Arial" panose="020B0604020202020204" pitchFamily="34" charset="0"/>
                <a:cs typeface="Arial" panose="020B0604020202020204" pitchFamily="34" charset="0"/>
              </a:rPr>
              <a:t>cấp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tỉnh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bảo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đảm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phù</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hợp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đặc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cư</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xã</a:t>
            </a:r>
            <a:r>
              <a:rPr 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798421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ED164-1625-71D4-353C-AF4631B5BD4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512AAF-E99E-5772-ECA9-5DC8883DBC5D}"/>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 PHẠM VI THU, CHI NGÂN SÁCH XÃ</a:t>
            </a:r>
          </a:p>
        </p:txBody>
      </p:sp>
      <p:sp>
        <p:nvSpPr>
          <p:cNvPr id="9" name="Rectangle: Rounded Corners 8">
            <a:extLst>
              <a:ext uri="{FF2B5EF4-FFF2-40B4-BE49-F238E27FC236}">
                <a16:creationId xmlns:a16="http://schemas.microsoft.com/office/drawing/2014/main" id="{E275A2E6-7C6B-46A4-6A0E-EA4AFC5914B0}"/>
              </a:ext>
            </a:extLst>
          </p:cNvPr>
          <p:cNvSpPr/>
          <p:nvPr/>
        </p:nvSpPr>
        <p:spPr>
          <a:xfrm>
            <a:off x="1983409" y="1664461"/>
            <a:ext cx="3182124" cy="44037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a:solidFill>
                  <a:schemeClr val="tx1"/>
                </a:solidFill>
                <a:latin typeface="Times New Roman" panose="02020603050405020304" pitchFamily="18" charset="0"/>
                <a:cs typeface="Times New Roman" panose="02020603050405020304" pitchFamily="18" charset="0"/>
              </a:rPr>
              <a:t>THU NGÂN SÁCH </a:t>
            </a:r>
          </a:p>
          <a:p>
            <a:pPr algn="ctr"/>
            <a:r>
              <a:rPr lang="en-US" sz="4400" b="1" dirty="0">
                <a:solidFill>
                  <a:schemeClr val="tx1"/>
                </a:solidFill>
                <a:latin typeface="Times New Roman" panose="02020603050405020304" pitchFamily="18" charset="0"/>
                <a:cs typeface="Times New Roman" panose="02020603050405020304" pitchFamily="18" charset="0"/>
              </a:rPr>
              <a:t>XÃ</a:t>
            </a:r>
          </a:p>
        </p:txBody>
      </p:sp>
      <p:sp>
        <p:nvSpPr>
          <p:cNvPr id="10" name="Rectangle: Rounded Corners 9">
            <a:extLst>
              <a:ext uri="{FF2B5EF4-FFF2-40B4-BE49-F238E27FC236}">
                <a16:creationId xmlns:a16="http://schemas.microsoft.com/office/drawing/2014/main" id="{9BD03166-BBED-6EA1-5216-2C881A34D850}"/>
              </a:ext>
            </a:extLst>
          </p:cNvPr>
          <p:cNvSpPr/>
          <p:nvPr/>
        </p:nvSpPr>
        <p:spPr>
          <a:xfrm>
            <a:off x="6378769" y="1645411"/>
            <a:ext cx="3182124" cy="44037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a:solidFill>
                  <a:schemeClr val="tx1"/>
                </a:solidFill>
                <a:latin typeface="Times New Roman" panose="02020603050405020304" pitchFamily="18" charset="0"/>
                <a:cs typeface="Times New Roman" panose="02020603050405020304" pitchFamily="18" charset="0"/>
              </a:rPr>
              <a:t>CHI NGÂN SÁCH </a:t>
            </a:r>
          </a:p>
          <a:p>
            <a:pPr algn="ctr"/>
            <a:r>
              <a:rPr lang="en-US" sz="4400" b="1" dirty="0">
                <a:solidFill>
                  <a:schemeClr val="tx1"/>
                </a:solidFill>
                <a:latin typeface="Times New Roman" panose="02020603050405020304" pitchFamily="18" charset="0"/>
                <a:cs typeface="Times New Roman" panose="02020603050405020304" pitchFamily="18" charset="0"/>
              </a:rPr>
              <a:t>XÃ</a:t>
            </a:r>
          </a:p>
        </p:txBody>
      </p:sp>
    </p:spTree>
    <p:extLst>
      <p:ext uri="{BB962C8B-B14F-4D97-AF65-F5344CB8AC3E}">
        <p14:creationId xmlns:p14="http://schemas.microsoft.com/office/powerpoint/2010/main" val="1808242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62B24-27AB-17CF-971B-07241BDEBEE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C0048B0-5F9D-DB8A-1557-8C4CCF19D3A7}"/>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12" name="Content Placeholder 2">
            <a:extLst>
              <a:ext uri="{FF2B5EF4-FFF2-40B4-BE49-F238E27FC236}">
                <a16:creationId xmlns:a16="http://schemas.microsoft.com/office/drawing/2014/main" id="{B1D0E157-B4CA-14A5-B78C-6EE01B7B7AAE}"/>
              </a:ext>
            </a:extLst>
          </p:cNvPr>
          <p:cNvSpPr txBox="1">
            <a:spLocks/>
          </p:cNvSpPr>
          <p:nvPr/>
        </p:nvSpPr>
        <p:spPr>
          <a:xfrm>
            <a:off x="0" y="1205344"/>
            <a:ext cx="12191999" cy="565265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Font typeface="Wingdings" panose="05000000000000000000" pitchFamily="2" charset="2"/>
              <a:buChar char="v"/>
            </a:pPr>
            <a:r>
              <a:rPr lang="en-US" b="1" dirty="0">
                <a:solidFill>
                  <a:srgbClr val="FF0000"/>
                </a:solidFill>
                <a:highlight>
                  <a:srgbClr val="FFFFFF"/>
                </a:highlight>
                <a:latin typeface="Times New Roman" panose="02020603050405020304" pitchFamily="18" charset="0"/>
                <a:cs typeface="Times New Roman" panose="02020603050405020304" pitchFamily="18" charset="0"/>
              </a:rPr>
              <a:t> </a:t>
            </a:r>
            <a:r>
              <a:rPr lang="vi-VN" sz="3200" b="1" dirty="0">
                <a:solidFill>
                  <a:srgbClr val="FF0000"/>
                </a:solidFill>
                <a:highlight>
                  <a:srgbClr val="FFFFFF"/>
                </a:highlight>
                <a:latin typeface="Times New Roman" panose="02020603050405020304" pitchFamily="18" charset="0"/>
                <a:cs typeface="Times New Roman" panose="02020603050405020304" pitchFamily="18" charset="0"/>
              </a:rPr>
              <a:t>Thu ngân sách xã được hưởng bao gồ</a:t>
            </a:r>
            <a:r>
              <a:rPr lang="en-US" sz="3200" b="1" dirty="0">
                <a:solidFill>
                  <a:srgbClr val="FF0000"/>
                </a:solidFill>
                <a:highlight>
                  <a:srgbClr val="FFFFFF"/>
                </a:highlight>
                <a:latin typeface="Times New Roman" panose="02020603050405020304" pitchFamily="18" charset="0"/>
                <a:cs typeface="Times New Roman" panose="02020603050405020304" pitchFamily="18" charset="0"/>
              </a:rPr>
              <a:t>m:</a:t>
            </a:r>
            <a:endParaRPr lang="vi-VN" sz="3200" b="1" dirty="0">
              <a:solidFill>
                <a:srgbClr val="FF0000"/>
              </a:solidFill>
              <a:highlight>
                <a:srgbClr val="FFFFFF"/>
              </a:highlight>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r>
              <a:rPr lang="vi-VN" b="1" dirty="0">
                <a:solidFill>
                  <a:srgbClr val="000000"/>
                </a:solidFill>
                <a:highlight>
                  <a:srgbClr val="FFFFFF"/>
                </a:highlight>
                <a:latin typeface="+mj-lt"/>
              </a:rPr>
              <a:t>	</a:t>
            </a:r>
            <a:r>
              <a:rPr lang="en-US" dirty="0">
                <a:solidFill>
                  <a:srgbClr val="000000"/>
                </a:solidFill>
                <a:highlight>
                  <a:srgbClr val="FFFFFF"/>
                </a:highlight>
                <a:latin typeface="+mj-lt"/>
              </a:rPr>
              <a:t>-</a:t>
            </a:r>
            <a:r>
              <a:rPr lang="en-US" b="1" dirty="0">
                <a:solidFill>
                  <a:srgbClr val="000000"/>
                </a:solidFill>
                <a:highlight>
                  <a:srgbClr val="FFFFFF"/>
                </a:highlight>
                <a:latin typeface="+mj-lt"/>
              </a:rPr>
              <a:t> </a:t>
            </a:r>
            <a:r>
              <a:rPr lang="vi-VN" sz="2400" b="1" i="1" dirty="0">
                <a:solidFill>
                  <a:srgbClr val="000000"/>
                </a:solidFill>
                <a:highlight>
                  <a:srgbClr val="FFFFFF"/>
                </a:highlight>
                <a:latin typeface="Times New Roman" panose="02020603050405020304" pitchFamily="18" charset="0"/>
                <a:cs typeface="Times New Roman" panose="02020603050405020304" pitchFamily="18" charset="0"/>
              </a:rPr>
              <a:t>Các khoản thu NS</a:t>
            </a:r>
            <a:r>
              <a:rPr lang="en-US" sz="2400" b="1" i="1" dirty="0">
                <a:solidFill>
                  <a:srgbClr val="000000"/>
                </a:solidFill>
                <a:highlight>
                  <a:srgbClr val="FFFFFF"/>
                </a:highlight>
                <a:latin typeface="Times New Roman" panose="02020603050405020304" pitchFamily="18" charset="0"/>
                <a:cs typeface="Times New Roman" panose="02020603050405020304" pitchFamily="18" charset="0"/>
              </a:rPr>
              <a:t> </a:t>
            </a:r>
            <a:r>
              <a:rPr lang="en-US" sz="2400" b="1" i="1" dirty="0" err="1">
                <a:solidFill>
                  <a:srgbClr val="000000"/>
                </a:solidFill>
                <a:highlight>
                  <a:srgbClr val="FFFFFF"/>
                </a:highlight>
                <a:latin typeface="Times New Roman" panose="02020603050405020304" pitchFamily="18" charset="0"/>
                <a:cs typeface="Times New Roman" panose="02020603050405020304" pitchFamily="18" charset="0"/>
              </a:rPr>
              <a:t>xã</a:t>
            </a:r>
            <a:r>
              <a:rPr lang="vi-VN" sz="2400" b="1" i="1" dirty="0">
                <a:solidFill>
                  <a:srgbClr val="000000"/>
                </a:solidFill>
                <a:highlight>
                  <a:srgbClr val="FFFFFF"/>
                </a:highlight>
                <a:latin typeface="Times New Roman" panose="02020603050405020304" pitchFamily="18" charset="0"/>
                <a:cs typeface="Times New Roman" panose="02020603050405020304" pitchFamily="18" charset="0"/>
              </a:rPr>
              <a:t> hưởng theo phân cấp</a:t>
            </a:r>
            <a:endParaRPr lang="en-US" sz="2400" b="1" i="1" dirty="0">
              <a:solidFill>
                <a:srgbClr val="000000"/>
              </a:solidFill>
              <a:highlight>
                <a:srgbClr val="FFFFFF"/>
              </a:highlight>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r>
              <a:rPr lang="en-US" sz="2400" b="1" i="1" dirty="0">
                <a:solidFill>
                  <a:srgbClr val="000000"/>
                </a:solidFill>
                <a:highlight>
                  <a:srgbClr val="FFFFFF"/>
                </a:highlight>
                <a:latin typeface="Times New Roman" panose="02020603050405020304" pitchFamily="18" charset="0"/>
                <a:cs typeface="Times New Roman" panose="02020603050405020304" pitchFamily="18" charset="0"/>
              </a:rPr>
              <a:t>		</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Thu NSX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hưởng</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100%</a:t>
            </a:r>
          </a:p>
          <a:p>
            <a:pPr marL="0" indent="0" algn="just">
              <a:lnSpc>
                <a:spcPct val="100000"/>
              </a:lnSpc>
              <a:buFont typeface="Arial" panose="020B0604020202020204" pitchFamily="34" charset="0"/>
              <a:buNone/>
            </a:pP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 Thu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phân</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chia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giữa</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NS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cấp</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tỉnh</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và</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NS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cấp</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xã</a:t>
            </a:r>
            <a:endParaRPr lang="vi-VN" sz="2400" dirty="0">
              <a:solidFill>
                <a:srgbClr val="000000"/>
              </a:solidFill>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Font typeface="Arial" panose="020B0604020202020204" pitchFamily="34" charset="0"/>
              <a:buNone/>
            </a:pPr>
            <a:r>
              <a:rPr lang="vi-VN"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vi-VN" sz="2400" b="1" i="1" dirty="0">
                <a:solidFill>
                  <a:srgbClr val="000000"/>
                </a:solidFill>
                <a:highlight>
                  <a:srgbClr val="FFFFFF"/>
                </a:highlight>
                <a:latin typeface="Times New Roman" panose="02020603050405020304" pitchFamily="18" charset="0"/>
                <a:cs typeface="Times New Roman" panose="02020603050405020304" pitchFamily="18" charset="0"/>
              </a:rPr>
              <a:t>Thu bổ sung từ ngân sách cấp trên</a:t>
            </a:r>
            <a:endParaRPr lang="en-US" sz="2400" b="1" i="1" dirty="0">
              <a:solidFill>
                <a:srgbClr val="000000"/>
              </a:solidFill>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Font typeface="Arial" panose="020B0604020202020204" pitchFamily="34" charset="0"/>
              <a:buNone/>
            </a:pPr>
            <a:r>
              <a:rPr lang="en-US" sz="2400" b="1" i="1" dirty="0">
                <a:solidFill>
                  <a:srgbClr val="000000"/>
                </a:solidFill>
                <a:highlight>
                  <a:srgbClr val="FFFFFF"/>
                </a:highlight>
                <a:latin typeface="Times New Roman" panose="02020603050405020304" pitchFamily="18" charset="0"/>
                <a:cs typeface="Times New Roman" panose="02020603050405020304" pitchFamily="18" charset="0"/>
              </a:rPr>
              <a:t>		</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Thu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bổ</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sung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cân</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đối</a:t>
            </a:r>
            <a:endParaRPr lang="en-US" sz="2400" dirty="0">
              <a:solidFill>
                <a:srgbClr val="000000"/>
              </a:solidFill>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Font typeface="Arial" panose="020B0604020202020204" pitchFamily="34" charset="0"/>
              <a:buNone/>
            </a:pP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 Thu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bổ</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sung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có</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mục</a:t>
            </a: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000000"/>
                </a:solidFill>
                <a:highlight>
                  <a:srgbClr val="FFFFFF"/>
                </a:highlight>
                <a:latin typeface="Times New Roman" panose="02020603050405020304" pitchFamily="18" charset="0"/>
                <a:cs typeface="Times New Roman" panose="02020603050405020304" pitchFamily="18" charset="0"/>
              </a:rPr>
              <a:t>tiêu</a:t>
            </a:r>
            <a:endParaRPr lang="en-US" sz="2400" dirty="0">
              <a:solidFill>
                <a:srgbClr val="000000"/>
              </a:solidFill>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Font typeface="Arial" panose="020B0604020202020204" pitchFamily="34" charset="0"/>
              <a:buNone/>
            </a:pP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vi-VN" dirty="0">
                <a:solidFill>
                  <a:srgbClr val="000000"/>
                </a:solidFill>
                <a:highlight>
                  <a:srgbClr val="FFFFFF"/>
                </a:highlight>
                <a:latin typeface="+mj-lt"/>
              </a:rPr>
              <a:t>	</a:t>
            </a:r>
            <a:endParaRPr lang="vi-VN" dirty="0">
              <a:solidFill>
                <a:srgbClr val="C00000"/>
              </a:solidFill>
              <a:highlight>
                <a:srgbClr val="FFFFFF"/>
              </a:highlight>
              <a:latin typeface="+mj-lt"/>
            </a:endParaRPr>
          </a:p>
        </p:txBody>
      </p:sp>
    </p:spTree>
    <p:extLst>
      <p:ext uri="{BB962C8B-B14F-4D97-AF65-F5344CB8AC3E}">
        <p14:creationId xmlns:p14="http://schemas.microsoft.com/office/powerpoint/2010/main" val="1368235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 calcmode="lin" valueType="num">
                                      <p:cBhvr additive="base">
                                        <p:cTn id="13"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anim calcmode="lin" valueType="num">
                                      <p:cBhvr additive="base">
                                        <p:cTn id="19"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anim calcmode="lin" valueType="num">
                                      <p:cBhvr additive="base">
                                        <p:cTn id="25" dur="5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anim calcmode="lin" valueType="num">
                                      <p:cBhvr additive="base">
                                        <p:cTn id="31"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xEl>
                                              <p:pRg st="5" end="5"/>
                                            </p:txEl>
                                          </p:spTgt>
                                        </p:tgtEl>
                                        <p:attrNameLst>
                                          <p:attrName>style.visibility</p:attrName>
                                        </p:attrNameLst>
                                      </p:cBhvr>
                                      <p:to>
                                        <p:strVal val="visible"/>
                                      </p:to>
                                    </p:set>
                                    <p:anim calcmode="lin" valueType="num">
                                      <p:cBhvr additive="base">
                                        <p:cTn id="37" dur="500" fill="hold"/>
                                        <p:tgtEl>
                                          <p:spTgt spid="1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2">
                                            <p:txEl>
                                              <p:pRg st="6" end="6"/>
                                            </p:txEl>
                                          </p:spTgt>
                                        </p:tgtEl>
                                        <p:attrNameLst>
                                          <p:attrName>style.visibility</p:attrName>
                                        </p:attrNameLst>
                                      </p:cBhvr>
                                      <p:to>
                                        <p:strVal val="visible"/>
                                      </p:to>
                                    </p:set>
                                    <p:anim calcmode="lin" valueType="num">
                                      <p:cBhvr additive="base">
                                        <p:cTn id="43"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2">
                                            <p:txEl>
                                              <p:pRg st="7" end="7"/>
                                            </p:txEl>
                                          </p:spTgt>
                                        </p:tgtEl>
                                        <p:attrNameLst>
                                          <p:attrName>style.visibility</p:attrName>
                                        </p:attrNameLst>
                                      </p:cBhvr>
                                      <p:to>
                                        <p:strVal val="visible"/>
                                      </p:to>
                                    </p:set>
                                    <p:anim calcmode="lin" valueType="num">
                                      <p:cBhvr additive="base">
                                        <p:cTn id="49" dur="500" fill="hold"/>
                                        <p:tgtEl>
                                          <p:spTgt spid="1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A011F-337A-A615-C572-88DECD98D01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E51F686-1418-904A-ACA4-1F7F86090664}"/>
              </a:ext>
            </a:extLst>
          </p:cNvPr>
          <p:cNvSpPr/>
          <p:nvPr/>
        </p:nvSpPr>
        <p:spPr>
          <a:xfrm>
            <a:off x="0" y="1"/>
            <a:ext cx="12192000" cy="933450"/>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2">
            <a:extLst>
              <a:ext uri="{FF2B5EF4-FFF2-40B4-BE49-F238E27FC236}">
                <a16:creationId xmlns:a16="http://schemas.microsoft.com/office/drawing/2014/main" id="{4DA5106A-5639-0671-51E5-869E21082DED}"/>
              </a:ext>
            </a:extLst>
          </p:cNvPr>
          <p:cNvSpPr txBox="1">
            <a:spLocks/>
          </p:cNvSpPr>
          <p:nvPr/>
        </p:nvSpPr>
        <p:spPr>
          <a:xfrm>
            <a:off x="0" y="1033894"/>
            <a:ext cx="12191999" cy="565265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v"/>
            </a:pP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Nguyên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tắc</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phân</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cấp</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nguồn</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thu</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cho</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ngân</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sách</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cấp</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xã</a:t>
            </a:r>
            <a:endParaRPr lang="en-US" sz="2400" b="1" dirty="0">
              <a:solidFill>
                <a:srgbClr val="FF0000"/>
              </a:solidFill>
              <a:highlight>
                <a:srgbClr val="FFFFFF"/>
              </a:highlight>
              <a:latin typeface="Times New Roman" panose="02020603050405020304" pitchFamily="18" charset="0"/>
              <a:cs typeface="Times New Roman" panose="02020603050405020304" pitchFamily="18" charset="0"/>
            </a:endParaRPr>
          </a:p>
          <a:p>
            <a:pPr marL="0" indent="0">
              <a:lnSpc>
                <a:spcPct val="100000"/>
              </a:lnSpc>
              <a:buNone/>
            </a:pPr>
            <a:r>
              <a:rPr lang="en-US" sz="2400" dirty="0">
                <a:highlight>
                  <a:srgbClr val="FFFFFF"/>
                </a:highlight>
                <a:latin typeface="Times New Roman" panose="02020603050405020304" pitchFamily="18" charset="0"/>
                <a:cs typeface="Times New Roman" panose="02020603050405020304" pitchFamily="18" charset="0"/>
              </a:rPr>
              <a:t>	</a:t>
            </a:r>
            <a:r>
              <a:rPr lang="vi-VN" sz="2400" dirty="0">
                <a:highlight>
                  <a:srgbClr val="FFFFFF"/>
                </a:highlight>
                <a:latin typeface="Times New Roman" panose="02020603050405020304" pitchFamily="18" charset="0"/>
                <a:cs typeface="Times New Roman" panose="02020603050405020304" pitchFamily="18" charset="0"/>
              </a:rPr>
              <a:t>Ngân sách cấp xã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được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nguồn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cụ</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thể</a:t>
            </a:r>
            <a:r>
              <a:rPr lang="en-US" sz="2400" dirty="0">
                <a:highlight>
                  <a:srgbClr val="FFFFFF"/>
                </a:highlight>
                <a:latin typeface="Times New Roman" panose="02020603050405020304" pitchFamily="18" charset="0"/>
                <a:cs typeface="Times New Roman" panose="02020603050405020304" pitchFamily="18" charset="0"/>
              </a:rPr>
              <a:t>.</a:t>
            </a:r>
          </a:p>
          <a:p>
            <a:pPr marL="0" indent="0">
              <a:lnSpc>
                <a:spcPct val="100000"/>
              </a:lnSpc>
              <a:buNone/>
            </a:pP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Hội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đồng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nhân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dân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tỉnh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quyết</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định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việc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nguồn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tỷ</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lệ</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phần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trăm</a:t>
            </a:r>
            <a:r>
              <a:rPr lang="en-US" sz="2400" dirty="0">
                <a:highlight>
                  <a:srgbClr val="FFFFFF"/>
                </a:highlight>
                <a:latin typeface="Times New Roman" panose="02020603050405020304" pitchFamily="18" charset="0"/>
                <a:cs typeface="Times New Roman" panose="02020603050405020304" pitchFamily="18" charset="0"/>
              </a:rPr>
              <a:t> (%)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chia </a:t>
            </a:r>
            <a:r>
              <a:rPr lang="en-US" sz="2400" dirty="0" err="1">
                <a:highlight>
                  <a:srgbClr val="FFFFFF"/>
                </a:highlight>
                <a:latin typeface="Times New Roman" panose="02020603050405020304" pitchFamily="18" charset="0"/>
                <a:cs typeface="Times New Roman" panose="02020603050405020304" pitchFamily="18" charset="0"/>
              </a:rPr>
              <a:t>các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khoản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giữa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ngân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sách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tỉnh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và</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ngân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sách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xã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phù</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hợp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quản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lý</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kinh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tế</a:t>
            </a:r>
            <a:r>
              <a:rPr lang="en-US" sz="2400" dirty="0">
                <a:highlight>
                  <a:srgbClr val="FFFFFF"/>
                </a:highlight>
                <a:latin typeface="Times New Roman" panose="02020603050405020304" pitchFamily="18" charset="0"/>
                <a:cs typeface="Times New Roman" panose="02020603050405020304" pitchFamily="18" charset="0"/>
              </a:rPr>
              <a:t> - </a:t>
            </a:r>
            <a:r>
              <a:rPr lang="en-US" sz="2400" dirty="0" err="1">
                <a:highlight>
                  <a:srgbClr val="FFFFFF"/>
                </a:highlight>
                <a:latin typeface="Times New Roman" panose="02020603050405020304" pitchFamily="18" charset="0"/>
                <a:cs typeface="Times New Roman" panose="02020603050405020304" pitchFamily="18" charset="0"/>
              </a:rPr>
              <a:t>xã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hội</a:t>
            </a:r>
            <a:r>
              <a:rPr lang="en-US" sz="2400" dirty="0">
                <a:highlight>
                  <a:srgbClr val="FFFFFF"/>
                </a:highlight>
                <a:latin typeface="Times New Roman" panose="02020603050405020304" pitchFamily="18" charset="0"/>
                <a:cs typeface="Times New Roman" panose="02020603050405020304" pitchFamily="18" charset="0"/>
              </a:rPr>
              <a:t>, an </a:t>
            </a:r>
            <a:r>
              <a:rPr lang="en-US" sz="2400" dirty="0" err="1">
                <a:highlight>
                  <a:srgbClr val="FFFFFF"/>
                </a:highlight>
                <a:latin typeface="Times New Roman" panose="02020603050405020304" pitchFamily="18" charset="0"/>
                <a:cs typeface="Times New Roman" panose="02020603050405020304" pitchFamily="18" charset="0"/>
              </a:rPr>
              <a:t>ninh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và</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khả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năng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quản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lý</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của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mỗi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trên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địa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bàn</a:t>
            </a:r>
            <a:r>
              <a:rPr lang="en-US" sz="2400" dirty="0">
                <a:highlight>
                  <a:srgbClr val="FFFFFF"/>
                </a:highlight>
                <a:latin typeface="Times New Roman" panose="02020603050405020304" pitchFamily="18" charset="0"/>
                <a:cs typeface="Times New Roman" panose="02020603050405020304" pitchFamily="18" charset="0"/>
              </a:rPr>
              <a:t>;</a:t>
            </a:r>
          </a:p>
          <a:p>
            <a:pPr marL="0" indent="0">
              <a:lnSpc>
                <a:spcPct val="100000"/>
              </a:lnSpc>
              <a:buNone/>
            </a:pP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Thực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hiện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chia </a:t>
            </a:r>
            <a:r>
              <a:rPr lang="en-US" sz="2400" dirty="0" err="1">
                <a:highlight>
                  <a:srgbClr val="FFFFFF"/>
                </a:highlight>
                <a:latin typeface="Times New Roman" panose="02020603050405020304" pitchFamily="18" charset="0"/>
                <a:cs typeface="Times New Roman" panose="02020603050405020304" pitchFamily="18" charset="0"/>
              </a:rPr>
              <a:t>theo</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tỷ</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lệ</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phần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trăm</a:t>
            </a:r>
            <a:r>
              <a:rPr lang="en-US" sz="2400" dirty="0">
                <a:highlight>
                  <a:srgbClr val="FFFFFF"/>
                </a:highlight>
                <a:latin typeface="Times New Roman" panose="02020603050405020304" pitchFamily="18" charset="0"/>
                <a:cs typeface="Times New Roman" panose="02020603050405020304" pitchFamily="18" charset="0"/>
              </a:rPr>
              <a:t> (%) </a:t>
            </a:r>
            <a:r>
              <a:rPr lang="en-US" sz="2400" dirty="0" err="1">
                <a:highlight>
                  <a:srgbClr val="FFFFFF"/>
                </a:highlight>
                <a:latin typeface="Times New Roman" panose="02020603050405020304" pitchFamily="18" charset="0"/>
                <a:cs typeface="Times New Roman" panose="02020603050405020304" pitchFamily="18" charset="0"/>
              </a:rPr>
              <a:t>đối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với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các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khoản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chia </a:t>
            </a:r>
            <a:r>
              <a:rPr lang="en-US" sz="2400" dirty="0" err="1">
                <a:highlight>
                  <a:srgbClr val="FFFFFF"/>
                </a:highlight>
                <a:latin typeface="Times New Roman" panose="02020603050405020304" pitchFamily="18" charset="0"/>
                <a:cs typeface="Times New Roman" panose="02020603050405020304" pitchFamily="18" charset="0"/>
              </a:rPr>
              <a:t>giữa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các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và</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số</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bổ</a:t>
            </a:r>
            <a:r>
              <a:rPr lang="en-US" sz="2400" dirty="0">
                <a:highlight>
                  <a:srgbClr val="FFFFFF"/>
                </a:highlight>
                <a:latin typeface="Times New Roman" panose="02020603050405020304" pitchFamily="18" charset="0"/>
                <a:cs typeface="Times New Roman" panose="02020603050405020304" pitchFamily="18" charset="0"/>
              </a:rPr>
              <a:t> sung </a:t>
            </a:r>
            <a:r>
              <a:rPr lang="en-US" sz="2400" dirty="0" err="1">
                <a:highlight>
                  <a:srgbClr val="FFFFFF"/>
                </a:highlight>
                <a:latin typeface="Times New Roman" panose="02020603050405020304" pitchFamily="18" charset="0"/>
                <a:cs typeface="Times New Roman" panose="02020603050405020304" pitchFamily="18" charset="0"/>
              </a:rPr>
              <a:t>từ</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trên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cho</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dưới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trên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cơ</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sở</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bảo</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đảm</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công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bằng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phát</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triển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đối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giữa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các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vùng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địa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phương</a:t>
            </a:r>
            <a:r>
              <a:rPr lang="en-US" sz="2400" dirty="0">
                <a:highlight>
                  <a:srgbClr val="FFFFFF"/>
                </a:highlight>
                <a:latin typeface="Times New Roman" panose="02020603050405020304" pitchFamily="18" charset="0"/>
                <a:cs typeface="Times New Roman" panose="02020603050405020304" pitchFamily="18" charset="0"/>
              </a:rPr>
              <a:t>;</a:t>
            </a:r>
            <a:endParaRPr lang="vi-VN" sz="2400" b="1" dirty="0">
              <a:highlight>
                <a:srgbClr val="FFFFFF"/>
              </a:highlight>
              <a:latin typeface="Times New Roman" panose="02020603050405020304" pitchFamily="18" charset="0"/>
              <a:cs typeface="Times New Roman" panose="02020603050405020304" pitchFamily="18" charset="0"/>
            </a:endParaRPr>
          </a:p>
          <a:p>
            <a:pPr marL="0" indent="0" algn="just">
              <a:lnSpc>
                <a:spcPct val="100000"/>
              </a:lnSpc>
              <a:buNone/>
            </a:pPr>
            <a:r>
              <a:rPr lang="vi-VN" sz="2400" b="1" dirty="0">
                <a:solidFill>
                  <a:srgbClr val="000000"/>
                </a:solidFill>
                <a:highlight>
                  <a:srgbClr val="FFFFFF"/>
                </a:highlight>
                <a:latin typeface="Times New Roman" panose="02020603050405020304" pitchFamily="18" charset="0"/>
                <a:cs typeface="Times New Roman" panose="02020603050405020304" pitchFamily="18" charset="0"/>
              </a:rPr>
              <a:t>	</a:t>
            </a:r>
            <a:r>
              <a:rPr lang="vi-VN" sz="2400" dirty="0">
                <a:highlight>
                  <a:srgbClr val="FFFFFF"/>
                </a:highlight>
                <a:latin typeface="Times New Roman" panose="02020603050405020304" pitchFamily="18" charset="0"/>
                <a:cs typeface="Times New Roman" panose="02020603050405020304" pitchFamily="18" charset="0"/>
              </a:rPr>
              <a:t>Ngân sách cấp xã được phân cấp nguồn thu bảo đảm chủ động thực hiện nhiệm vụ chi được giao; khuyến khích tăng cường quản lý thu, chống thất thu</a:t>
            </a:r>
            <a:r>
              <a:rPr lang="en-US" sz="2400" dirty="0">
                <a:highlight>
                  <a:srgbClr val="FFFFFF"/>
                </a:highlight>
                <a:latin typeface="Times New Roman" panose="02020603050405020304" pitchFamily="18" charset="0"/>
                <a:cs typeface="Times New Roman" panose="02020603050405020304" pitchFamily="18" charset="0"/>
              </a:rPr>
              <a:t>;</a:t>
            </a:r>
            <a:r>
              <a:rPr lang="vi-VN" sz="2400" dirty="0">
                <a:highlight>
                  <a:srgbClr val="FFFFFF"/>
                </a:highlight>
                <a:latin typeface="Times New Roman" panose="02020603050405020304" pitchFamily="18" charset="0"/>
                <a:cs typeface="Times New Roman" panose="02020603050405020304" pitchFamily="18" charset="0"/>
              </a:rPr>
              <a:t> </a:t>
            </a:r>
            <a:endParaRPr lang="en-US" sz="2400" dirty="0">
              <a:highlight>
                <a:srgbClr val="FFFFFF"/>
              </a:highlight>
              <a:latin typeface="Times New Roman" panose="02020603050405020304" pitchFamily="18" charset="0"/>
              <a:cs typeface="Times New Roman" panose="02020603050405020304" pitchFamily="18" charset="0"/>
            </a:endParaRPr>
          </a:p>
          <a:p>
            <a:pPr marL="0" indent="0" algn="just">
              <a:lnSpc>
                <a:spcPct val="100000"/>
              </a:lnSpc>
              <a:buNone/>
            </a:pPr>
            <a:r>
              <a:rPr lang="en-US" sz="2400" dirty="0">
                <a:highlight>
                  <a:srgbClr val="FFFFFF"/>
                </a:highlight>
                <a:latin typeface="Times New Roman" panose="02020603050405020304" pitchFamily="18" charset="0"/>
                <a:cs typeface="Times New Roman" panose="02020603050405020304" pitchFamily="18" charset="0"/>
              </a:rPr>
              <a:t>	</a:t>
            </a:r>
            <a:r>
              <a:rPr lang="vi-VN" sz="2400" dirty="0">
                <a:highlight>
                  <a:srgbClr val="FFFFFF"/>
                </a:highlight>
                <a:latin typeface="Times New Roman" panose="02020603050405020304" pitchFamily="18" charset="0"/>
                <a:cs typeface="Times New Roman" panose="02020603050405020304" pitchFamily="18" charset="0"/>
              </a:rPr>
              <a:t>Bảo đảm tỷ lệ phần trăm (%) phân chia các khoản thu cho ngân sách cấp tinh và ngân sách cấp xã bằng tỷ lệ phần trăm (%) phân chia của từng khoản thu ngân sách địa phương được hưởng (bao gồm các khoản thu ngân sách địa phương hưởng 100% và các khoản thu phân chia giữa ngân sách trung ương và ngân sách địa phương).</a:t>
            </a:r>
            <a:endParaRPr lang="en-US" sz="2400" dirty="0">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Font typeface="Arial" panose="020B0604020202020204" pitchFamily="34" charset="0"/>
              <a:buNone/>
            </a:pPr>
            <a:r>
              <a:rPr lang="en-US" sz="2400" dirty="0">
                <a:solidFill>
                  <a:srgbClr val="000000"/>
                </a:solidFill>
                <a:highlight>
                  <a:srgbClr val="FFFFFF"/>
                </a:highlight>
                <a:latin typeface="Times New Roman" panose="02020603050405020304" pitchFamily="18" charset="0"/>
                <a:cs typeface="Times New Roman" panose="02020603050405020304" pitchFamily="18" charset="0"/>
              </a:rPr>
              <a:t>	</a:t>
            </a:r>
            <a:r>
              <a:rPr lang="vi-VN" sz="2400" dirty="0">
                <a:solidFill>
                  <a:srgbClr val="000000"/>
                </a:solidFill>
                <a:highlight>
                  <a:srgbClr val="FFFFFF"/>
                </a:highlight>
                <a:latin typeface="Times New Roman" panose="02020603050405020304" pitchFamily="18" charset="0"/>
                <a:cs typeface="Times New Roman" panose="02020603050405020304" pitchFamily="18" charset="0"/>
              </a:rPr>
              <a:t>	</a:t>
            </a:r>
            <a:endParaRPr lang="vi-VN" sz="2400" dirty="0">
              <a:solidFill>
                <a:srgbClr val="C0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1826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48E86-B5F1-F410-266E-667CF0F4875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BEF8EF0-DA00-9824-ADD1-7B65E6778A8C}"/>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2">
            <a:extLst>
              <a:ext uri="{FF2B5EF4-FFF2-40B4-BE49-F238E27FC236}">
                <a16:creationId xmlns:a16="http://schemas.microsoft.com/office/drawing/2014/main" id="{EF64211E-B9CA-BAC9-E071-A8D9143B1273}"/>
              </a:ext>
            </a:extLst>
          </p:cNvPr>
          <p:cNvSpPr txBox="1">
            <a:spLocks/>
          </p:cNvSpPr>
          <p:nvPr/>
        </p:nvSpPr>
        <p:spPr>
          <a:xfrm>
            <a:off x="0" y="1205344"/>
            <a:ext cx="12191999" cy="52907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buFont typeface="Wingdings" panose="05000000000000000000" pitchFamily="2" charset="2"/>
              <a:buChar char="Ø"/>
            </a:pPr>
            <a:r>
              <a:rPr lang="en-US" b="1" dirty="0">
                <a:solidFill>
                  <a:srgbClr val="FF0000"/>
                </a:solidFill>
                <a:highlight>
                  <a:srgbClr val="FFFFFF"/>
                </a:highlight>
                <a:latin typeface="Times New Roman" panose="02020603050405020304" pitchFamily="18" charset="0"/>
                <a:cs typeface="Times New Roman" panose="02020603050405020304" pitchFamily="18" charset="0"/>
              </a:rPr>
              <a:t>Thu NS </a:t>
            </a:r>
            <a:r>
              <a:rPr lang="en-US" b="1" dirty="0" err="1">
                <a:solidFill>
                  <a:srgbClr val="FF0000"/>
                </a:solidFill>
                <a:highlight>
                  <a:srgbClr val="FFFFFF"/>
                </a:highlight>
                <a:latin typeface="Times New Roman" panose="02020603050405020304" pitchFamily="18" charset="0"/>
                <a:cs typeface="Times New Roman" panose="02020603050405020304" pitchFamily="18" charset="0"/>
              </a:rPr>
              <a:t>xã</a:t>
            </a:r>
            <a:r>
              <a:rPr lang="en-US"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FF"/>
                </a:highlight>
                <a:latin typeface="Times New Roman" panose="02020603050405020304" pitchFamily="18" charset="0"/>
                <a:cs typeface="Times New Roman" panose="02020603050405020304" pitchFamily="18" charset="0"/>
              </a:rPr>
              <a:t>được</a:t>
            </a:r>
            <a:r>
              <a:rPr lang="en-US"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FF"/>
                </a:highlight>
                <a:latin typeface="Times New Roman" panose="02020603050405020304" pitchFamily="18" charset="0"/>
                <a:cs typeface="Times New Roman" panose="02020603050405020304" pitchFamily="18" charset="0"/>
              </a:rPr>
              <a:t>hưởng</a:t>
            </a:r>
            <a:r>
              <a:rPr lang="en-US"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FF"/>
                </a:highlight>
                <a:latin typeface="Times New Roman" panose="02020603050405020304" pitchFamily="18" charset="0"/>
                <a:cs typeface="Times New Roman" panose="02020603050405020304" pitchFamily="18" charset="0"/>
              </a:rPr>
              <a:t>theo</a:t>
            </a:r>
            <a:r>
              <a:rPr lang="en-US"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FF"/>
                </a:highlight>
                <a:latin typeface="Times New Roman" panose="02020603050405020304" pitchFamily="18" charset="0"/>
                <a:cs typeface="Times New Roman" panose="02020603050405020304" pitchFamily="18" charset="0"/>
              </a:rPr>
              <a:t>phân</a:t>
            </a:r>
            <a:r>
              <a:rPr lang="en-US"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FF"/>
                </a:highlight>
                <a:latin typeface="Times New Roman" panose="02020603050405020304" pitchFamily="18" charset="0"/>
                <a:cs typeface="Times New Roman" panose="02020603050405020304" pitchFamily="18" charset="0"/>
              </a:rPr>
              <a:t>cấp</a:t>
            </a:r>
            <a:endParaRPr lang="en-US" b="1" dirty="0">
              <a:solidFill>
                <a:srgbClr val="FF0000"/>
              </a:solidFill>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en-US" sz="2400" dirty="0" err="1">
                <a:highlight>
                  <a:srgbClr val="FFFFFF"/>
                </a:highlight>
                <a:latin typeface="Times New Roman" panose="02020603050405020304" pitchFamily="18" charset="0"/>
                <a:cs typeface="Times New Roman" panose="02020603050405020304" pitchFamily="18" charset="0"/>
              </a:rPr>
              <a:t>Luật</a:t>
            </a:r>
            <a:r>
              <a:rPr lang="en-US" sz="2400" dirty="0">
                <a:highlight>
                  <a:srgbClr val="FFFFFF"/>
                </a:highlight>
                <a:latin typeface="Times New Roman" panose="02020603050405020304" pitchFamily="18" charset="0"/>
                <a:cs typeface="Times New Roman" panose="02020603050405020304" pitchFamily="18" charset="0"/>
              </a:rPr>
              <a:t> NSNN 2025 </a:t>
            </a:r>
            <a:r>
              <a:rPr lang="en-US" sz="2400" dirty="0" err="1">
                <a:highlight>
                  <a:srgbClr val="FFFFFF"/>
                </a:highlight>
                <a:latin typeface="Times New Roman" panose="02020603050405020304" pitchFamily="18" charset="0"/>
                <a:cs typeface="Times New Roman" panose="02020603050405020304" pitchFamily="18" charset="0"/>
              </a:rPr>
              <a:t>chỉ</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quy</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định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nguồn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nhiệm</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vụ</a:t>
            </a:r>
            <a:r>
              <a:rPr lang="en-US" sz="2400" dirty="0">
                <a:highlight>
                  <a:srgbClr val="FFFFFF"/>
                </a:highlight>
                <a:latin typeface="Times New Roman" panose="02020603050405020304" pitchFamily="18" charset="0"/>
                <a:cs typeface="Times New Roman" panose="02020603050405020304" pitchFamily="18" charset="0"/>
              </a:rPr>
              <a:t> chi </a:t>
            </a:r>
            <a:r>
              <a:rPr lang="en-US" sz="2400" dirty="0" err="1">
                <a:highlight>
                  <a:srgbClr val="FFFFFF"/>
                </a:highlight>
                <a:latin typeface="Times New Roman" panose="02020603050405020304" pitchFamily="18" charset="0"/>
                <a:cs typeface="Times New Roman" panose="02020603050405020304" pitchFamily="18" charset="0"/>
              </a:rPr>
              <a:t>giữa</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trung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ương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và</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địa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phương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Căn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cứ</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vào</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nguồn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của</a:t>
            </a:r>
            <a:r>
              <a:rPr lang="en-US" sz="2400" dirty="0">
                <a:highlight>
                  <a:srgbClr val="FFFFFF"/>
                </a:highlight>
                <a:latin typeface="Times New Roman" panose="02020603050405020304" pitchFamily="18" charset="0"/>
                <a:cs typeface="Times New Roman" panose="02020603050405020304" pitchFamily="18" charset="0"/>
              </a:rPr>
              <a:t> NSĐP, HĐND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tỉnh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quyết</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định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cụ</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thể</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nguồn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của</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xã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tỷ</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lệ</a:t>
            </a:r>
            <a:r>
              <a:rPr lang="en-US" sz="2400" dirty="0">
                <a:highlight>
                  <a:srgbClr val="FFFFFF"/>
                </a:highlight>
                <a:latin typeface="Times New Roman" panose="02020603050405020304" pitchFamily="18" charset="0"/>
                <a:cs typeface="Times New Roman" panose="02020603050405020304" pitchFamily="18" charset="0"/>
              </a:rPr>
              <a:t> %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chia </a:t>
            </a:r>
            <a:r>
              <a:rPr lang="en-US" sz="2400" dirty="0" err="1">
                <a:highlight>
                  <a:srgbClr val="FFFFFF"/>
                </a:highlight>
                <a:latin typeface="Times New Roman" panose="02020603050405020304" pitchFamily="18" charset="0"/>
                <a:cs typeface="Times New Roman" panose="02020603050405020304" pitchFamily="18" charset="0"/>
              </a:rPr>
              <a:t>các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khoản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giữa</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tỉnh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và</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xã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phù</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hợp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với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cấp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nhiệm</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vụ</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kinh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tế</a:t>
            </a:r>
            <a:r>
              <a:rPr lang="en-US" sz="2400" dirty="0">
                <a:highlight>
                  <a:srgbClr val="FFFFFF"/>
                </a:highlight>
                <a:latin typeface="Times New Roman" panose="02020603050405020304" pitchFamily="18" charset="0"/>
                <a:cs typeface="Times New Roman" panose="02020603050405020304" pitchFamily="18" charset="0"/>
              </a:rPr>
              <a:t> - </a:t>
            </a:r>
            <a:r>
              <a:rPr lang="en-US" sz="2400" dirty="0" err="1">
                <a:highlight>
                  <a:srgbClr val="FFFFFF"/>
                </a:highlight>
                <a:latin typeface="Times New Roman" panose="02020603050405020304" pitchFamily="18" charset="0"/>
                <a:cs typeface="Times New Roman" panose="02020603050405020304" pitchFamily="18" charset="0"/>
              </a:rPr>
              <a:t>xã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hội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quốc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phòng</a:t>
            </a:r>
            <a:r>
              <a:rPr lang="en-US" sz="2400" dirty="0">
                <a:highlight>
                  <a:srgbClr val="FFFFFF"/>
                </a:highlight>
                <a:latin typeface="Times New Roman" panose="02020603050405020304" pitchFamily="18" charset="0"/>
                <a:cs typeface="Times New Roman" panose="02020603050405020304" pitchFamily="18" charset="0"/>
              </a:rPr>
              <a:t>, an </a:t>
            </a:r>
            <a:r>
              <a:rPr lang="en-US" sz="2400" dirty="0" err="1">
                <a:highlight>
                  <a:srgbClr val="FFFFFF"/>
                </a:highlight>
                <a:latin typeface="Times New Roman" panose="02020603050405020304" pitchFamily="18" charset="0"/>
                <a:cs typeface="Times New Roman" panose="02020603050405020304" pitchFamily="18" charset="0"/>
              </a:rPr>
              <a:t>ninh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đối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với</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từng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lĩnh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vực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và</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đặc</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điểm</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kinh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tế</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địa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lý</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dân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cư</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khả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năng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quản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lý</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của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từng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địa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phương</a:t>
            </a:r>
            <a:r>
              <a:rPr lang="en-US" sz="2400" dirty="0">
                <a:highlight>
                  <a:srgbClr val="FFFFFF"/>
                </a:highlight>
                <a:latin typeface="Times New Roman" panose="02020603050405020304" pitchFamily="18" charset="0"/>
                <a:cs typeface="Times New Roman" panose="02020603050405020304" pitchFamily="18" charset="0"/>
              </a:rPr>
              <a:t>.</a:t>
            </a:r>
          </a:p>
          <a:p>
            <a:pPr marL="0" indent="0" algn="ctr">
              <a:lnSpc>
                <a:spcPct val="100000"/>
              </a:lnSpc>
              <a:spcBef>
                <a:spcPts val="600"/>
              </a:spcBef>
              <a:spcAft>
                <a:spcPts val="600"/>
              </a:spcAft>
              <a:buNone/>
            </a:pP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Nguồn</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thu</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NSĐP ?</a:t>
            </a:r>
          </a:p>
          <a:p>
            <a:pPr marL="0" indent="0">
              <a:lnSpc>
                <a:spcPct val="100000"/>
              </a:lnSpc>
              <a:spcBef>
                <a:spcPts val="600"/>
              </a:spcBef>
              <a:spcAft>
                <a:spcPts val="600"/>
              </a:spcAft>
              <a:buNone/>
            </a:pPr>
            <a:endParaRPr lang="vi-VN" sz="2000" dirty="0">
              <a:solidFill>
                <a:srgbClr val="C0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5657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BAD07-9ABD-BF4C-9590-1EE1B418368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9C104F9-C8FD-5F6E-2C59-9C74C2FF4990}"/>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2">
            <a:extLst>
              <a:ext uri="{FF2B5EF4-FFF2-40B4-BE49-F238E27FC236}">
                <a16:creationId xmlns:a16="http://schemas.microsoft.com/office/drawing/2014/main" id="{13536572-2E3B-C26B-B820-4113C2AEF8DF}"/>
              </a:ext>
            </a:extLst>
          </p:cNvPr>
          <p:cNvSpPr txBox="1">
            <a:spLocks/>
          </p:cNvSpPr>
          <p:nvPr/>
        </p:nvSpPr>
        <p:spPr>
          <a:xfrm>
            <a:off x="0" y="1205344"/>
            <a:ext cx="12191999" cy="52907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buFont typeface="Wingdings" panose="05000000000000000000" pitchFamily="2" charset="2"/>
              <a:buChar char="Ø"/>
            </a:pPr>
            <a:r>
              <a:rPr lang="en-US" b="1" dirty="0">
                <a:solidFill>
                  <a:srgbClr val="FF0000"/>
                </a:solidFill>
                <a:highlight>
                  <a:srgbClr val="FFFFFF"/>
                </a:highlight>
                <a:latin typeface="Times New Roman" panose="02020603050405020304" pitchFamily="18" charset="0"/>
                <a:cs typeface="Times New Roman" panose="02020603050405020304" pitchFamily="18" charset="0"/>
              </a:rPr>
              <a:t>Thu NS </a:t>
            </a:r>
            <a:r>
              <a:rPr lang="en-US" b="1" dirty="0" err="1">
                <a:solidFill>
                  <a:srgbClr val="FF0000"/>
                </a:solidFill>
                <a:highlight>
                  <a:srgbClr val="FFFFFF"/>
                </a:highlight>
                <a:latin typeface="Times New Roman" panose="02020603050405020304" pitchFamily="18" charset="0"/>
                <a:cs typeface="Times New Roman" panose="02020603050405020304" pitchFamily="18" charset="0"/>
              </a:rPr>
              <a:t>xã</a:t>
            </a:r>
            <a:r>
              <a:rPr lang="en-US"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FF"/>
                </a:highlight>
                <a:latin typeface="Times New Roman" panose="02020603050405020304" pitchFamily="18" charset="0"/>
                <a:cs typeface="Times New Roman" panose="02020603050405020304" pitchFamily="18" charset="0"/>
              </a:rPr>
              <a:t>được</a:t>
            </a:r>
            <a:r>
              <a:rPr lang="en-US"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FF"/>
                </a:highlight>
                <a:latin typeface="Times New Roman" panose="02020603050405020304" pitchFamily="18" charset="0"/>
                <a:cs typeface="Times New Roman" panose="02020603050405020304" pitchFamily="18" charset="0"/>
              </a:rPr>
              <a:t>hưởng</a:t>
            </a:r>
            <a:r>
              <a:rPr lang="en-US"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FF"/>
                </a:highlight>
                <a:latin typeface="Times New Roman" panose="02020603050405020304" pitchFamily="18" charset="0"/>
                <a:cs typeface="Times New Roman" panose="02020603050405020304" pitchFamily="18" charset="0"/>
              </a:rPr>
              <a:t>theo</a:t>
            </a:r>
            <a:r>
              <a:rPr lang="en-US"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FF"/>
                </a:highlight>
                <a:latin typeface="Times New Roman" panose="02020603050405020304" pitchFamily="18" charset="0"/>
                <a:cs typeface="Times New Roman" panose="02020603050405020304" pitchFamily="18" charset="0"/>
              </a:rPr>
              <a:t>phân</a:t>
            </a:r>
            <a:r>
              <a:rPr lang="en-US"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b="1" dirty="0" err="1">
                <a:solidFill>
                  <a:srgbClr val="FF0000"/>
                </a:solidFill>
                <a:highlight>
                  <a:srgbClr val="FFFFFF"/>
                </a:highlight>
                <a:latin typeface="Times New Roman" panose="02020603050405020304" pitchFamily="18" charset="0"/>
                <a:cs typeface="Times New Roman" panose="02020603050405020304" pitchFamily="18" charset="0"/>
              </a:rPr>
              <a:t>cấp</a:t>
            </a:r>
            <a:endParaRPr lang="en-US" b="1" dirty="0">
              <a:solidFill>
                <a:srgbClr val="FF0000"/>
              </a:solidFill>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Đề</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xác</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định</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nguồn</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thu</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NS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xã</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hưởng</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theo</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phân</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cấp</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cần</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xác</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định</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được</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phạm</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vi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nguồn</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thu</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NS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địa</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phương</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Căn</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dirty="0" err="1">
                <a:solidFill>
                  <a:srgbClr val="FF0000"/>
                </a:solidFill>
                <a:highlight>
                  <a:srgbClr val="FFFFFF"/>
                </a:highlight>
                <a:latin typeface="Times New Roman" panose="02020603050405020304" pitchFamily="18" charset="0"/>
                <a:cs typeface="Times New Roman" panose="02020603050405020304" pitchFamily="18" charset="0"/>
              </a:rPr>
              <a:t>cứ</a:t>
            </a:r>
            <a:r>
              <a:rPr lang="en-US" sz="2400" dirty="0">
                <a:solidFill>
                  <a:srgbClr val="FF0000"/>
                </a:solidFill>
                <a:highlight>
                  <a:srgbClr val="FFFFFF"/>
                </a:highlight>
                <a:latin typeface="Times New Roman" panose="02020603050405020304" pitchFamily="18" charset="0"/>
                <a:cs typeface="Times New Roman" panose="02020603050405020304" pitchFamily="18" charset="0"/>
              </a:rPr>
              <a:t>:</a:t>
            </a:r>
          </a:p>
          <a:p>
            <a:pPr marL="0" indent="0">
              <a:lnSpc>
                <a:spcPct val="100000"/>
              </a:lnSpc>
              <a:spcBef>
                <a:spcPts val="600"/>
              </a:spcBef>
              <a:spcAft>
                <a:spcPts val="600"/>
              </a:spcAft>
              <a:buNone/>
            </a:pPr>
            <a:r>
              <a:rPr lang="en-US" sz="2400" dirty="0" err="1">
                <a:highlight>
                  <a:srgbClr val="FFFFFF"/>
                </a:highlight>
                <a:latin typeface="Times New Roman" panose="02020603050405020304" pitchFamily="18" charset="0"/>
                <a:cs typeface="Times New Roman" panose="02020603050405020304" pitchFamily="18" charset="0"/>
              </a:rPr>
              <a:t>Điều</a:t>
            </a:r>
            <a:r>
              <a:rPr lang="en-US" sz="2400" dirty="0">
                <a:highlight>
                  <a:srgbClr val="FFFFFF"/>
                </a:highlight>
                <a:latin typeface="Times New Roman" panose="02020603050405020304" pitchFamily="18" charset="0"/>
                <a:cs typeface="Times New Roman" panose="02020603050405020304" pitchFamily="18" charset="0"/>
              </a:rPr>
              <a:t> 38, </a:t>
            </a:r>
            <a:r>
              <a:rPr lang="en-US" sz="2400" dirty="0" err="1">
                <a:highlight>
                  <a:srgbClr val="FFFFFF"/>
                </a:highlight>
                <a:latin typeface="Times New Roman" panose="02020603050405020304" pitchFamily="18" charset="0"/>
                <a:cs typeface="Times New Roman" panose="02020603050405020304" pitchFamily="18" charset="0"/>
              </a:rPr>
              <a:t>Luật</a:t>
            </a:r>
            <a:r>
              <a:rPr lang="en-US" sz="2400" dirty="0">
                <a:highlight>
                  <a:srgbClr val="FFFFFF"/>
                </a:highlight>
                <a:latin typeface="Times New Roman" panose="02020603050405020304" pitchFamily="18" charset="0"/>
                <a:cs typeface="Times New Roman" panose="02020603050405020304" pitchFamily="18" charset="0"/>
              </a:rPr>
              <a:t> NSNN 2025. </a:t>
            </a:r>
            <a:r>
              <a:rPr lang="en-US" sz="2400" dirty="0" err="1">
                <a:highlight>
                  <a:srgbClr val="FFFFFF"/>
                </a:highlight>
                <a:latin typeface="Times New Roman" panose="02020603050405020304" pitchFamily="18" charset="0"/>
                <a:cs typeface="Times New Roman" panose="02020603050405020304" pitchFamily="18" charset="0"/>
              </a:rPr>
              <a:t>Nguồn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địa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phương</a:t>
            </a:r>
            <a:r>
              <a:rPr lang="en-US" sz="2400" dirty="0">
                <a:highlight>
                  <a:srgbClr val="FFFFFF"/>
                </a:highlight>
                <a:latin typeface="Times New Roman" panose="02020603050405020304" pitchFamily="18" charset="0"/>
                <a:cs typeface="Times New Roman" panose="02020603050405020304" pitchFamily="18" charset="0"/>
              </a:rPr>
              <a:t>.</a:t>
            </a:r>
          </a:p>
          <a:p>
            <a:pPr marL="0" indent="0">
              <a:lnSpc>
                <a:spcPct val="100000"/>
              </a:lnSpc>
              <a:spcBef>
                <a:spcPts val="600"/>
              </a:spcBef>
              <a:spcAft>
                <a:spcPts val="600"/>
              </a:spcAft>
              <a:buNone/>
            </a:pPr>
            <a:r>
              <a:rPr lang="en-US" sz="2400" dirty="0" err="1">
                <a:highlight>
                  <a:srgbClr val="FFFFFF"/>
                </a:highlight>
                <a:latin typeface="Times New Roman" panose="02020603050405020304" pitchFamily="18" charset="0"/>
                <a:cs typeface="Times New Roman" panose="02020603050405020304" pitchFamily="18" charset="0"/>
              </a:rPr>
              <a:t>Điều</a:t>
            </a:r>
            <a:r>
              <a:rPr lang="en-US" sz="2400" dirty="0">
                <a:highlight>
                  <a:srgbClr val="FFFFFF"/>
                </a:highlight>
                <a:latin typeface="Times New Roman" panose="02020603050405020304" pitchFamily="18" charset="0"/>
                <a:cs typeface="Times New Roman" panose="02020603050405020304" pitchFamily="18" charset="0"/>
              </a:rPr>
              <a:t> 5,TT26/2026/TT-BTC. </a:t>
            </a:r>
            <a:r>
              <a:rPr lang="en-US" sz="2400" dirty="0" err="1">
                <a:highlight>
                  <a:srgbClr val="FFFFFF"/>
                </a:highlight>
                <a:latin typeface="Times New Roman" panose="02020603050405020304" pitchFamily="18" charset="0"/>
                <a:cs typeface="Times New Roman" panose="02020603050405020304" pitchFamily="18" charset="0"/>
              </a:rPr>
              <a:t>Nguồn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địa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phương</a:t>
            </a:r>
            <a:r>
              <a:rPr lang="en-US" sz="2400" dirty="0">
                <a:highlight>
                  <a:srgbClr val="FFFFFF"/>
                </a:highlight>
                <a:latin typeface="Times New Roman" panose="02020603050405020304" pitchFamily="18" charset="0"/>
                <a:cs typeface="Times New Roman" panose="02020603050405020304" pitchFamily="18" charset="0"/>
              </a:rPr>
              <a:t>.</a:t>
            </a:r>
          </a:p>
          <a:p>
            <a:pPr marL="0" indent="0">
              <a:lnSpc>
                <a:spcPct val="100000"/>
              </a:lnSpc>
              <a:spcBef>
                <a:spcPts val="600"/>
              </a:spcBef>
              <a:spcAft>
                <a:spcPts val="600"/>
              </a:spcAft>
              <a:buNone/>
            </a:pPr>
            <a:r>
              <a:rPr lang="en-US" sz="2400" dirty="0" err="1">
                <a:highlight>
                  <a:srgbClr val="FFFFFF"/>
                </a:highlight>
                <a:latin typeface="Times New Roman" panose="02020603050405020304" pitchFamily="18" charset="0"/>
                <a:cs typeface="Times New Roman" panose="02020603050405020304" pitchFamily="18" charset="0"/>
              </a:rPr>
              <a:t>Khoản</a:t>
            </a:r>
            <a:r>
              <a:rPr lang="en-US" sz="2400" dirty="0">
                <a:highlight>
                  <a:srgbClr val="FFFFFF"/>
                </a:highlight>
                <a:latin typeface="Times New Roman" panose="02020603050405020304" pitchFamily="18" charset="0"/>
                <a:cs typeface="Times New Roman" panose="02020603050405020304" pitchFamily="18" charset="0"/>
              </a:rPr>
              <a:t> 2, </a:t>
            </a:r>
            <a:r>
              <a:rPr lang="en-US" sz="2400" dirty="0" err="1">
                <a:highlight>
                  <a:srgbClr val="FFFFFF"/>
                </a:highlight>
                <a:latin typeface="Times New Roman" panose="02020603050405020304" pitchFamily="18" charset="0"/>
                <a:cs typeface="Times New Roman" panose="02020603050405020304" pitchFamily="18" charset="0"/>
              </a:rPr>
              <a:t>Điều</a:t>
            </a:r>
            <a:r>
              <a:rPr lang="en-US" sz="2400" dirty="0">
                <a:highlight>
                  <a:srgbClr val="FFFFFF"/>
                </a:highlight>
                <a:latin typeface="Times New Roman" panose="02020603050405020304" pitchFamily="18" charset="0"/>
                <a:cs typeface="Times New Roman" panose="02020603050405020304" pitchFamily="18" charset="0"/>
              </a:rPr>
              <a:t> 36. </a:t>
            </a:r>
            <a:r>
              <a:rPr lang="en-US" sz="2400" dirty="0" err="1">
                <a:highlight>
                  <a:srgbClr val="FFFFFF"/>
                </a:highlight>
                <a:latin typeface="Times New Roman" panose="02020603050405020304" pitchFamily="18" charset="0"/>
                <a:cs typeface="Times New Roman" panose="02020603050405020304" pitchFamily="18" charset="0"/>
              </a:rPr>
              <a:t>Luật</a:t>
            </a:r>
            <a:r>
              <a:rPr lang="en-US" sz="2400" dirty="0">
                <a:highlight>
                  <a:srgbClr val="FFFFFF"/>
                </a:highlight>
                <a:latin typeface="Times New Roman" panose="02020603050405020304" pitchFamily="18" charset="0"/>
                <a:cs typeface="Times New Roman" panose="02020603050405020304" pitchFamily="18" charset="0"/>
              </a:rPr>
              <a:t> NSNN 2026. Các </a:t>
            </a:r>
            <a:r>
              <a:rPr lang="en-US" sz="2400" dirty="0" err="1">
                <a:highlight>
                  <a:srgbClr val="FFFFFF"/>
                </a:highlight>
                <a:latin typeface="Times New Roman" panose="02020603050405020304" pitchFamily="18" charset="0"/>
                <a:cs typeface="Times New Roman" panose="02020603050405020304" pitchFamily="18" charset="0"/>
              </a:rPr>
              <a:t>khoản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chia </a:t>
            </a:r>
            <a:r>
              <a:rPr lang="en-US" sz="2400" dirty="0" err="1">
                <a:highlight>
                  <a:srgbClr val="FFFFFF"/>
                </a:highlight>
                <a:latin typeface="Times New Roman" panose="02020603050405020304" pitchFamily="18" charset="0"/>
                <a:cs typeface="Times New Roman" panose="02020603050405020304" pitchFamily="18" charset="0"/>
              </a:rPr>
              <a:t>và</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tỷ</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lệ</a:t>
            </a:r>
            <a:r>
              <a:rPr lang="en-US" sz="2400" dirty="0">
                <a:highlight>
                  <a:srgbClr val="FFFFFF"/>
                </a:highlight>
                <a:latin typeface="Times New Roman" panose="02020603050405020304" pitchFamily="18" charset="0"/>
                <a:cs typeface="Times New Roman" panose="02020603050405020304" pitchFamily="18" charset="0"/>
              </a:rPr>
              <a:t> % </a:t>
            </a:r>
            <a:r>
              <a:rPr lang="en-US" sz="2400" dirty="0" err="1">
                <a:highlight>
                  <a:srgbClr val="FFFFFF"/>
                </a:highlight>
                <a:latin typeface="Times New Roman" panose="02020603050405020304" pitchFamily="18" charset="0"/>
                <a:cs typeface="Times New Roman" panose="02020603050405020304" pitchFamily="18" charset="0"/>
              </a:rPr>
              <a:t>giữa</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trung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ương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và</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địa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phương</a:t>
            </a:r>
            <a:r>
              <a:rPr lang="en-US" sz="2400" dirty="0">
                <a:highlight>
                  <a:srgbClr val="FFFFFF"/>
                </a:highlight>
                <a:latin typeface="Times New Roman" panose="02020603050405020304" pitchFamily="18" charset="0"/>
                <a:cs typeface="Times New Roman" panose="02020603050405020304" pitchFamily="18" charset="0"/>
              </a:rPr>
              <a:t>.</a:t>
            </a:r>
          </a:p>
          <a:p>
            <a:pPr marL="0" indent="0">
              <a:lnSpc>
                <a:spcPct val="100000"/>
              </a:lnSpc>
              <a:spcBef>
                <a:spcPts val="600"/>
              </a:spcBef>
              <a:spcAft>
                <a:spcPts val="600"/>
              </a:spcAft>
              <a:buNone/>
            </a:pPr>
            <a:r>
              <a:rPr lang="en-US" sz="2400" dirty="0" err="1">
                <a:highlight>
                  <a:srgbClr val="FFFFFF"/>
                </a:highlight>
                <a:latin typeface="Times New Roman" panose="02020603050405020304" pitchFamily="18" charset="0"/>
                <a:cs typeface="Times New Roman" panose="02020603050405020304" pitchFamily="18" charset="0"/>
              </a:rPr>
              <a:t>Khoản</a:t>
            </a:r>
            <a:r>
              <a:rPr lang="en-US" sz="2400" dirty="0">
                <a:highlight>
                  <a:srgbClr val="FFFFFF"/>
                </a:highlight>
                <a:latin typeface="Times New Roman" panose="02020603050405020304" pitchFamily="18" charset="0"/>
                <a:cs typeface="Times New Roman" panose="02020603050405020304" pitchFamily="18" charset="0"/>
              </a:rPr>
              <a:t> 2, </a:t>
            </a:r>
            <a:r>
              <a:rPr lang="en-US" sz="2400" dirty="0" err="1">
                <a:highlight>
                  <a:srgbClr val="FFFFFF"/>
                </a:highlight>
                <a:latin typeface="Times New Roman" panose="02020603050405020304" pitchFamily="18" charset="0"/>
                <a:cs typeface="Times New Roman" panose="02020603050405020304" pitchFamily="18" charset="0"/>
              </a:rPr>
              <a:t>Điều</a:t>
            </a:r>
            <a:r>
              <a:rPr lang="en-US" sz="2400" dirty="0">
                <a:highlight>
                  <a:srgbClr val="FFFFFF"/>
                </a:highlight>
                <a:latin typeface="Times New Roman" panose="02020603050405020304" pitchFamily="18" charset="0"/>
                <a:cs typeface="Times New Roman" panose="02020603050405020304" pitchFamily="18" charset="0"/>
              </a:rPr>
              <a:t> 3, TT26/2026/TT-BTC. Các </a:t>
            </a:r>
            <a:r>
              <a:rPr lang="en-US" sz="2400" dirty="0" err="1">
                <a:highlight>
                  <a:srgbClr val="FFFFFF"/>
                </a:highlight>
                <a:latin typeface="Times New Roman" panose="02020603050405020304" pitchFamily="18" charset="0"/>
                <a:cs typeface="Times New Roman" panose="02020603050405020304" pitchFamily="18" charset="0"/>
              </a:rPr>
              <a:t>khoản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chia </a:t>
            </a:r>
            <a:r>
              <a:rPr lang="en-US" sz="2400" dirty="0" err="1">
                <a:highlight>
                  <a:srgbClr val="FFFFFF"/>
                </a:highlight>
                <a:latin typeface="Times New Roman" panose="02020603050405020304" pitchFamily="18" charset="0"/>
                <a:cs typeface="Times New Roman" panose="02020603050405020304" pitchFamily="18" charset="0"/>
              </a:rPr>
              <a:t>và</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tỷ</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lệ</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phần</a:t>
            </a:r>
            <a:r>
              <a:rPr lang="en-US" sz="2400" dirty="0">
                <a:highlight>
                  <a:srgbClr val="FFFFFF"/>
                </a:highlight>
                <a:latin typeface="Times New Roman" panose="02020603050405020304" pitchFamily="18" charset="0"/>
                <a:cs typeface="Times New Roman" panose="02020603050405020304" pitchFamily="18" charset="0"/>
              </a:rPr>
              <a:t> tram (%) </a:t>
            </a:r>
            <a:r>
              <a:rPr lang="en-US" sz="2400" dirty="0" err="1">
                <a:highlight>
                  <a:srgbClr val="FFFFFF"/>
                </a:highlight>
                <a:latin typeface="Times New Roman" panose="02020603050405020304" pitchFamily="18" charset="0"/>
                <a:cs typeface="Times New Roman" panose="02020603050405020304" pitchFamily="18" charset="0"/>
              </a:rPr>
              <a:t>phân</a:t>
            </a:r>
            <a:r>
              <a:rPr lang="en-US" sz="2400" dirty="0">
                <a:highlight>
                  <a:srgbClr val="FFFFFF"/>
                </a:highlight>
                <a:latin typeface="Times New Roman" panose="02020603050405020304" pitchFamily="18" charset="0"/>
                <a:cs typeface="Times New Roman" panose="02020603050405020304" pitchFamily="18" charset="0"/>
              </a:rPr>
              <a:t> chia </a:t>
            </a:r>
            <a:r>
              <a:rPr lang="en-US" sz="2400" dirty="0" err="1">
                <a:highlight>
                  <a:srgbClr val="FFFFFF"/>
                </a:highlight>
                <a:latin typeface="Times New Roman" panose="02020603050405020304" pitchFamily="18" charset="0"/>
                <a:cs typeface="Times New Roman" panose="02020603050405020304" pitchFamily="18" charset="0"/>
              </a:rPr>
              <a:t>giữa</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trung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ương</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và</a:t>
            </a:r>
            <a:r>
              <a:rPr lang="en-US" sz="2400" dirty="0">
                <a:highlight>
                  <a:srgbClr val="FFFFFF"/>
                </a:highlight>
                <a:latin typeface="Times New Roman" panose="02020603050405020304" pitchFamily="18" charset="0"/>
                <a:cs typeface="Times New Roman" panose="02020603050405020304" pitchFamily="18" charset="0"/>
              </a:rPr>
              <a:t> NS </a:t>
            </a:r>
            <a:r>
              <a:rPr lang="en-US" sz="2400" dirty="0" err="1">
                <a:highlight>
                  <a:srgbClr val="FFFFFF"/>
                </a:highlight>
                <a:latin typeface="Times New Roman" panose="02020603050405020304" pitchFamily="18" charset="0"/>
                <a:cs typeface="Times New Roman" panose="02020603050405020304" pitchFamily="18" charset="0"/>
              </a:rPr>
              <a:t>địa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phương</a:t>
            </a:r>
            <a:r>
              <a:rPr lang="en-US" sz="2400" dirty="0">
                <a:highlight>
                  <a:srgbClr val="FFFFFF"/>
                </a:highlight>
                <a:latin typeface="Times New Roman" panose="02020603050405020304" pitchFamily="18" charset="0"/>
                <a:cs typeface="Times New Roman" panose="02020603050405020304" pitchFamily="18" charset="0"/>
              </a:rPr>
              <a:t> (bao </a:t>
            </a:r>
            <a:r>
              <a:rPr lang="en-US" sz="2400" dirty="0" err="1">
                <a:highlight>
                  <a:srgbClr val="FFFFFF"/>
                </a:highlight>
                <a:latin typeface="Times New Roman" panose="02020603050405020304" pitchFamily="18" charset="0"/>
                <a:cs typeface="Times New Roman" panose="02020603050405020304" pitchFamily="18" charset="0"/>
              </a:rPr>
              <a:t>gồm</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cả</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khoản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tiền</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chậm</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nộp</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theo</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quy</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định</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của</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Luật</a:t>
            </a:r>
            <a:r>
              <a:rPr lang="en-US" sz="2400" dirty="0">
                <a:highlight>
                  <a:srgbClr val="FFFFFF"/>
                </a:highlight>
                <a:latin typeface="Times New Roman" panose="02020603050405020304" pitchFamily="18" charset="0"/>
                <a:cs typeface="Times New Roman" panose="02020603050405020304" pitchFamily="18" charset="0"/>
              </a:rPr>
              <a:t> Quản </a:t>
            </a:r>
            <a:r>
              <a:rPr lang="en-US" sz="2400" dirty="0" err="1">
                <a:highlight>
                  <a:srgbClr val="FFFFFF"/>
                </a:highlight>
                <a:latin typeface="Times New Roman" panose="02020603050405020304" pitchFamily="18" charset="0"/>
                <a:cs typeface="Times New Roman" panose="02020603050405020304" pitchFamily="18" charset="0"/>
              </a:rPr>
              <a:t>lý</a:t>
            </a:r>
            <a:r>
              <a:rPr lang="en-US" sz="2400" dirty="0">
                <a:highlight>
                  <a:srgbClr val="FFFFFF"/>
                </a:highlight>
                <a:latin typeface="Times New Roman" panose="02020603050405020304" pitchFamily="18" charset="0"/>
                <a:cs typeface="Times New Roman" panose="02020603050405020304" pitchFamily="18" charset="0"/>
              </a:rPr>
              <a:t> </a:t>
            </a:r>
            <a:r>
              <a:rPr lang="en-US" sz="2400" dirty="0" err="1">
                <a:highlight>
                  <a:srgbClr val="FFFFFF"/>
                </a:highlight>
                <a:latin typeface="Times New Roman" panose="02020603050405020304" pitchFamily="18" charset="0"/>
                <a:cs typeface="Times New Roman" panose="02020603050405020304" pitchFamily="18" charset="0"/>
              </a:rPr>
              <a:t>thuế</a:t>
            </a:r>
            <a:r>
              <a:rPr lang="en-US" sz="2400" dirty="0">
                <a:highlight>
                  <a:srgbClr val="FFFFFF"/>
                </a:highlight>
                <a:latin typeface="Times New Roman" panose="02020603050405020304" pitchFamily="18" charset="0"/>
                <a:cs typeface="Times New Roman" panose="02020603050405020304" pitchFamily="18" charset="0"/>
              </a:rPr>
              <a:t>).</a:t>
            </a:r>
          </a:p>
          <a:p>
            <a:pPr marL="0" indent="0">
              <a:lnSpc>
                <a:spcPct val="100000"/>
              </a:lnSpc>
              <a:spcBef>
                <a:spcPts val="600"/>
              </a:spcBef>
              <a:spcAft>
                <a:spcPts val="600"/>
              </a:spcAft>
              <a:buNone/>
            </a:pPr>
            <a:endParaRPr lang="vi-VN" sz="2000" dirty="0">
              <a:solidFill>
                <a:srgbClr val="C0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3324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8FC54-50B3-DE0E-E9F0-D9D559B64D9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E79D7FA-6CE9-032B-3B89-8173BF374854}"/>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2">
            <a:extLst>
              <a:ext uri="{FF2B5EF4-FFF2-40B4-BE49-F238E27FC236}">
                <a16:creationId xmlns:a16="http://schemas.microsoft.com/office/drawing/2014/main" id="{8F532433-D756-1EE6-1928-AA191CD4DAD6}"/>
              </a:ext>
            </a:extLst>
          </p:cNvPr>
          <p:cNvSpPr txBox="1">
            <a:spLocks/>
          </p:cNvSpPr>
          <p:nvPr/>
        </p:nvSpPr>
        <p:spPr>
          <a:xfrm>
            <a:off x="0" y="1205344"/>
            <a:ext cx="12191999" cy="52907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spcAft>
                <a:spcPts val="600"/>
              </a:spcAft>
              <a:buNone/>
            </a:pP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1.Các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khoản</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thu</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NSĐP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hưởng</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100% (bao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gòm</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cả</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khoản</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tiền</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chậm</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nộp</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theo</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quy</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định</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của</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Luật</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QL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thuế</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bao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gồm</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a:t>
            </a: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a) Thuế tài nguyên, trừ thuế tài nguyên quy định tại điểm c khoản 1 Điều 3 Thông tư này; </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b) Thuế sử dụng đất nông nghiệp; </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c) Thuế sử dụng đất phi nông nghiệp; </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d) Tiền cho thuê mặt nước, tiền sử dụng khu vực biển, trừ tiền cho thuê mặt nước quy định tại điểm c khoản 1 Điều 3 Thông tư này; </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đ) Tiền cho thuê và tiền bán nhà ở thuộc sở hữu nhà nước; </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e) Lệ phí trước bạ; </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g) Thu từ hoạt động xổ số;</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endParaRPr lang="en-US" sz="2000" b="1" dirty="0">
              <a:solidFill>
                <a:srgbClr val="FF0000"/>
              </a:solidFill>
              <a:highlight>
                <a:srgbClr val="FFFFFF"/>
              </a:highlight>
              <a:latin typeface="Times New Roman" panose="02020603050405020304" pitchFamily="18" charset="0"/>
              <a:cs typeface="Times New Roman" panose="02020603050405020304" pitchFamily="18" charset="0"/>
            </a:endParaRPr>
          </a:p>
          <a:p>
            <a:pPr>
              <a:lnSpc>
                <a:spcPct val="100000"/>
              </a:lnSpc>
              <a:spcBef>
                <a:spcPts val="600"/>
              </a:spcBef>
              <a:spcAft>
                <a:spcPts val="600"/>
              </a:spcAft>
              <a:buFont typeface="Wingdings" panose="05000000000000000000" pitchFamily="2" charset="2"/>
              <a:buChar char="Ø"/>
            </a:pPr>
            <a:endParaRPr lang="en-US" sz="2000" b="1" dirty="0">
              <a:solidFill>
                <a:srgbClr val="FF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4000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C017C-E7DB-AB1F-1584-7663D1D7F23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EC58AC5-6688-39AA-29FF-CA25960AEAB0}"/>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2">
            <a:extLst>
              <a:ext uri="{FF2B5EF4-FFF2-40B4-BE49-F238E27FC236}">
                <a16:creationId xmlns:a16="http://schemas.microsoft.com/office/drawing/2014/main" id="{6CED449D-80F4-5B15-BA26-D5E0D638318C}"/>
              </a:ext>
            </a:extLst>
          </p:cNvPr>
          <p:cNvSpPr txBox="1">
            <a:spLocks/>
          </p:cNvSpPr>
          <p:nvPr/>
        </p:nvSpPr>
        <p:spPr>
          <a:xfrm>
            <a:off x="0" y="1205344"/>
            <a:ext cx="12191999" cy="52907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spcAft>
                <a:spcPts val="600"/>
              </a:spcAft>
              <a:buNone/>
            </a:pP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1.Các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khoản</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thu</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NSĐP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hưởng</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100% (bao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gòm</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cả</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khoản</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tiền</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chậm</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nộp</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theo</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quy</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định</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của</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Luật</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QL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thuế</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bao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gồm</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tt</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a:t>
            </a:r>
          </a:p>
          <a:p>
            <a:pPr marL="0" indent="0">
              <a:lnSpc>
                <a:spcPct val="100000"/>
              </a:lnSpc>
              <a:spcBef>
                <a:spcPts val="600"/>
              </a:spcBef>
              <a:spcAft>
                <a:spcPts val="600"/>
              </a:spcAft>
              <a:buNone/>
            </a:pPr>
            <a:r>
              <a:rPr lang="vi-VN" sz="2000" dirty="0">
                <a:highlight>
                  <a:srgbClr val="FFFFFF"/>
                </a:highlight>
                <a:latin typeface="Times New Roman" panose="02020603050405020304" pitchFamily="18" charset="0"/>
                <a:cs typeface="Times New Roman" panose="02020603050405020304" pitchFamily="18" charset="0"/>
              </a:rPr>
              <a:t>h) Các khoản thu hồi vốn của ngân sách địa phương đầu tư tại các tổ chức kinh tế; cồ tức được chia bằng tiền, lợi nhuận được chia tại công ty cổ phần, công ty trách nhiệm hữu hạn hai thành viên trở lên có vốn góp của Nhà nước do Ủy ban nhân dân cấp tỉnh là cơ quan đại diện chủ sở hữu; thu phần lợi nhuận sau thuế còn lại nộp ngân sách nhà nước tại các doanh nghiệp Nhà nước nắm giữ 100% vốn điều lệ do Ủy ban nhân dân cấp tỉnh là cơ quan đại diện chủ sở hữu theo quy định của pháp luật về quản lý và đầu tư vốn nhà nước tại doanh nghiệp; </a:t>
            </a:r>
            <a:endParaRPr lang="en-US" sz="2000" dirty="0">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en-US" sz="2000" dirty="0" err="1">
                <a:highlight>
                  <a:srgbClr val="FFFFFF"/>
                </a:highlight>
                <a:latin typeface="Times New Roman" panose="02020603050405020304" pitchFamily="18" charset="0"/>
                <a:cs typeface="Times New Roman" panose="02020603050405020304" pitchFamily="18" charset="0"/>
              </a:rPr>
              <a:t>i</a:t>
            </a:r>
            <a:r>
              <a:rPr lang="en-US" sz="2000" dirty="0">
                <a:highlight>
                  <a:srgbClr val="FFFFFF"/>
                </a:highlight>
                <a:latin typeface="Times New Roman" panose="02020603050405020304" pitchFamily="18" charset="0"/>
                <a:cs typeface="Times New Roman" panose="02020603050405020304" pitchFamily="18" charset="0"/>
              </a:rPr>
              <a:t>) </a:t>
            </a:r>
            <a:r>
              <a:rPr lang="vi-VN" sz="2000" dirty="0">
                <a:highlight>
                  <a:srgbClr val="FFFFFF"/>
                </a:highlight>
                <a:latin typeface="Times New Roman" panose="02020603050405020304" pitchFamily="18" charset="0"/>
                <a:cs typeface="Times New Roman" panose="02020603050405020304" pitchFamily="18" charset="0"/>
              </a:rPr>
              <a:t>Thu từ quỹ dự trữ tài chính địa phương; </a:t>
            </a:r>
            <a:endParaRPr lang="en-US" sz="2000" dirty="0">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highlight>
                  <a:srgbClr val="FFFFFF"/>
                </a:highlight>
                <a:latin typeface="Times New Roman" panose="02020603050405020304" pitchFamily="18" charset="0"/>
                <a:cs typeface="Times New Roman" panose="02020603050405020304" pitchFamily="18" charset="0"/>
              </a:rPr>
              <a:t>k) Thu nộp ngân sách nhà nước từ khai thác, xử lý tài sản công do cơ quan, tổ chức, đơn vị thuộc địa phương quản lý, xử lý theo quy định của pháp luật về quản lý, sử dụng tài sản công; 1) Viện trợ không hoàn lại của các tổ chức quốc tế, tổ chức khác, cá nhân nước ngoài trực tiếp cho chính quyền địa phương; </a:t>
            </a:r>
            <a:endParaRPr lang="en-US" sz="2000" dirty="0">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en-US" sz="2000" dirty="0">
                <a:highlight>
                  <a:srgbClr val="FFFFFF"/>
                </a:highlight>
                <a:latin typeface="Times New Roman" panose="02020603050405020304" pitchFamily="18" charset="0"/>
                <a:cs typeface="Times New Roman" panose="02020603050405020304" pitchFamily="18" charset="0"/>
              </a:rPr>
              <a:t>l) </a:t>
            </a:r>
            <a:r>
              <a:rPr lang="vi-VN" sz="2000" dirty="0">
                <a:highlight>
                  <a:srgbClr val="FFFFFF"/>
                </a:highlight>
                <a:latin typeface="Times New Roman" panose="02020603050405020304" pitchFamily="18" charset="0"/>
                <a:cs typeface="Times New Roman" panose="02020603050405020304" pitchFamily="18" charset="0"/>
              </a:rPr>
              <a:t>Viện trợ không hoàn lại của các tổ chức quốc tế, tổ chức khác, cá nhân nước ngoài trực tiếp cho chính quyền địa phương; </a:t>
            </a:r>
            <a:endParaRPr lang="en-US" sz="2000" dirty="0">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endParaRPr lang="en-US" sz="2000" b="1" dirty="0">
              <a:solidFill>
                <a:srgbClr val="FF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649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02047-2F36-C535-CA42-6ECF23A719F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00ABA82-827A-649C-C2F6-A08F0FB7654A}"/>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2">
            <a:extLst>
              <a:ext uri="{FF2B5EF4-FFF2-40B4-BE49-F238E27FC236}">
                <a16:creationId xmlns:a16="http://schemas.microsoft.com/office/drawing/2014/main" id="{47611756-99B5-8C95-47C6-86D72B6F8E8B}"/>
              </a:ext>
            </a:extLst>
          </p:cNvPr>
          <p:cNvSpPr txBox="1">
            <a:spLocks/>
          </p:cNvSpPr>
          <p:nvPr/>
        </p:nvSpPr>
        <p:spPr>
          <a:xfrm>
            <a:off x="0" y="1205344"/>
            <a:ext cx="12191999" cy="52907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spcAft>
                <a:spcPts val="600"/>
              </a:spcAft>
              <a:buNone/>
            </a:pP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1.Các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khoản</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thu</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NSĐP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hưởng</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100% (bao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gòm</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cả</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khoản</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tiền</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chậm</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nộp</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theo</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quy</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định</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của</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Luật</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QL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thuế</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bao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gồm</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tt</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a:t>
            </a:r>
          </a:p>
          <a:p>
            <a:pPr marL="0" indent="0">
              <a:lnSpc>
                <a:spcPct val="100000"/>
              </a:lnSpc>
              <a:spcBef>
                <a:spcPts val="600"/>
              </a:spcBef>
              <a:spcAft>
                <a:spcPts val="600"/>
              </a:spcAft>
              <a:buNone/>
            </a:pPr>
            <a:r>
              <a:rPr lang="vi-VN" sz="2000" dirty="0">
                <a:highlight>
                  <a:srgbClr val="FFFFFF"/>
                </a:highlight>
                <a:latin typeface="Times New Roman" panose="02020603050405020304" pitchFamily="18" charset="0"/>
                <a:cs typeface="Times New Roman" panose="02020603050405020304" pitchFamily="18" charset="0"/>
              </a:rPr>
              <a:t>m) Phí thu từ các hoạt động dịch vụ do các cơ quan nhà nước địa phương thực hiện. Các khoản phí thu từ các hoạt động dịch vụ công do đơn vị sự nghiệp cộng lập và tổ chức do địa phương quản lý được cơ quan có thẩm quyền giao cung cấp dịch vụ công nộp ngân sách nhà nước theo quy định của pháp luật; </a:t>
            </a:r>
            <a:endParaRPr lang="en-US" sz="2000" dirty="0">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highlight>
                  <a:srgbClr val="FFFFFF"/>
                </a:highlight>
                <a:latin typeface="Times New Roman" panose="02020603050405020304" pitchFamily="18" charset="0"/>
                <a:cs typeface="Times New Roman" panose="02020603050405020304" pitchFamily="18" charset="0"/>
              </a:rPr>
              <a:t>n) Lệ phí do các cơ quan nhà nước địa phương thực hiện thu; </a:t>
            </a:r>
            <a:endParaRPr lang="en-US" sz="2000" dirty="0">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highlight>
                  <a:srgbClr val="FFFFFF"/>
                </a:highlight>
                <a:latin typeface="Times New Roman" panose="02020603050405020304" pitchFamily="18" charset="0"/>
                <a:cs typeface="Times New Roman" panose="02020603050405020304" pitchFamily="18" charset="0"/>
              </a:rPr>
              <a:t>o) Thu tiền cấp quyền khai thác khoáng sản, tài nguyên nước do cơ quan có thẩm quyền của địa phương cấp phép;</a:t>
            </a:r>
            <a:endParaRPr lang="en-US" sz="2000" dirty="0">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p) Tiền thu từ xử phạt vi phạm hành chính, phạt khác theo quy định của pháp luật do các cơ quan nhà nước địa phương thực hiện xử phạt;</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en-US" sz="2000" dirty="0">
                <a:latin typeface="Times New Roman" panose="02020603050405020304" pitchFamily="18" charset="0"/>
                <a:cs typeface="Times New Roman" panose="02020603050405020304" pitchFamily="18" charset="0"/>
              </a:rPr>
              <a:t>q) Thu </a:t>
            </a:r>
            <a:r>
              <a:rPr lang="en-US" sz="2000" dirty="0" err="1">
                <a:latin typeface="Times New Roman" panose="02020603050405020304" pitchFamily="18" charset="0"/>
                <a:cs typeface="Times New Roman" panose="02020603050405020304" pitchFamily="18" charset="0"/>
              </a:rPr>
              <a:t>từ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quỹ</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công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ích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công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khác</a:t>
            </a:r>
            <a:r>
              <a:rPr lang="en-US" sz="2000" dirty="0">
                <a:latin typeface="Times New Roman" panose="02020603050405020304" pitchFamily="18" charset="0"/>
                <a:cs typeface="Times New Roman" panose="02020603050405020304" pitchFamily="18" charset="0"/>
              </a:rPr>
              <a:t>;</a:t>
            </a:r>
            <a:endParaRPr lang="en-US" sz="2000" b="1" dirty="0">
              <a:solidFill>
                <a:srgbClr val="FF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0467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79C7C-2ECE-2BCA-F3CD-06D93CC2D53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8357D96-7E47-E1CA-C9F9-71AA0B41EF66}"/>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2">
            <a:extLst>
              <a:ext uri="{FF2B5EF4-FFF2-40B4-BE49-F238E27FC236}">
                <a16:creationId xmlns:a16="http://schemas.microsoft.com/office/drawing/2014/main" id="{08DE7714-639F-129F-4C45-F94C460F9D01}"/>
              </a:ext>
            </a:extLst>
          </p:cNvPr>
          <p:cNvSpPr txBox="1">
            <a:spLocks/>
          </p:cNvSpPr>
          <p:nvPr/>
        </p:nvSpPr>
        <p:spPr>
          <a:xfrm>
            <a:off x="0" y="1205344"/>
            <a:ext cx="12191999" cy="52907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spcAft>
                <a:spcPts val="600"/>
              </a:spcAft>
              <a:buNone/>
            </a:pP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1.Các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khoản</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thu</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NSĐP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hưởng</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100% (bao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gòm</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cả</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khoản</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tiền</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chậm</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nộp</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theo</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quy</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định</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của</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Luật</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QL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thuế</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bao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gồm</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tt</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a:t>
            </a: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r) Các khoản huy động tài trợ, đóng góp tự nguyện bằng tiền từ các cơ quan, tổ chức, cá nhân theo quy định của pháp luật cho các cơ quan do địa phương quản lý; </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s) Thu kết dư ngân sách địa phương;</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t) Thu chuyển nguồn của ngân sách địa phương từ năm trước chuyển sang; </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u) Các khoản thu khác theo quy định của pháp luật (bao gồm cả thu tiền bảo vệ, phát triển đất trồng lúa; thu tiền bồi thường cho nhà nước khi gây thiệt hại trong quản lý và sử dụng đất đai; thu ngân sách cấp xã nộp lên). </a:t>
            </a:r>
            <a:endParaRPr lang="en-US" sz="2000" b="1" dirty="0">
              <a:solidFill>
                <a:srgbClr val="FF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8263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4A58F-49AC-E82C-9FB9-79249F649E2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39815A6-C1F0-9533-00D9-1C4E09DDA6BC}"/>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2">
            <a:extLst>
              <a:ext uri="{FF2B5EF4-FFF2-40B4-BE49-F238E27FC236}">
                <a16:creationId xmlns:a16="http://schemas.microsoft.com/office/drawing/2014/main" id="{95FBCD58-D5E0-285F-855A-CD37D173679B}"/>
              </a:ext>
            </a:extLst>
          </p:cNvPr>
          <p:cNvSpPr txBox="1">
            <a:spLocks/>
          </p:cNvSpPr>
          <p:nvPr/>
        </p:nvSpPr>
        <p:spPr>
          <a:xfrm>
            <a:off x="0" y="1205344"/>
            <a:ext cx="12191999" cy="52907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spcAft>
                <a:spcPts val="600"/>
              </a:spcAft>
              <a:buNone/>
            </a:pPr>
            <a:r>
              <a:rPr lang="vi-VN" sz="2000" b="1" dirty="0">
                <a:solidFill>
                  <a:srgbClr val="FF0000"/>
                </a:solidFill>
                <a:highlight>
                  <a:srgbClr val="FFFFFF"/>
                </a:highlight>
                <a:latin typeface="Times New Roman" panose="02020603050405020304" pitchFamily="18" charset="0"/>
                <a:cs typeface="Times New Roman" panose="02020603050405020304" pitchFamily="18" charset="0"/>
              </a:rPr>
              <a:t>2. Các khoản thu phân chia theo tỷ lệ phần trăm (%) giữa ngân sách trung ương và ngân sách địa phương theo quy định</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tt</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a:t>
            </a:r>
          </a:p>
          <a:p>
            <a:pPr marL="0" indent="0">
              <a:lnSpc>
                <a:spcPct val="100000"/>
              </a:lnSpc>
              <a:spcBef>
                <a:spcPts val="600"/>
              </a:spcBef>
              <a:spcAft>
                <a:spcPts val="600"/>
              </a:spcAft>
              <a:buNone/>
            </a:pPr>
            <a:r>
              <a:rPr lang="en-US" sz="2000" dirty="0">
                <a:highlight>
                  <a:srgbClr val="FFFFFF"/>
                </a:highlight>
                <a:latin typeface="Times New Roman" panose="02020603050405020304" pitchFamily="18" charset="0"/>
                <a:cs typeface="Times New Roman" panose="02020603050405020304" pitchFamily="18" charset="0"/>
              </a:rPr>
              <a:t>a) </a:t>
            </a:r>
            <a:r>
              <a:rPr lang="vi-VN" sz="2000" dirty="0">
                <a:highlight>
                  <a:srgbClr val="FFFFFF"/>
                </a:highlight>
                <a:latin typeface="Times New Roman" panose="02020603050405020304" pitchFamily="18" charset="0"/>
                <a:cs typeface="Times New Roman" panose="02020603050405020304" pitchFamily="18" charset="0"/>
              </a:rPr>
              <a:t>Thuế thu nhập doanh nghiệp (bao gồm cả thuế thu nhập doanh nghiệp của các nhà thầu phụ phát sinh từ các hoạt động dịch vụ phục vụ hoạt động thăm dò và khai thác dầu, khí và thuế thu nhập từ chuyển nhượng vốn trong hoạt động dầu, khí), trừ thuế thu nhập doanh nghiệp quy định tại điểm c và điểm n khoản 1 Điều này;</a:t>
            </a:r>
            <a:endParaRPr lang="en-US" sz="2000" dirty="0">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b) Thuế thu nhập cá nhân;</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c) Thuế tiêu thụ đặc biệt, trử khoản hoàn thuế tiêu thụ đặc biệt (nếu có) và thuế tiêu thụ đặc biệt quy định tại điểm b khoản 1 Điều này; </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d) Thuế bảo vệ môi trường;</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highlight>
                  <a:srgbClr val="FFFFFF"/>
                </a:highlight>
                <a:latin typeface="Times New Roman" panose="02020603050405020304" pitchFamily="18" charset="0"/>
                <a:cs typeface="Times New Roman" panose="02020603050405020304" pitchFamily="18" charset="0"/>
              </a:rPr>
              <a:t>đ) Thu tiền cấp quyền khai thác khoáng sản, tài nguyên nước do cơ quan có thẩm quyền của trung ương cấp phép thực hiện phân chia ngân sách trung ương hưởng 70%, ngân sách địa phương hưởng 30%;</a:t>
            </a: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latin typeface="Times New Roman" panose="02020603050405020304" pitchFamily="18" charset="0"/>
                <a:cs typeface="Times New Roman" panose="02020603050405020304" pitchFamily="18" charset="0"/>
              </a:rPr>
              <a:t> </a:t>
            </a:r>
            <a:endParaRPr lang="en-US" sz="2000" dirty="0">
              <a:solidFill>
                <a:srgbClr val="FF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349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B2138-25DD-CD9C-1366-466C51E9FA1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BF30E2B-1CEA-0F27-B80D-2DC59095EE0C}"/>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2">
            <a:extLst>
              <a:ext uri="{FF2B5EF4-FFF2-40B4-BE49-F238E27FC236}">
                <a16:creationId xmlns:a16="http://schemas.microsoft.com/office/drawing/2014/main" id="{0D57088E-7831-FDDB-F417-A4BC19EF4620}"/>
              </a:ext>
            </a:extLst>
          </p:cNvPr>
          <p:cNvSpPr txBox="1">
            <a:spLocks/>
          </p:cNvSpPr>
          <p:nvPr/>
        </p:nvSpPr>
        <p:spPr>
          <a:xfrm>
            <a:off x="0" y="1205344"/>
            <a:ext cx="12191999" cy="52907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spcAft>
                <a:spcPts val="600"/>
              </a:spcAft>
              <a:buNone/>
            </a:pPr>
            <a:r>
              <a:rPr lang="vi-VN" sz="2000" b="1" dirty="0">
                <a:solidFill>
                  <a:srgbClr val="FF0000"/>
                </a:solidFill>
                <a:highlight>
                  <a:srgbClr val="FFFFFF"/>
                </a:highlight>
                <a:latin typeface="Times New Roman" panose="02020603050405020304" pitchFamily="18" charset="0"/>
                <a:cs typeface="Times New Roman" panose="02020603050405020304" pitchFamily="18" charset="0"/>
              </a:rPr>
              <a:t>2. Các khoản thu phân chia theo tỷ lệ phần trăm (%) giữa ngân sách trung ương và ngân sách địa phương theo quy định</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000" b="1" dirty="0" err="1">
                <a:solidFill>
                  <a:srgbClr val="FF0000"/>
                </a:solidFill>
                <a:highlight>
                  <a:srgbClr val="FFFFFF"/>
                </a:highlight>
                <a:latin typeface="Times New Roman" panose="02020603050405020304" pitchFamily="18" charset="0"/>
                <a:cs typeface="Times New Roman" panose="02020603050405020304" pitchFamily="18" charset="0"/>
              </a:rPr>
              <a:t>tt</a:t>
            </a:r>
            <a:r>
              <a:rPr lang="en-US" sz="2000" b="1" dirty="0">
                <a:solidFill>
                  <a:srgbClr val="FF0000"/>
                </a:solidFill>
                <a:highlight>
                  <a:srgbClr val="FFFFFF"/>
                </a:highlight>
                <a:latin typeface="Times New Roman" panose="02020603050405020304" pitchFamily="18" charset="0"/>
                <a:cs typeface="Times New Roman" panose="02020603050405020304" pitchFamily="18" charset="0"/>
              </a:rPr>
              <a:t>)</a:t>
            </a:r>
          </a:p>
          <a:p>
            <a:pPr marL="0" indent="0">
              <a:lnSpc>
                <a:spcPct val="100000"/>
              </a:lnSpc>
              <a:spcBef>
                <a:spcPts val="600"/>
              </a:spcBef>
              <a:spcAft>
                <a:spcPts val="600"/>
              </a:spcAft>
              <a:buNone/>
            </a:pPr>
            <a:r>
              <a:rPr lang="vi-VN" sz="2000" dirty="0">
                <a:highlight>
                  <a:srgbClr val="FFFFFF"/>
                </a:highlight>
                <a:latin typeface="Times New Roman" panose="02020603050405020304" pitchFamily="18" charset="0"/>
                <a:cs typeface="Times New Roman" panose="02020603050405020304" pitchFamily="18" charset="0"/>
              </a:rPr>
              <a:t>e) Thuế giá trị gia tăng (không bao gồm số thuế giá trị gia tăng được hoàn theo quy định của Luật Thuế giá trị gia tăng và thuế giá trị gia tăng quy định tại điểm c khoản 1 Điều này) thực hiện phân chia: ngân sách trung ương hưởng 70%, ngân sách các địa phương hưởng 30%. Việc phân chia cho từng địa phương trên cơ sở nguyên tắc, tiêu chí trong từng giai đoạn do Ủy ban Thường vụ Quốc hội quyết định; </a:t>
            </a:r>
            <a:endParaRPr lang="en-US" sz="2000" dirty="0">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highlight>
                  <a:srgbClr val="FFFFFF"/>
                </a:highlight>
                <a:latin typeface="Times New Roman" panose="02020603050405020304" pitchFamily="18" charset="0"/>
                <a:cs typeface="Times New Roman" panose="02020603050405020304" pitchFamily="18" charset="0"/>
              </a:rPr>
              <a:t>g) Tiền sử dụng đất, tiền thuê đất, trừ thu tiền sử dụng đất gắn với tài sản trên đất do các cơ quan, tổ chức, đơn vị thuộc trung ương quản lý quy định tại điểm h khoản 1 Điều này, các địa phương không nhận bổ sung cân đối, ngân sách trung ương hưởng 20%; ngân sách địa phương hưởng 80%. Các địa phương nhận bổ sung cân đối, ngân sách trung ương hưởng 15%; ngân sách địa phương hưởng 85%. Riêng thành phố Hà Nội thực hiện phân chia 100% cho ngân sách thành phố theo cơ chế, chính sách tài chính - ngân sách đặc thù quy định tại Luật Thủ đô. </a:t>
            </a:r>
            <a:endParaRPr lang="en-US" sz="2000" dirty="0">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000" dirty="0">
                <a:highlight>
                  <a:srgbClr val="FFFFFF"/>
                </a:highlight>
                <a:latin typeface="Times New Roman" panose="02020603050405020304" pitchFamily="18" charset="0"/>
                <a:cs typeface="Times New Roman" panose="02020603050405020304" pitchFamily="18" charset="0"/>
              </a:rPr>
              <a:t>Việc phân chia số tiền thu được từ khai thác quỹ đất khu vực TOD thực hiện theo quy định tại khoản 3 Điều 25 Luật Đường sắt năm 2025 hoặc các cơ chế, chính sách tài chính - ngân sách đặc thủ tại các Nghị quyết của Quốc hội.</a:t>
            </a:r>
            <a:r>
              <a:rPr lang="vi-VN" sz="2000" dirty="0">
                <a:latin typeface="Times New Roman" panose="02020603050405020304" pitchFamily="18" charset="0"/>
                <a:cs typeface="Times New Roman" panose="02020603050405020304" pitchFamily="18" charset="0"/>
              </a:rPr>
              <a:t> </a:t>
            </a:r>
            <a:endParaRPr lang="en-US" sz="2000" dirty="0">
              <a:solidFill>
                <a:srgbClr val="FF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7878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01598-F62A-6683-D038-A0FBE1A3AEC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4735B5A-8958-480C-4903-BA6400412702}"/>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2">
            <a:extLst>
              <a:ext uri="{FF2B5EF4-FFF2-40B4-BE49-F238E27FC236}">
                <a16:creationId xmlns:a16="http://schemas.microsoft.com/office/drawing/2014/main" id="{330B16BD-9040-FAF7-C59E-204CE2A46E56}"/>
              </a:ext>
            </a:extLst>
          </p:cNvPr>
          <p:cNvSpPr txBox="1">
            <a:spLocks/>
          </p:cNvSpPr>
          <p:nvPr/>
        </p:nvSpPr>
        <p:spPr>
          <a:xfrm>
            <a:off x="0" y="1205344"/>
            <a:ext cx="12191999" cy="52907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buFont typeface="Wingdings" panose="05000000000000000000" pitchFamily="2" charset="2"/>
              <a:buChar char="Ø"/>
            </a:pP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Thu NS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được</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hưởng</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theo</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phân</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cấp</a:t>
            </a:r>
            <a:endParaRPr lang="en-US" sz="2400" b="1" dirty="0">
              <a:solidFill>
                <a:srgbClr val="FF0000"/>
              </a:solidFill>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400" b="1" dirty="0">
                <a:solidFill>
                  <a:srgbClr val="FF0000"/>
                </a:solidFill>
                <a:highlight>
                  <a:srgbClr val="FFFFFF"/>
                </a:highlight>
                <a:latin typeface="Times New Roman" panose="02020603050405020304" pitchFamily="18" charset="0"/>
                <a:cs typeface="Times New Roman" panose="02020603050405020304" pitchFamily="18" charset="0"/>
              </a:rPr>
              <a:t>Xác định tỷ lệ phần trăm (%) phân chia các khoản thu giữa ngân sách cấp tỉnh và ngân sách cấp </a:t>
            </a:r>
            <a:r>
              <a:rPr lang="az-Cyrl-AZ" sz="2400" b="1" dirty="0">
                <a:solidFill>
                  <a:srgbClr val="FF0000"/>
                </a:solidFill>
                <a:highlight>
                  <a:srgbClr val="FFFFFF"/>
                </a:highlight>
                <a:latin typeface="Times New Roman" panose="02020603050405020304" pitchFamily="18" charset="0"/>
                <a:cs typeface="Times New Roman" panose="02020603050405020304" pitchFamily="18" charset="0"/>
              </a:rPr>
              <a:t>х</a:t>
            </a:r>
            <a:r>
              <a:rPr lang="vi-VN" sz="2400" b="1" dirty="0">
                <a:solidFill>
                  <a:srgbClr val="FF0000"/>
                </a:solidFill>
                <a:highlight>
                  <a:srgbClr val="FFFFFF"/>
                </a:highlight>
                <a:latin typeface="Times New Roman" panose="02020603050405020304" pitchFamily="18" charset="0"/>
                <a:cs typeface="Times New Roman" panose="02020603050405020304" pitchFamily="18" charset="0"/>
              </a:rPr>
              <a:t>ã:</a:t>
            </a:r>
            <a:endParaRPr lang="en-US" sz="2400" b="1" dirty="0">
              <a:solidFill>
                <a:srgbClr val="FF0000"/>
              </a:solidFill>
              <a:highlight>
                <a:srgbClr val="FFFFFF"/>
              </a:highlight>
              <a:latin typeface="Times New Roman" panose="02020603050405020304" pitchFamily="18" charset="0"/>
              <a:cs typeface="Times New Roman" panose="02020603050405020304" pitchFamily="18" charset="0"/>
            </a:endParaRPr>
          </a:p>
          <a:p>
            <a:pPr marL="0" indent="0" algn="just">
              <a:lnSpc>
                <a:spcPct val="100000"/>
              </a:lnSpc>
              <a:spcBef>
                <a:spcPts val="600"/>
              </a:spcBef>
              <a:spcAft>
                <a:spcPts val="600"/>
              </a:spcAft>
              <a:buNone/>
            </a:pPr>
            <a:r>
              <a:rPr lang="en-US" sz="2000" dirty="0">
                <a:highlight>
                  <a:srgbClr val="FFFFFF"/>
                </a:highlight>
                <a:latin typeface="Times New Roman" panose="02020603050405020304" pitchFamily="18" charset="0"/>
                <a:cs typeface="Times New Roman" panose="02020603050405020304" pitchFamily="18" charset="0"/>
              </a:rPr>
              <a:t>a) </a:t>
            </a:r>
            <a:r>
              <a:rPr lang="vi-VN" sz="2000" dirty="0">
                <a:highlight>
                  <a:srgbClr val="FFFFFF"/>
                </a:highlight>
                <a:latin typeface="Times New Roman" panose="02020603050405020304" pitchFamily="18" charset="0"/>
                <a:cs typeface="Times New Roman" panose="02020603050405020304" pitchFamily="18" charset="0"/>
              </a:rPr>
              <a:t>Các khoản thu phân chia giữa ngân sách cấp tỉnh và ngân sách cấp xã gồm: Các khoản thu về thuế, phí, lệ phí và các khoản thu khác ngân sách địa phương hưởng 100% theo quy định tại khoản 1 Điều 5 của Thông tư </a:t>
            </a:r>
            <a:r>
              <a:rPr lang="en-US" sz="2000" dirty="0">
                <a:highlight>
                  <a:srgbClr val="FFFFFF"/>
                </a:highlight>
                <a:latin typeface="Times New Roman" panose="02020603050405020304" pitchFamily="18" charset="0"/>
                <a:cs typeface="Times New Roman" panose="02020603050405020304" pitchFamily="18" charset="0"/>
              </a:rPr>
              <a:t>26</a:t>
            </a:r>
            <a:r>
              <a:rPr lang="vi-VN" sz="2000" dirty="0">
                <a:highlight>
                  <a:srgbClr val="FFFFFF"/>
                </a:highlight>
                <a:latin typeface="Times New Roman" panose="02020603050405020304" pitchFamily="18" charset="0"/>
                <a:cs typeface="Times New Roman" panose="02020603050405020304" pitchFamily="18" charset="0"/>
              </a:rPr>
              <a:t> và phần ngân sách địa phương được hưởng từ các khoản thu phân chia giữa ngân sách trung ương và ngân sách địa phương theo quy định tại khoản 2 Điều 3 của Thông tư này; </a:t>
            </a:r>
            <a:endParaRPr lang="en-US" sz="2000" dirty="0">
              <a:highlight>
                <a:srgbClr val="FFFFFF"/>
              </a:highlight>
              <a:latin typeface="Times New Roman" panose="02020603050405020304" pitchFamily="18" charset="0"/>
              <a:cs typeface="Times New Roman" panose="02020603050405020304" pitchFamily="18" charset="0"/>
            </a:endParaRPr>
          </a:p>
          <a:p>
            <a:pPr marL="0" indent="0" algn="just">
              <a:lnSpc>
                <a:spcPct val="100000"/>
              </a:lnSpc>
              <a:spcBef>
                <a:spcPts val="600"/>
              </a:spcBef>
              <a:spcAft>
                <a:spcPts val="600"/>
              </a:spcAft>
              <a:buNone/>
            </a:pPr>
            <a:r>
              <a:rPr lang="vi-VN" sz="2000" dirty="0">
                <a:highlight>
                  <a:srgbClr val="FFFFFF"/>
                </a:highlight>
                <a:latin typeface="Times New Roman" panose="02020603050405020304" pitchFamily="18" charset="0"/>
                <a:cs typeface="Times New Roman" panose="02020603050405020304" pitchFamily="18" charset="0"/>
              </a:rPr>
              <a:t>b) Ủy ban nhân dân cấp tỉnh trình Hội đồng nhân dân cùng cấp quyết định phân cấp nguồn thu và tỷ lệ phần trăm (%) phân chia các khoản thu giữa ngân sách cấp tinh với ngân sách từng xã. Việc quyết định tỷ lệ phần trăm (%) phân chia các khoản thu giữa ngân sách cấp tinh và ngân sách từng xã có thể áp dụng cho từng khoản thu, bảo đảm vai trò chủ đạo của ngân sách cấp tỉnh, tỷ lệ được ồn định lâu dài để chủ động ngân sách cấp xã; </a:t>
            </a:r>
            <a:endParaRPr lang="en-US" sz="2000" dirty="0">
              <a:highlight>
                <a:srgbClr val="FFFFFF"/>
              </a:highlight>
              <a:latin typeface="Times New Roman" panose="02020603050405020304" pitchFamily="18" charset="0"/>
              <a:cs typeface="Times New Roman" panose="02020603050405020304" pitchFamily="18" charset="0"/>
            </a:endParaRPr>
          </a:p>
          <a:p>
            <a:pPr marL="0" indent="0" algn="just">
              <a:lnSpc>
                <a:spcPct val="100000"/>
              </a:lnSpc>
              <a:spcBef>
                <a:spcPts val="600"/>
              </a:spcBef>
              <a:spcAft>
                <a:spcPts val="600"/>
              </a:spcAft>
              <a:buNone/>
            </a:pPr>
            <a:r>
              <a:rPr lang="en-US" sz="2000" dirty="0">
                <a:solidFill>
                  <a:srgbClr val="C00000"/>
                </a:solidFill>
                <a:highlight>
                  <a:srgbClr val="FFFFFF"/>
                </a:highlight>
                <a:latin typeface="Times New Roman" panose="02020603050405020304" pitchFamily="18" charset="0"/>
                <a:cs typeface="Times New Roman" panose="02020603050405020304" pitchFamily="18" charset="0"/>
              </a:rPr>
              <a:t>(</a:t>
            </a:r>
            <a:r>
              <a:rPr lang="en-US" sz="2000" dirty="0" err="1">
                <a:solidFill>
                  <a:srgbClr val="C00000"/>
                </a:solidFill>
                <a:highlight>
                  <a:srgbClr val="FFFFFF"/>
                </a:highlight>
                <a:latin typeface="Times New Roman" panose="02020603050405020304" pitchFamily="18" charset="0"/>
                <a:cs typeface="Times New Roman" panose="02020603050405020304" pitchFamily="18" charset="0"/>
              </a:rPr>
              <a:t>khoản</a:t>
            </a:r>
            <a:r>
              <a:rPr lang="en-US" sz="2000" dirty="0">
                <a:solidFill>
                  <a:srgbClr val="C00000"/>
                </a:solidFill>
                <a:highlight>
                  <a:srgbClr val="FFFFFF"/>
                </a:highlight>
                <a:latin typeface="Times New Roman" panose="02020603050405020304" pitchFamily="18" charset="0"/>
                <a:cs typeface="Times New Roman" panose="02020603050405020304" pitchFamily="18" charset="0"/>
              </a:rPr>
              <a:t> 2, </a:t>
            </a:r>
            <a:r>
              <a:rPr lang="en-US" sz="2000" dirty="0" err="1">
                <a:solidFill>
                  <a:srgbClr val="C00000"/>
                </a:solidFill>
                <a:highlight>
                  <a:srgbClr val="FFFFFF"/>
                </a:highlight>
                <a:latin typeface="Times New Roman" panose="02020603050405020304" pitchFamily="18" charset="0"/>
                <a:cs typeface="Times New Roman" panose="02020603050405020304" pitchFamily="18" charset="0"/>
              </a:rPr>
              <a:t>Điều</a:t>
            </a:r>
            <a:r>
              <a:rPr lang="en-US" sz="2000" dirty="0">
                <a:solidFill>
                  <a:srgbClr val="C00000"/>
                </a:solidFill>
                <a:highlight>
                  <a:srgbClr val="FFFFFF"/>
                </a:highlight>
                <a:latin typeface="Times New Roman" panose="02020603050405020304" pitchFamily="18" charset="0"/>
                <a:cs typeface="Times New Roman" panose="02020603050405020304" pitchFamily="18" charset="0"/>
              </a:rPr>
              <a:t> 8, TT 26)</a:t>
            </a:r>
            <a:endParaRPr lang="vi-VN" sz="2000" dirty="0">
              <a:solidFill>
                <a:srgbClr val="C0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1171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595C7-B21F-FA45-63BD-07FDC4F1B3D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12EC126-709D-9AB3-419B-7B61225408D8}"/>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2">
            <a:extLst>
              <a:ext uri="{FF2B5EF4-FFF2-40B4-BE49-F238E27FC236}">
                <a16:creationId xmlns:a16="http://schemas.microsoft.com/office/drawing/2014/main" id="{D17DA7B3-2486-02EA-BCAB-DAD28338FF33}"/>
              </a:ext>
            </a:extLst>
          </p:cNvPr>
          <p:cNvSpPr txBox="1">
            <a:spLocks/>
          </p:cNvSpPr>
          <p:nvPr/>
        </p:nvSpPr>
        <p:spPr>
          <a:xfrm>
            <a:off x="0" y="1205344"/>
            <a:ext cx="12191999" cy="52907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buFont typeface="Wingdings" panose="05000000000000000000" pitchFamily="2" charset="2"/>
              <a:buChar char="Ø"/>
            </a:pP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Thu NS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được</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hưởng</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theo</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phân</a:t>
            </a:r>
            <a:r>
              <a:rPr lang="en-US" sz="2400" b="1" dirty="0">
                <a:solidFill>
                  <a:srgbClr val="FF0000"/>
                </a:solidFill>
                <a:highlight>
                  <a:srgbClr val="FFFFFF"/>
                </a:highlight>
                <a:latin typeface="Times New Roman" panose="02020603050405020304" pitchFamily="18" charset="0"/>
                <a:cs typeface="Times New Roman" panose="02020603050405020304" pitchFamily="18" charset="0"/>
              </a:rPr>
              <a:t> </a:t>
            </a:r>
            <a:r>
              <a:rPr lang="en-US" sz="2400" b="1" dirty="0" err="1">
                <a:solidFill>
                  <a:srgbClr val="FF0000"/>
                </a:solidFill>
                <a:highlight>
                  <a:srgbClr val="FFFFFF"/>
                </a:highlight>
                <a:latin typeface="Times New Roman" panose="02020603050405020304" pitchFamily="18" charset="0"/>
                <a:cs typeface="Times New Roman" panose="02020603050405020304" pitchFamily="18" charset="0"/>
              </a:rPr>
              <a:t>cấp</a:t>
            </a:r>
            <a:endParaRPr lang="en-US" sz="2400" b="1" dirty="0">
              <a:solidFill>
                <a:srgbClr val="FF0000"/>
              </a:solidFill>
              <a:highlight>
                <a:srgbClr val="FFFFFF"/>
              </a:highlight>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vi-VN" sz="2400" b="1" dirty="0">
                <a:solidFill>
                  <a:srgbClr val="FF0000"/>
                </a:solidFill>
                <a:highlight>
                  <a:srgbClr val="FFFFFF"/>
                </a:highlight>
                <a:latin typeface="Times New Roman" panose="02020603050405020304" pitchFamily="18" charset="0"/>
                <a:cs typeface="Times New Roman" panose="02020603050405020304" pitchFamily="18" charset="0"/>
              </a:rPr>
              <a:t>Xác định tỷ lệ phần trăm (%) phân chia các khoản thu giữa ngân sách cấp tỉnh và ngân sách cấp </a:t>
            </a:r>
            <a:r>
              <a:rPr lang="az-Cyrl-AZ" sz="2400" b="1" dirty="0">
                <a:solidFill>
                  <a:srgbClr val="FF0000"/>
                </a:solidFill>
                <a:highlight>
                  <a:srgbClr val="FFFFFF"/>
                </a:highlight>
                <a:latin typeface="Times New Roman" panose="02020603050405020304" pitchFamily="18" charset="0"/>
                <a:cs typeface="Times New Roman" panose="02020603050405020304" pitchFamily="18" charset="0"/>
              </a:rPr>
              <a:t>х</a:t>
            </a:r>
            <a:r>
              <a:rPr lang="vi-VN" sz="2400" b="1" dirty="0">
                <a:solidFill>
                  <a:srgbClr val="FF0000"/>
                </a:solidFill>
                <a:highlight>
                  <a:srgbClr val="FFFFFF"/>
                </a:highlight>
                <a:latin typeface="Times New Roman" panose="02020603050405020304" pitchFamily="18" charset="0"/>
                <a:cs typeface="Times New Roman" panose="02020603050405020304" pitchFamily="18" charset="0"/>
              </a:rPr>
              <a:t>ã: </a:t>
            </a:r>
            <a:endParaRPr lang="en-US" sz="2400" b="1" dirty="0">
              <a:solidFill>
                <a:srgbClr val="FF0000"/>
              </a:solidFill>
              <a:highlight>
                <a:srgbClr val="FFFFFF"/>
              </a:highlight>
              <a:latin typeface="Times New Roman" panose="02020603050405020304" pitchFamily="18" charset="0"/>
              <a:cs typeface="Times New Roman" panose="02020603050405020304" pitchFamily="18" charset="0"/>
            </a:endParaRPr>
          </a:p>
          <a:p>
            <a:pPr marL="0" indent="0" algn="just">
              <a:lnSpc>
                <a:spcPct val="100000"/>
              </a:lnSpc>
              <a:spcBef>
                <a:spcPts val="600"/>
              </a:spcBef>
              <a:spcAft>
                <a:spcPts val="600"/>
              </a:spcAft>
              <a:buNone/>
            </a:pPr>
            <a:r>
              <a:rPr lang="vi-VN" sz="2000" dirty="0">
                <a:highlight>
                  <a:srgbClr val="FFFFFF"/>
                </a:highlight>
                <a:latin typeface="Times New Roman" panose="02020603050405020304" pitchFamily="18" charset="0"/>
                <a:cs typeface="Times New Roman" panose="02020603050405020304" pitchFamily="18" charset="0"/>
              </a:rPr>
              <a:t>c) Trong trường hợp Trung ương quyết định điều chỉnh tỷ lệ phân chia khoản thu giữa ngân sách trung ương và ngân sách địa phương hoặc có biến động lớn về thu, chi ngân sách địa phương hoặc có chênh lệch lớn về số thu, chi ngân sách giữa cấp tỉnh và cấp xã hoặc giữa các địa phương cấp xã cần phải điều chỉnh tỷ lệ phân chia các khoản thu cho phù hợp, </a:t>
            </a:r>
            <a:r>
              <a:rPr lang="en-US" sz="2000" dirty="0">
                <a:highlight>
                  <a:srgbClr val="FFFFFF"/>
                </a:highlight>
                <a:latin typeface="Times New Roman" panose="02020603050405020304" pitchFamily="18" charset="0"/>
                <a:cs typeface="Times New Roman" panose="02020603050405020304" pitchFamily="18" charset="0"/>
              </a:rPr>
              <a:t>Ủ</a:t>
            </a:r>
            <a:r>
              <a:rPr lang="vi-VN" sz="2000" dirty="0">
                <a:highlight>
                  <a:srgbClr val="FFFFFF"/>
                </a:highlight>
                <a:latin typeface="Times New Roman" panose="02020603050405020304" pitchFamily="18" charset="0"/>
                <a:cs typeface="Times New Roman" panose="02020603050405020304" pitchFamily="18" charset="0"/>
              </a:rPr>
              <a:t>y ban nhân dân cấp tỉnh trình Hội đồng nhân dân cùng cấp điều chỉnh tỷ lệ phần trăm (%) phân chia các khoàn thu giữa ngân sách cấp tỉnh và ngân sách cấp xã.</a:t>
            </a:r>
            <a:endParaRPr lang="en-US" sz="2000" dirty="0">
              <a:highlight>
                <a:srgbClr val="FFFFFF"/>
              </a:highlight>
              <a:latin typeface="Times New Roman" panose="02020603050405020304" pitchFamily="18" charset="0"/>
              <a:cs typeface="Times New Roman" panose="02020603050405020304" pitchFamily="18" charset="0"/>
            </a:endParaRPr>
          </a:p>
          <a:p>
            <a:pPr marL="0" indent="0" algn="just">
              <a:lnSpc>
                <a:spcPct val="100000"/>
              </a:lnSpc>
              <a:spcBef>
                <a:spcPts val="600"/>
              </a:spcBef>
              <a:spcAft>
                <a:spcPts val="600"/>
              </a:spcAft>
              <a:buNone/>
            </a:pPr>
            <a:r>
              <a:rPr lang="en-US" sz="2000" dirty="0">
                <a:highlight>
                  <a:srgbClr val="FFFFFF"/>
                </a:highlight>
                <a:latin typeface="Times New Roman" panose="02020603050405020304" pitchFamily="18" charset="0"/>
                <a:cs typeface="Times New Roman" panose="02020603050405020304" pitchFamily="18" charset="0"/>
              </a:rPr>
              <a:t>(</a:t>
            </a:r>
            <a:r>
              <a:rPr lang="en-US" sz="2000" dirty="0" err="1">
                <a:highlight>
                  <a:srgbClr val="FFFFFF"/>
                </a:highlight>
                <a:latin typeface="Times New Roman" panose="02020603050405020304" pitchFamily="18" charset="0"/>
                <a:cs typeface="Times New Roman" panose="02020603050405020304" pitchFamily="18" charset="0"/>
              </a:rPr>
              <a:t>khoản</a:t>
            </a:r>
            <a:r>
              <a:rPr lang="en-US" sz="2000" dirty="0">
                <a:highlight>
                  <a:srgbClr val="FFFFFF"/>
                </a:highlight>
                <a:latin typeface="Times New Roman" panose="02020603050405020304" pitchFamily="18" charset="0"/>
                <a:cs typeface="Times New Roman" panose="02020603050405020304" pitchFamily="18" charset="0"/>
              </a:rPr>
              <a:t> 2, </a:t>
            </a:r>
            <a:r>
              <a:rPr lang="en-US" sz="2000" dirty="0" err="1">
                <a:highlight>
                  <a:srgbClr val="FFFFFF"/>
                </a:highlight>
                <a:latin typeface="Times New Roman" panose="02020603050405020304" pitchFamily="18" charset="0"/>
                <a:cs typeface="Times New Roman" panose="02020603050405020304" pitchFamily="18" charset="0"/>
              </a:rPr>
              <a:t>Điều</a:t>
            </a:r>
            <a:r>
              <a:rPr lang="en-US" sz="2000" dirty="0">
                <a:highlight>
                  <a:srgbClr val="FFFFFF"/>
                </a:highlight>
                <a:latin typeface="Times New Roman" panose="02020603050405020304" pitchFamily="18" charset="0"/>
                <a:cs typeface="Times New Roman" panose="02020603050405020304" pitchFamily="18" charset="0"/>
              </a:rPr>
              <a:t> 8, TT 26)</a:t>
            </a:r>
            <a:r>
              <a:rPr lang="vi-VN" sz="2000" dirty="0">
                <a:highlight>
                  <a:srgbClr val="FFFFFF"/>
                </a:highlight>
                <a:latin typeface="Times New Roman" panose="02020603050405020304" pitchFamily="18" charset="0"/>
                <a:cs typeface="Times New Roman" panose="02020603050405020304" pitchFamily="18" charset="0"/>
              </a:rPr>
              <a:t> </a:t>
            </a:r>
            <a:endParaRPr lang="vi-VN" sz="2000" dirty="0">
              <a:solidFill>
                <a:srgbClr val="C00000"/>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3151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C51A6-8C55-E008-EB8A-0780D9D317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146DD43-4731-29E6-473F-6786A1423DAD}"/>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3">
            <a:extLst>
              <a:ext uri="{FF2B5EF4-FFF2-40B4-BE49-F238E27FC236}">
                <a16:creationId xmlns:a16="http://schemas.microsoft.com/office/drawing/2014/main" id="{FEB974D7-63FC-9EF1-A19C-D315A9E44B4C}"/>
              </a:ext>
            </a:extLst>
          </p:cNvPr>
          <p:cNvSpPr txBox="1">
            <a:spLocks/>
          </p:cNvSpPr>
          <p:nvPr/>
        </p:nvSpPr>
        <p:spPr>
          <a:xfrm>
            <a:off x="406401" y="1158142"/>
            <a:ext cx="11574584" cy="56505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buFont typeface="Wingdings" panose="05000000000000000000" pitchFamily="2" charset="2"/>
              <a:buChar char="Ø"/>
            </a:pPr>
            <a:r>
              <a:rPr lang="vi-VN" sz="2400" b="1" i="1" dirty="0">
                <a:solidFill>
                  <a:srgbClr val="FF0000"/>
                </a:solidFill>
                <a:latin typeface="Times New Roman" panose="02020603050405020304" pitchFamily="18" charset="0"/>
                <a:cs typeface="Times New Roman" panose="02020603050405020304" pitchFamily="18" charset="0"/>
              </a:rPr>
              <a:t> </a:t>
            </a:r>
            <a:r>
              <a:rPr lang="vi-VN" sz="2400" b="1" dirty="0">
                <a:solidFill>
                  <a:srgbClr val="FF0000"/>
                </a:solidFill>
                <a:latin typeface="Times New Roman" panose="02020603050405020304" pitchFamily="18" charset="0"/>
                <a:cs typeface="Times New Roman" panose="02020603050405020304" pitchFamily="18" charset="0"/>
              </a:rPr>
              <a:t>Thu bổ sung từ ngân sách cấp </a:t>
            </a:r>
            <a:r>
              <a:rPr lang="en-US" sz="2400" b="1" dirty="0" err="1">
                <a:solidFill>
                  <a:srgbClr val="FF0000"/>
                </a:solidFill>
                <a:latin typeface="Times New Roman" panose="02020603050405020304" pitchFamily="18" charset="0"/>
                <a:cs typeface="Times New Roman" panose="02020603050405020304" pitchFamily="18" charset="0"/>
              </a:rPr>
              <a:t>tỉnh</a:t>
            </a:r>
            <a:r>
              <a:rPr lang="vi-VN" sz="2400" b="1" dirty="0">
                <a:solidFill>
                  <a:srgbClr val="FF0000"/>
                </a:solidFill>
                <a:latin typeface="Times New Roman" panose="02020603050405020304" pitchFamily="18" charset="0"/>
                <a:cs typeface="Times New Roman" panose="02020603050405020304" pitchFamily="18" charset="0"/>
              </a:rPr>
              <a:t> cho NSX</a:t>
            </a:r>
          </a:p>
          <a:p>
            <a:pPr marL="0" indent="0" algn="just">
              <a:lnSpc>
                <a:spcPct val="170000"/>
              </a:lnSpc>
              <a:buFont typeface="Arial" panose="020B0604020202020204" pitchFamily="34" charset="0"/>
              <a:buNone/>
            </a:pPr>
            <a:r>
              <a:rPr lang="vi-VN" sz="2400" b="1" i="1" dirty="0">
                <a:solidFill>
                  <a:srgbClr val="FF0000"/>
                </a:solidFill>
                <a:latin typeface="Times New Roman" panose="02020603050405020304" pitchFamily="18" charset="0"/>
                <a:cs typeface="Times New Roman" panose="02020603050405020304" pitchFamily="18" charset="0"/>
              </a:rPr>
              <a:t>	</a:t>
            </a:r>
            <a:r>
              <a:rPr lang="vi-VN" sz="2400" dirty="0">
                <a:solidFill>
                  <a:srgbClr val="000000"/>
                </a:solidFill>
                <a:latin typeface="Times New Roman" panose="02020603050405020304" pitchFamily="18" charset="0"/>
                <a:cs typeface="Times New Roman" panose="02020603050405020304" pitchFamily="18" charset="0"/>
              </a:rPr>
              <a:t> </a:t>
            </a:r>
            <a:r>
              <a:rPr lang="vi-VN" sz="2400" b="1" i="1" dirty="0">
                <a:solidFill>
                  <a:srgbClr val="FF0000"/>
                </a:solidFill>
                <a:latin typeface="Times New Roman" panose="02020603050405020304" pitchFamily="18" charset="0"/>
                <a:cs typeface="Times New Roman" panose="02020603050405020304" pitchFamily="18" charset="0"/>
              </a:rPr>
              <a:t>- Thu bổ sung cân đối ngân sách</a:t>
            </a:r>
          </a:p>
          <a:p>
            <a:pPr marL="0" indent="0" algn="just">
              <a:lnSpc>
                <a:spcPct val="170000"/>
              </a:lnSpc>
              <a:buNone/>
            </a:pPr>
            <a:r>
              <a:rPr lang="vi-VN" sz="2400" b="1"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Số</a:t>
            </a:r>
            <a:r>
              <a:rPr lang="en-US" sz="2400" dirty="0">
                <a:solidFill>
                  <a:srgbClr val="000000"/>
                </a:solidFill>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bổ sung cân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nhằm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a:t>
            </a:r>
          </a:p>
          <a:p>
            <a:pPr marL="0" indent="0" algn="just">
              <a:lnSpc>
                <a:spcPct val="170000"/>
              </a:lnSpc>
              <a:buNone/>
            </a:pPr>
            <a:r>
              <a:rPr lang="en-US" sz="2400" i="1" dirty="0">
                <a:solidFill>
                  <a:srgbClr val="000000"/>
                </a:solidFill>
                <a:latin typeface="Times New Roman" panose="02020603050405020304" pitchFamily="18" charset="0"/>
                <a:cs typeface="Times New Roman" panose="02020603050405020304" pitchFamily="18" charset="0"/>
              </a:rPr>
              <a:t>	(</a:t>
            </a:r>
            <a:r>
              <a:rPr lang="en-US" sz="2400" i="1" dirty="0" err="1">
                <a:solidFill>
                  <a:srgbClr val="000000"/>
                </a:solidFill>
                <a:latin typeface="Times New Roman" panose="02020603050405020304" pitchFamily="18" charset="0"/>
                <a:cs typeface="Times New Roman" panose="02020603050405020304" pitchFamily="18" charset="0"/>
              </a:rPr>
              <a:t>Khoản</a:t>
            </a:r>
            <a:r>
              <a:rPr lang="en-US" sz="2400" i="1" dirty="0">
                <a:solidFill>
                  <a:srgbClr val="000000"/>
                </a:solidFill>
                <a:latin typeface="Times New Roman" panose="02020603050405020304" pitchFamily="18" charset="0"/>
                <a:cs typeface="Times New Roman" panose="02020603050405020304" pitchFamily="18" charset="0"/>
              </a:rPr>
              <a:t> 24, </a:t>
            </a:r>
            <a:r>
              <a:rPr lang="en-US" sz="2400" i="1" dirty="0" err="1">
                <a:solidFill>
                  <a:srgbClr val="000000"/>
                </a:solidFill>
                <a:latin typeface="Times New Roman" panose="02020603050405020304" pitchFamily="18" charset="0"/>
                <a:cs typeface="Times New Roman" panose="02020603050405020304" pitchFamily="18" charset="0"/>
              </a:rPr>
              <a:t>Điều</a:t>
            </a:r>
            <a:r>
              <a:rPr lang="en-US" sz="2400" i="1" dirty="0">
                <a:solidFill>
                  <a:srgbClr val="000000"/>
                </a:solidFill>
                <a:latin typeface="Times New Roman" panose="02020603050405020304" pitchFamily="18" charset="0"/>
                <a:cs typeface="Times New Roman" panose="02020603050405020304" pitchFamily="18" charset="0"/>
              </a:rPr>
              <a:t> 4 </a:t>
            </a:r>
            <a:r>
              <a:rPr lang="en-US" sz="2400" i="1" dirty="0" err="1">
                <a:solidFill>
                  <a:srgbClr val="000000"/>
                </a:solidFill>
                <a:latin typeface="Times New Roman" panose="02020603050405020304" pitchFamily="18" charset="0"/>
                <a:cs typeface="Times New Roman" panose="02020603050405020304" pitchFamily="18" charset="0"/>
              </a:rPr>
              <a:t>Luật</a:t>
            </a:r>
            <a:r>
              <a:rPr lang="en-US" sz="2400" i="1" dirty="0">
                <a:solidFill>
                  <a:srgbClr val="000000"/>
                </a:solidFill>
                <a:latin typeface="Times New Roman" panose="02020603050405020304" pitchFamily="18" charset="0"/>
                <a:cs typeface="Times New Roman" panose="02020603050405020304" pitchFamily="18" charset="0"/>
              </a:rPr>
              <a:t> NSNN 2025.</a:t>
            </a:r>
            <a:endParaRPr lang="vi-VN" sz="2400" i="1" dirty="0">
              <a:solidFill>
                <a:srgbClr val="000000"/>
              </a:solidFill>
              <a:latin typeface="Times New Roman" panose="02020603050405020304" pitchFamily="18" charset="0"/>
              <a:cs typeface="Times New Roman" panose="02020603050405020304" pitchFamily="18" charset="0"/>
            </a:endParaRPr>
          </a:p>
          <a:p>
            <a:pPr marL="0" indent="0" algn="just">
              <a:lnSpc>
                <a:spcPct val="170000"/>
              </a:lnSpc>
              <a:buFont typeface="Arial" panose="020B0604020202020204" pitchFamily="34" charset="0"/>
              <a:buNone/>
            </a:pPr>
            <a:r>
              <a:rPr lang="vi-VN" sz="2400" dirty="0">
                <a:solidFill>
                  <a:srgbClr val="000000"/>
                </a:solidFill>
                <a:latin typeface="Times New Roman" panose="02020603050405020304" pitchFamily="18" charset="0"/>
                <a:cs typeface="Times New Roman" panose="02020603050405020304" pitchFamily="18" charset="0"/>
              </a:rPr>
              <a:t>	</a:t>
            </a:r>
          </a:p>
          <a:p>
            <a:pPr marL="0" indent="0" algn="just">
              <a:lnSpc>
                <a:spcPct val="120000"/>
              </a:lnSpc>
              <a:buFont typeface="Arial" panose="020B0604020202020204" pitchFamily="34" charset="0"/>
              <a:buNone/>
            </a:pPr>
            <a:r>
              <a:rPr lang="vi-VN" sz="2400" dirty="0">
                <a:solidFill>
                  <a:srgbClr val="000000"/>
                </a:solidFill>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8201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7F368-34C7-6082-29C7-A972A7EF207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EEEE129-E322-AFB1-C8E8-518EDCB8DC52}"/>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3">
            <a:extLst>
              <a:ext uri="{FF2B5EF4-FFF2-40B4-BE49-F238E27FC236}">
                <a16:creationId xmlns:a16="http://schemas.microsoft.com/office/drawing/2014/main" id="{66480535-F630-4879-A5C6-BBCF9B991138}"/>
              </a:ext>
            </a:extLst>
          </p:cNvPr>
          <p:cNvSpPr txBox="1">
            <a:spLocks/>
          </p:cNvSpPr>
          <p:nvPr/>
        </p:nvSpPr>
        <p:spPr>
          <a:xfrm>
            <a:off x="406401" y="1158142"/>
            <a:ext cx="11574584" cy="56505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buFont typeface="Wingdings" panose="05000000000000000000" pitchFamily="2" charset="2"/>
              <a:buChar char="Ø"/>
            </a:pPr>
            <a:r>
              <a:rPr lang="vi-VN" sz="2400" b="1" i="1" dirty="0">
                <a:solidFill>
                  <a:srgbClr val="FF0000"/>
                </a:solidFill>
                <a:latin typeface="Times New Roman" panose="02020603050405020304" pitchFamily="18" charset="0"/>
                <a:cs typeface="Times New Roman" panose="02020603050405020304" pitchFamily="18" charset="0"/>
              </a:rPr>
              <a:t> </a:t>
            </a:r>
            <a:r>
              <a:rPr lang="vi-VN" sz="2400" b="1" dirty="0">
                <a:solidFill>
                  <a:srgbClr val="FF0000"/>
                </a:solidFill>
                <a:latin typeface="Times New Roman" panose="02020603050405020304" pitchFamily="18" charset="0"/>
                <a:cs typeface="Times New Roman" panose="02020603050405020304" pitchFamily="18" charset="0"/>
              </a:rPr>
              <a:t>Thu bổ sung từ ngân sách cấp </a:t>
            </a:r>
            <a:r>
              <a:rPr lang="en-US" sz="2400" b="1" dirty="0" err="1">
                <a:solidFill>
                  <a:srgbClr val="FF0000"/>
                </a:solidFill>
                <a:latin typeface="Times New Roman" panose="02020603050405020304" pitchFamily="18" charset="0"/>
                <a:cs typeface="Times New Roman" panose="02020603050405020304" pitchFamily="18" charset="0"/>
              </a:rPr>
              <a:t>tỉnh</a:t>
            </a:r>
            <a:r>
              <a:rPr lang="vi-VN" sz="2400" b="1" dirty="0">
                <a:solidFill>
                  <a:srgbClr val="FF0000"/>
                </a:solidFill>
                <a:latin typeface="Times New Roman" panose="02020603050405020304" pitchFamily="18" charset="0"/>
                <a:cs typeface="Times New Roman" panose="02020603050405020304" pitchFamily="18" charset="0"/>
              </a:rPr>
              <a:t> cho NSX</a:t>
            </a:r>
          </a:p>
          <a:p>
            <a:pPr marL="0" indent="0" algn="just">
              <a:lnSpc>
                <a:spcPct val="170000"/>
              </a:lnSpc>
              <a:buFont typeface="Arial" panose="020B0604020202020204" pitchFamily="34" charset="0"/>
              <a:buNone/>
            </a:pPr>
            <a:r>
              <a:rPr lang="vi-VN" sz="2400" b="1" i="1" dirty="0">
                <a:solidFill>
                  <a:srgbClr val="FF0000"/>
                </a:solidFill>
                <a:latin typeface="Times New Roman" panose="02020603050405020304" pitchFamily="18" charset="0"/>
                <a:cs typeface="Times New Roman" panose="02020603050405020304" pitchFamily="18" charset="0"/>
              </a:rPr>
              <a:t>	</a:t>
            </a:r>
            <a:r>
              <a:rPr lang="vi-VN" sz="2400" dirty="0">
                <a:solidFill>
                  <a:srgbClr val="000000"/>
                </a:solidFill>
                <a:latin typeface="Times New Roman" panose="02020603050405020304" pitchFamily="18" charset="0"/>
                <a:cs typeface="Times New Roman" panose="02020603050405020304" pitchFamily="18" charset="0"/>
              </a:rPr>
              <a:t> </a:t>
            </a:r>
            <a:r>
              <a:rPr lang="vi-VN" sz="2400" b="1" i="1" dirty="0">
                <a:solidFill>
                  <a:srgbClr val="FF0000"/>
                </a:solidFill>
                <a:latin typeface="Times New Roman" panose="02020603050405020304" pitchFamily="18" charset="0"/>
                <a:cs typeface="Times New Roman" panose="02020603050405020304" pitchFamily="18" charset="0"/>
              </a:rPr>
              <a:t>- Thu bổ sung cân đối ngân sách</a:t>
            </a:r>
          </a:p>
          <a:p>
            <a:pPr marL="0" indent="0" algn="just">
              <a:lnSpc>
                <a:spcPct val="170000"/>
              </a:lnSpc>
              <a:buNone/>
            </a:pPr>
            <a:r>
              <a:rPr lang="vi-VN" sz="2400" b="1"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Số</a:t>
            </a:r>
            <a:r>
              <a:rPr lang="en-US" sz="2400" dirty="0">
                <a:solidFill>
                  <a:srgbClr val="000000"/>
                </a:solidFill>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bổ sung cân đối từ ngân sách cấp tỉnh cho ngân sách cấp xã được xác định căn cứ vào số chênh lệch giữa số c</a:t>
            </a:r>
            <a:r>
              <a:rPr lang="en-US" sz="2400" dirty="0">
                <a:latin typeface="Times New Roman" panose="02020603050405020304" pitchFamily="18" charset="0"/>
                <a:cs typeface="Times New Roman" panose="02020603050405020304" pitchFamily="18" charset="0"/>
              </a:rPr>
              <a:t>hi</a:t>
            </a:r>
            <a:r>
              <a:rPr lang="vi-VN" sz="2400" dirty="0">
                <a:latin typeface="Times New Roman" panose="02020603050405020304" pitchFamily="18" charset="0"/>
                <a:cs typeface="Times New Roman" panose="02020603050405020304" pitchFamily="18" charset="0"/>
              </a:rPr>
              <a:t> và số thu của ngân sách cấp xã (không bao gồm các khoản thu do Hội đồng nhân dân cấp tỉnh quyết định không dùng để xác định số bổ sung cân đối cho ngân sách cấp xã).</a:t>
            </a:r>
            <a:endParaRPr lang="en-US" sz="2400" dirty="0">
              <a:latin typeface="Times New Roman" panose="02020603050405020304" pitchFamily="18" charset="0"/>
              <a:cs typeface="Times New Roman" panose="02020603050405020304" pitchFamily="18" charset="0"/>
            </a:endParaRPr>
          </a:p>
          <a:p>
            <a:pPr marL="0" indent="0" algn="just">
              <a:lnSpc>
                <a:spcPct val="170000"/>
              </a:lnSpc>
              <a:buNone/>
            </a:pPr>
            <a:r>
              <a:rPr lang="en-US" sz="2400" i="1" dirty="0">
                <a:solidFill>
                  <a:srgbClr val="000000"/>
                </a:solidFill>
                <a:latin typeface="Times New Roman" panose="02020603050405020304" pitchFamily="18" charset="0"/>
                <a:cs typeface="Times New Roman" panose="02020603050405020304" pitchFamily="18" charset="0"/>
              </a:rPr>
              <a:t>	(</a:t>
            </a:r>
            <a:r>
              <a:rPr lang="en-US" sz="2400" i="1" dirty="0" err="1">
                <a:solidFill>
                  <a:srgbClr val="000000"/>
                </a:solidFill>
                <a:latin typeface="Times New Roman" panose="02020603050405020304" pitchFamily="18" charset="0"/>
                <a:cs typeface="Times New Roman" panose="02020603050405020304" pitchFamily="18" charset="0"/>
              </a:rPr>
              <a:t>Điểm</a:t>
            </a:r>
            <a:r>
              <a:rPr lang="en-US" sz="2400" i="1" dirty="0">
                <a:solidFill>
                  <a:srgbClr val="000000"/>
                </a:solidFill>
                <a:latin typeface="Times New Roman" panose="02020603050405020304" pitchFamily="18" charset="0"/>
                <a:cs typeface="Times New Roman" panose="02020603050405020304" pitchFamily="18" charset="0"/>
              </a:rPr>
              <a:t> b, </a:t>
            </a:r>
            <a:r>
              <a:rPr lang="en-US" sz="2400" i="1" dirty="0" err="1">
                <a:solidFill>
                  <a:srgbClr val="000000"/>
                </a:solidFill>
                <a:latin typeface="Times New Roman" panose="02020603050405020304" pitchFamily="18" charset="0"/>
                <a:cs typeface="Times New Roman" panose="02020603050405020304" pitchFamily="18" charset="0"/>
              </a:rPr>
              <a:t>khoản</a:t>
            </a:r>
            <a:r>
              <a:rPr lang="en-US" sz="2400" i="1" dirty="0">
                <a:solidFill>
                  <a:srgbClr val="000000"/>
                </a:solidFill>
                <a:latin typeface="Times New Roman" panose="02020603050405020304" pitchFamily="18" charset="0"/>
                <a:cs typeface="Times New Roman" panose="02020603050405020304" pitchFamily="18" charset="0"/>
              </a:rPr>
              <a:t> 1, </a:t>
            </a:r>
            <a:r>
              <a:rPr lang="en-US" sz="2400" i="1" dirty="0" err="1">
                <a:solidFill>
                  <a:srgbClr val="000000"/>
                </a:solidFill>
                <a:latin typeface="Times New Roman" panose="02020603050405020304" pitchFamily="18" charset="0"/>
                <a:cs typeface="Times New Roman" panose="02020603050405020304" pitchFamily="18" charset="0"/>
              </a:rPr>
              <a:t>Điều</a:t>
            </a:r>
            <a:r>
              <a:rPr lang="en-US" sz="2400" i="1" dirty="0">
                <a:solidFill>
                  <a:srgbClr val="000000"/>
                </a:solidFill>
                <a:latin typeface="Times New Roman" panose="02020603050405020304" pitchFamily="18" charset="0"/>
                <a:cs typeface="Times New Roman" panose="02020603050405020304" pitchFamily="18" charset="0"/>
              </a:rPr>
              <a:t> 9 TT26)</a:t>
            </a:r>
            <a:endParaRPr lang="vi-VN" sz="2400" i="1" dirty="0">
              <a:solidFill>
                <a:srgbClr val="000000"/>
              </a:solidFill>
              <a:latin typeface="Times New Roman" panose="02020603050405020304" pitchFamily="18" charset="0"/>
              <a:cs typeface="Times New Roman" panose="02020603050405020304" pitchFamily="18" charset="0"/>
            </a:endParaRPr>
          </a:p>
          <a:p>
            <a:pPr marL="0" indent="0" algn="just">
              <a:lnSpc>
                <a:spcPct val="170000"/>
              </a:lnSpc>
              <a:buFont typeface="Arial" panose="020B0604020202020204" pitchFamily="34" charset="0"/>
              <a:buNone/>
            </a:pPr>
            <a:r>
              <a:rPr lang="vi-VN" sz="2400" dirty="0">
                <a:solidFill>
                  <a:srgbClr val="000000"/>
                </a:solidFill>
                <a:latin typeface="Times New Roman" panose="02020603050405020304" pitchFamily="18" charset="0"/>
                <a:cs typeface="Times New Roman" panose="02020603050405020304" pitchFamily="18" charset="0"/>
              </a:rPr>
              <a:t>	</a:t>
            </a:r>
          </a:p>
          <a:p>
            <a:pPr marL="0" indent="0" algn="just">
              <a:lnSpc>
                <a:spcPct val="120000"/>
              </a:lnSpc>
              <a:buFont typeface="Arial" panose="020B0604020202020204" pitchFamily="34" charset="0"/>
              <a:buNone/>
            </a:pPr>
            <a:r>
              <a:rPr lang="vi-VN" sz="2400" dirty="0">
                <a:solidFill>
                  <a:srgbClr val="000000"/>
                </a:solidFill>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0988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4B4C2-328D-4FE4-2064-13E8AE97030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A2B0119-1419-FBD2-F697-BA692F371B21}"/>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3">
            <a:extLst>
              <a:ext uri="{FF2B5EF4-FFF2-40B4-BE49-F238E27FC236}">
                <a16:creationId xmlns:a16="http://schemas.microsoft.com/office/drawing/2014/main" id="{F6776772-6611-53C5-8A2A-04CA6E10B078}"/>
              </a:ext>
            </a:extLst>
          </p:cNvPr>
          <p:cNvSpPr txBox="1">
            <a:spLocks/>
          </p:cNvSpPr>
          <p:nvPr/>
        </p:nvSpPr>
        <p:spPr>
          <a:xfrm>
            <a:off x="406401" y="1158142"/>
            <a:ext cx="11574584" cy="56505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buFont typeface="Wingdings" panose="05000000000000000000" pitchFamily="2" charset="2"/>
              <a:buChar char="Ø"/>
            </a:pPr>
            <a:r>
              <a:rPr lang="vi-VN" b="1" i="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Thu bổ sung từ ngân sách cấp </a:t>
            </a:r>
            <a:r>
              <a:rPr lang="en-US" b="1" dirty="0" err="1">
                <a:solidFill>
                  <a:srgbClr val="FF0000"/>
                </a:solidFill>
                <a:latin typeface="Times New Roman" panose="02020603050405020304" pitchFamily="18" charset="0"/>
                <a:cs typeface="Times New Roman" panose="02020603050405020304" pitchFamily="18" charset="0"/>
              </a:rPr>
              <a:t>tỉnh</a:t>
            </a:r>
            <a:r>
              <a:rPr lang="vi-VN" b="1" dirty="0">
                <a:solidFill>
                  <a:srgbClr val="FF0000"/>
                </a:solidFill>
                <a:latin typeface="Times New Roman" panose="02020603050405020304" pitchFamily="18" charset="0"/>
                <a:cs typeface="Times New Roman" panose="02020603050405020304" pitchFamily="18" charset="0"/>
              </a:rPr>
              <a:t> cho NSX</a:t>
            </a:r>
          </a:p>
          <a:p>
            <a:pPr marL="0" indent="0" algn="just">
              <a:lnSpc>
                <a:spcPct val="170000"/>
              </a:lnSpc>
              <a:buFont typeface="Arial" panose="020B0604020202020204" pitchFamily="34" charset="0"/>
              <a:buNone/>
            </a:pPr>
            <a:r>
              <a:rPr lang="vi-VN" b="1" i="1" dirty="0">
                <a:solidFill>
                  <a:srgbClr val="FF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 </a:t>
            </a:r>
            <a:r>
              <a:rPr lang="vi-VN" b="1" i="1" dirty="0">
                <a:solidFill>
                  <a:srgbClr val="FF0000"/>
                </a:solidFill>
                <a:latin typeface="Times New Roman" panose="02020603050405020304" pitchFamily="18" charset="0"/>
                <a:cs typeface="Times New Roman" panose="02020603050405020304" pitchFamily="18" charset="0"/>
              </a:rPr>
              <a:t>- Thu bổ sung </a:t>
            </a:r>
            <a:r>
              <a:rPr lang="en-US" b="1" i="1" dirty="0" err="1">
                <a:solidFill>
                  <a:srgbClr val="FF0000"/>
                </a:solidFill>
                <a:latin typeface="Times New Roman" panose="02020603050405020304" pitchFamily="18" charset="0"/>
                <a:cs typeface="Times New Roman" panose="02020603050405020304" pitchFamily="18" charset="0"/>
              </a:rPr>
              <a:t>có</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mục</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tiêu</a:t>
            </a:r>
            <a:endParaRPr lang="en-US" b="1" i="1" dirty="0">
              <a:solidFill>
                <a:srgbClr val="FF0000"/>
              </a:solidFill>
              <a:latin typeface="Times New Roman" panose="02020603050405020304" pitchFamily="18" charset="0"/>
              <a:cs typeface="Times New Roman" panose="02020603050405020304" pitchFamily="18" charset="0"/>
            </a:endParaRPr>
          </a:p>
          <a:p>
            <a:pPr marL="0" indent="0" algn="just">
              <a:lnSpc>
                <a:spcPct val="170000"/>
              </a:lnSpc>
              <a:buFont typeface="Arial" panose="020B0604020202020204" pitchFamily="34" charset="0"/>
              <a:buNone/>
            </a:pPr>
            <a:r>
              <a:rPr lang="en-US" b="1" i="1" dirty="0">
                <a:solidFill>
                  <a:srgbClr val="FF0000"/>
                </a:solidFill>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hỗ</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a:t>
            </a:r>
          </a:p>
          <a:p>
            <a:pPr marL="0" indent="0" algn="just">
              <a:lnSpc>
                <a:spcPct val="170000"/>
              </a:lnSpc>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25,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4,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a:t>
            </a:r>
            <a:endParaRPr lang="vi-VN" sz="2400" dirty="0">
              <a:latin typeface="Times New Roman" panose="02020603050405020304" pitchFamily="18" charset="0"/>
              <a:cs typeface="Times New Roman" panose="02020603050405020304" pitchFamily="18" charset="0"/>
            </a:endParaRPr>
          </a:p>
          <a:p>
            <a:pPr marL="0" indent="0" algn="just">
              <a:lnSpc>
                <a:spcPct val="170000"/>
              </a:lnSpc>
              <a:buNone/>
            </a:pPr>
            <a:r>
              <a:rPr lang="vi-VN" b="1" dirty="0">
                <a:solidFill>
                  <a:srgbClr val="00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	</a:t>
            </a:r>
          </a:p>
          <a:p>
            <a:pPr marL="0" indent="0" algn="just">
              <a:lnSpc>
                <a:spcPct val="120000"/>
              </a:lnSpc>
              <a:buFont typeface="Arial" panose="020B0604020202020204" pitchFamily="34" charset="0"/>
              <a:buNone/>
            </a:pPr>
            <a:r>
              <a:rPr lang="vi-VN" dirty="0">
                <a:solidFill>
                  <a:srgbClr val="00000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93342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46EEC-D5EB-5287-6DF3-A0FC18CAE9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29ECAA5-A948-6670-5F70-47E3742C4904}"/>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3">
            <a:extLst>
              <a:ext uri="{FF2B5EF4-FFF2-40B4-BE49-F238E27FC236}">
                <a16:creationId xmlns:a16="http://schemas.microsoft.com/office/drawing/2014/main" id="{D3384B0D-844F-4604-6401-96F660DB4E21}"/>
              </a:ext>
            </a:extLst>
          </p:cNvPr>
          <p:cNvSpPr txBox="1">
            <a:spLocks/>
          </p:cNvSpPr>
          <p:nvPr/>
        </p:nvSpPr>
        <p:spPr>
          <a:xfrm>
            <a:off x="406401" y="1158142"/>
            <a:ext cx="11574584" cy="56505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buFont typeface="Wingdings" panose="05000000000000000000" pitchFamily="2" charset="2"/>
              <a:buChar char="Ø"/>
            </a:pPr>
            <a:r>
              <a:rPr lang="vi-VN" b="1" i="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Thu bổ sung từ ngân sách cấp </a:t>
            </a:r>
            <a:r>
              <a:rPr lang="en-US" b="1" dirty="0" err="1">
                <a:solidFill>
                  <a:srgbClr val="FF0000"/>
                </a:solidFill>
                <a:latin typeface="Times New Roman" panose="02020603050405020304" pitchFamily="18" charset="0"/>
                <a:cs typeface="Times New Roman" panose="02020603050405020304" pitchFamily="18" charset="0"/>
              </a:rPr>
              <a:t>tỉnh</a:t>
            </a:r>
            <a:r>
              <a:rPr lang="vi-VN" b="1" dirty="0">
                <a:solidFill>
                  <a:srgbClr val="FF0000"/>
                </a:solidFill>
                <a:latin typeface="Times New Roman" panose="02020603050405020304" pitchFamily="18" charset="0"/>
                <a:cs typeface="Times New Roman" panose="02020603050405020304" pitchFamily="18" charset="0"/>
              </a:rPr>
              <a:t> cho NSX</a:t>
            </a:r>
          </a:p>
          <a:p>
            <a:pPr marL="0" indent="0" algn="just">
              <a:lnSpc>
                <a:spcPct val="170000"/>
              </a:lnSpc>
              <a:buFont typeface="Arial" panose="020B0604020202020204" pitchFamily="34" charset="0"/>
              <a:buNone/>
            </a:pPr>
            <a:r>
              <a:rPr lang="vi-VN" b="1" i="1" dirty="0">
                <a:solidFill>
                  <a:srgbClr val="FF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 </a:t>
            </a:r>
            <a:r>
              <a:rPr lang="vi-VN" b="1" i="1" dirty="0">
                <a:solidFill>
                  <a:srgbClr val="FF0000"/>
                </a:solidFill>
                <a:latin typeface="Times New Roman" panose="02020603050405020304" pitchFamily="18" charset="0"/>
                <a:cs typeface="Times New Roman" panose="02020603050405020304" pitchFamily="18" charset="0"/>
              </a:rPr>
              <a:t>- Thu bổ sung </a:t>
            </a:r>
            <a:r>
              <a:rPr lang="en-US" b="1" i="1" dirty="0" err="1">
                <a:solidFill>
                  <a:srgbClr val="FF0000"/>
                </a:solidFill>
                <a:latin typeface="Times New Roman" panose="02020603050405020304" pitchFamily="18" charset="0"/>
                <a:cs typeface="Times New Roman" panose="02020603050405020304" pitchFamily="18" charset="0"/>
              </a:rPr>
              <a:t>có</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mục</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tiêu</a:t>
            </a:r>
            <a:endParaRPr lang="en-US" b="1" i="1" dirty="0">
              <a:solidFill>
                <a:srgbClr val="FF0000"/>
              </a:solidFill>
              <a:latin typeface="Times New Roman" panose="02020603050405020304" pitchFamily="18" charset="0"/>
              <a:cs typeface="Times New Roman" panose="02020603050405020304" pitchFamily="18" charset="0"/>
            </a:endParaRPr>
          </a:p>
          <a:p>
            <a:pPr marL="0" indent="0" algn="just">
              <a:lnSpc>
                <a:spcPct val="170000"/>
              </a:lnSpc>
              <a:buFont typeface="Arial" panose="020B0604020202020204" pitchFamily="34" charset="0"/>
              <a:buNone/>
            </a:pPr>
            <a:r>
              <a:rPr lang="en-US" b="1" i="1" dirty="0">
                <a:solidFill>
                  <a:srgbClr val="FF0000"/>
                </a:solidFill>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43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a:t>
            </a:r>
            <a:endParaRPr lang="vi-VN" sz="2400" dirty="0">
              <a:latin typeface="Times New Roman" panose="02020603050405020304" pitchFamily="18" charset="0"/>
              <a:cs typeface="Times New Roman" panose="02020603050405020304" pitchFamily="18" charset="0"/>
            </a:endParaRPr>
          </a:p>
          <a:p>
            <a:pPr marL="0" indent="0" algn="just">
              <a:lnSpc>
                <a:spcPct val="170000"/>
              </a:lnSpc>
              <a:buNone/>
            </a:pPr>
            <a:r>
              <a:rPr lang="vi-VN" b="1" dirty="0">
                <a:solidFill>
                  <a:srgbClr val="00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	</a:t>
            </a:r>
          </a:p>
          <a:p>
            <a:pPr marL="0" indent="0" algn="just">
              <a:lnSpc>
                <a:spcPct val="120000"/>
              </a:lnSpc>
              <a:buFont typeface="Arial" panose="020B0604020202020204" pitchFamily="34" charset="0"/>
              <a:buNone/>
            </a:pPr>
            <a:r>
              <a:rPr lang="vi-VN" dirty="0">
                <a:solidFill>
                  <a:srgbClr val="00000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685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DED30-AFA5-DB4C-23F2-C5F0B02200A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440D25-EB83-5BA2-5FC1-5BF926D8B639}"/>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3">
            <a:extLst>
              <a:ext uri="{FF2B5EF4-FFF2-40B4-BE49-F238E27FC236}">
                <a16:creationId xmlns:a16="http://schemas.microsoft.com/office/drawing/2014/main" id="{602A0D6C-3706-BAE0-9340-EF477285F886}"/>
              </a:ext>
            </a:extLst>
          </p:cNvPr>
          <p:cNvSpPr txBox="1">
            <a:spLocks/>
          </p:cNvSpPr>
          <p:nvPr/>
        </p:nvSpPr>
        <p:spPr>
          <a:xfrm>
            <a:off x="406401" y="1158142"/>
            <a:ext cx="11574584" cy="56505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buFont typeface="Wingdings" panose="05000000000000000000" pitchFamily="2" charset="2"/>
              <a:buChar char="Ø"/>
            </a:pPr>
            <a:r>
              <a:rPr lang="vi-VN" b="1" i="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Thu bổ sung từ ngân sách cấp </a:t>
            </a:r>
            <a:r>
              <a:rPr lang="en-US" b="1" dirty="0" err="1">
                <a:solidFill>
                  <a:srgbClr val="FF0000"/>
                </a:solidFill>
                <a:latin typeface="Times New Roman" panose="02020603050405020304" pitchFamily="18" charset="0"/>
                <a:cs typeface="Times New Roman" panose="02020603050405020304" pitchFamily="18" charset="0"/>
              </a:rPr>
              <a:t>tỉnh</a:t>
            </a:r>
            <a:r>
              <a:rPr lang="vi-VN" b="1" dirty="0">
                <a:solidFill>
                  <a:srgbClr val="FF0000"/>
                </a:solidFill>
                <a:latin typeface="Times New Roman" panose="02020603050405020304" pitchFamily="18" charset="0"/>
                <a:cs typeface="Times New Roman" panose="02020603050405020304" pitchFamily="18" charset="0"/>
              </a:rPr>
              <a:t> cho NSX</a:t>
            </a:r>
          </a:p>
          <a:p>
            <a:pPr marL="0" indent="0" algn="just">
              <a:lnSpc>
                <a:spcPct val="170000"/>
              </a:lnSpc>
              <a:buFont typeface="Arial" panose="020B0604020202020204" pitchFamily="34" charset="0"/>
              <a:buNone/>
            </a:pPr>
            <a:r>
              <a:rPr lang="vi-VN" b="1" i="1" dirty="0">
                <a:solidFill>
                  <a:srgbClr val="FF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 </a:t>
            </a:r>
            <a:r>
              <a:rPr lang="vi-VN" b="1" i="1" dirty="0">
                <a:solidFill>
                  <a:srgbClr val="FF0000"/>
                </a:solidFill>
                <a:latin typeface="Times New Roman" panose="02020603050405020304" pitchFamily="18" charset="0"/>
                <a:cs typeface="Times New Roman" panose="02020603050405020304" pitchFamily="18" charset="0"/>
              </a:rPr>
              <a:t>- Thu bổ sung </a:t>
            </a:r>
            <a:r>
              <a:rPr lang="en-US" b="1" i="1" dirty="0" err="1">
                <a:solidFill>
                  <a:srgbClr val="FF0000"/>
                </a:solidFill>
                <a:latin typeface="Times New Roman" panose="02020603050405020304" pitchFamily="18" charset="0"/>
                <a:cs typeface="Times New Roman" panose="02020603050405020304" pitchFamily="18" charset="0"/>
              </a:rPr>
              <a:t>có</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mục</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tiêu</a:t>
            </a:r>
            <a:endParaRPr lang="en-US" b="1" i="1" dirty="0">
              <a:solidFill>
                <a:srgbClr val="FF0000"/>
              </a:solidFill>
              <a:latin typeface="Times New Roman" panose="02020603050405020304" pitchFamily="18" charset="0"/>
              <a:cs typeface="Times New Roman" panose="02020603050405020304" pitchFamily="18" charset="0"/>
            </a:endParaRPr>
          </a:p>
          <a:p>
            <a:pPr marL="0" indent="0" algn="just">
              <a:lnSpc>
                <a:spcPct val="170000"/>
              </a:lnSpc>
              <a:buFont typeface="Arial" panose="020B0604020202020204" pitchFamily="34" charset="0"/>
              <a:buNone/>
            </a:pPr>
            <a:r>
              <a:rPr lang="en-US" b="1" i="1" dirty="0">
                <a:solidFill>
                  <a:srgbClr val="FF0000"/>
                </a:solidFill>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nguyên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tắc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chuẩn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mức</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en-US" sz="2400" dirty="0">
                <a:latin typeface="Times New Roman" panose="02020603050405020304" pitchFamily="18" charset="0"/>
                <a:cs typeface="Times New Roman" panose="02020603050405020304" pitchFamily="18" charset="0"/>
              </a:rPr>
              <a:t>.</a:t>
            </a:r>
          </a:p>
          <a:p>
            <a:pPr marL="0" indent="0" algn="just">
              <a:lnSpc>
                <a:spcPct val="170000"/>
              </a:lnSpc>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1,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43,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a:t>
            </a:r>
            <a:endParaRPr lang="vi-VN" sz="2400" dirty="0">
              <a:latin typeface="Times New Roman" panose="02020603050405020304" pitchFamily="18" charset="0"/>
              <a:cs typeface="Times New Roman" panose="02020603050405020304" pitchFamily="18" charset="0"/>
            </a:endParaRPr>
          </a:p>
          <a:p>
            <a:pPr marL="0" indent="0" algn="just">
              <a:lnSpc>
                <a:spcPct val="170000"/>
              </a:lnSpc>
              <a:buNone/>
            </a:pPr>
            <a:r>
              <a:rPr lang="vi-VN" b="1" dirty="0">
                <a:solidFill>
                  <a:srgbClr val="00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	</a:t>
            </a:r>
          </a:p>
          <a:p>
            <a:pPr marL="0" indent="0" algn="just">
              <a:lnSpc>
                <a:spcPct val="120000"/>
              </a:lnSpc>
              <a:buFont typeface="Arial" panose="020B0604020202020204" pitchFamily="34" charset="0"/>
              <a:buNone/>
            </a:pPr>
            <a:r>
              <a:rPr lang="vi-VN" dirty="0">
                <a:solidFill>
                  <a:srgbClr val="00000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98546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3F366-B64A-0193-92DD-69643CE0286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C41835E-F597-0DCE-8ED9-CED61549FC79}"/>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3">
            <a:extLst>
              <a:ext uri="{FF2B5EF4-FFF2-40B4-BE49-F238E27FC236}">
                <a16:creationId xmlns:a16="http://schemas.microsoft.com/office/drawing/2014/main" id="{C2D1CC92-FD57-8CB7-4957-9EF36AF18710}"/>
              </a:ext>
            </a:extLst>
          </p:cNvPr>
          <p:cNvSpPr txBox="1">
            <a:spLocks/>
          </p:cNvSpPr>
          <p:nvPr/>
        </p:nvSpPr>
        <p:spPr>
          <a:xfrm>
            <a:off x="0" y="1158143"/>
            <a:ext cx="11980985" cy="569985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Ø"/>
            </a:pPr>
            <a:r>
              <a:rPr lang="vi-VN" b="1" i="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Thu bổ sung từ ngân sách cấp </a:t>
            </a:r>
            <a:r>
              <a:rPr lang="en-US" b="1" dirty="0" err="1">
                <a:solidFill>
                  <a:srgbClr val="FF0000"/>
                </a:solidFill>
                <a:latin typeface="Times New Roman" panose="02020603050405020304" pitchFamily="18" charset="0"/>
                <a:cs typeface="Times New Roman" panose="02020603050405020304" pitchFamily="18" charset="0"/>
              </a:rPr>
              <a:t>tỉnh</a:t>
            </a:r>
            <a:r>
              <a:rPr lang="vi-VN" b="1" dirty="0">
                <a:solidFill>
                  <a:srgbClr val="FF0000"/>
                </a:solidFill>
                <a:latin typeface="Times New Roman" panose="02020603050405020304" pitchFamily="18" charset="0"/>
                <a:cs typeface="Times New Roman" panose="02020603050405020304" pitchFamily="18" charset="0"/>
              </a:rPr>
              <a:t> cho NSX</a:t>
            </a:r>
          </a:p>
          <a:p>
            <a:pPr marL="0" indent="0" algn="just">
              <a:lnSpc>
                <a:spcPct val="100000"/>
              </a:lnSpc>
              <a:buFont typeface="Arial" panose="020B0604020202020204" pitchFamily="34" charset="0"/>
              <a:buNone/>
            </a:pPr>
            <a:r>
              <a:rPr lang="vi-VN" b="1" i="1" dirty="0">
                <a:solidFill>
                  <a:srgbClr val="FF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 </a:t>
            </a:r>
            <a:r>
              <a:rPr lang="vi-VN" b="1" i="1" dirty="0">
                <a:solidFill>
                  <a:srgbClr val="FF0000"/>
                </a:solidFill>
                <a:latin typeface="Times New Roman" panose="02020603050405020304" pitchFamily="18" charset="0"/>
                <a:cs typeface="Times New Roman" panose="02020603050405020304" pitchFamily="18" charset="0"/>
              </a:rPr>
              <a:t>- Thu bổ sung </a:t>
            </a:r>
            <a:r>
              <a:rPr lang="en-US" b="1" i="1" dirty="0" err="1">
                <a:solidFill>
                  <a:srgbClr val="FF0000"/>
                </a:solidFill>
                <a:latin typeface="Times New Roman" panose="02020603050405020304" pitchFamily="18" charset="0"/>
                <a:cs typeface="Times New Roman" panose="02020603050405020304" pitchFamily="18" charset="0"/>
              </a:rPr>
              <a:t>có</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mục</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tiêu</a:t>
            </a:r>
            <a:endParaRPr lang="en-US" b="1" i="1" dirty="0">
              <a:solidFill>
                <a:srgbClr val="FF0000"/>
              </a:solidFill>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r>
              <a:rPr lang="en-US" b="1" i="1"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hỗ</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đây</a:t>
            </a:r>
            <a:r>
              <a:rPr lang="en-US" sz="2400" dirty="0">
                <a:latin typeface="Times New Roman" panose="02020603050405020304" pitchFamily="18" charset="0"/>
                <a:cs typeface="Times New Roman" panose="02020603050405020304" pitchFamily="18" charset="0"/>
              </a:rPr>
              <a:t>:</a:t>
            </a:r>
          </a:p>
          <a:p>
            <a:pPr marL="0" indent="0" algn="just">
              <a:lnSpc>
                <a:spcPct val="100000"/>
              </a:lnSpc>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mới</a:t>
            </a:r>
            <a:r>
              <a:rPr lang="en-US" sz="2400" dirty="0">
                <a:latin typeface="Times New Roman" panose="02020603050405020304" pitchFamily="18" charset="0"/>
                <a:cs typeface="Times New Roman" panose="02020603050405020304" pitchFamily="18" charset="0"/>
              </a:rPr>
              <a:t> do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ban </a:t>
            </a:r>
            <a:r>
              <a:rPr lang="en-US" sz="2400" dirty="0" err="1">
                <a:latin typeface="Times New Roman" panose="02020603050405020304" pitchFamily="18" charset="0"/>
                <a:cs typeface="Times New Roman" panose="02020603050405020304" pitchFamily="18" charset="0"/>
              </a:rPr>
              <a: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năm</a:t>
            </a:r>
            <a:r>
              <a:rPr lang="en-US" sz="2400" dirty="0">
                <a:latin typeface="Times New Roman" panose="02020603050405020304" pitchFamily="18" charset="0"/>
                <a:cs typeface="Times New Roman" panose="02020603050405020304" pitchFamily="18" charset="0"/>
              </a:rPr>
              <a:t>;</a:t>
            </a:r>
          </a:p>
          <a:p>
            <a:pPr marL="0" indent="0" algn="just">
              <a:lnSpc>
                <a:spcPct val="100000"/>
              </a:lnSpc>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a:t>
            </a:r>
          </a:p>
          <a:p>
            <a:pPr marL="0" indent="0" algn="just">
              <a:lnSpc>
                <a:spcPct val="100000"/>
              </a:lnSpc>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Hỗ</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trợ</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khắc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thiên</a:t>
            </a:r>
            <a:r>
              <a:rPr lang="en-US" sz="2400" dirty="0">
                <a:latin typeface="Times New Roman" panose="02020603050405020304" pitchFamily="18" charset="0"/>
                <a:cs typeface="Times New Roman" panose="02020603050405020304" pitchFamily="18" charset="0"/>
              </a:rPr>
              <a:t> tai, </a:t>
            </a:r>
            <a:r>
              <a:rPr lang="en-US" sz="2400" dirty="0" err="1">
                <a:latin typeface="Times New Roman" panose="02020603050405020304" pitchFamily="18" charset="0"/>
                <a:cs typeface="Times New Roman" panose="02020603050405020304" pitchFamily="18" charset="0"/>
              </a:rPr>
              <a:t>thảm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dịch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bệnh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vượt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en-US" sz="2400" dirty="0">
                <a:latin typeface="Times New Roman" panose="02020603050405020304" pitchFamily="18" charset="0"/>
                <a:cs typeface="Times New Roman" panose="02020603050405020304" pitchFamily="18" charset="0"/>
              </a:rPr>
              <a:t>;</a:t>
            </a:r>
          </a:p>
          <a:p>
            <a:pPr marL="0" indent="0" algn="just">
              <a:lnSpc>
                <a:spcPct val="100000"/>
              </a:lnSpc>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Hỗ</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trọng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trọng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ý </a:t>
            </a:r>
            <a:r>
              <a:rPr lang="en-US" sz="2400" dirty="0" err="1">
                <a:latin typeface="Times New Roman" panose="02020603050405020304" pitchFamily="18" charset="0"/>
                <a:cs typeface="Times New Roman" panose="02020603050405020304" pitchFamily="18" charset="0"/>
              </a:rPr>
              <a:t>nghĩa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lớn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hội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a:t>
            </a:r>
          </a:p>
          <a:p>
            <a:pPr marL="0" indent="0" algn="just">
              <a:lnSpc>
                <a:spcPct val="100000"/>
              </a:lnSpc>
              <a:buFont typeface="Arial" panose="020B0604020202020204" pitchFamily="34" charset="0"/>
              <a:buNone/>
            </a:pPr>
            <a:endParaRPr lang="vi-VN" sz="2400" dirty="0">
              <a:latin typeface="Times New Roman" panose="02020603050405020304" pitchFamily="18" charset="0"/>
              <a:cs typeface="Times New Roman" panose="02020603050405020304" pitchFamily="18" charset="0"/>
            </a:endParaRPr>
          </a:p>
          <a:p>
            <a:pPr marL="0" indent="0" algn="just">
              <a:lnSpc>
                <a:spcPct val="100000"/>
              </a:lnSpc>
              <a:buNone/>
            </a:pPr>
            <a:r>
              <a:rPr lang="vi-VN" b="1" dirty="0">
                <a:solidFill>
                  <a:srgbClr val="00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	</a:t>
            </a:r>
          </a:p>
          <a:p>
            <a:pPr marL="0" indent="0" algn="just">
              <a:lnSpc>
                <a:spcPct val="100000"/>
              </a:lnSpc>
              <a:buFont typeface="Arial" panose="020B0604020202020204" pitchFamily="34" charset="0"/>
              <a:buNone/>
            </a:pPr>
            <a:r>
              <a:rPr lang="vi-VN" dirty="0">
                <a:solidFill>
                  <a:srgbClr val="00000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02334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456EA-8707-B690-8019-5569D94507B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524D1BC-44F6-7AC2-A537-97C07E1E4119}"/>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3.1.2.1.THU NGÂN SÁCH XÃ</a:t>
            </a:r>
          </a:p>
        </p:txBody>
      </p:sp>
      <p:sp>
        <p:nvSpPr>
          <p:cNvPr id="3" name="Content Placeholder 3">
            <a:extLst>
              <a:ext uri="{FF2B5EF4-FFF2-40B4-BE49-F238E27FC236}">
                <a16:creationId xmlns:a16="http://schemas.microsoft.com/office/drawing/2014/main" id="{49F4BB60-2BB7-3F8C-56FD-8DD271D06787}"/>
              </a:ext>
            </a:extLst>
          </p:cNvPr>
          <p:cNvSpPr txBox="1">
            <a:spLocks/>
          </p:cNvSpPr>
          <p:nvPr/>
        </p:nvSpPr>
        <p:spPr>
          <a:xfrm>
            <a:off x="406401" y="1158142"/>
            <a:ext cx="11574584" cy="56505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Ø"/>
            </a:pPr>
            <a:r>
              <a:rPr lang="vi-VN" b="1" i="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Thu bổ sung từ ngân sách cấp </a:t>
            </a:r>
            <a:r>
              <a:rPr lang="en-US" b="1" dirty="0" err="1">
                <a:solidFill>
                  <a:srgbClr val="FF0000"/>
                </a:solidFill>
                <a:latin typeface="Times New Roman" panose="02020603050405020304" pitchFamily="18" charset="0"/>
                <a:cs typeface="Times New Roman" panose="02020603050405020304" pitchFamily="18" charset="0"/>
              </a:rPr>
              <a:t>tỉnh</a:t>
            </a:r>
            <a:r>
              <a:rPr lang="vi-VN" b="1" dirty="0">
                <a:solidFill>
                  <a:srgbClr val="FF0000"/>
                </a:solidFill>
                <a:latin typeface="Times New Roman" panose="02020603050405020304" pitchFamily="18" charset="0"/>
                <a:cs typeface="Times New Roman" panose="02020603050405020304" pitchFamily="18" charset="0"/>
              </a:rPr>
              <a:t> cho NSX</a:t>
            </a:r>
          </a:p>
          <a:p>
            <a:pPr marL="0" indent="0" algn="just">
              <a:lnSpc>
                <a:spcPct val="150000"/>
              </a:lnSpc>
              <a:buFont typeface="Arial" panose="020B0604020202020204" pitchFamily="34" charset="0"/>
              <a:buNone/>
            </a:pPr>
            <a:r>
              <a:rPr lang="vi-VN" b="1" i="1" dirty="0">
                <a:solidFill>
                  <a:srgbClr val="FF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 </a:t>
            </a:r>
            <a:r>
              <a:rPr lang="vi-VN" b="1" i="1" dirty="0">
                <a:solidFill>
                  <a:srgbClr val="FF0000"/>
                </a:solidFill>
                <a:latin typeface="Times New Roman" panose="02020603050405020304" pitchFamily="18" charset="0"/>
                <a:cs typeface="Times New Roman" panose="02020603050405020304" pitchFamily="18" charset="0"/>
              </a:rPr>
              <a:t>- Thu bổ sung </a:t>
            </a:r>
            <a:r>
              <a:rPr lang="en-US" b="1" i="1" dirty="0" err="1">
                <a:solidFill>
                  <a:srgbClr val="FF0000"/>
                </a:solidFill>
                <a:latin typeface="Times New Roman" panose="02020603050405020304" pitchFamily="18" charset="0"/>
                <a:cs typeface="Times New Roman" panose="02020603050405020304" pitchFamily="18" charset="0"/>
              </a:rPr>
              <a:t>có</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mục</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tiêu</a:t>
            </a:r>
            <a:endParaRPr lang="en-US" b="1" i="1" dirty="0">
              <a:solidFill>
                <a:srgbClr val="FF0000"/>
              </a:solidFill>
              <a:latin typeface="Times New Roman" panose="02020603050405020304" pitchFamily="18" charset="0"/>
              <a:cs typeface="Times New Roman" panose="02020603050405020304" pitchFamily="18" charset="0"/>
            </a:endParaRPr>
          </a:p>
          <a:p>
            <a:pPr marL="0" indent="0" algn="just">
              <a:lnSpc>
                <a:spcPct val="150000"/>
              </a:lnSpc>
              <a:buFont typeface="Arial" panose="020B0604020202020204" pitchFamily="34" charset="0"/>
              <a:buNone/>
            </a:pPr>
            <a:r>
              <a:rPr lang="en-US" b="1" i="1" dirty="0">
                <a:solidFill>
                  <a:srgbClr val="FF0000"/>
                </a:solidFill>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vốn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dung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a:t>
            </a:r>
          </a:p>
          <a:p>
            <a:pPr marL="0" indent="0" algn="just">
              <a:lnSpc>
                <a:spcPct val="150000"/>
              </a:lnSpc>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Trường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p>
          <a:p>
            <a:pPr marL="0" indent="0" algn="just">
              <a:lnSpc>
                <a:spcPct val="150000"/>
              </a:lnSpc>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chậm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vốn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hết</a:t>
            </a:r>
            <a:r>
              <a:rPr lang="en-US" sz="2400" dirty="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marL="0" indent="0" algn="just">
              <a:lnSpc>
                <a:spcPct val="150000"/>
              </a:lnSpc>
              <a:buFont typeface="Arial" panose="020B0604020202020204" pitchFamily="34" charset="0"/>
              <a:buNone/>
            </a:pPr>
            <a:r>
              <a:rPr lang="vi-VN" dirty="0">
                <a:solidFill>
                  <a:srgbClr val="00000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2018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876F4-6696-AD5F-98E7-A7FE2646A27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F98346E-9DCD-6B99-F9D7-B989C8C5ABA8}"/>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3.1.2.2. CHI NGÂN SÁCH XÃ</a:t>
            </a:r>
          </a:p>
        </p:txBody>
      </p:sp>
      <p:sp>
        <p:nvSpPr>
          <p:cNvPr id="2" name="TextBox 1">
            <a:extLst>
              <a:ext uri="{FF2B5EF4-FFF2-40B4-BE49-F238E27FC236}">
                <a16:creationId xmlns:a16="http://schemas.microsoft.com/office/drawing/2014/main" id="{B513CE6E-2AF0-F772-C573-987C0AD777B7}"/>
              </a:ext>
            </a:extLst>
          </p:cNvPr>
          <p:cNvSpPr txBox="1"/>
          <p:nvPr/>
        </p:nvSpPr>
        <p:spPr>
          <a:xfrm>
            <a:off x="32658" y="1320339"/>
            <a:ext cx="12066814" cy="6309420"/>
          </a:xfrm>
          <a:prstGeom prst="rect">
            <a:avLst/>
          </a:prstGeom>
          <a:noFill/>
        </p:spPr>
        <p:txBody>
          <a:bodyPr wrap="square" rtlCol="0">
            <a:spAutoFit/>
          </a:bodyPr>
          <a:lstStyle/>
          <a:p>
            <a:pPr algn="just"/>
            <a:r>
              <a:rPr lang="en-US" sz="2400" b="1" dirty="0">
                <a:solidFill>
                  <a:srgbClr val="FF0000"/>
                </a:solidFill>
                <a:latin typeface="Times New Roman" panose="02020603050405020304" pitchFamily="18" charset="0"/>
                <a:cs typeface="Times New Roman" panose="02020603050405020304" pitchFamily="18" charset="0"/>
              </a:rPr>
              <a:t>Nguyên </a:t>
            </a:r>
            <a:r>
              <a:rPr lang="en-US" sz="2400" b="1" dirty="0" err="1">
                <a:solidFill>
                  <a:srgbClr val="FF0000"/>
                </a:solidFill>
                <a:latin typeface="Times New Roman" panose="02020603050405020304" pitchFamily="18" charset="0"/>
                <a:cs typeface="Times New Roman" panose="02020603050405020304" pitchFamily="18" charset="0"/>
              </a:rPr>
              <a:t>tắc</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phân</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cấp</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nhiệm</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vụ</a:t>
            </a:r>
            <a:r>
              <a:rPr lang="en-US" sz="2400" b="1" dirty="0">
                <a:solidFill>
                  <a:srgbClr val="FF0000"/>
                </a:solidFill>
                <a:latin typeface="Times New Roman" panose="02020603050405020304" pitchFamily="18" charset="0"/>
                <a:cs typeface="Times New Roman" panose="02020603050405020304" pitchFamily="18" charset="0"/>
              </a:rPr>
              <a:t> chi </a:t>
            </a:r>
            <a:r>
              <a:rPr lang="en-US" sz="2400" b="1" dirty="0" err="1">
                <a:solidFill>
                  <a:srgbClr val="FF0000"/>
                </a:solidFill>
                <a:latin typeface="Times New Roman" panose="02020603050405020304" pitchFamily="18" charset="0"/>
                <a:cs typeface="Times New Roman" panose="02020603050405020304" pitchFamily="18" charset="0"/>
              </a:rPr>
              <a:t>giữa</a:t>
            </a:r>
            <a:r>
              <a:rPr lang="en-US" sz="2400" b="1" dirty="0">
                <a:solidFill>
                  <a:srgbClr val="FF0000"/>
                </a:solidFill>
                <a:latin typeface="Times New Roman" panose="02020603050405020304" pitchFamily="18" charset="0"/>
                <a:cs typeface="Times New Roman" panose="02020603050405020304" pitchFamily="18" charset="0"/>
              </a:rPr>
              <a:t> NS </a:t>
            </a:r>
            <a:r>
              <a:rPr lang="en-US" sz="2400" b="1" dirty="0" err="1">
                <a:solidFill>
                  <a:srgbClr val="FF0000"/>
                </a:solidFill>
                <a:latin typeface="Times New Roman" panose="02020603050405020304" pitchFamily="18" charset="0"/>
                <a:cs typeface="Times New Roman" panose="02020603050405020304" pitchFamily="18" charset="0"/>
              </a:rPr>
              <a:t>cấp</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tỉnh</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và</a:t>
            </a:r>
            <a:r>
              <a:rPr lang="en-US" sz="2400" b="1" dirty="0">
                <a:solidFill>
                  <a:srgbClr val="FF0000"/>
                </a:solidFill>
                <a:latin typeface="Times New Roman" panose="02020603050405020304" pitchFamily="18" charset="0"/>
                <a:cs typeface="Times New Roman" panose="02020603050405020304" pitchFamily="18" charset="0"/>
              </a:rPr>
              <a:t> NS </a:t>
            </a:r>
            <a:r>
              <a:rPr lang="en-US" sz="2400" b="1" dirty="0" err="1">
                <a:solidFill>
                  <a:srgbClr val="FF0000"/>
                </a:solidFill>
                <a:latin typeface="Times New Roman" panose="02020603050405020304" pitchFamily="18" charset="0"/>
                <a:cs typeface="Times New Roman" panose="02020603050405020304" pitchFamily="18" charset="0"/>
              </a:rPr>
              <a:t>cấp</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xã</a:t>
            </a:r>
            <a:r>
              <a:rPr lang="en-US" sz="2400" b="1" dirty="0">
                <a:solidFill>
                  <a:srgbClr val="FF0000"/>
                </a:solidFill>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cụ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giữa</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hôi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phòng</a:t>
            </a:r>
            <a:r>
              <a:rPr lang="en-US" sz="2400" dirty="0">
                <a:latin typeface="Times New Roman" panose="02020603050405020304" pitchFamily="18" charset="0"/>
                <a:cs typeface="Times New Roman" panose="02020603050405020304" pitchFamily="18" charset="0"/>
              </a:rPr>
              <a:t>, an </a:t>
            </a:r>
            <a:r>
              <a:rPr lang="en-US" sz="2400" dirty="0" err="1">
                <a:latin typeface="Times New Roman" panose="02020603050405020304" pitchFamily="18" charset="0"/>
                <a:cs typeface="Times New Roman" panose="02020603050405020304" pitchFamily="18" charset="0"/>
              </a:rPr>
              <a:t>ninh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bàn</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ban </a:t>
            </a:r>
            <a:r>
              <a:rPr lang="en-US" sz="2400" dirty="0" err="1">
                <a:latin typeface="Times New Roman" panose="02020603050405020304" pitchFamily="18" charset="0"/>
                <a:cs typeface="Times New Roman" panose="02020603050405020304" pitchFamily="18" charset="0"/>
              </a:rPr>
              <a: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tăng</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nguồn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vốn</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phạm</a:t>
            </a:r>
            <a:r>
              <a:rPr lang="en-US" sz="2400" dirty="0">
                <a:latin typeface="Times New Roman" panose="02020603050405020304" pitchFamily="18" charset="0"/>
                <a:cs typeface="Times New Roman" panose="02020603050405020304" pitchFamily="18" charset="0"/>
              </a:rPr>
              <a:t> vi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 Trường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thì</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đó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61049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4224D-8B2D-74CA-EA06-8F72253FDD9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B8E1A7-9BDA-C89F-7E09-66DD07EAB5AB}"/>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3.1.2.2. CHI NGÂN SÁCH XÃ</a:t>
            </a:r>
          </a:p>
        </p:txBody>
      </p:sp>
      <p:sp>
        <p:nvSpPr>
          <p:cNvPr id="2" name="TextBox 1">
            <a:extLst>
              <a:ext uri="{FF2B5EF4-FFF2-40B4-BE49-F238E27FC236}">
                <a16:creationId xmlns:a16="http://schemas.microsoft.com/office/drawing/2014/main" id="{C20C123A-D9C4-2591-D450-0913CBF2F1B9}"/>
              </a:ext>
            </a:extLst>
          </p:cNvPr>
          <p:cNvSpPr txBox="1"/>
          <p:nvPr/>
        </p:nvSpPr>
        <p:spPr>
          <a:xfrm>
            <a:off x="32658" y="1320339"/>
            <a:ext cx="12066814" cy="5509200"/>
          </a:xfrm>
          <a:prstGeom prst="rect">
            <a:avLst/>
          </a:prstGeom>
          <a:noFill/>
        </p:spPr>
        <p:txBody>
          <a:bodyPr wrap="square" rtlCol="0">
            <a:spAutoFit/>
          </a:bodyPr>
          <a:lstStyle/>
          <a:p>
            <a:pPr algn="just"/>
            <a:r>
              <a:rPr lang="en-US" sz="2200" b="1" dirty="0">
                <a:solidFill>
                  <a:srgbClr val="FF0000"/>
                </a:solidFill>
                <a:latin typeface="Times New Roman" panose="02020603050405020304" pitchFamily="18" charset="0"/>
                <a:cs typeface="Times New Roman" panose="02020603050405020304" pitchFamily="18" charset="0"/>
              </a:rPr>
              <a:t>Nguyên </a:t>
            </a:r>
            <a:r>
              <a:rPr lang="en-US" sz="2200" b="1" dirty="0" err="1">
                <a:solidFill>
                  <a:srgbClr val="FF0000"/>
                </a:solidFill>
                <a:latin typeface="Times New Roman" panose="02020603050405020304" pitchFamily="18" charset="0"/>
                <a:cs typeface="Times New Roman" panose="02020603050405020304" pitchFamily="18" charset="0"/>
              </a:rPr>
              <a:t>tắc</a:t>
            </a:r>
            <a:r>
              <a:rPr lang="en-US" sz="2200" b="1" dirty="0">
                <a:solidFill>
                  <a:srgbClr val="FF0000"/>
                </a:solidFill>
                <a:latin typeface="Times New Roman" panose="02020603050405020304" pitchFamily="18" charset="0"/>
                <a:cs typeface="Times New Roman" panose="02020603050405020304" pitchFamily="18" charset="0"/>
              </a:rPr>
              <a:t> </a:t>
            </a:r>
            <a:r>
              <a:rPr lang="en-US" sz="2200" b="1" dirty="0" err="1">
                <a:solidFill>
                  <a:srgbClr val="FF0000"/>
                </a:solidFill>
                <a:latin typeface="Times New Roman" panose="02020603050405020304" pitchFamily="18" charset="0"/>
                <a:cs typeface="Times New Roman" panose="02020603050405020304" pitchFamily="18" charset="0"/>
              </a:rPr>
              <a:t>phân</a:t>
            </a:r>
            <a:r>
              <a:rPr lang="en-US" sz="2200" b="1" dirty="0">
                <a:solidFill>
                  <a:srgbClr val="FF0000"/>
                </a:solidFill>
                <a:latin typeface="Times New Roman" panose="02020603050405020304" pitchFamily="18" charset="0"/>
                <a:cs typeface="Times New Roman" panose="02020603050405020304" pitchFamily="18" charset="0"/>
              </a:rPr>
              <a:t> </a:t>
            </a:r>
            <a:r>
              <a:rPr lang="en-US" sz="2200" b="1" dirty="0" err="1">
                <a:solidFill>
                  <a:srgbClr val="FF0000"/>
                </a:solidFill>
                <a:latin typeface="Times New Roman" panose="02020603050405020304" pitchFamily="18" charset="0"/>
                <a:cs typeface="Times New Roman" panose="02020603050405020304" pitchFamily="18" charset="0"/>
              </a:rPr>
              <a:t>cấp</a:t>
            </a:r>
            <a:r>
              <a:rPr lang="en-US" sz="2200" b="1" dirty="0">
                <a:solidFill>
                  <a:srgbClr val="FF0000"/>
                </a:solidFill>
                <a:latin typeface="Times New Roman" panose="02020603050405020304" pitchFamily="18" charset="0"/>
                <a:cs typeface="Times New Roman" panose="02020603050405020304" pitchFamily="18" charset="0"/>
              </a:rPr>
              <a:t> </a:t>
            </a:r>
            <a:r>
              <a:rPr lang="en-US" sz="2200" b="1" dirty="0" err="1">
                <a:solidFill>
                  <a:srgbClr val="FF0000"/>
                </a:solidFill>
                <a:latin typeface="Times New Roman" panose="02020603050405020304" pitchFamily="18" charset="0"/>
                <a:cs typeface="Times New Roman" panose="02020603050405020304" pitchFamily="18" charset="0"/>
              </a:rPr>
              <a:t>nhiệm</a:t>
            </a:r>
            <a:r>
              <a:rPr lang="en-US" sz="2200" b="1" dirty="0">
                <a:solidFill>
                  <a:srgbClr val="FF0000"/>
                </a:solidFill>
                <a:latin typeface="Times New Roman" panose="02020603050405020304" pitchFamily="18" charset="0"/>
                <a:cs typeface="Times New Roman" panose="02020603050405020304" pitchFamily="18" charset="0"/>
              </a:rPr>
              <a:t> </a:t>
            </a:r>
            <a:r>
              <a:rPr lang="en-US" sz="2200" b="1" dirty="0" err="1">
                <a:solidFill>
                  <a:srgbClr val="FF0000"/>
                </a:solidFill>
                <a:latin typeface="Times New Roman" panose="02020603050405020304" pitchFamily="18" charset="0"/>
                <a:cs typeface="Times New Roman" panose="02020603050405020304" pitchFamily="18" charset="0"/>
              </a:rPr>
              <a:t>vụ</a:t>
            </a:r>
            <a:r>
              <a:rPr lang="en-US" sz="2200" b="1" dirty="0">
                <a:solidFill>
                  <a:srgbClr val="FF0000"/>
                </a:solidFill>
                <a:latin typeface="Times New Roman" panose="02020603050405020304" pitchFamily="18" charset="0"/>
                <a:cs typeface="Times New Roman" panose="02020603050405020304" pitchFamily="18" charset="0"/>
              </a:rPr>
              <a:t> chi </a:t>
            </a:r>
            <a:r>
              <a:rPr lang="en-US" sz="2200" b="1" dirty="0" err="1">
                <a:solidFill>
                  <a:srgbClr val="FF0000"/>
                </a:solidFill>
                <a:latin typeface="Times New Roman" panose="02020603050405020304" pitchFamily="18" charset="0"/>
                <a:cs typeface="Times New Roman" panose="02020603050405020304" pitchFamily="18" charset="0"/>
              </a:rPr>
              <a:t>giữa</a:t>
            </a:r>
            <a:r>
              <a:rPr lang="en-US" sz="2200" b="1" dirty="0">
                <a:solidFill>
                  <a:srgbClr val="FF0000"/>
                </a:solidFill>
                <a:latin typeface="Times New Roman" panose="02020603050405020304" pitchFamily="18" charset="0"/>
                <a:cs typeface="Times New Roman" panose="02020603050405020304" pitchFamily="18" charset="0"/>
              </a:rPr>
              <a:t> NS </a:t>
            </a:r>
            <a:r>
              <a:rPr lang="en-US" sz="2200" b="1" dirty="0" err="1">
                <a:solidFill>
                  <a:srgbClr val="FF0000"/>
                </a:solidFill>
                <a:latin typeface="Times New Roman" panose="02020603050405020304" pitchFamily="18" charset="0"/>
                <a:cs typeface="Times New Roman" panose="02020603050405020304" pitchFamily="18" charset="0"/>
              </a:rPr>
              <a:t>cấp</a:t>
            </a:r>
            <a:r>
              <a:rPr lang="en-US" sz="2200" b="1" dirty="0">
                <a:solidFill>
                  <a:srgbClr val="FF0000"/>
                </a:solidFill>
                <a:latin typeface="Times New Roman" panose="02020603050405020304" pitchFamily="18" charset="0"/>
                <a:cs typeface="Times New Roman" panose="02020603050405020304" pitchFamily="18" charset="0"/>
              </a:rPr>
              <a:t> </a:t>
            </a:r>
            <a:r>
              <a:rPr lang="en-US" sz="2200" b="1" dirty="0" err="1">
                <a:solidFill>
                  <a:srgbClr val="FF0000"/>
                </a:solidFill>
                <a:latin typeface="Times New Roman" panose="02020603050405020304" pitchFamily="18" charset="0"/>
                <a:cs typeface="Times New Roman" panose="02020603050405020304" pitchFamily="18" charset="0"/>
              </a:rPr>
              <a:t>tỉnh</a:t>
            </a:r>
            <a:r>
              <a:rPr lang="en-US" sz="2200" b="1" dirty="0">
                <a:solidFill>
                  <a:srgbClr val="FF0000"/>
                </a:solidFill>
                <a:latin typeface="Times New Roman" panose="02020603050405020304" pitchFamily="18" charset="0"/>
                <a:cs typeface="Times New Roman" panose="02020603050405020304" pitchFamily="18" charset="0"/>
              </a:rPr>
              <a:t> </a:t>
            </a:r>
            <a:r>
              <a:rPr lang="en-US" sz="2200" b="1" dirty="0" err="1">
                <a:solidFill>
                  <a:srgbClr val="FF0000"/>
                </a:solidFill>
                <a:latin typeface="Times New Roman" panose="02020603050405020304" pitchFamily="18" charset="0"/>
                <a:cs typeface="Times New Roman" panose="02020603050405020304" pitchFamily="18" charset="0"/>
              </a:rPr>
              <a:t>và</a:t>
            </a:r>
            <a:r>
              <a:rPr lang="en-US" sz="2200" b="1" dirty="0">
                <a:solidFill>
                  <a:srgbClr val="FF0000"/>
                </a:solidFill>
                <a:latin typeface="Times New Roman" panose="02020603050405020304" pitchFamily="18" charset="0"/>
                <a:cs typeface="Times New Roman" panose="02020603050405020304" pitchFamily="18" charset="0"/>
              </a:rPr>
              <a:t> NS </a:t>
            </a:r>
            <a:r>
              <a:rPr lang="en-US" sz="2200" b="1" dirty="0" err="1">
                <a:solidFill>
                  <a:srgbClr val="FF0000"/>
                </a:solidFill>
                <a:latin typeface="Times New Roman" panose="02020603050405020304" pitchFamily="18" charset="0"/>
                <a:cs typeface="Times New Roman" panose="02020603050405020304" pitchFamily="18" charset="0"/>
              </a:rPr>
              <a:t>cấp</a:t>
            </a:r>
            <a:r>
              <a:rPr lang="en-US" sz="2200" b="1" dirty="0">
                <a:solidFill>
                  <a:srgbClr val="FF0000"/>
                </a:solidFill>
                <a:latin typeface="Times New Roman" panose="02020603050405020304" pitchFamily="18" charset="0"/>
                <a:cs typeface="Times New Roman" panose="02020603050405020304" pitchFamily="18" charset="0"/>
              </a:rPr>
              <a:t> </a:t>
            </a:r>
            <a:r>
              <a:rPr lang="en-US" sz="2200" b="1" dirty="0" err="1">
                <a:solidFill>
                  <a:srgbClr val="FF0000"/>
                </a:solidFill>
                <a:latin typeface="Times New Roman" panose="02020603050405020304" pitchFamily="18" charset="0"/>
                <a:cs typeface="Times New Roman" panose="02020603050405020304" pitchFamily="18" charset="0"/>
              </a:rPr>
              <a:t>xã</a:t>
            </a:r>
            <a:r>
              <a:rPr lang="en-US" sz="2200" b="1" dirty="0">
                <a:solidFill>
                  <a:srgbClr val="FF0000"/>
                </a:solidFill>
                <a:latin typeface="Times New Roman" panose="02020603050405020304" pitchFamily="18" charset="0"/>
                <a:cs typeface="Times New Roman" panose="02020603050405020304" pitchFamily="18" charset="0"/>
              </a:rPr>
              <a:t>:</a:t>
            </a:r>
          </a:p>
          <a:p>
            <a:pPr algn="just"/>
            <a:r>
              <a:rPr lang="en-US" sz="2200" dirty="0" err="1">
                <a:latin typeface="Times New Roman" panose="02020603050405020304" pitchFamily="18" charset="0"/>
                <a:cs typeface="Times New Roman" panose="02020603050405020304" pitchFamily="18" charset="0"/>
              </a:rPr>
              <a:t>Nhiệm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vụ</a:t>
            </a:r>
            <a:r>
              <a:rPr lang="en-US" sz="2200" dirty="0">
                <a:latin typeface="Times New Roman" panose="02020603050405020304" pitchFamily="18" charset="0"/>
                <a:cs typeface="Times New Roman" panose="02020603050405020304" pitchFamily="18" charset="0"/>
              </a:rPr>
              <a:t> chi </a:t>
            </a:r>
            <a:r>
              <a:rPr lang="en-US" sz="2200" dirty="0" err="1">
                <a:latin typeface="Times New Roman" panose="02020603050405020304" pitchFamily="18" charset="0"/>
                <a:cs typeface="Times New Roman" panose="02020603050405020304" pitchFamily="18" charset="0"/>
              </a:rPr>
              <a:t>thuộc</a:t>
            </a:r>
            <a:r>
              <a:rPr lang="en-US" sz="2200" dirty="0">
                <a:latin typeface="Times New Roman" panose="02020603050405020304" pitchFamily="18" charset="0"/>
                <a:cs typeface="Times New Roman" panose="02020603050405020304" pitchFamily="18" charset="0"/>
              </a:rPr>
              <a:t> NS </a:t>
            </a:r>
            <a:r>
              <a:rPr lang="en-US" sz="2200" dirty="0" err="1">
                <a:latin typeface="Times New Roman" panose="02020603050405020304" pitchFamily="18" charset="0"/>
                <a:cs typeface="Times New Roman" panose="02020603050405020304" pitchFamily="18" charset="0"/>
              </a:rPr>
              <a:t>cấp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nào</a:t>
            </a:r>
            <a:r>
              <a:rPr lang="en-US" sz="2200" dirty="0">
                <a:latin typeface="Times New Roman" panose="02020603050405020304" pitchFamily="18" charset="0"/>
                <a:cs typeface="Times New Roman" panose="02020603050405020304" pitchFamily="18" charset="0"/>
              </a:rPr>
              <a:t> do NS </a:t>
            </a:r>
            <a:r>
              <a:rPr lang="en-US" sz="2200" dirty="0" err="1">
                <a:latin typeface="Times New Roman" panose="02020603050405020304" pitchFamily="18" charset="0"/>
                <a:cs typeface="Times New Roman" panose="02020603050405020304" pitchFamily="18" charset="0"/>
              </a:rPr>
              <a:t>cấp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bảo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đảm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trừ</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trường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hợp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sau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đây</a:t>
            </a:r>
            <a:r>
              <a:rPr lang="en-US" sz="2200" dirty="0">
                <a:latin typeface="Times New Roman" panose="02020603050405020304" pitchFamily="18" charset="0"/>
                <a:cs typeface="Times New Roman" panose="02020603050405020304" pitchFamily="18" charset="0"/>
              </a:rPr>
              <a:t>:</a:t>
            </a:r>
          </a:p>
          <a:p>
            <a:pPr algn="just"/>
            <a:r>
              <a:rPr lang="en-US" sz="2200" dirty="0">
                <a:latin typeface="Times New Roman" panose="02020603050405020304" pitchFamily="18" charset="0"/>
                <a:cs typeface="Times New Roman" panose="02020603050405020304" pitchFamily="18" charset="0"/>
              </a:rPr>
              <a:t>a) NS </a:t>
            </a:r>
            <a:r>
              <a:rPr lang="en-US" sz="2200" dirty="0" err="1">
                <a:latin typeface="Times New Roman" panose="02020603050405020304" pitchFamily="18" charset="0"/>
                <a:cs typeface="Times New Roman" panose="02020603050405020304" pitchFamily="18" charset="0"/>
              </a:rPr>
              <a:t>cấp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dưới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hỗ</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đơn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vị</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thuộc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cấp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quản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lý</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đóng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bàn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trong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trường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hợp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cần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khẩn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trương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huy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động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lượng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cấp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xảy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thiên</a:t>
            </a:r>
            <a:r>
              <a:rPr lang="en-US" sz="2200" dirty="0">
                <a:latin typeface="Times New Roman" panose="02020603050405020304" pitchFamily="18" charset="0"/>
                <a:cs typeface="Times New Roman" panose="02020603050405020304" pitchFamily="18" charset="0"/>
              </a:rPr>
              <a:t> tai, </a:t>
            </a:r>
            <a:r>
              <a:rPr lang="en-US" sz="2200" dirty="0" err="1">
                <a:latin typeface="Times New Roman" panose="02020603050405020304" pitchFamily="18" charset="0"/>
                <a:cs typeface="Times New Roman" panose="02020603050405020304" pitchFamily="18" charset="0"/>
              </a:rPr>
              <a:t>thảm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họa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dịch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bệnh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trường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hợp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cần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bảo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đảm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ổn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dịnh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kinh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tế</a:t>
            </a:r>
            <a:r>
              <a:rPr lang="en-US" sz="2200" dirty="0">
                <a:latin typeface="Times New Roman" panose="02020603050405020304" pitchFamily="18" charset="0"/>
                <a:cs typeface="Times New Roman" panose="02020603050405020304" pitchFamily="18" charset="0"/>
              </a:rPr>
              <a:t> - </a:t>
            </a:r>
            <a:r>
              <a:rPr lang="en-US" sz="2200" dirty="0" err="1">
                <a:latin typeface="Times New Roman" panose="02020603050405020304" pitchFamily="18" charset="0"/>
                <a:cs typeface="Times New Roman" panose="02020603050405020304" pitchFamily="18" charset="0"/>
              </a:rPr>
              <a:t>xã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hội</a:t>
            </a:r>
            <a:r>
              <a:rPr lang="en-US" sz="2200" dirty="0">
                <a:latin typeface="Times New Roman" panose="02020603050405020304" pitchFamily="18" charset="0"/>
                <a:cs typeface="Times New Roman" panose="02020603050405020304" pitchFamily="18" charset="0"/>
              </a:rPr>
              <a:t>, an </a:t>
            </a:r>
            <a:r>
              <a:rPr lang="en-US" sz="2200" dirty="0" err="1">
                <a:latin typeface="Times New Roman" panose="02020603050405020304" pitchFamily="18" charset="0"/>
                <a:cs typeface="Times New Roman" panose="02020603050405020304" pitchFamily="18" charset="0"/>
              </a:rPr>
              <a:t>ninh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trật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tự</a:t>
            </a:r>
            <a:r>
              <a:rPr lang="en-US" sz="2200" dirty="0">
                <a:latin typeface="Times New Roman" panose="02020603050405020304" pitchFamily="18" charset="0"/>
                <a:cs typeface="Times New Roman" panose="02020603050405020304" pitchFamily="18" charset="0"/>
              </a:rPr>
              <a:t>, an </a:t>
            </a:r>
            <a:r>
              <a:rPr lang="en-US" sz="2200" dirty="0" err="1">
                <a:latin typeface="Times New Roman" panose="02020603050405020304" pitchFamily="18" charset="0"/>
                <a:cs typeface="Times New Roman" panose="02020603050405020304" pitchFamily="18" charset="0"/>
              </a:rPr>
              <a:t>toàn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hội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phương</a:t>
            </a:r>
            <a:r>
              <a:rPr lang="en-US" sz="2200" dirty="0">
                <a:latin typeface="Times New Roman" panose="02020603050405020304" pitchFamily="18" charset="0"/>
                <a:cs typeface="Times New Roman" panose="02020603050405020304" pitchFamily="18" charset="0"/>
              </a:rPr>
              <a:t>;</a:t>
            </a:r>
          </a:p>
          <a:p>
            <a:pPr algn="just"/>
            <a:r>
              <a:rPr lang="en-US" sz="2200" dirty="0">
                <a:latin typeface="Times New Roman" panose="02020603050405020304" pitchFamily="18" charset="0"/>
                <a:cs typeface="Times New Roman" panose="02020603050405020304" pitchFamily="18" charset="0"/>
              </a:rPr>
              <a:t>b) Các </a:t>
            </a:r>
            <a:r>
              <a:rPr lang="en-US" sz="2200" dirty="0" err="1">
                <a:latin typeface="Times New Roman" panose="02020603050405020304" pitchFamily="18" charset="0"/>
                <a:cs typeface="Times New Roman" panose="02020603050405020304" pitchFamily="18" charset="0"/>
              </a:rPr>
              <a:t>đơn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vị</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cấp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quản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lý</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đóng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bàn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chức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năng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hợp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số</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nhiệm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vụ</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theo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yêu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cầu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cấp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dưới</a:t>
            </a:r>
            <a:r>
              <a:rPr lang="en-US" sz="2200" dirty="0">
                <a:latin typeface="Times New Roman" panose="02020603050405020304" pitchFamily="18" charset="0"/>
                <a:cs typeface="Times New Roman" panose="02020603050405020304" pitchFamily="18" charset="0"/>
              </a:rPr>
              <a:t>;</a:t>
            </a:r>
          </a:p>
          <a:p>
            <a:pPr algn="just"/>
            <a:r>
              <a:rPr lang="en-US" sz="2200" dirty="0">
                <a:latin typeface="Times New Roman" panose="02020603050405020304" pitchFamily="18" charset="0"/>
                <a:cs typeface="Times New Roman" panose="02020603050405020304" pitchFamily="18" charset="0"/>
              </a:rPr>
              <a:t>c) </a:t>
            </a:r>
            <a:r>
              <a:rPr lang="en-US" sz="2200" dirty="0" err="1">
                <a:latin typeface="Times New Roman" panose="02020603050405020304" pitchFamily="18" charset="0"/>
                <a:cs typeface="Times New Roman" panose="02020603050405020304" pitchFamily="18" charset="0"/>
              </a:rPr>
              <a:t>Sử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dự</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phòng</a:t>
            </a:r>
            <a:r>
              <a:rPr lang="en-US" sz="2200" dirty="0">
                <a:latin typeface="Times New Roman" panose="02020603050405020304" pitchFamily="18" charset="0"/>
                <a:cs typeface="Times New Roman" panose="02020603050405020304" pitchFamily="18" charset="0"/>
              </a:rPr>
              <a:t> NS </a:t>
            </a:r>
            <a:r>
              <a:rPr lang="en-US" sz="2200" dirty="0" err="1">
                <a:latin typeface="Times New Roman" panose="02020603050405020304" pitchFamily="18" charset="0"/>
                <a:cs typeface="Times New Roman" panose="02020603050405020304" pitchFamily="18" charset="0"/>
              </a:rPr>
              <a:t>địa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phương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hỗ</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phương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khắc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phục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hậu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thiên</a:t>
            </a:r>
            <a:r>
              <a:rPr lang="en-US" sz="2200" dirty="0">
                <a:latin typeface="Times New Roman" panose="02020603050405020304" pitchFamily="18" charset="0"/>
                <a:cs typeface="Times New Roman" panose="02020603050405020304" pitchFamily="18" charset="0"/>
              </a:rPr>
              <a:t> tai, </a:t>
            </a:r>
            <a:r>
              <a:rPr lang="en-US" sz="2200" dirty="0" err="1">
                <a:latin typeface="Times New Roman" panose="02020603050405020304" pitchFamily="18" charset="0"/>
                <a:cs typeface="Times New Roman" panose="02020603050405020304" pitchFamily="18" charset="0"/>
              </a:rPr>
              <a:t>thảm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họa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dịch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bệnh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số</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nhiệm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vụ</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quản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trọng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cấp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bách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khác</a:t>
            </a:r>
            <a:r>
              <a:rPr lang="en-US" sz="2200" dirty="0">
                <a:latin typeface="Times New Roman" panose="02020603050405020304" pitchFamily="18" charset="0"/>
                <a:cs typeface="Times New Roman" panose="02020603050405020304" pitchFamily="18" charset="0"/>
              </a:rPr>
              <a:t>;</a:t>
            </a:r>
          </a:p>
          <a:p>
            <a:pPr algn="just"/>
            <a:r>
              <a:rPr lang="en-US" sz="2200" dirty="0">
                <a:latin typeface="Times New Roman" panose="02020603050405020304" pitchFamily="18" charset="0"/>
                <a:cs typeface="Times New Roman" panose="02020603050405020304" pitchFamily="18" charset="0"/>
              </a:rPr>
              <a:t>d) </a:t>
            </a:r>
            <a:r>
              <a:rPr lang="en-US" sz="2200" dirty="0" err="1">
                <a:latin typeface="Times New Roman" panose="02020603050405020304" pitchFamily="18" charset="0"/>
                <a:cs typeface="Times New Roman" panose="02020603050405020304" pitchFamily="18" charset="0"/>
              </a:rPr>
              <a:t>Sử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vốn</a:t>
            </a:r>
            <a:r>
              <a:rPr lang="en-US" sz="2200" dirty="0">
                <a:latin typeface="Times New Roman" panose="02020603050405020304" pitchFamily="18" charset="0"/>
                <a:cs typeface="Times New Roman" panose="02020603050405020304" pitchFamily="18" charset="0"/>
              </a:rPr>
              <a:t> NS </a:t>
            </a:r>
            <a:r>
              <a:rPr lang="en-US" sz="2200" dirty="0" err="1">
                <a:latin typeface="Times New Roman" panose="02020603050405020304" pitchFamily="18" charset="0"/>
                <a:cs typeface="Times New Roman" panose="02020603050405020304" pitchFamily="18" charset="0"/>
              </a:rPr>
              <a:t>đầu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tư</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phát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triển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NS </a:t>
            </a:r>
            <a:r>
              <a:rPr lang="en-US" sz="2200" dirty="0" err="1">
                <a:latin typeface="Times New Roman" panose="02020603050405020304" pitchFamily="18" charset="0"/>
                <a:cs typeface="Times New Roman" panose="02020603050405020304" pitchFamily="18" charset="0"/>
              </a:rPr>
              <a:t>địa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phương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dự</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án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đầu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tư</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xây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dựng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công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cấu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hạ</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tầng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bàn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thuộc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nhiệm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vụ</a:t>
            </a:r>
            <a:r>
              <a:rPr lang="en-US" sz="2200" dirty="0">
                <a:latin typeface="Times New Roman" panose="02020603050405020304" pitchFamily="18" charset="0"/>
                <a:cs typeface="Times New Roman" panose="02020603050405020304" pitchFamily="18" charset="0"/>
              </a:rPr>
              <a:t> chi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NS </a:t>
            </a:r>
            <a:r>
              <a:rPr lang="en-US" sz="2200" dirty="0" err="1">
                <a:latin typeface="Times New Roman" panose="02020603050405020304" pitchFamily="18" charset="0"/>
                <a:cs typeface="Times New Roman" panose="02020603050405020304" pitchFamily="18" charset="0"/>
              </a:rPr>
              <a:t>cấp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tiếp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hỗ</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phương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đầu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tư</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xây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dựng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dự</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án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công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trọng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điểm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liên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vùng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liên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quốc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liên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quốc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tế</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sức</a:t>
            </a:r>
            <a:r>
              <a:rPr lang="en-US" sz="2200" dirty="0">
                <a:latin typeface="Times New Roman" panose="02020603050405020304" pitchFamily="18" charset="0"/>
                <a:cs typeface="Times New Roman" panose="02020603050405020304" pitchFamily="18" charset="0"/>
              </a:rPr>
              <a:t> lan </a:t>
            </a:r>
            <a:r>
              <a:rPr lang="en-US" sz="2200" dirty="0" err="1">
                <a:latin typeface="Times New Roman" panose="02020603050405020304" pitchFamily="18" charset="0"/>
                <a:cs typeface="Times New Roman" panose="02020603050405020304" pitchFamily="18" charset="0"/>
              </a:rPr>
              <a:t>tỏa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tạo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động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phát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triển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kinh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tế</a:t>
            </a:r>
            <a:r>
              <a:rPr lang="en-US" sz="2200" dirty="0">
                <a:latin typeface="Times New Roman" panose="02020603050405020304" pitchFamily="18" charset="0"/>
                <a:cs typeface="Times New Roman" panose="02020603050405020304" pitchFamily="18" charset="0"/>
              </a:rPr>
              <a:t> - </a:t>
            </a:r>
            <a:r>
              <a:rPr lang="en-US" sz="2200" dirty="0" err="1">
                <a:latin typeface="Times New Roman" panose="02020603050405020304" pitchFamily="18" charset="0"/>
                <a:cs typeface="Times New Roman" panose="02020603050405020304" pitchFamily="18" charset="0"/>
              </a:rPr>
              <a:t>xã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hội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nhiệm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vụ</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quan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trọng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phải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bảo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đảm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trong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năng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đối</a:t>
            </a:r>
            <a:r>
              <a:rPr lang="en-US" sz="2200" dirty="0">
                <a:latin typeface="Times New Roman" panose="02020603050405020304" pitchFamily="18" charset="0"/>
                <a:cs typeface="Times New Roman" panose="02020603050405020304" pitchFamily="18" charset="0"/>
              </a:rPr>
              <a:t> NS </a:t>
            </a:r>
            <a:r>
              <a:rPr lang="en-US" sz="2200" dirty="0" err="1">
                <a:latin typeface="Times New Roman" panose="02020603050405020304" pitchFamily="18" charset="0"/>
                <a:cs typeface="Times New Roman" panose="02020603050405020304" pitchFamily="18" charset="0"/>
              </a:rPr>
              <a:t>cấp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không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làm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ảnh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hưởng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đến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việc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nhiệm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vụ</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thuộc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trách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nhiệm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NS </a:t>
            </a:r>
            <a:r>
              <a:rPr lang="en-US" sz="2200" dirty="0" err="1">
                <a:latin typeface="Times New Roman" panose="02020603050405020304" pitchFamily="18" charset="0"/>
                <a:cs typeface="Times New Roman" panose="02020603050405020304" pitchFamily="18" charset="0"/>
              </a:rPr>
              <a:t>cấp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mình</a:t>
            </a:r>
            <a:r>
              <a:rPr lang="en-US" sz="2200" dirty="0">
                <a:latin typeface="Times New Roman" panose="02020603050405020304" pitchFamily="18" charset="0"/>
                <a:cs typeface="Times New Roman" panose="02020603050405020304" pitchFamily="18" charset="0"/>
              </a:rPr>
              <a:t>.</a:t>
            </a:r>
          </a:p>
          <a:p>
            <a:pPr algn="just"/>
            <a:endParaRPr lang="en-US" sz="2200" b="1" dirty="0">
              <a:solidFill>
                <a:srgbClr val="FF0000"/>
              </a:solidFill>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0295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309B0-0142-4AC9-B080-C612BB0E1D1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0D20415-0AB9-0545-F5BA-048BFF6FEC0C}"/>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3.1.2.2. CHI NGÂN SÁCH XÃ</a:t>
            </a:r>
          </a:p>
        </p:txBody>
      </p:sp>
      <p:sp>
        <p:nvSpPr>
          <p:cNvPr id="2" name="TextBox 1">
            <a:extLst>
              <a:ext uri="{FF2B5EF4-FFF2-40B4-BE49-F238E27FC236}">
                <a16:creationId xmlns:a16="http://schemas.microsoft.com/office/drawing/2014/main" id="{C40C465B-50B4-70C9-23BB-C6B4FC98A993}"/>
              </a:ext>
            </a:extLst>
          </p:cNvPr>
          <p:cNvSpPr txBox="1"/>
          <p:nvPr/>
        </p:nvSpPr>
        <p:spPr>
          <a:xfrm>
            <a:off x="212651" y="1467296"/>
            <a:ext cx="11419368" cy="3268652"/>
          </a:xfrm>
          <a:prstGeom prst="rect">
            <a:avLst/>
          </a:prstGeom>
          <a:noFill/>
        </p:spPr>
        <p:txBody>
          <a:bodyPr wrap="square" rtlCol="0">
            <a:spAutoFit/>
          </a:bodyPr>
          <a:lstStyle/>
          <a:p>
            <a:pPr>
              <a:lnSpc>
                <a:spcPct val="150000"/>
              </a:lnSpc>
            </a:pPr>
            <a:r>
              <a:rPr lang="en-US" sz="2000" b="1" dirty="0" err="1">
                <a:solidFill>
                  <a:srgbClr val="FF0000"/>
                </a:solidFill>
                <a:latin typeface="Times New Roman" panose="02020603050405020304" pitchFamily="18" charset="0"/>
                <a:cs typeface="Times New Roman" panose="02020603050405020304" pitchFamily="18" charset="0"/>
              </a:rPr>
              <a:t>Để</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xác</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định</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nhiệm</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vụ</a:t>
            </a:r>
            <a:r>
              <a:rPr lang="en-US" sz="2000" b="1" dirty="0">
                <a:solidFill>
                  <a:srgbClr val="FF0000"/>
                </a:solidFill>
                <a:latin typeface="Times New Roman" panose="02020603050405020304" pitchFamily="18" charset="0"/>
                <a:cs typeface="Times New Roman" panose="02020603050405020304" pitchFamily="18" charset="0"/>
              </a:rPr>
              <a:t> chi NS </a:t>
            </a:r>
            <a:r>
              <a:rPr lang="en-US" sz="2000" b="1" dirty="0" err="1">
                <a:solidFill>
                  <a:srgbClr val="FF0000"/>
                </a:solidFill>
                <a:latin typeface="Times New Roman" panose="02020603050405020304" pitchFamily="18" charset="0"/>
                <a:cs typeface="Times New Roman" panose="02020603050405020304" pitchFamily="18" charset="0"/>
              </a:rPr>
              <a:t>xã</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cần</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xác</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định</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phạm</a:t>
            </a:r>
            <a:r>
              <a:rPr lang="en-US" sz="2000" b="1" dirty="0">
                <a:solidFill>
                  <a:srgbClr val="FF0000"/>
                </a:solidFill>
                <a:latin typeface="Times New Roman" panose="02020603050405020304" pitchFamily="18" charset="0"/>
                <a:cs typeface="Times New Roman" panose="02020603050405020304" pitchFamily="18" charset="0"/>
              </a:rPr>
              <a:t> vi </a:t>
            </a:r>
            <a:r>
              <a:rPr lang="en-US" sz="2000" b="1" dirty="0" err="1">
                <a:solidFill>
                  <a:srgbClr val="FF0000"/>
                </a:solidFill>
                <a:latin typeface="Times New Roman" panose="02020603050405020304" pitchFamily="18" charset="0"/>
                <a:cs typeface="Times New Roman" panose="02020603050405020304" pitchFamily="18" charset="0"/>
              </a:rPr>
              <a:t>nhiệm</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vụ</a:t>
            </a:r>
            <a:r>
              <a:rPr lang="en-US" sz="2000" b="1" dirty="0">
                <a:solidFill>
                  <a:srgbClr val="FF0000"/>
                </a:solidFill>
                <a:latin typeface="Times New Roman" panose="02020603050405020304" pitchFamily="18" charset="0"/>
                <a:cs typeface="Times New Roman" panose="02020603050405020304" pitchFamily="18" charset="0"/>
              </a:rPr>
              <a:t> chi NS </a:t>
            </a:r>
            <a:r>
              <a:rPr lang="en-US" sz="2000" b="1" dirty="0" err="1">
                <a:solidFill>
                  <a:srgbClr val="FF0000"/>
                </a:solidFill>
                <a:latin typeface="Times New Roman" panose="02020603050405020304" pitchFamily="18" charset="0"/>
                <a:cs typeface="Times New Roman" panose="02020603050405020304" pitchFamily="18" charset="0"/>
              </a:rPr>
              <a:t>địa</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phương</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Căn</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cứ</a:t>
            </a:r>
            <a:r>
              <a:rPr lang="en-US" sz="2000" b="1" dirty="0">
                <a:solidFill>
                  <a:srgbClr val="FF0000"/>
                </a:solidFill>
                <a:latin typeface="Times New Roman" panose="02020603050405020304" pitchFamily="18" charset="0"/>
                <a:cs typeface="Times New Roman" panose="02020603050405020304" pitchFamily="18" charset="0"/>
              </a:rPr>
              <a:t>:</a:t>
            </a:r>
          </a:p>
          <a:p>
            <a:pPr>
              <a:lnSpc>
                <a:spcPct val="150000"/>
              </a:lnSpc>
            </a:pPr>
            <a:r>
              <a:rPr lang="en-US" sz="2000" dirty="0" err="1">
                <a:latin typeface="Times New Roman" panose="02020603050405020304" pitchFamily="18" charset="0"/>
                <a:cs typeface="Times New Roman" panose="02020603050405020304" pitchFamily="18" charset="0"/>
              </a:rPr>
              <a:t>Điều</a:t>
            </a:r>
            <a:r>
              <a:rPr lang="en-US" sz="2000" dirty="0">
                <a:latin typeface="Times New Roman" panose="02020603050405020304" pitchFamily="18" charset="0"/>
                <a:cs typeface="Times New Roman" panose="02020603050405020304" pitchFamily="18" charset="0"/>
              </a:rPr>
              <a:t> 39. </a:t>
            </a:r>
            <a:r>
              <a:rPr lang="en-US" sz="2000" dirty="0" err="1">
                <a:latin typeface="Times New Roman" panose="02020603050405020304" pitchFamily="18" charset="0"/>
                <a:cs typeface="Times New Roman" panose="02020603050405020304" pitchFamily="18" charset="0"/>
              </a:rPr>
              <a:t>Luật</a:t>
            </a:r>
            <a:r>
              <a:rPr lang="en-US" sz="2000" dirty="0">
                <a:latin typeface="Times New Roman" panose="02020603050405020304" pitchFamily="18" charset="0"/>
                <a:cs typeface="Times New Roman" panose="02020603050405020304" pitchFamily="18" charset="0"/>
              </a:rPr>
              <a:t> NSNN 2025. </a:t>
            </a:r>
            <a:r>
              <a:rPr lang="en-US" sz="2000" dirty="0" err="1">
                <a:latin typeface="Times New Roman" panose="02020603050405020304" pitchFamily="18" charset="0"/>
                <a:cs typeface="Times New Roman" panose="02020603050405020304" pitchFamily="18" charset="0"/>
              </a:rPr>
              <a:t>Nhiệm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vụ</a:t>
            </a:r>
            <a:r>
              <a:rPr lang="en-US" sz="2000" dirty="0">
                <a:latin typeface="Times New Roman" panose="02020603050405020304" pitchFamily="18" charset="0"/>
                <a:cs typeface="Times New Roman" panose="02020603050405020304" pitchFamily="18" charset="0"/>
              </a:rPr>
              <a:t> chi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NS </a:t>
            </a:r>
            <a:r>
              <a:rPr lang="en-US" sz="2000" dirty="0" err="1">
                <a:latin typeface="Times New Roman" panose="02020603050405020304" pitchFamily="18" charset="0"/>
                <a:cs typeface="Times New Roman" panose="02020603050405020304" pitchFamily="18" charset="0"/>
              </a:rPr>
              <a:t>địa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phương</a:t>
            </a:r>
            <a:r>
              <a:rPr lang="en-US" sz="2000" dirty="0">
                <a:latin typeface="Times New Roman" panose="02020603050405020304" pitchFamily="18" charset="0"/>
                <a:cs typeface="Times New Roman" panose="02020603050405020304" pitchFamily="18" charset="0"/>
              </a:rPr>
              <a:t>.</a:t>
            </a:r>
          </a:p>
          <a:p>
            <a:pPr>
              <a:lnSpc>
                <a:spcPct val="150000"/>
              </a:lnSpc>
            </a:pPr>
            <a:r>
              <a:rPr lang="en-US" sz="2000" dirty="0" err="1">
                <a:latin typeface="Times New Roman" panose="02020603050405020304" pitchFamily="18" charset="0"/>
                <a:cs typeface="Times New Roman" panose="02020603050405020304" pitchFamily="18" charset="0"/>
              </a:rPr>
              <a:t>Điều</a:t>
            </a:r>
            <a:r>
              <a:rPr lang="en-US" sz="2000" dirty="0">
                <a:latin typeface="Times New Roman" panose="02020603050405020304" pitchFamily="18" charset="0"/>
                <a:cs typeface="Times New Roman" panose="02020603050405020304" pitchFamily="18" charset="0"/>
              </a:rPr>
              <a:t> 6. TT26/2026/TT-BTC. </a:t>
            </a:r>
            <a:r>
              <a:rPr lang="en-US" sz="2000" dirty="0" err="1">
                <a:latin typeface="Times New Roman" panose="02020603050405020304" pitchFamily="18" charset="0"/>
                <a:cs typeface="Times New Roman" panose="02020603050405020304" pitchFamily="18" charset="0"/>
              </a:rPr>
              <a:t>Nhiệm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vụ</a:t>
            </a:r>
            <a:r>
              <a:rPr lang="en-US" sz="2000" dirty="0">
                <a:latin typeface="Times New Roman" panose="02020603050405020304" pitchFamily="18" charset="0"/>
                <a:cs typeface="Times New Roman" panose="02020603050405020304" pitchFamily="18" charset="0"/>
              </a:rPr>
              <a:t> chi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NS </a:t>
            </a:r>
            <a:r>
              <a:rPr lang="en-US" sz="2000" dirty="0" err="1">
                <a:latin typeface="Times New Roman" panose="02020603050405020304" pitchFamily="18" charset="0"/>
                <a:cs typeface="Times New Roman" panose="02020603050405020304" pitchFamily="18" charset="0"/>
              </a:rPr>
              <a:t>địa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phương</a:t>
            </a:r>
            <a:r>
              <a:rPr lang="en-US" sz="2000" dirty="0">
                <a:latin typeface="Times New Roman" panose="02020603050405020304" pitchFamily="18" charset="0"/>
                <a:cs typeface="Times New Roman" panose="02020603050405020304" pitchFamily="18" charset="0"/>
              </a:rPr>
              <a:t>.</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45851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C0024-E1EC-7582-0870-F650C3B7A4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A465B51-D5EF-8A70-A2F8-40A3559CD530}"/>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3.1.2.2. CHI NGÂN SÁCH XÃ</a:t>
            </a:r>
          </a:p>
        </p:txBody>
      </p:sp>
      <p:sp>
        <p:nvSpPr>
          <p:cNvPr id="2" name="TextBox 1">
            <a:extLst>
              <a:ext uri="{FF2B5EF4-FFF2-40B4-BE49-F238E27FC236}">
                <a16:creationId xmlns:a16="http://schemas.microsoft.com/office/drawing/2014/main" id="{0B2A4613-DBED-E90D-0495-6A9B2B3ED852}"/>
              </a:ext>
            </a:extLst>
          </p:cNvPr>
          <p:cNvSpPr txBox="1"/>
          <p:nvPr/>
        </p:nvSpPr>
        <p:spPr>
          <a:xfrm>
            <a:off x="32658" y="1320339"/>
            <a:ext cx="12066814" cy="5324535"/>
          </a:xfrm>
          <a:prstGeom prst="rect">
            <a:avLst/>
          </a:prstGeom>
          <a:noFill/>
        </p:spPr>
        <p:txBody>
          <a:bodyPr wrap="square" rtlCol="0">
            <a:spAutoFit/>
          </a:bodyPr>
          <a:lstStyle/>
          <a:p>
            <a:r>
              <a:rPr lang="en-US" sz="2000" b="1" dirty="0" err="1">
                <a:latin typeface="Times New Roman" panose="02020603050405020304" pitchFamily="18" charset="0"/>
                <a:cs typeface="Times New Roman" panose="02020603050405020304" pitchFamily="18" charset="0"/>
              </a:rPr>
              <a:t>Nhiệm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vụ</a:t>
            </a:r>
            <a:r>
              <a:rPr lang="en-US" sz="2000" b="1" dirty="0">
                <a:latin typeface="Times New Roman" panose="02020603050405020304" pitchFamily="18" charset="0"/>
                <a:cs typeface="Times New Roman" panose="02020603050405020304" pitchFamily="18" charset="0"/>
              </a:rPr>
              <a:t> chi </a:t>
            </a:r>
            <a:r>
              <a:rPr lang="en-US" sz="2000" b="1" dirty="0" err="1">
                <a:latin typeface="Times New Roman" panose="02020603050405020304" pitchFamily="18" charset="0"/>
                <a:cs typeface="Times New Roman" panose="02020603050405020304" pitchFamily="18" charset="0"/>
              </a:rPr>
              <a:t>của</a:t>
            </a:r>
            <a:r>
              <a:rPr lang="en-US" sz="2000" b="1" dirty="0">
                <a:latin typeface="Times New Roman" panose="02020603050405020304" pitchFamily="18" charset="0"/>
                <a:cs typeface="Times New Roman" panose="02020603050405020304" pitchFamily="18" charset="0"/>
              </a:rPr>
              <a:t> NS </a:t>
            </a:r>
            <a:r>
              <a:rPr lang="en-US" sz="2000" b="1" dirty="0" err="1">
                <a:latin typeface="Times New Roman" panose="02020603050405020304" pitchFamily="18" charset="0"/>
                <a:cs typeface="Times New Roman" panose="02020603050405020304" pitchFamily="18" charset="0"/>
              </a:rPr>
              <a:t>địa</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phương</a:t>
            </a:r>
            <a:r>
              <a:rPr lang="en-US" sz="2000" b="1" dirty="0">
                <a:latin typeface="Times New Roman" panose="02020603050405020304" pitchFamily="18" charset="0"/>
                <a:cs typeface="Times New Roman" panose="02020603050405020304" pitchFamily="18" charset="0"/>
              </a:rPr>
              <a:t>:</a:t>
            </a:r>
          </a:p>
          <a:p>
            <a:r>
              <a:rPr lang="vi-VN" sz="2000" dirty="0">
                <a:latin typeface="Times New Roman" panose="02020603050405020304" pitchFamily="18" charset="0"/>
                <a:cs typeface="Times New Roman" panose="02020603050405020304" pitchFamily="18" charset="0"/>
              </a:rPr>
              <a:t>1. Chi đầu tư phát triển: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a) Đầu tư cho các chương trình, dự án, nhiệm vụ và đối tượng đầu tư công khác do địa phương quản lý theo quy định của Luật Đầu tư công; đầu tư cho các dự án đầu tư xây dựng công trình kết cấu hạ tầng trên địa bàn thuộc nhiệm vụ chi của ngân sách cấp trên trực tiếp; hỗ trợ địa phương khác đầu tư xây dựng dự án, công trình trọng điểm, liên kết vùng, liên kết quốc gia, liên kết quốc tế, có sức lan tỏa, tạo động lực phát triển kinh tế - xã hội và nhiệm vụ quan trọng khác phải bảo đảm trong khả năng cân đối ngân sách cấp mình và không làm ảnh hưởng đến việc thực hiện nhiệm vụ thuộc trách nhiệm của ngân sách cấp mình;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b) Đầu tư và hỗ trợ vốn cho các doanh nghiệp cung cấp sản phẩm, dịch vụ công ích thiết yếu cho xã hội do Nhà nước đặt hàng; các tổ chức kinh tế; các tổ chức tài chính của địa phương; đầu tư vốn nhà nước vào doanh nghiệp của địa phương theo quy định của pháp luật;</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c) Cấp bù chênh lệch lãi suất, phí quản lý và ủy thác cho vay qua ngân hàng chính sách để thực hiện các chính sách phát triển kinh tế - xã hội tại địa phương;</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d) Các khoản chi đầu tư phát triển khác theo quy định của pháp luật.</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00177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202C5-A748-D3CA-416B-BD4DE062F2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3C6976A-9B6F-4D94-7545-CF19F44E2176}"/>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3.1.2.2. CHI NGÂN SÁCH XÃ</a:t>
            </a:r>
          </a:p>
        </p:txBody>
      </p:sp>
      <p:sp>
        <p:nvSpPr>
          <p:cNvPr id="2" name="TextBox 1">
            <a:extLst>
              <a:ext uri="{FF2B5EF4-FFF2-40B4-BE49-F238E27FC236}">
                <a16:creationId xmlns:a16="http://schemas.microsoft.com/office/drawing/2014/main" id="{884034A5-0C67-9262-48BC-1F23795660C0}"/>
              </a:ext>
            </a:extLst>
          </p:cNvPr>
          <p:cNvSpPr txBox="1"/>
          <p:nvPr/>
        </p:nvSpPr>
        <p:spPr>
          <a:xfrm>
            <a:off x="32658" y="1320339"/>
            <a:ext cx="12066814" cy="5324535"/>
          </a:xfrm>
          <a:prstGeom prst="rect">
            <a:avLst/>
          </a:prstGeom>
          <a:noFill/>
        </p:spPr>
        <p:txBody>
          <a:bodyPr wrap="square" rtlCol="0">
            <a:spAutoFit/>
          </a:bodyPr>
          <a:lstStyle/>
          <a:p>
            <a:r>
              <a:rPr lang="en-US" sz="2000" b="1" dirty="0" err="1">
                <a:latin typeface="Times New Roman" panose="02020603050405020304" pitchFamily="18" charset="0"/>
                <a:cs typeface="Times New Roman" panose="02020603050405020304" pitchFamily="18" charset="0"/>
              </a:rPr>
              <a:t>Nhiệm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vụ</a:t>
            </a:r>
            <a:r>
              <a:rPr lang="en-US" sz="2000" b="1" dirty="0">
                <a:latin typeface="Times New Roman" panose="02020603050405020304" pitchFamily="18" charset="0"/>
                <a:cs typeface="Times New Roman" panose="02020603050405020304" pitchFamily="18" charset="0"/>
              </a:rPr>
              <a:t> chi </a:t>
            </a:r>
            <a:r>
              <a:rPr lang="en-US" sz="2000" b="1" dirty="0" err="1">
                <a:latin typeface="Times New Roman" panose="02020603050405020304" pitchFamily="18" charset="0"/>
                <a:cs typeface="Times New Roman" panose="02020603050405020304" pitchFamily="18" charset="0"/>
              </a:rPr>
              <a:t>của</a:t>
            </a:r>
            <a:r>
              <a:rPr lang="en-US" sz="2000" b="1" dirty="0">
                <a:latin typeface="Times New Roman" panose="02020603050405020304" pitchFamily="18" charset="0"/>
                <a:cs typeface="Times New Roman" panose="02020603050405020304" pitchFamily="18" charset="0"/>
              </a:rPr>
              <a:t> NS </a:t>
            </a:r>
            <a:r>
              <a:rPr lang="en-US" sz="2000" b="1" dirty="0" err="1">
                <a:latin typeface="Times New Roman" panose="02020603050405020304" pitchFamily="18" charset="0"/>
                <a:cs typeface="Times New Roman" panose="02020603050405020304" pitchFamily="18" charset="0"/>
              </a:rPr>
              <a:t>địa</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phương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tt</a:t>
            </a:r>
            <a:r>
              <a:rPr lang="en-US" sz="2000" b="1" dirty="0">
                <a:latin typeface="Times New Roman" panose="02020603050405020304" pitchFamily="18" charset="0"/>
                <a:cs typeface="Times New Roman" panose="02020603050405020304" pitchFamily="18" charset="0"/>
              </a:rPr>
              <a:t>):</a:t>
            </a:r>
          </a:p>
          <a:p>
            <a:r>
              <a:rPr lang="vi-VN" sz="2000" dirty="0">
                <a:latin typeface="Times New Roman" panose="02020603050405020304" pitchFamily="18" charset="0"/>
                <a:cs typeface="Times New Roman" panose="02020603050405020304" pitchFamily="18" charset="0"/>
              </a:rPr>
              <a:t>2. Ch</a:t>
            </a:r>
            <a:r>
              <a:rPr lang="en-US" sz="2000" dirty="0" err="1">
                <a:latin typeface="Times New Roman" panose="02020603050405020304" pitchFamily="18" charset="0"/>
                <a:cs typeface="Times New Roman" panose="02020603050405020304" pitchFamily="18" charset="0"/>
              </a:rPr>
              <a:t>i</a:t>
            </a:r>
            <a:r>
              <a:rPr lang="vi-VN" sz="2000" dirty="0">
                <a:latin typeface="Times New Roman" panose="02020603050405020304" pitchFamily="18" charset="0"/>
                <a:cs typeface="Times New Roman" panose="02020603050405020304" pitchFamily="18" charset="0"/>
              </a:rPr>
              <a:t> thường xuyên của các cơ quan, đơn vị ở địa phương được phân cấp trực tiếp quản lý trong các lĩnh vực: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a) Sự nghiệp giáo dục, đào tạo và dạy nghề, bao gồm hoạt động giáo dục nhà trẻ, mẫu giáo, tiểu học, trung học cơ sở, trung học phổ thông và các hoạt động giáo dục khác; giáo dục nghể nghiệp, đào tạo trung cấp, cao đẳng, đại học và các hình thức đào tạo, bồi dưỡng khác;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b) Sự nghiệp khoa học, công nghệ, đổi mới sáng tạo và chuyển đổi số theo quy định của pháp luật về khoa học, công nghệ, đổi mới sáng tạo và chuyển đổi số;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c) Các nhiệm vụ về quốc phòng, an ninh, trật tự an toàn xã hội phần do địa phương quản lý và hỗ trợ thực hiện một số nhiệm vụ chi thuộc nhiệm vụ chỉ của ngân sách trung ương theo quy định của Chính phủ và các văn bản hướng dẫn thực hiện;</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d) Sự nghiệp y tế, dân số và gia đình, bao gồm hoạt động y tế dự phòng, khám bệnh, chữa bệnh; kinh phí đóng và hỗ trợ đóng bảo hiểm y tế cho các đối tượng do ngân sách nhà nước đóng hoặc hỗ trợ theo quy định của Luật Bảo hiểm y tế; vệ sinh an toàn thực phẩm; dân số và gia đình; các hoạt động y tế khác;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đ) Sự nghiệp văn hóa thông tin, bao gồm bảo tồn, bảo tàng, thư viện, trùng tu di tích lịch sử, lưu trữ lịch sử, các hoạt động sáng tạo văn học, nghệ thuật triển lãm và các hoạt động văn hóa, thông tin khác;</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60086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BCAA9-72A7-BCD7-4BBC-230CFBFECFE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3C1888F-35E2-ED87-ABF4-189BBEEB3ECC}"/>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3.1.2.2. CHI NGÂN SÁCH XÃ</a:t>
            </a:r>
          </a:p>
        </p:txBody>
      </p:sp>
      <p:sp>
        <p:nvSpPr>
          <p:cNvPr id="2" name="TextBox 1">
            <a:extLst>
              <a:ext uri="{FF2B5EF4-FFF2-40B4-BE49-F238E27FC236}">
                <a16:creationId xmlns:a16="http://schemas.microsoft.com/office/drawing/2014/main" id="{0B64942A-1F57-30C7-8B3F-019A4A4968FC}"/>
              </a:ext>
            </a:extLst>
          </p:cNvPr>
          <p:cNvSpPr txBox="1"/>
          <p:nvPr/>
        </p:nvSpPr>
        <p:spPr>
          <a:xfrm>
            <a:off x="32658" y="1320339"/>
            <a:ext cx="12066814" cy="2554545"/>
          </a:xfrm>
          <a:prstGeom prst="rect">
            <a:avLst/>
          </a:prstGeom>
          <a:noFill/>
        </p:spPr>
        <p:txBody>
          <a:bodyPr wrap="square" rtlCol="0">
            <a:spAutoFit/>
          </a:bodyPr>
          <a:lstStyle/>
          <a:p>
            <a:r>
              <a:rPr lang="en-US" sz="2000" b="1" dirty="0" err="1">
                <a:latin typeface="Times New Roman" panose="02020603050405020304" pitchFamily="18" charset="0"/>
                <a:cs typeface="Times New Roman" panose="02020603050405020304" pitchFamily="18" charset="0"/>
              </a:rPr>
              <a:t>Nhiệm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vụ</a:t>
            </a:r>
            <a:r>
              <a:rPr lang="en-US" sz="2000" b="1" dirty="0">
                <a:latin typeface="Times New Roman" panose="02020603050405020304" pitchFamily="18" charset="0"/>
                <a:cs typeface="Times New Roman" panose="02020603050405020304" pitchFamily="18" charset="0"/>
              </a:rPr>
              <a:t> chi </a:t>
            </a:r>
            <a:r>
              <a:rPr lang="en-US" sz="2000" b="1" dirty="0" err="1">
                <a:latin typeface="Times New Roman" panose="02020603050405020304" pitchFamily="18" charset="0"/>
                <a:cs typeface="Times New Roman" panose="02020603050405020304" pitchFamily="18" charset="0"/>
              </a:rPr>
              <a:t>của</a:t>
            </a:r>
            <a:r>
              <a:rPr lang="en-US" sz="2000" b="1" dirty="0">
                <a:latin typeface="Times New Roman" panose="02020603050405020304" pitchFamily="18" charset="0"/>
                <a:cs typeface="Times New Roman" panose="02020603050405020304" pitchFamily="18" charset="0"/>
              </a:rPr>
              <a:t> NS </a:t>
            </a:r>
            <a:r>
              <a:rPr lang="en-US" sz="2000" b="1" dirty="0" err="1">
                <a:latin typeface="Times New Roman" panose="02020603050405020304" pitchFamily="18" charset="0"/>
                <a:cs typeface="Times New Roman" panose="02020603050405020304" pitchFamily="18" charset="0"/>
              </a:rPr>
              <a:t>địa</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phương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tt</a:t>
            </a:r>
            <a:r>
              <a:rPr lang="en-US" sz="2000" b="1" dirty="0">
                <a:latin typeface="Times New Roman" panose="02020603050405020304" pitchFamily="18" charset="0"/>
                <a:cs typeface="Times New Roman" panose="02020603050405020304" pitchFamily="18" charset="0"/>
              </a:rPr>
              <a:t>):</a:t>
            </a:r>
          </a:p>
          <a:p>
            <a:r>
              <a:rPr lang="vi-VN" sz="2000" dirty="0">
                <a:latin typeface="Times New Roman" panose="02020603050405020304" pitchFamily="18" charset="0"/>
                <a:cs typeface="Times New Roman" panose="02020603050405020304" pitchFamily="18" charset="0"/>
              </a:rPr>
              <a:t>2. Ch</a:t>
            </a:r>
            <a:r>
              <a:rPr lang="en-US" sz="2000" dirty="0" err="1">
                <a:latin typeface="Times New Roman" panose="02020603050405020304" pitchFamily="18" charset="0"/>
                <a:cs typeface="Times New Roman" panose="02020603050405020304" pitchFamily="18" charset="0"/>
              </a:rPr>
              <a:t>i</a:t>
            </a:r>
            <a:r>
              <a:rPr lang="vi-VN" sz="2000" dirty="0">
                <a:latin typeface="Times New Roman" panose="02020603050405020304" pitchFamily="18" charset="0"/>
                <a:cs typeface="Times New Roman" panose="02020603050405020304" pitchFamily="18" charset="0"/>
              </a:rPr>
              <a:t> thường xuyên của các cơ quan, đơn vị ở địa phương được phân cấp trực tiếp quản lý trong các lĩnh vực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tt</a:t>
            </a:r>
            <a:r>
              <a:rPr lang="en-US" sz="2000" dirty="0">
                <a:latin typeface="Times New Roman" panose="02020603050405020304" pitchFamily="18" charset="0"/>
                <a:cs typeface="Times New Roman" panose="02020603050405020304" pitchFamily="18" charset="0"/>
              </a:rPr>
              <a:t>):</a:t>
            </a:r>
          </a:p>
          <a:p>
            <a:r>
              <a:rPr lang="vi-VN" sz="2000" dirty="0">
                <a:latin typeface="Times New Roman" panose="02020603050405020304" pitchFamily="18" charset="0"/>
                <a:cs typeface="Times New Roman" panose="02020603050405020304" pitchFamily="18" charset="0"/>
              </a:rPr>
              <a:t>e) Sự nghiệp phát thanh, truyền hình;</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 g) Sự nghiệp thể dục, thể thao, bao gồm bồi dưỡng, huấn luyện huấn luyện viên, vận động viên các đội tuyển cấp tỉnh; các giải thi đấu cấp xã, cấp tỉnh; quản lý các cơ sở thi đấu thể thao và các hoạt động thể dục, thể thao khác;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h) Sự nghiệp bảo vệ môi trường, bao gồm hoạt động điều tra, phòng ngửa và kiểm soát ô nhiễm môi trường; khắc phục sự cố và bảo vệ môi trường; ứng phó với biến đổi khí hậu; bảo đảm nước sạch và vệ sinh môi trường; thu gom, vận chuyển và xử lý rác thải, nước thải sinh hoạt và hoạt động bảo vệ môi trường khác;</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84404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6BB7A-6AB6-3694-2D9B-5F05322F4DE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4EBCFD4-E3A8-A766-EAD2-35CD1010114D}"/>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3.1.2.2. CHI NGÂN SÁCH XÃ</a:t>
            </a:r>
          </a:p>
        </p:txBody>
      </p:sp>
      <p:sp>
        <p:nvSpPr>
          <p:cNvPr id="2" name="TextBox 1">
            <a:extLst>
              <a:ext uri="{FF2B5EF4-FFF2-40B4-BE49-F238E27FC236}">
                <a16:creationId xmlns:a16="http://schemas.microsoft.com/office/drawing/2014/main" id="{99DF34DB-ACC4-D309-9F4D-57292D1BA78A}"/>
              </a:ext>
            </a:extLst>
          </p:cNvPr>
          <p:cNvSpPr txBox="1"/>
          <p:nvPr/>
        </p:nvSpPr>
        <p:spPr>
          <a:xfrm>
            <a:off x="32658" y="1320339"/>
            <a:ext cx="12066814" cy="4401205"/>
          </a:xfrm>
          <a:prstGeom prst="rect">
            <a:avLst/>
          </a:prstGeom>
          <a:noFill/>
        </p:spPr>
        <p:txBody>
          <a:bodyPr wrap="square" rtlCol="0">
            <a:spAutoFit/>
          </a:bodyPr>
          <a:lstStyle/>
          <a:p>
            <a:r>
              <a:rPr lang="en-US" sz="2000" b="1" dirty="0" err="1">
                <a:latin typeface="Times New Roman" panose="02020603050405020304" pitchFamily="18" charset="0"/>
                <a:cs typeface="Times New Roman" panose="02020603050405020304" pitchFamily="18" charset="0"/>
              </a:rPr>
              <a:t>Nhiệm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vụ</a:t>
            </a:r>
            <a:r>
              <a:rPr lang="en-US" sz="2000" b="1" dirty="0">
                <a:latin typeface="Times New Roman" panose="02020603050405020304" pitchFamily="18" charset="0"/>
                <a:cs typeface="Times New Roman" panose="02020603050405020304" pitchFamily="18" charset="0"/>
              </a:rPr>
              <a:t> chi </a:t>
            </a:r>
            <a:r>
              <a:rPr lang="en-US" sz="2000" b="1" dirty="0" err="1">
                <a:latin typeface="Times New Roman" panose="02020603050405020304" pitchFamily="18" charset="0"/>
                <a:cs typeface="Times New Roman" panose="02020603050405020304" pitchFamily="18" charset="0"/>
              </a:rPr>
              <a:t>của</a:t>
            </a:r>
            <a:r>
              <a:rPr lang="en-US" sz="2000" b="1" dirty="0">
                <a:latin typeface="Times New Roman" panose="02020603050405020304" pitchFamily="18" charset="0"/>
                <a:cs typeface="Times New Roman" panose="02020603050405020304" pitchFamily="18" charset="0"/>
              </a:rPr>
              <a:t> NS </a:t>
            </a:r>
            <a:r>
              <a:rPr lang="en-US" sz="2000" b="1" dirty="0" err="1">
                <a:latin typeface="Times New Roman" panose="02020603050405020304" pitchFamily="18" charset="0"/>
                <a:cs typeface="Times New Roman" panose="02020603050405020304" pitchFamily="18" charset="0"/>
              </a:rPr>
              <a:t>địa</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phương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tt</a:t>
            </a:r>
            <a:r>
              <a:rPr lang="en-US" sz="2000" b="1" dirty="0">
                <a:latin typeface="Times New Roman" panose="02020603050405020304" pitchFamily="18" charset="0"/>
                <a:cs typeface="Times New Roman" panose="02020603050405020304" pitchFamily="18" charset="0"/>
              </a:rPr>
              <a:t>):</a:t>
            </a:r>
          </a:p>
          <a:p>
            <a:r>
              <a:rPr lang="vi-VN" sz="2000" dirty="0">
                <a:latin typeface="Times New Roman" panose="02020603050405020304" pitchFamily="18" charset="0"/>
                <a:cs typeface="Times New Roman" panose="02020603050405020304" pitchFamily="18" charset="0"/>
              </a:rPr>
              <a:t>2. Ch</a:t>
            </a:r>
            <a:r>
              <a:rPr lang="en-US" sz="2000" dirty="0" err="1">
                <a:latin typeface="Times New Roman" panose="02020603050405020304" pitchFamily="18" charset="0"/>
                <a:cs typeface="Times New Roman" panose="02020603050405020304" pitchFamily="18" charset="0"/>
              </a:rPr>
              <a:t>i</a:t>
            </a:r>
            <a:r>
              <a:rPr lang="vi-VN" sz="2000" dirty="0">
                <a:latin typeface="Times New Roman" panose="02020603050405020304" pitchFamily="18" charset="0"/>
                <a:cs typeface="Times New Roman" panose="02020603050405020304" pitchFamily="18" charset="0"/>
              </a:rPr>
              <a:t> thường xuyên của các cơ quan, đơn vị ở địa phương được phân cấp trực tiếp quản lý trong các lĩnh vực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tt</a:t>
            </a:r>
            <a:r>
              <a:rPr lang="en-US" sz="2000" dirty="0">
                <a:latin typeface="Times New Roman" panose="02020603050405020304" pitchFamily="18" charset="0"/>
                <a:cs typeface="Times New Roman" panose="02020603050405020304" pitchFamily="18" charset="0"/>
              </a:rPr>
              <a:t>): </a:t>
            </a:r>
          </a:p>
          <a:p>
            <a:r>
              <a:rPr lang="vi-VN" sz="2000" dirty="0">
                <a:latin typeface="Times New Roman" panose="02020603050405020304" pitchFamily="18" charset="0"/>
                <a:cs typeface="Times New Roman" panose="02020603050405020304" pitchFamily="18" charset="0"/>
              </a:rPr>
              <a:t>i) Các hoạt động kinh tế: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Sự nghiệp giao thông, bao gồm hoạt động quản lý, bảo trì, sửa chữa, bảo đảm hoạt động, an toàn giao thông đường bộ, đường thủy nội địa và hoạt động giao thông khác;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Sự nghiệp nông nghiệp, lâm nghiệp, diêm nghiệp, thủy sản, thủy lợi và phát triển nông thôn, bao gồm hoạt động phát triển nông, lâm, diêm nghiệp, thủy sản, thủy lợi; xây dựng nông thôn mới và hoạt động phát triển nông thôn khác;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Sự nghiệp tài nguyên, bao gồm hoạt động điều tra, quản lý đất đai, tài nguyên; đo đạc và bản đồ, đo đạc địa giới hành chính; lập hồ sơ, lưu trữ hồ sơ địa chính và hoạt động quản lý tài nguyên khác;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Quy hoạch; xúc tiến đầu tư, thương mại, du lịch;</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Sự nghiệp kiến thiết thị chính, bao gồm: duy tu, bảo dưỡng hệ thống đèn chiếu sáng, via hè, hệ thống cấp nước, thoát nước, công viên và các hoạt động kiến thiết thị chính khác;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Các hoạt động kinh tế khác, bao gồm cả tìm kiếm cứu nạn, an toàn vệ sinh lao động;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9803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DA309-7DE0-C031-C9DA-B40C402B3FB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AEA64FF-CEA0-1C9D-09BB-50596D7FE8DD}"/>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3.1.2.2. CHI NGÂN SÁCH XÃ</a:t>
            </a:r>
          </a:p>
        </p:txBody>
      </p:sp>
      <p:sp>
        <p:nvSpPr>
          <p:cNvPr id="2" name="TextBox 1">
            <a:extLst>
              <a:ext uri="{FF2B5EF4-FFF2-40B4-BE49-F238E27FC236}">
                <a16:creationId xmlns:a16="http://schemas.microsoft.com/office/drawing/2014/main" id="{59536D2C-8A5F-CE42-85EF-613709B2B028}"/>
              </a:ext>
            </a:extLst>
          </p:cNvPr>
          <p:cNvSpPr txBox="1"/>
          <p:nvPr/>
        </p:nvSpPr>
        <p:spPr>
          <a:xfrm>
            <a:off x="32658" y="1320339"/>
            <a:ext cx="12066814" cy="3785652"/>
          </a:xfrm>
          <a:prstGeom prst="rect">
            <a:avLst/>
          </a:prstGeom>
          <a:noFill/>
        </p:spPr>
        <p:txBody>
          <a:bodyPr wrap="square" rtlCol="0">
            <a:spAutoFit/>
          </a:bodyPr>
          <a:lstStyle/>
          <a:p>
            <a:r>
              <a:rPr lang="en-US" sz="2000" b="1" dirty="0" err="1">
                <a:latin typeface="Times New Roman" panose="02020603050405020304" pitchFamily="18" charset="0"/>
                <a:cs typeface="Times New Roman" panose="02020603050405020304" pitchFamily="18" charset="0"/>
              </a:rPr>
              <a:t>Nhiệm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vụ</a:t>
            </a:r>
            <a:r>
              <a:rPr lang="en-US" sz="2000" b="1" dirty="0">
                <a:latin typeface="Times New Roman" panose="02020603050405020304" pitchFamily="18" charset="0"/>
                <a:cs typeface="Times New Roman" panose="02020603050405020304" pitchFamily="18" charset="0"/>
              </a:rPr>
              <a:t> chi </a:t>
            </a:r>
            <a:r>
              <a:rPr lang="en-US" sz="2000" b="1" dirty="0" err="1">
                <a:latin typeface="Times New Roman" panose="02020603050405020304" pitchFamily="18" charset="0"/>
                <a:cs typeface="Times New Roman" panose="02020603050405020304" pitchFamily="18" charset="0"/>
              </a:rPr>
              <a:t>của</a:t>
            </a:r>
            <a:r>
              <a:rPr lang="en-US" sz="2000" b="1" dirty="0">
                <a:latin typeface="Times New Roman" panose="02020603050405020304" pitchFamily="18" charset="0"/>
                <a:cs typeface="Times New Roman" panose="02020603050405020304" pitchFamily="18" charset="0"/>
              </a:rPr>
              <a:t> NS </a:t>
            </a:r>
            <a:r>
              <a:rPr lang="en-US" sz="2000" b="1" dirty="0" err="1">
                <a:latin typeface="Times New Roman" panose="02020603050405020304" pitchFamily="18" charset="0"/>
                <a:cs typeface="Times New Roman" panose="02020603050405020304" pitchFamily="18" charset="0"/>
              </a:rPr>
              <a:t>địa</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phương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tt</a:t>
            </a:r>
            <a:r>
              <a:rPr lang="en-US" sz="2000" b="1" dirty="0">
                <a:latin typeface="Times New Roman" panose="02020603050405020304" pitchFamily="18" charset="0"/>
                <a:cs typeface="Times New Roman" panose="02020603050405020304" pitchFamily="18" charset="0"/>
              </a:rPr>
              <a:t>):</a:t>
            </a:r>
          </a:p>
          <a:p>
            <a:r>
              <a:rPr lang="vi-VN" sz="2000" dirty="0">
                <a:latin typeface="Times New Roman" panose="02020603050405020304" pitchFamily="18" charset="0"/>
                <a:cs typeface="Times New Roman" panose="02020603050405020304" pitchFamily="18" charset="0"/>
              </a:rPr>
              <a:t>2. Ch</a:t>
            </a:r>
            <a:r>
              <a:rPr lang="en-US" sz="2000" dirty="0" err="1">
                <a:latin typeface="Times New Roman" panose="02020603050405020304" pitchFamily="18" charset="0"/>
                <a:cs typeface="Times New Roman" panose="02020603050405020304" pitchFamily="18" charset="0"/>
              </a:rPr>
              <a:t>i</a:t>
            </a:r>
            <a:r>
              <a:rPr lang="vi-VN" sz="2000" dirty="0">
                <a:latin typeface="Times New Roman" panose="02020603050405020304" pitchFamily="18" charset="0"/>
                <a:cs typeface="Times New Roman" panose="02020603050405020304" pitchFamily="18" charset="0"/>
              </a:rPr>
              <a:t> thường xuyên của các cơ quan, đơn vị ở địa phương được phân cấp trực tiếp quản lý trong các lĩnh vực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tt</a:t>
            </a:r>
            <a:r>
              <a:rPr lang="en-US" sz="2000" dirty="0">
                <a:latin typeface="Times New Roman" panose="02020603050405020304" pitchFamily="18" charset="0"/>
                <a:cs typeface="Times New Roman" panose="02020603050405020304" pitchFamily="18" charset="0"/>
              </a:rPr>
              <a:t>):</a:t>
            </a:r>
          </a:p>
          <a:p>
            <a:r>
              <a:rPr lang="vi-VN" sz="2000" dirty="0">
                <a:latin typeface="Times New Roman" panose="02020603050405020304" pitchFamily="18" charset="0"/>
                <a:cs typeface="Times New Roman" panose="02020603050405020304" pitchFamily="18" charset="0"/>
              </a:rPr>
              <a:t>k) Hoạt động của các cơ quan quản lý nhà nước, tổ chức chính trị, cơ quan Ủy ban Mặt trận Tổ quốc Việt Nam các cấp ở địa phương và các tổ chức chính trị xã hội trực thuộc Cơ quan Mặt trận Tổ quốc Việt Nam các cấp ở địa phương.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Hỗ trợ các tổ chức xã hội thực hiện các nhiệm vụ được Nhà nước giao theo quy định của pháp luật, bao gồm: bảo đảm tiền lương, các chế độ chính sách khác</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và kinh phí hoạt động gắn với số biên chế được cấp có thẩm quyền giao; thực hiện các nhiệm vụ được cơ quan nhà nước có thẩm quyền giao;</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l) </a:t>
            </a:r>
            <a:r>
              <a:rPr lang="vi-VN" sz="2000" dirty="0">
                <a:latin typeface="Times New Roman" panose="02020603050405020304" pitchFamily="18" charset="0"/>
                <a:cs typeface="Times New Roman" panose="02020603050405020304" pitchFamily="18" charset="0"/>
              </a:rPr>
              <a:t>Chi bảo đảm xã hội, bao gôm các cơ sở bảo trợ xã hội, cứu đói, phòng chống các tệ nạn xã hội, kinh phí hỗ trợ tiền đóng bảo hiểm xã hội cho người tham gia bảo hiểm xã hội tự nguyện và các chính sách an sinh xã hội khác; thực hiện các chính sách an sinh xã hội đối với các đối tượng do địa phương bảo đảm theo quy định của pháp luật;</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m) Các khoản chi thường xuyên khác theo quy định của pháp luật, bao gồm chi nộp trả ngân sách cấp trên.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88984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D3240-2E7B-D54E-823C-731FEC3290D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F435E03-EA03-AA16-1B9A-2B76C7FF62B8}"/>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3.1.2.2. CHI NGÂN SÁCH XÃ</a:t>
            </a:r>
          </a:p>
        </p:txBody>
      </p:sp>
      <p:sp>
        <p:nvSpPr>
          <p:cNvPr id="2" name="TextBox 1">
            <a:extLst>
              <a:ext uri="{FF2B5EF4-FFF2-40B4-BE49-F238E27FC236}">
                <a16:creationId xmlns:a16="http://schemas.microsoft.com/office/drawing/2014/main" id="{94ADB5E6-AA2C-D5F0-1281-A375EC2BEDE7}"/>
              </a:ext>
            </a:extLst>
          </p:cNvPr>
          <p:cNvSpPr txBox="1"/>
          <p:nvPr/>
        </p:nvSpPr>
        <p:spPr>
          <a:xfrm>
            <a:off x="32658" y="1320339"/>
            <a:ext cx="12066814" cy="2862322"/>
          </a:xfrm>
          <a:prstGeom prst="rect">
            <a:avLst/>
          </a:prstGeom>
          <a:noFill/>
        </p:spPr>
        <p:txBody>
          <a:bodyPr wrap="square" rtlCol="0">
            <a:spAutoFit/>
          </a:bodyPr>
          <a:lstStyle/>
          <a:p>
            <a:r>
              <a:rPr lang="en-US" sz="2000" b="1" dirty="0" err="1">
                <a:latin typeface="Times New Roman" panose="02020603050405020304" pitchFamily="18" charset="0"/>
                <a:cs typeface="Times New Roman" panose="02020603050405020304" pitchFamily="18" charset="0"/>
              </a:rPr>
              <a:t>Nhiệm</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vụ</a:t>
            </a:r>
            <a:r>
              <a:rPr lang="en-US" sz="2000" b="1" dirty="0">
                <a:latin typeface="Times New Roman" panose="02020603050405020304" pitchFamily="18" charset="0"/>
                <a:cs typeface="Times New Roman" panose="02020603050405020304" pitchFamily="18" charset="0"/>
              </a:rPr>
              <a:t> chi </a:t>
            </a:r>
            <a:r>
              <a:rPr lang="en-US" sz="2000" b="1" dirty="0" err="1">
                <a:latin typeface="Times New Roman" panose="02020603050405020304" pitchFamily="18" charset="0"/>
                <a:cs typeface="Times New Roman" panose="02020603050405020304" pitchFamily="18" charset="0"/>
              </a:rPr>
              <a:t>của</a:t>
            </a:r>
            <a:r>
              <a:rPr lang="en-US" sz="2000" b="1" dirty="0">
                <a:latin typeface="Times New Roman" panose="02020603050405020304" pitchFamily="18" charset="0"/>
                <a:cs typeface="Times New Roman" panose="02020603050405020304" pitchFamily="18" charset="0"/>
              </a:rPr>
              <a:t> NS </a:t>
            </a:r>
            <a:r>
              <a:rPr lang="en-US" sz="2000" b="1" dirty="0" err="1">
                <a:latin typeface="Times New Roman" panose="02020603050405020304" pitchFamily="18" charset="0"/>
                <a:cs typeface="Times New Roman" panose="02020603050405020304" pitchFamily="18" charset="0"/>
              </a:rPr>
              <a:t>địa</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phương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tt</a:t>
            </a:r>
            <a:r>
              <a:rPr lang="en-US" sz="2000" b="1" dirty="0">
                <a:latin typeface="Times New Roman" panose="02020603050405020304" pitchFamily="18" charset="0"/>
                <a:cs typeface="Times New Roman" panose="02020603050405020304" pitchFamily="18" charset="0"/>
              </a:rPr>
              <a:t>):</a:t>
            </a:r>
          </a:p>
          <a:p>
            <a:r>
              <a:rPr lang="vi-VN" sz="2000" dirty="0">
                <a:latin typeface="Times New Roman" panose="02020603050405020304" pitchFamily="18" charset="0"/>
                <a:cs typeface="Times New Roman" panose="02020603050405020304" pitchFamily="18" charset="0"/>
              </a:rPr>
              <a:t>3. Chi trả lãi, phí và chi phí phát sinh khác từ các khoản vay của chính quyền địa phương theo quy định của Luật Ngân sách nhà nước.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4. Chi bổ sung quỹ dự trữ tài chính địa phương.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5. Chi viện trợ theo quy định của Chính phủ.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6. Ch</a:t>
            </a:r>
            <a:r>
              <a:rPr lang="en-US" sz="2000" dirty="0" err="1">
                <a:latin typeface="Times New Roman" panose="02020603050405020304" pitchFamily="18" charset="0"/>
                <a:cs typeface="Times New Roman" panose="02020603050405020304" pitchFamily="18" charset="0"/>
              </a:rPr>
              <a:t>i</a:t>
            </a:r>
            <a:r>
              <a:rPr lang="vi-VN" sz="2000" dirty="0">
                <a:latin typeface="Times New Roman" panose="02020603050405020304" pitchFamily="18" charset="0"/>
                <a:cs typeface="Times New Roman" panose="02020603050405020304" pitchFamily="18" charset="0"/>
              </a:rPr>
              <a:t> cho vay theo quy định của Chính phủ.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7. Ch</a:t>
            </a:r>
            <a:r>
              <a:rPr lang="en-US" sz="2000" dirty="0" err="1">
                <a:latin typeface="Times New Roman" panose="02020603050405020304" pitchFamily="18" charset="0"/>
                <a:cs typeface="Times New Roman" panose="02020603050405020304" pitchFamily="18" charset="0"/>
              </a:rPr>
              <a:t>i</a:t>
            </a:r>
            <a:r>
              <a:rPr lang="vi-VN" sz="2000" dirty="0">
                <a:latin typeface="Times New Roman" panose="02020603050405020304" pitchFamily="18" charset="0"/>
                <a:cs typeface="Times New Roman" panose="02020603050405020304" pitchFamily="18" charset="0"/>
              </a:rPr>
              <a:t> chuyển nguồn sang năm sau của ngân sách địa phương.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8. C</a:t>
            </a:r>
            <a:r>
              <a:rPr lang="en-US" sz="2000" dirty="0">
                <a:latin typeface="Times New Roman" panose="02020603050405020304" pitchFamily="18" charset="0"/>
                <a:cs typeface="Times New Roman" panose="02020603050405020304" pitchFamily="18" charset="0"/>
              </a:rPr>
              <a:t>hi</a:t>
            </a:r>
            <a:r>
              <a:rPr lang="vi-VN" sz="2000" dirty="0">
                <a:latin typeface="Times New Roman" panose="02020603050405020304" pitchFamily="18" charset="0"/>
                <a:cs typeface="Times New Roman" panose="02020603050405020304" pitchFamily="18" charset="0"/>
              </a:rPr>
              <a:t> bổ sung cân đối ngân sách, bổ sung có mục tiêu cho ngân sách cấp xã. </a:t>
            </a:r>
            <a:endParaRPr lang="en-US"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9. Chi hỗ trợ thực hiện một số nhiệm vụ quy định tại các điểm a, b và c khoản 5 Điều 9 của Luật </a:t>
            </a:r>
            <a:r>
              <a:rPr lang="en-US" sz="2000" dirty="0">
                <a:latin typeface="Times New Roman" panose="02020603050405020304" pitchFamily="18" charset="0"/>
                <a:cs typeface="Times New Roman" panose="02020603050405020304" pitchFamily="18" charset="0"/>
              </a:rPr>
              <a:t>NSNN.</a:t>
            </a:r>
          </a:p>
        </p:txBody>
      </p:sp>
    </p:spTree>
    <p:extLst>
      <p:ext uri="{BB962C8B-B14F-4D97-AF65-F5344CB8AC3E}">
        <p14:creationId xmlns:p14="http://schemas.microsoft.com/office/powerpoint/2010/main" val="40844832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61C68-289C-0AA9-1D14-7C31032BD2B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010DCC4-82A9-08FE-2BF8-951F997674AE}"/>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3.2. KHÁI NIỆM, NGUYÊN TẮC QUẢN LÝ NGÂN SÁCH XÃ</a:t>
            </a:r>
          </a:p>
        </p:txBody>
      </p:sp>
      <p:sp>
        <p:nvSpPr>
          <p:cNvPr id="2" name="Rectangle: Rounded Corners 1">
            <a:extLst>
              <a:ext uri="{FF2B5EF4-FFF2-40B4-BE49-F238E27FC236}">
                <a16:creationId xmlns:a16="http://schemas.microsoft.com/office/drawing/2014/main" id="{D7B1EACB-7DC0-A3D0-0631-0E3AB0A8AA84}"/>
              </a:ext>
            </a:extLst>
          </p:cNvPr>
          <p:cNvSpPr/>
          <p:nvPr/>
        </p:nvSpPr>
        <p:spPr>
          <a:xfrm>
            <a:off x="1983409" y="1664461"/>
            <a:ext cx="3182124" cy="44037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a:solidFill>
                  <a:schemeClr val="tx1"/>
                </a:solidFill>
                <a:latin typeface="Times New Roman" panose="02020603050405020304" pitchFamily="18" charset="0"/>
                <a:cs typeface="Times New Roman" panose="02020603050405020304" pitchFamily="18" charset="0"/>
              </a:rPr>
              <a:t>KHÁI NIỆM</a:t>
            </a:r>
          </a:p>
        </p:txBody>
      </p:sp>
      <p:sp>
        <p:nvSpPr>
          <p:cNvPr id="3" name="Rectangle: Rounded Corners 2">
            <a:extLst>
              <a:ext uri="{FF2B5EF4-FFF2-40B4-BE49-F238E27FC236}">
                <a16:creationId xmlns:a16="http://schemas.microsoft.com/office/drawing/2014/main" id="{690B98FF-25EC-A87F-BD2A-7B599CAE4516}"/>
              </a:ext>
            </a:extLst>
          </p:cNvPr>
          <p:cNvSpPr/>
          <p:nvPr/>
        </p:nvSpPr>
        <p:spPr>
          <a:xfrm>
            <a:off x="6378769" y="1645411"/>
            <a:ext cx="3182124" cy="44037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a:solidFill>
                  <a:schemeClr val="tx1"/>
                </a:solidFill>
                <a:latin typeface="Times New Roman" panose="02020603050405020304" pitchFamily="18" charset="0"/>
                <a:cs typeface="Times New Roman" panose="02020603050405020304" pitchFamily="18" charset="0"/>
              </a:rPr>
              <a:t>NGUYÊN TẮC</a:t>
            </a:r>
          </a:p>
        </p:txBody>
      </p:sp>
    </p:spTree>
    <p:extLst>
      <p:ext uri="{BB962C8B-B14F-4D97-AF65-F5344CB8AC3E}">
        <p14:creationId xmlns:p14="http://schemas.microsoft.com/office/powerpoint/2010/main" val="20734807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D94D2-3807-E329-3B67-81FBD2EA931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5AFC0DD-04B1-3DA2-5405-F2EB2A8BA649}"/>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3.2.1 KHÁI NIỆM QUẢN LÝ NGÂN SÁCH XÃ</a:t>
            </a:r>
          </a:p>
        </p:txBody>
      </p:sp>
      <p:sp>
        <p:nvSpPr>
          <p:cNvPr id="6" name="TextBox 5">
            <a:extLst>
              <a:ext uri="{FF2B5EF4-FFF2-40B4-BE49-F238E27FC236}">
                <a16:creationId xmlns:a16="http://schemas.microsoft.com/office/drawing/2014/main" id="{CBBCF61B-30FB-04BF-25BA-E5C7CAB54FD0}"/>
              </a:ext>
            </a:extLst>
          </p:cNvPr>
          <p:cNvSpPr txBox="1"/>
          <p:nvPr/>
        </p:nvSpPr>
        <p:spPr>
          <a:xfrm>
            <a:off x="881974" y="1661058"/>
            <a:ext cx="10428050" cy="1815882"/>
          </a:xfrm>
          <a:prstGeom prst="rect">
            <a:avLst/>
          </a:prstGeom>
          <a:noFill/>
        </p:spPr>
        <p:txBody>
          <a:bodyPr wrap="square">
            <a:spAutoFit/>
          </a:bodyPr>
          <a:lstStyle/>
          <a:p>
            <a:pPr algn="just"/>
            <a:r>
              <a:rPr lang="en-US" sz="2800" b="0" i="0" dirty="0">
                <a:solidFill>
                  <a:srgbClr val="000000"/>
                </a:solidFill>
                <a:effectLst/>
                <a:latin typeface="Times New Roman" panose="02020603050405020304" pitchFamily="18" charset="0"/>
              </a:rPr>
              <a:t>Quản </a:t>
            </a:r>
            <a:r>
              <a:rPr lang="en-US" sz="2800" b="0" i="0" dirty="0" err="1">
                <a:solidFill>
                  <a:srgbClr val="000000"/>
                </a:solidFill>
                <a:effectLst/>
                <a:latin typeface="Times New Roman" panose="02020603050405020304" pitchFamily="18" charset="0"/>
              </a:rPr>
              <a:t>lý</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ngân</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sách</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xã</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là</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hoạt</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động</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của</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các</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chủ</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thể</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quản</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lý</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thông</a:t>
            </a:r>
            <a:r>
              <a:rPr lang="en-US" sz="2800" b="0" i="0" dirty="0">
                <a:solidFill>
                  <a:srgbClr val="000000"/>
                </a:solidFill>
                <a:effectLst/>
                <a:latin typeface="Times New Roman" panose="02020603050405020304" pitchFamily="18" charset="0"/>
              </a:rPr>
              <a:t> qua </a:t>
            </a:r>
            <a:r>
              <a:rPr lang="en-US" sz="2800" b="0" i="0" dirty="0" err="1">
                <a:solidFill>
                  <a:srgbClr val="000000"/>
                </a:solidFill>
                <a:effectLst/>
                <a:latin typeface="Times New Roman" panose="02020603050405020304" pitchFamily="18" charset="0"/>
              </a:rPr>
              <a:t>việc</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sử</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dụng</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các</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phương</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pháp</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quản</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lý</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và</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các</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công</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cụ</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quản</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lý</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để</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thực</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hiện</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và</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điều</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khiển</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hoạt</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động</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thu</a:t>
            </a:r>
            <a:r>
              <a:rPr lang="en-US" sz="2800" b="0" i="0" dirty="0">
                <a:solidFill>
                  <a:srgbClr val="000000"/>
                </a:solidFill>
                <a:effectLst/>
                <a:latin typeface="Times New Roman" panose="02020603050405020304" pitchFamily="18" charset="0"/>
              </a:rPr>
              <a:t> chi NS </a:t>
            </a:r>
            <a:r>
              <a:rPr lang="en-US" sz="2800" b="0" i="0" dirty="0" err="1">
                <a:solidFill>
                  <a:srgbClr val="000000"/>
                </a:solidFill>
                <a:effectLst/>
                <a:latin typeface="Times New Roman" panose="02020603050405020304" pitchFamily="18" charset="0"/>
              </a:rPr>
              <a:t>xã</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nhằm</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đạt</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được</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các</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mục</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tiêu</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đã</a:t>
            </a:r>
            <a:r>
              <a:rPr lang="en-US" sz="2800" b="0" i="0" dirty="0">
                <a:solidFill>
                  <a:srgbClr val="000000"/>
                </a:solidFill>
                <a:effectLst/>
                <a:latin typeface="Times New Roman" panose="02020603050405020304" pitchFamily="18" charset="0"/>
              </a:rPr>
              <a:t> </a:t>
            </a:r>
            <a:r>
              <a:rPr lang="en-US" sz="2800" b="0" i="0" dirty="0" err="1">
                <a:solidFill>
                  <a:srgbClr val="000000"/>
                </a:solidFill>
                <a:effectLst/>
                <a:latin typeface="Times New Roman" panose="02020603050405020304" pitchFamily="18" charset="0"/>
              </a:rPr>
              <a:t>định</a:t>
            </a:r>
            <a:endParaRPr lang="en-US" sz="2800" b="0" i="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36679821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028A9-C97A-0773-5835-115430014E5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7967911-D67F-8D24-CDD0-D312DDC60CA9}"/>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3.2.2. NGUYÊN TẮC QUẢN LÝ NGÂN SÁCH XÃ</a:t>
            </a:r>
          </a:p>
        </p:txBody>
      </p:sp>
      <p:sp>
        <p:nvSpPr>
          <p:cNvPr id="2" name="TextBox 1">
            <a:extLst>
              <a:ext uri="{FF2B5EF4-FFF2-40B4-BE49-F238E27FC236}">
                <a16:creationId xmlns:a16="http://schemas.microsoft.com/office/drawing/2014/main" id="{9C8C1EC4-77A1-1159-02FB-3C32D78F3C64}"/>
              </a:ext>
            </a:extLst>
          </p:cNvPr>
          <p:cNvSpPr txBox="1"/>
          <p:nvPr/>
        </p:nvSpPr>
        <p:spPr>
          <a:xfrm>
            <a:off x="244929" y="1387924"/>
            <a:ext cx="11527971" cy="3785652"/>
          </a:xfrm>
          <a:prstGeom prst="rect">
            <a:avLst/>
          </a:prstGeom>
          <a:noFill/>
        </p:spPr>
        <p:txBody>
          <a:bodyPr wrap="square" rtlCol="0">
            <a:spAutoFit/>
          </a:bodyPr>
          <a:lstStyle/>
          <a:p>
            <a:pPr marL="285750" indent="-285750">
              <a:buFontTx/>
              <a:buChar char="-"/>
            </a:pPr>
            <a:r>
              <a:rPr lang="en-US" sz="2400" dirty="0">
                <a:latin typeface="Times New Roman" panose="02020603050405020304" pitchFamily="18" charset="0"/>
                <a:cs typeface="Times New Roman" panose="02020603050405020304" pitchFamily="18" charset="0"/>
              </a:rPr>
              <a:t>Ngân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thống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gắn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a:t>
            </a:r>
          </a:p>
          <a:p>
            <a:pPr marL="285750" indent="-285750">
              <a:buFontTx/>
              <a:buChar char="-"/>
            </a:pPr>
            <a:r>
              <a:rPr lang="en-US" sz="2400" dirty="0" err="1">
                <a:latin typeface="Times New Roman" panose="02020603050405020304" pitchFamily="18" charset="0"/>
                <a:cs typeface="Times New Roman" panose="02020603050405020304" pitchFamily="18" charset="0"/>
              </a:rPr>
              <a:t>Toàn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a:t>
            </a:r>
          </a:p>
          <a:p>
            <a:pPr marL="285750" indent="-285750">
              <a:buFontTx/>
              <a:buChar char="-"/>
            </a:pPr>
            <a:r>
              <a:rPr lang="en-US" sz="2400" dirty="0">
                <a:latin typeface="Times New Roman" panose="02020603050405020304" pitchFamily="18" charset="0"/>
                <a:cs typeface="Times New Roman" panose="02020603050405020304" pitchFamily="18" charset="0"/>
              </a:rPr>
              <a:t>Các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a:t>
            </a:r>
          </a:p>
          <a:p>
            <a:pPr marL="285750" indent="-285750">
              <a:buFontTx/>
              <a:buChar char="-"/>
            </a:pPr>
            <a:r>
              <a:rPr lang="en-US" sz="2400" dirty="0">
                <a:latin typeface="Times New Roman" panose="02020603050405020304" pitchFamily="18" charset="0"/>
                <a:cs typeface="Times New Roman" panose="02020603050405020304" pitchFamily="18" charset="0"/>
              </a:rPr>
              <a:t>Các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53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chuẩn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mức</a:t>
            </a:r>
            <a:r>
              <a:rPr lang="en-US" sz="2400" dirty="0">
                <a:latin typeface="Times New Roman" panose="02020603050405020304" pitchFamily="18" charset="0"/>
                <a:cs typeface="Times New Roman" panose="02020603050405020304" pitchFamily="18" charset="0"/>
              </a:rPr>
              <a:t> chi do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9117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76FA3-25B8-BFA3-4817-1E6C68E8A9B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7498D81-0D22-5EAA-F7A7-164F508DAE5F}"/>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3.2.2. NGUYÊN TẮC QUẢN LÝ NGÂN SÁCH XÃ</a:t>
            </a:r>
          </a:p>
        </p:txBody>
      </p:sp>
      <p:sp>
        <p:nvSpPr>
          <p:cNvPr id="2" name="TextBox 1">
            <a:extLst>
              <a:ext uri="{FF2B5EF4-FFF2-40B4-BE49-F238E27FC236}">
                <a16:creationId xmlns:a16="http://schemas.microsoft.com/office/drawing/2014/main" id="{E9F39492-52E6-A49C-C419-F52BC27F2336}"/>
              </a:ext>
            </a:extLst>
          </p:cNvPr>
          <p:cNvSpPr txBox="1"/>
          <p:nvPr/>
        </p:nvSpPr>
        <p:spPr>
          <a:xfrm>
            <a:off x="244929" y="1387924"/>
            <a:ext cx="11527971" cy="4154984"/>
          </a:xfrm>
          <a:prstGeom prst="rect">
            <a:avLst/>
          </a:prstGeom>
          <a:noFill/>
        </p:spPr>
        <p:txBody>
          <a:bodyPr wrap="square" rtlCol="0">
            <a:spAutoFit/>
          </a:bodyPr>
          <a:lstStyle/>
          <a:p>
            <a:pPr marL="285750" indent="-285750" algn="just">
              <a:buFontTx/>
              <a:buChar char="-"/>
            </a:pPr>
            <a:r>
              <a:rPr lang="en-US" sz="2400" dirty="0">
                <a:latin typeface="Times New Roman" panose="02020603050405020304" pitchFamily="18" charset="0"/>
                <a:cs typeface="Times New Roman" panose="02020603050405020304" pitchFamily="18" charset="0"/>
              </a:rPr>
              <a:t>Bảo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ưu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trí</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trương</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khoa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chuyển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nghèo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vững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nghiệp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a:t>
            </a:r>
            <a:r>
              <a:rPr lang="en-US" sz="2400" dirty="0">
                <a:latin typeface="Times New Roman" panose="02020603050405020304" pitchFamily="18" charset="0"/>
                <a:cs typeface="Times New Roman" panose="02020603050405020304" pitchFamily="18" charset="0"/>
              </a:rPr>
              <a:t>, y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đẳng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những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trọng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endParaRPr lang="en-US" sz="2400" dirty="0">
              <a:latin typeface="Times New Roman" panose="02020603050405020304" pitchFamily="18" charset="0"/>
              <a:cs typeface="Times New Roman" panose="02020603050405020304" pitchFamily="18" charset="0"/>
            </a:endParaRPr>
          </a:p>
          <a:p>
            <a:pPr marL="285750" indent="-285750" algn="just">
              <a:buFontTx/>
              <a:buChar char="-"/>
            </a:pPr>
            <a:r>
              <a:rPr lang="en-US" sz="2400" dirty="0" err="1">
                <a:latin typeface="Times New Roman" panose="02020603050405020304" pitchFamily="18" charset="0"/>
                <a:cs typeface="Times New Roman" panose="02020603050405020304" pitchFamily="18" charset="0"/>
              </a:rPr>
              <a:t>Bố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hội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phòng</a:t>
            </a:r>
            <a:r>
              <a:rPr lang="en-US" sz="2400" dirty="0">
                <a:latin typeface="Times New Roman" panose="02020603050405020304" pitchFamily="18" charset="0"/>
                <a:cs typeface="Times New Roman" panose="02020603050405020304" pitchFamily="18" charset="0"/>
              </a:rPr>
              <a:t>, an </a:t>
            </a:r>
            <a:r>
              <a:rPr lang="en-US" sz="2400" dirty="0" err="1">
                <a:latin typeface="Times New Roman" panose="02020603050405020304" pitchFamily="18" charset="0"/>
                <a:cs typeface="Times New Roman" panose="02020603050405020304" pitchFamily="18" charset="0"/>
              </a:rPr>
              <a:t>ninh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ngoại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máy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nghĩa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NN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cam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cam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a:t>
            </a:r>
            <a:r>
              <a:rPr lang="en-US" sz="2400" dirty="0">
                <a:latin typeface="Times New Roman" panose="02020603050405020304" pitchFamily="18" charset="0"/>
                <a:cs typeface="Times New Roman" panose="02020603050405020304" pitchFamily="18" charset="0"/>
              </a:rPr>
              <a:t>;</a:t>
            </a:r>
          </a:p>
          <a:p>
            <a:pPr marL="285750" indent="-285750" algn="just">
              <a:buFontTx/>
              <a:buChar char="-"/>
            </a:pPr>
            <a:r>
              <a:rPr lang="en-US" sz="2400" dirty="0">
                <a:latin typeface="Times New Roman" panose="02020603050405020304" pitchFamily="18" charset="0"/>
                <a:cs typeface="Times New Roman" panose="02020603050405020304" pitchFamily="18" charset="0"/>
              </a:rPr>
              <a:t>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Mặt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quốc</a:t>
            </a:r>
            <a:r>
              <a:rPr lang="en-US" sz="2400" dirty="0">
                <a:latin typeface="Times New Roman" panose="02020603050405020304" pitchFamily="18" charset="0"/>
                <a:cs typeface="Times New Roman" panose="02020603050405020304" pitchFamily="18" charset="0"/>
              </a:rPr>
              <a:t> Việt Nam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trị</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hội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Mặt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quốc</a:t>
            </a:r>
            <a:r>
              <a:rPr lang="en-US" sz="2400" dirty="0">
                <a:latin typeface="Times New Roman" panose="02020603050405020304" pitchFamily="18" charset="0"/>
                <a:cs typeface="Times New Roman" panose="02020603050405020304" pitchFamily="18" charset="0"/>
              </a:rPr>
              <a:t> Việt Nam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hỗ</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hội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665117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539E4-A5A0-644B-78D8-19101DA1EC6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79EED80-6670-B94B-7EF2-D15356362C0B}"/>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 CHU TRÌNH NGÂN SÁCH XÃ</a:t>
            </a:r>
          </a:p>
        </p:txBody>
      </p:sp>
      <p:grpSp>
        <p:nvGrpSpPr>
          <p:cNvPr id="3" name="Group 2">
            <a:extLst>
              <a:ext uri="{FF2B5EF4-FFF2-40B4-BE49-F238E27FC236}">
                <a16:creationId xmlns:a16="http://schemas.microsoft.com/office/drawing/2014/main" id="{807C8C9A-9C69-845E-F810-E5184098F313}"/>
              </a:ext>
            </a:extLst>
          </p:cNvPr>
          <p:cNvGrpSpPr>
            <a:grpSpLocks/>
          </p:cNvGrpSpPr>
          <p:nvPr/>
        </p:nvGrpSpPr>
        <p:grpSpPr bwMode="auto">
          <a:xfrm>
            <a:off x="2825577" y="1573427"/>
            <a:ext cx="7479957" cy="4979773"/>
            <a:chOff x="336" y="240"/>
            <a:chExt cx="5184" cy="3696"/>
          </a:xfrm>
        </p:grpSpPr>
        <p:sp>
          <p:nvSpPr>
            <p:cNvPr id="5" name="Oval 3">
              <a:extLst>
                <a:ext uri="{FF2B5EF4-FFF2-40B4-BE49-F238E27FC236}">
                  <a16:creationId xmlns:a16="http://schemas.microsoft.com/office/drawing/2014/main" id="{CA13FE47-F0FA-D972-1309-A963616A7EC4}"/>
                </a:ext>
              </a:extLst>
            </p:cNvPr>
            <p:cNvSpPr>
              <a:spLocks noChangeArrowheads="1"/>
            </p:cNvSpPr>
            <p:nvPr/>
          </p:nvSpPr>
          <p:spPr bwMode="auto">
            <a:xfrm>
              <a:off x="1008" y="576"/>
              <a:ext cx="3552" cy="3360"/>
            </a:xfrm>
            <a:prstGeom prst="ellipse">
              <a:avLst/>
            </a:prstGeom>
            <a:solidFill>
              <a:srgbClr val="CDE9EB"/>
            </a:solidFill>
            <a:ln w="9525">
              <a:solidFill>
                <a:schemeClr val="tx1"/>
              </a:solidFill>
              <a:round/>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6" name="Group 4">
              <a:extLst>
                <a:ext uri="{FF2B5EF4-FFF2-40B4-BE49-F238E27FC236}">
                  <a16:creationId xmlns:a16="http://schemas.microsoft.com/office/drawing/2014/main" id="{3C3524E4-8193-BE85-3783-5C4244837F8C}"/>
                </a:ext>
              </a:extLst>
            </p:cNvPr>
            <p:cNvGrpSpPr>
              <a:grpSpLocks/>
            </p:cNvGrpSpPr>
            <p:nvPr/>
          </p:nvGrpSpPr>
          <p:grpSpPr bwMode="auto">
            <a:xfrm>
              <a:off x="336" y="240"/>
              <a:ext cx="5184" cy="3648"/>
              <a:chOff x="336" y="240"/>
              <a:chExt cx="5184" cy="3648"/>
            </a:xfrm>
          </p:grpSpPr>
          <p:sp>
            <p:nvSpPr>
              <p:cNvPr id="7" name="Oval 5">
                <a:extLst>
                  <a:ext uri="{FF2B5EF4-FFF2-40B4-BE49-F238E27FC236}">
                    <a16:creationId xmlns:a16="http://schemas.microsoft.com/office/drawing/2014/main" id="{4A68FFD2-30C4-CD55-AB78-3C2B9B9F8291}"/>
                  </a:ext>
                </a:extLst>
              </p:cNvPr>
              <p:cNvSpPr>
                <a:spLocks noChangeArrowheads="1"/>
              </p:cNvSpPr>
              <p:nvPr/>
            </p:nvSpPr>
            <p:spPr bwMode="auto">
              <a:xfrm>
                <a:off x="2112" y="1632"/>
                <a:ext cx="1392" cy="1248"/>
              </a:xfrm>
              <a:prstGeom prst="ellipse">
                <a:avLst/>
              </a:prstGeom>
              <a:solidFill>
                <a:srgbClr val="FF99FF"/>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algn="ctr"/>
                <a:r>
                  <a:rPr lang="en-US" altLang="en-US" sz="2400" dirty="0">
                    <a:latin typeface="Times" panose="02020603050405020304" pitchFamily="18" charset="0"/>
                    <a:cs typeface="Times" panose="02020603050405020304" pitchFamily="18" charset="0"/>
                  </a:rPr>
                  <a:t>Chu </a:t>
                </a:r>
                <a:r>
                  <a:rPr lang="en-US" altLang="en-US" sz="2400" dirty="0" err="1">
                    <a:latin typeface="Times" panose="02020603050405020304" pitchFamily="18" charset="0"/>
                    <a:cs typeface="Times" panose="02020603050405020304" pitchFamily="18" charset="0"/>
                  </a:rPr>
                  <a:t>trình</a:t>
                </a:r>
                <a:r>
                  <a:rPr lang="en-US" altLang="en-US" sz="2400" dirty="0">
                    <a:latin typeface="Times" panose="02020603050405020304" pitchFamily="18" charset="0"/>
                    <a:cs typeface="Times" panose="02020603050405020304" pitchFamily="18" charset="0"/>
                  </a:rPr>
                  <a:t> </a:t>
                </a:r>
              </a:p>
              <a:p>
                <a:pPr algn="ctr"/>
                <a:r>
                  <a:rPr lang="en-US" altLang="en-US" sz="2400" dirty="0" err="1">
                    <a:latin typeface="Times" panose="02020603050405020304" pitchFamily="18" charset="0"/>
                    <a:cs typeface="Times" panose="02020603050405020304" pitchFamily="18" charset="0"/>
                  </a:rPr>
                  <a:t>ngân</a:t>
                </a:r>
                <a:r>
                  <a:rPr lang="en-US" altLang="en-US" sz="2400" dirty="0">
                    <a:latin typeface="Times" panose="02020603050405020304" pitchFamily="18" charset="0"/>
                    <a:cs typeface="Times" panose="02020603050405020304" pitchFamily="18" charset="0"/>
                  </a:rPr>
                  <a:t> </a:t>
                </a:r>
                <a:r>
                  <a:rPr lang="en-US" altLang="en-US" sz="2400" dirty="0" err="1">
                    <a:latin typeface="Times" panose="02020603050405020304" pitchFamily="18" charset="0"/>
                    <a:cs typeface="Times" panose="02020603050405020304" pitchFamily="18" charset="0"/>
                  </a:rPr>
                  <a:t>sách</a:t>
                </a:r>
                <a:endParaRPr lang="en-US" altLang="en-US" sz="2400" dirty="0">
                  <a:latin typeface="Times" panose="02020603050405020304" pitchFamily="18" charset="0"/>
                  <a:cs typeface="Times" panose="02020603050405020304" pitchFamily="18" charset="0"/>
                </a:endParaRPr>
              </a:p>
            </p:txBody>
          </p:sp>
          <p:sp>
            <p:nvSpPr>
              <p:cNvPr id="8" name="Oval 6">
                <a:extLst>
                  <a:ext uri="{FF2B5EF4-FFF2-40B4-BE49-F238E27FC236}">
                    <a16:creationId xmlns:a16="http://schemas.microsoft.com/office/drawing/2014/main" id="{6B9A1EF4-3765-E5FD-562F-FC25F1AFA68E}"/>
                  </a:ext>
                </a:extLst>
              </p:cNvPr>
              <p:cNvSpPr>
                <a:spLocks noChangeArrowheads="1"/>
              </p:cNvSpPr>
              <p:nvPr/>
            </p:nvSpPr>
            <p:spPr bwMode="auto">
              <a:xfrm>
                <a:off x="1824" y="240"/>
                <a:ext cx="1872" cy="816"/>
              </a:xfrm>
              <a:prstGeom prst="ellipse">
                <a:avLst/>
              </a:prstGeom>
              <a:solidFill>
                <a:srgbClr val="00CCFF"/>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algn="ctr"/>
                <a:r>
                  <a:rPr lang="en-US" altLang="en-US" sz="2800" dirty="0" err="1">
                    <a:latin typeface="Times" panose="02020603050405020304" pitchFamily="18" charset="0"/>
                    <a:cs typeface="Times" panose="02020603050405020304" pitchFamily="18" charset="0"/>
                  </a:rPr>
                  <a:t>Lập</a:t>
                </a:r>
                <a:r>
                  <a:rPr lang="en-US" altLang="en-US" sz="2800" dirty="0">
                    <a:latin typeface="Times" panose="02020603050405020304" pitchFamily="18" charset="0"/>
                    <a:cs typeface="Times" panose="02020603050405020304" pitchFamily="18" charset="0"/>
                  </a:rPr>
                  <a:t> </a:t>
                </a:r>
                <a:r>
                  <a:rPr lang="en-US" altLang="en-US" sz="2800" dirty="0" err="1">
                    <a:latin typeface="Times" panose="02020603050405020304" pitchFamily="18" charset="0"/>
                    <a:cs typeface="Times" panose="02020603050405020304" pitchFamily="18" charset="0"/>
                  </a:rPr>
                  <a:t>dự</a:t>
                </a:r>
                <a:r>
                  <a:rPr lang="en-US" altLang="en-US" sz="2800" dirty="0">
                    <a:latin typeface="Times" panose="02020603050405020304" pitchFamily="18" charset="0"/>
                    <a:cs typeface="Times" panose="02020603050405020304" pitchFamily="18" charset="0"/>
                  </a:rPr>
                  <a:t> </a:t>
                </a:r>
                <a:r>
                  <a:rPr lang="en-US" altLang="en-US" sz="2800" dirty="0" err="1">
                    <a:latin typeface="Times" panose="02020603050405020304" pitchFamily="18" charset="0"/>
                    <a:cs typeface="Times" panose="02020603050405020304" pitchFamily="18" charset="0"/>
                  </a:rPr>
                  <a:t>toán</a:t>
                </a:r>
                <a:endParaRPr lang="en-US" altLang="en-US" sz="2800" dirty="0">
                  <a:latin typeface="Times" panose="02020603050405020304" pitchFamily="18" charset="0"/>
                  <a:cs typeface="Times" panose="02020603050405020304" pitchFamily="18" charset="0"/>
                </a:endParaRPr>
              </a:p>
            </p:txBody>
          </p:sp>
          <p:sp>
            <p:nvSpPr>
              <p:cNvPr id="9" name="Oval 7">
                <a:extLst>
                  <a:ext uri="{FF2B5EF4-FFF2-40B4-BE49-F238E27FC236}">
                    <a16:creationId xmlns:a16="http://schemas.microsoft.com/office/drawing/2014/main" id="{C1F89D88-86D0-E5DA-8DA3-312A21351AE7}"/>
                  </a:ext>
                </a:extLst>
              </p:cNvPr>
              <p:cNvSpPr>
                <a:spLocks noChangeArrowheads="1"/>
              </p:cNvSpPr>
              <p:nvPr/>
            </p:nvSpPr>
            <p:spPr bwMode="auto">
              <a:xfrm>
                <a:off x="336" y="3072"/>
                <a:ext cx="1872" cy="816"/>
              </a:xfrm>
              <a:prstGeom prst="ellipse">
                <a:avLst/>
              </a:prstGeom>
              <a:solidFill>
                <a:srgbClr val="00CCFF"/>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algn="ctr"/>
                <a:r>
                  <a:rPr lang="en-US" altLang="en-US" sz="2800" dirty="0" err="1">
                    <a:latin typeface="Times" panose="02020603050405020304" pitchFamily="18" charset="0"/>
                    <a:cs typeface="Times" panose="02020603050405020304" pitchFamily="18" charset="0"/>
                  </a:rPr>
                  <a:t>Quyết</a:t>
                </a:r>
                <a:r>
                  <a:rPr lang="en-US" altLang="en-US" sz="2800" dirty="0">
                    <a:latin typeface="Times" panose="02020603050405020304" pitchFamily="18" charset="0"/>
                    <a:cs typeface="Times" panose="02020603050405020304" pitchFamily="18" charset="0"/>
                  </a:rPr>
                  <a:t> </a:t>
                </a:r>
                <a:r>
                  <a:rPr lang="en-US" altLang="en-US" sz="2800" dirty="0" err="1">
                    <a:latin typeface="Times" panose="02020603050405020304" pitchFamily="18" charset="0"/>
                    <a:cs typeface="Times" panose="02020603050405020304" pitchFamily="18" charset="0"/>
                  </a:rPr>
                  <a:t>toán</a:t>
                </a:r>
                <a:endParaRPr lang="en-US" altLang="en-US" sz="2800" dirty="0">
                  <a:latin typeface="Times" panose="02020603050405020304" pitchFamily="18" charset="0"/>
                  <a:cs typeface="Times" panose="02020603050405020304" pitchFamily="18" charset="0"/>
                </a:endParaRPr>
              </a:p>
            </p:txBody>
          </p:sp>
          <p:sp>
            <p:nvSpPr>
              <p:cNvPr id="10" name="Oval 8">
                <a:extLst>
                  <a:ext uri="{FF2B5EF4-FFF2-40B4-BE49-F238E27FC236}">
                    <a16:creationId xmlns:a16="http://schemas.microsoft.com/office/drawing/2014/main" id="{31BB12C5-41D7-9178-53B4-E82E5DBD1C8E}"/>
                  </a:ext>
                </a:extLst>
              </p:cNvPr>
              <p:cNvSpPr>
                <a:spLocks noChangeArrowheads="1"/>
              </p:cNvSpPr>
              <p:nvPr/>
            </p:nvSpPr>
            <p:spPr bwMode="auto">
              <a:xfrm>
                <a:off x="3648" y="2928"/>
                <a:ext cx="1872" cy="816"/>
              </a:xfrm>
              <a:prstGeom prst="ellipse">
                <a:avLst/>
              </a:prstGeom>
              <a:solidFill>
                <a:srgbClr val="00CCFF"/>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algn="ctr"/>
                <a:r>
                  <a:rPr lang="en-US" altLang="en-US" sz="2800" dirty="0" err="1">
                    <a:latin typeface="Times" panose="02020603050405020304" pitchFamily="18" charset="0"/>
                    <a:cs typeface="Times" panose="02020603050405020304" pitchFamily="18" charset="0"/>
                  </a:rPr>
                  <a:t>Chấp</a:t>
                </a:r>
                <a:r>
                  <a:rPr lang="en-US" altLang="en-US" sz="2800" dirty="0">
                    <a:latin typeface="Times" panose="02020603050405020304" pitchFamily="18" charset="0"/>
                    <a:cs typeface="Times" panose="02020603050405020304" pitchFamily="18" charset="0"/>
                  </a:rPr>
                  <a:t> </a:t>
                </a:r>
                <a:r>
                  <a:rPr lang="en-US" altLang="en-US" sz="2800" dirty="0" err="1">
                    <a:latin typeface="Times" panose="02020603050405020304" pitchFamily="18" charset="0"/>
                    <a:cs typeface="Times" panose="02020603050405020304" pitchFamily="18" charset="0"/>
                  </a:rPr>
                  <a:t>hành</a:t>
                </a:r>
                <a:endParaRPr lang="en-US" altLang="en-US" sz="2800" dirty="0">
                  <a:latin typeface="Times" panose="02020603050405020304" pitchFamily="18" charset="0"/>
                  <a:cs typeface="Times" panose="02020603050405020304" pitchFamily="18" charset="0"/>
                </a:endParaRPr>
              </a:p>
            </p:txBody>
          </p:sp>
          <p:sp>
            <p:nvSpPr>
              <p:cNvPr id="11" name="AutoShape 9">
                <a:extLst>
                  <a:ext uri="{FF2B5EF4-FFF2-40B4-BE49-F238E27FC236}">
                    <a16:creationId xmlns:a16="http://schemas.microsoft.com/office/drawing/2014/main" id="{7D4DBE2D-AFC1-2EAD-103C-4DFD7CD79543}"/>
                  </a:ext>
                </a:extLst>
              </p:cNvPr>
              <p:cNvSpPr>
                <a:spLocks noChangeArrowheads="1"/>
              </p:cNvSpPr>
              <p:nvPr/>
            </p:nvSpPr>
            <p:spPr bwMode="auto">
              <a:xfrm>
                <a:off x="2592" y="1104"/>
                <a:ext cx="432" cy="528"/>
              </a:xfrm>
              <a:prstGeom prst="upDownArrow">
                <a:avLst>
                  <a:gd name="adj1" fmla="val 50000"/>
                  <a:gd name="adj2" fmla="val 24444"/>
                </a:avLst>
              </a:prstGeom>
              <a:solidFill>
                <a:schemeClr val="accent1"/>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 name="AutoShape 10">
                <a:extLst>
                  <a:ext uri="{FF2B5EF4-FFF2-40B4-BE49-F238E27FC236}">
                    <a16:creationId xmlns:a16="http://schemas.microsoft.com/office/drawing/2014/main" id="{22992882-381D-17AE-1299-7B1EDF6AF460}"/>
                  </a:ext>
                </a:extLst>
              </p:cNvPr>
              <p:cNvSpPr>
                <a:spLocks noChangeArrowheads="1"/>
              </p:cNvSpPr>
              <p:nvPr/>
            </p:nvSpPr>
            <p:spPr bwMode="auto">
              <a:xfrm rot="2614269">
                <a:off x="1776" y="2592"/>
                <a:ext cx="480" cy="624"/>
              </a:xfrm>
              <a:prstGeom prst="upDownArrow">
                <a:avLst>
                  <a:gd name="adj1" fmla="val 50000"/>
                  <a:gd name="adj2" fmla="val 26000"/>
                </a:avLst>
              </a:prstGeom>
              <a:solidFill>
                <a:schemeClr val="accent1"/>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 name="AutoShape 11">
                <a:extLst>
                  <a:ext uri="{FF2B5EF4-FFF2-40B4-BE49-F238E27FC236}">
                    <a16:creationId xmlns:a16="http://schemas.microsoft.com/office/drawing/2014/main" id="{6C59A7EC-70EE-865F-0E0E-7F414061A84B}"/>
                  </a:ext>
                </a:extLst>
              </p:cNvPr>
              <p:cNvSpPr>
                <a:spLocks noChangeArrowheads="1"/>
              </p:cNvSpPr>
              <p:nvPr/>
            </p:nvSpPr>
            <p:spPr bwMode="auto">
              <a:xfrm rot="-3472965">
                <a:off x="3480" y="2472"/>
                <a:ext cx="480" cy="624"/>
              </a:xfrm>
              <a:prstGeom prst="upDownArrow">
                <a:avLst>
                  <a:gd name="adj1" fmla="val 50000"/>
                  <a:gd name="adj2" fmla="val 26000"/>
                </a:avLst>
              </a:prstGeom>
              <a:solidFill>
                <a:schemeClr val="accent1"/>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spTree>
    <p:extLst>
      <p:ext uri="{BB962C8B-B14F-4D97-AF65-F5344CB8AC3E}">
        <p14:creationId xmlns:p14="http://schemas.microsoft.com/office/powerpoint/2010/main" val="1666400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EEC8E-C5C1-E1E5-8EFE-91A1F060D23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2E64BF1-7F07-BAB7-8B9D-695E4E6B8C12}"/>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graphicFrame>
        <p:nvGraphicFramePr>
          <p:cNvPr id="2" name="Content Placeholder 3">
            <a:extLst>
              <a:ext uri="{FF2B5EF4-FFF2-40B4-BE49-F238E27FC236}">
                <a16:creationId xmlns:a16="http://schemas.microsoft.com/office/drawing/2014/main" id="{9CAC40DA-CB89-8206-72A8-F8F526791952}"/>
              </a:ext>
            </a:extLst>
          </p:cNvPr>
          <p:cNvGraphicFramePr>
            <a:graphicFrameLocks/>
          </p:cNvGraphicFramePr>
          <p:nvPr>
            <p:extLst>
              <p:ext uri="{D42A27DB-BD31-4B8C-83A1-F6EECF244321}">
                <p14:modId xmlns:p14="http://schemas.microsoft.com/office/powerpoint/2010/main" val="3542696688"/>
              </p:ext>
            </p:extLst>
          </p:nvPr>
        </p:nvGraphicFramePr>
        <p:xfrm>
          <a:off x="838200" y="1352062"/>
          <a:ext cx="10515600" cy="52910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9211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graphicEl>
                                              <a:dgm id="{65042512-3D74-45F5-A966-09A6813012C6}"/>
                                            </p:graphicEl>
                                          </p:spTgt>
                                        </p:tgtEl>
                                        <p:attrNameLst>
                                          <p:attrName>style.visibility</p:attrName>
                                        </p:attrNameLst>
                                      </p:cBhvr>
                                      <p:to>
                                        <p:strVal val="visible"/>
                                      </p:to>
                                    </p:set>
                                    <p:anim calcmode="lin" valueType="num">
                                      <p:cBhvr additive="base">
                                        <p:cTn id="7" dur="500" fill="hold"/>
                                        <p:tgtEl>
                                          <p:spTgt spid="2">
                                            <p:graphicEl>
                                              <a:dgm id="{65042512-3D74-45F5-A966-09A6813012C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graphicEl>
                                              <a:dgm id="{65042512-3D74-45F5-A966-09A6813012C6}"/>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graphicEl>
                                              <a:dgm id="{12B6CB8E-47F7-46A3-BF4D-78C107E76838}"/>
                                            </p:graphicEl>
                                          </p:spTgt>
                                        </p:tgtEl>
                                        <p:attrNameLst>
                                          <p:attrName>style.visibility</p:attrName>
                                        </p:attrNameLst>
                                      </p:cBhvr>
                                      <p:to>
                                        <p:strVal val="visible"/>
                                      </p:to>
                                    </p:set>
                                    <p:anim calcmode="lin" valueType="num">
                                      <p:cBhvr additive="base">
                                        <p:cTn id="13" dur="500" fill="hold"/>
                                        <p:tgtEl>
                                          <p:spTgt spid="2">
                                            <p:graphicEl>
                                              <a:dgm id="{12B6CB8E-47F7-46A3-BF4D-78C107E76838}"/>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graphicEl>
                                              <a:dgm id="{12B6CB8E-47F7-46A3-BF4D-78C107E76838}"/>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graphicEl>
                                              <a:dgm id="{A770C11E-DC3C-461E-B0A7-C64E2C233F8D}"/>
                                            </p:graphicEl>
                                          </p:spTgt>
                                        </p:tgtEl>
                                        <p:attrNameLst>
                                          <p:attrName>style.visibility</p:attrName>
                                        </p:attrNameLst>
                                      </p:cBhvr>
                                      <p:to>
                                        <p:strVal val="visible"/>
                                      </p:to>
                                    </p:set>
                                    <p:anim calcmode="lin" valueType="num">
                                      <p:cBhvr additive="base">
                                        <p:cTn id="19" dur="500" fill="hold"/>
                                        <p:tgtEl>
                                          <p:spTgt spid="2">
                                            <p:graphicEl>
                                              <a:dgm id="{A770C11E-DC3C-461E-B0A7-C64E2C233F8D}"/>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graphicEl>
                                              <a:dgm id="{A770C11E-DC3C-461E-B0A7-C64E2C233F8D}"/>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graphicEl>
                                              <a:dgm id="{5B2031C5-30FE-4815-87D9-174DECC64C21}"/>
                                            </p:graphicEl>
                                          </p:spTgt>
                                        </p:tgtEl>
                                        <p:attrNameLst>
                                          <p:attrName>style.visibility</p:attrName>
                                        </p:attrNameLst>
                                      </p:cBhvr>
                                      <p:to>
                                        <p:strVal val="visible"/>
                                      </p:to>
                                    </p:set>
                                    <p:anim calcmode="lin" valueType="num">
                                      <p:cBhvr additive="base">
                                        <p:cTn id="25" dur="500" fill="hold"/>
                                        <p:tgtEl>
                                          <p:spTgt spid="2">
                                            <p:graphicEl>
                                              <a:dgm id="{5B2031C5-30FE-4815-87D9-174DECC64C21}"/>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graphicEl>
                                              <a:dgm id="{5B2031C5-30FE-4815-87D9-174DECC64C21}"/>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graphicEl>
                                              <a:dgm id="{BD0F7E4C-229A-471E-BF54-0C9877728746}"/>
                                            </p:graphicEl>
                                          </p:spTgt>
                                        </p:tgtEl>
                                        <p:attrNameLst>
                                          <p:attrName>style.visibility</p:attrName>
                                        </p:attrNameLst>
                                      </p:cBhvr>
                                      <p:to>
                                        <p:strVal val="visible"/>
                                      </p:to>
                                    </p:set>
                                    <p:anim calcmode="lin" valueType="num">
                                      <p:cBhvr additive="base">
                                        <p:cTn id="31" dur="500" fill="hold"/>
                                        <p:tgtEl>
                                          <p:spTgt spid="2">
                                            <p:graphicEl>
                                              <a:dgm id="{BD0F7E4C-229A-471E-BF54-0C9877728746}"/>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graphicEl>
                                              <a:dgm id="{BD0F7E4C-229A-471E-BF54-0C9877728746}"/>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graphicEl>
                                              <a:dgm id="{963CC4D4-8832-42C7-B542-BDC447BC3BB1}"/>
                                            </p:graphicEl>
                                          </p:spTgt>
                                        </p:tgtEl>
                                        <p:attrNameLst>
                                          <p:attrName>style.visibility</p:attrName>
                                        </p:attrNameLst>
                                      </p:cBhvr>
                                      <p:to>
                                        <p:strVal val="visible"/>
                                      </p:to>
                                    </p:set>
                                    <p:anim calcmode="lin" valueType="num">
                                      <p:cBhvr additive="base">
                                        <p:cTn id="37" dur="500" fill="hold"/>
                                        <p:tgtEl>
                                          <p:spTgt spid="2">
                                            <p:graphicEl>
                                              <a:dgm id="{963CC4D4-8832-42C7-B542-BDC447BC3BB1}"/>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graphicEl>
                                              <a:dgm id="{963CC4D4-8832-42C7-B542-BDC447BC3BB1}"/>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graphicEl>
                                              <a:dgm id="{BB2D3384-1450-4001-9A1E-40675559BA1F}"/>
                                            </p:graphicEl>
                                          </p:spTgt>
                                        </p:tgtEl>
                                        <p:attrNameLst>
                                          <p:attrName>style.visibility</p:attrName>
                                        </p:attrNameLst>
                                      </p:cBhvr>
                                      <p:to>
                                        <p:strVal val="visible"/>
                                      </p:to>
                                    </p:set>
                                    <p:anim calcmode="lin" valueType="num">
                                      <p:cBhvr additive="base">
                                        <p:cTn id="43" dur="500" fill="hold"/>
                                        <p:tgtEl>
                                          <p:spTgt spid="2">
                                            <p:graphicEl>
                                              <a:dgm id="{BB2D3384-1450-4001-9A1E-40675559BA1F}"/>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graphicEl>
                                              <a:dgm id="{BB2D3384-1450-4001-9A1E-40675559BA1F}"/>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graphicEl>
                                              <a:dgm id="{9FE2C92F-76AE-4781-B0FE-1C7FA378A75B}"/>
                                            </p:graphicEl>
                                          </p:spTgt>
                                        </p:tgtEl>
                                        <p:attrNameLst>
                                          <p:attrName>style.visibility</p:attrName>
                                        </p:attrNameLst>
                                      </p:cBhvr>
                                      <p:to>
                                        <p:strVal val="visible"/>
                                      </p:to>
                                    </p:set>
                                    <p:anim calcmode="lin" valueType="num">
                                      <p:cBhvr additive="base">
                                        <p:cTn id="49" dur="500" fill="hold"/>
                                        <p:tgtEl>
                                          <p:spTgt spid="2">
                                            <p:graphicEl>
                                              <a:dgm id="{9FE2C92F-76AE-4781-B0FE-1C7FA378A75B}"/>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graphicEl>
                                              <a:dgm id="{9FE2C92F-76AE-4781-B0FE-1C7FA378A75B}"/>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709AB-617B-8480-358A-6F12B68F9D66}"/>
            </a:ext>
          </a:extLst>
        </p:cNvPr>
        <p:cNvGrpSpPr/>
        <p:nvPr/>
      </p:nvGrpSpPr>
      <p:grpSpPr>
        <a:xfrm>
          <a:off x="0" y="0"/>
          <a:ext cx="0" cy="0"/>
          <a:chOff x="0" y="0"/>
          <a:chExt cx="0" cy="0"/>
        </a:xfrm>
      </p:grpSpPr>
      <p:pic>
        <p:nvPicPr>
          <p:cNvPr id="82946" name="Picture 2" descr="bckgrnd025a">
            <a:extLst>
              <a:ext uri="{FF2B5EF4-FFF2-40B4-BE49-F238E27FC236}">
                <a16:creationId xmlns:a16="http://schemas.microsoft.com/office/drawing/2014/main" id="{26E8BABA-4647-0E7A-24F1-1B13225CE4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989" y="0"/>
            <a:ext cx="11656541"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7" name="Text Box 3">
            <a:extLst>
              <a:ext uri="{FF2B5EF4-FFF2-40B4-BE49-F238E27FC236}">
                <a16:creationId xmlns:a16="http://schemas.microsoft.com/office/drawing/2014/main" id="{BDC9D848-2793-E775-86B8-A90D2E4AB6E8}"/>
              </a:ext>
            </a:extLst>
          </p:cNvPr>
          <p:cNvSpPr txBox="1">
            <a:spLocks noChangeArrowheads="1"/>
          </p:cNvSpPr>
          <p:nvPr/>
        </p:nvSpPr>
        <p:spPr bwMode="auto">
          <a:xfrm>
            <a:off x="1227438" y="3429000"/>
            <a:ext cx="10066638"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defRPr/>
            </a:pPr>
            <a:r>
              <a:rPr lang="vi-VN" altLang="en-US" sz="4400" b="1" dirty="0">
                <a:solidFill>
                  <a:srgbClr val="D60093"/>
                </a:solidFill>
                <a:latin typeface="Times New Roman" panose="02020603050405020304" pitchFamily="18" charset="0"/>
                <a:cs typeface="Times New Roman" panose="02020603050405020304" pitchFamily="18" charset="0"/>
              </a:rPr>
              <a:t>Thảo luận nhóm</a:t>
            </a:r>
          </a:p>
          <a:p>
            <a:pPr algn="ctr" eaLnBrk="1" hangingPunct="1">
              <a:spcBef>
                <a:spcPct val="50000"/>
              </a:spcBef>
              <a:buFontTx/>
              <a:buNone/>
              <a:defRPr/>
            </a:pPr>
            <a:r>
              <a:rPr lang="vi-VN" altLang="en-US" sz="4000" dirty="0">
                <a:solidFill>
                  <a:srgbClr val="6600FF"/>
                </a:solidFill>
                <a:latin typeface="+mj-lt"/>
                <a:cs typeface="Times New Roman" panose="02020603050405020304" pitchFamily="18" charset="0"/>
              </a:rPr>
              <a:t>Khi lập dự toán thu NSX UBND xã phải dựa vào những căn cứ nào?</a:t>
            </a:r>
            <a:endParaRPr lang="en-US" altLang="en-US" sz="4000" dirty="0">
              <a:solidFill>
                <a:srgbClr val="FF0066"/>
              </a:solidFill>
              <a:latin typeface="+mj-lt"/>
              <a:cs typeface="Times New Roman" panose="02020603050405020304" pitchFamily="18" charset="0"/>
            </a:endParaRPr>
          </a:p>
        </p:txBody>
      </p:sp>
    </p:spTree>
    <p:extLst>
      <p:ext uri="{BB962C8B-B14F-4D97-AF65-F5344CB8AC3E}">
        <p14:creationId xmlns:p14="http://schemas.microsoft.com/office/powerpoint/2010/main" val="3056349371"/>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25A15-FE41-69D4-590E-0F47A3E7C65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4FF2C3B-B2D5-11FD-1006-2346E487F8EE}"/>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3" name="Content Placeholder 4">
            <a:extLst>
              <a:ext uri="{FF2B5EF4-FFF2-40B4-BE49-F238E27FC236}">
                <a16:creationId xmlns:a16="http://schemas.microsoft.com/office/drawing/2014/main" id="{AA4C5214-8D30-604D-2B0A-8694E5473B1F}"/>
              </a:ext>
            </a:extLst>
          </p:cNvPr>
          <p:cNvSpPr txBox="1">
            <a:spLocks/>
          </p:cNvSpPr>
          <p:nvPr/>
        </p:nvSpPr>
        <p:spPr>
          <a:xfrm>
            <a:off x="187037" y="1205345"/>
            <a:ext cx="11792372" cy="5487449"/>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panose="05000000000000000000" pitchFamily="2" charset="2"/>
              <a:buChar char="Ø"/>
            </a:pPr>
            <a:r>
              <a:rPr lang="en-US" sz="3000" b="1" dirty="0" err="1">
                <a:solidFill>
                  <a:srgbClr val="FF0000"/>
                </a:solidFill>
                <a:latin typeface="Times New Roman" panose="02020603050405020304" pitchFamily="18" charset="0"/>
                <a:cs typeface="Times New Roman" panose="02020603050405020304" pitchFamily="18" charset="0"/>
              </a:rPr>
              <a:t>Căn</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cứ</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lập</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dự</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toán</a:t>
            </a:r>
            <a:r>
              <a:rPr lang="en-US" sz="3000" b="1" dirty="0">
                <a:solidFill>
                  <a:srgbClr val="FF0000"/>
                </a:solidFill>
                <a:latin typeface="Times New Roman" panose="02020603050405020304" pitchFamily="18" charset="0"/>
                <a:cs typeface="Times New Roman" panose="02020603050405020304" pitchFamily="18" charset="0"/>
              </a:rPr>
              <a:t> NS </a:t>
            </a:r>
            <a:r>
              <a:rPr lang="en-US" sz="3000" b="1" dirty="0" err="1">
                <a:solidFill>
                  <a:srgbClr val="FF0000"/>
                </a:solidFill>
                <a:latin typeface="Times New Roman" panose="02020603050405020304" pitchFamily="18" charset="0"/>
                <a:cs typeface="Times New Roman" panose="02020603050405020304" pitchFamily="18" charset="0"/>
              </a:rPr>
              <a:t>xã</a:t>
            </a:r>
            <a:r>
              <a:rPr lang="vi-VN" sz="3000" b="1" i="1" dirty="0">
                <a:solidFill>
                  <a:srgbClr val="FF0000"/>
                </a:solidFill>
                <a:latin typeface="Times New Roman" panose="02020603050405020304" pitchFamily="18" charset="0"/>
                <a:cs typeface="Times New Roman" panose="02020603050405020304" pitchFamily="18" charset="0"/>
              </a:rPr>
              <a:t>	</a:t>
            </a:r>
            <a:endParaRPr lang="en-US" sz="3000" b="1" i="1" dirty="0">
              <a:solidFill>
                <a:srgbClr val="FF0000"/>
              </a:solidFill>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r>
              <a:rPr lang="vi-VN" b="1" i="1" dirty="0">
                <a:solidFill>
                  <a:srgbClr val="FF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 Các nhiệm vụ phát triển KT – XH , đảm bảo QP, ANvà trật tự an toàn XH của xã;</a:t>
            </a:r>
          </a:p>
          <a:p>
            <a:pPr marL="0" indent="0" algn="just">
              <a:lnSpc>
                <a:spcPct val="120000"/>
              </a:lnSpc>
              <a:buFont typeface="Arial" panose="020B0604020202020204" pitchFamily="34" charset="0"/>
              <a:buNone/>
            </a:pPr>
            <a:r>
              <a:rPr lang="en-US" dirty="0">
                <a:solidFill>
                  <a:srgbClr val="000000"/>
                </a:solidFill>
                <a:latin typeface="Times New Roman" panose="02020603050405020304" pitchFamily="18" charset="0"/>
                <a:cs typeface="Times New Roman" panose="02020603050405020304" pitchFamily="18" charset="0"/>
              </a:rPr>
              <a:t>-</a:t>
            </a:r>
            <a:r>
              <a:rPr lang="vi-VN" dirty="0">
                <a:solidFill>
                  <a:srgbClr val="000000"/>
                </a:solidFill>
                <a:latin typeface="Times New Roman" panose="02020603050405020304" pitchFamily="18" charset="0"/>
                <a:cs typeface="Times New Roman" panose="02020603050405020304" pitchFamily="18" charset="0"/>
              </a:rPr>
              <a:t> Chính sách, chế độ thu NSNN, cơ chế phân cấp nguồn thu, nhiệm vụ chi của NSX và tỷ lệ phân chia nguồn thu do HĐND tỉnh quy định;</a:t>
            </a:r>
          </a:p>
          <a:p>
            <a:pPr marL="0" indent="0" algn="just">
              <a:lnSpc>
                <a:spcPct val="120000"/>
              </a:lnSpc>
              <a:buFont typeface="Arial" panose="020B0604020202020204" pitchFamily="34" charset="0"/>
              <a:buNone/>
            </a:pPr>
            <a:r>
              <a:rPr lang="vi-VN" dirty="0">
                <a:solidFill>
                  <a:srgbClr val="000000"/>
                </a:solidFill>
                <a:latin typeface="Times New Roman" panose="02020603050405020304" pitchFamily="18" charset="0"/>
                <a:cs typeface="Times New Roman" panose="02020603050405020304" pitchFamily="18" charset="0"/>
              </a:rPr>
              <a:t>- Chế độ, tiêu chuẩn, định mức chi ngân sách hiện hành như: chế độ tiền lương cán bộ công chức xã, sinh hoạt phí cho cán bộ xã, chi cho hoạt động của các ngành đoàn thể..v.v</a:t>
            </a:r>
          </a:p>
          <a:p>
            <a:pPr marL="0" indent="0" algn="just">
              <a:lnSpc>
                <a:spcPct val="120000"/>
              </a:lnSpc>
              <a:buFont typeface="Arial" panose="020B0604020202020204" pitchFamily="34" charset="0"/>
              <a:buNone/>
            </a:pPr>
            <a:r>
              <a:rPr lang="vi-VN" altLang="en-US" dirty="0">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Tình hình thực hiện dự toán </a:t>
            </a:r>
            <a:r>
              <a:rPr lang="en-US" altLang="en-US" dirty="0">
                <a:latin typeface="Times New Roman" panose="02020603050405020304" pitchFamily="18" charset="0"/>
                <a:cs typeface="Times New Roman" panose="02020603050405020304" pitchFamily="18" charset="0"/>
              </a:rPr>
              <a:t>NSX </a:t>
            </a:r>
            <a:r>
              <a:rPr lang="vi-VN" dirty="0">
                <a:solidFill>
                  <a:srgbClr val="000000"/>
                </a:solidFill>
                <a:latin typeface="Times New Roman" panose="02020603050405020304" pitchFamily="18" charset="0"/>
                <a:cs typeface="Times New Roman" panose="02020603050405020304" pitchFamily="18" charset="0"/>
              </a:rPr>
              <a:t>các tháng đầu năm hiện hành và ước thực hiện các tháng cuối năm</a:t>
            </a:r>
          </a:p>
          <a:p>
            <a:pPr marL="0" indent="0" algn="just">
              <a:lnSpc>
                <a:spcPct val="120000"/>
              </a:lnSpc>
              <a:buFont typeface="Arial" panose="020B0604020202020204" pitchFamily="34" charset="0"/>
              <a:buNone/>
            </a:pPr>
            <a:r>
              <a:rPr lang="vi-VN" dirty="0">
                <a:solidFill>
                  <a:srgbClr val="000000"/>
                </a:solidFill>
                <a:latin typeface="Times New Roman" panose="02020603050405020304" pitchFamily="18" charset="0"/>
                <a:cs typeface="Times New Roman" panose="02020603050405020304" pitchFamily="18" charset="0"/>
              </a:rPr>
              <a:t>- Tình hình thực hiện dự toán các năm trước</a:t>
            </a:r>
          </a:p>
          <a:p>
            <a:pPr marL="0" indent="0" algn="just">
              <a:lnSpc>
                <a:spcPct val="120000"/>
              </a:lnSpc>
              <a:buFont typeface="Arial" panose="020B0604020202020204" pitchFamily="34" charset="0"/>
              <a:buNone/>
            </a:pPr>
            <a:r>
              <a:rPr lang="vi-VN" dirty="0">
                <a:solidFill>
                  <a:srgbClr val="000000"/>
                </a:solidFill>
                <a:latin typeface="Times New Roman" panose="02020603050405020304" pitchFamily="18" charset="0"/>
                <a:cs typeface="Times New Roman" panose="02020603050405020304" pitchFamily="18" charset="0"/>
              </a:rPr>
              <a:t>- Các chỉ tiêu </a:t>
            </a:r>
            <a:r>
              <a:rPr lang="en-US" dirty="0">
                <a:solidFill>
                  <a:srgbClr val="000000"/>
                </a:solidFill>
                <a:latin typeface="Times New Roman" panose="02020603050405020304" pitchFamily="18" charset="0"/>
                <a:cs typeface="Times New Roman" panose="02020603050405020304" pitchFamily="18" charset="0"/>
              </a:rPr>
              <a:t>KT – XH </a:t>
            </a:r>
            <a:r>
              <a:rPr lang="vi-VN" dirty="0">
                <a:solidFill>
                  <a:srgbClr val="000000"/>
                </a:solidFill>
                <a:latin typeface="Times New Roman" panose="02020603050405020304" pitchFamily="18" charset="0"/>
                <a:cs typeface="Times New Roman" panose="02020603050405020304" pitchFamily="18" charset="0"/>
              </a:rPr>
              <a:t>cơ bản của xã</a:t>
            </a:r>
          </a:p>
          <a:p>
            <a:pPr marL="0" indent="0" algn="just">
              <a:lnSpc>
                <a:spcPct val="100000"/>
              </a:lnSpc>
              <a:buFont typeface="Arial" panose="020B0604020202020204" pitchFamily="34" charset="0"/>
              <a:buNone/>
            </a:pPr>
            <a:endParaRPr lang="vi-VN" altLang="en-US"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vi-VN"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717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descr="bckgrnd025a">
            <a:extLst>
              <a:ext uri="{FF2B5EF4-FFF2-40B4-BE49-F238E27FC236}">
                <a16:creationId xmlns:a16="http://schemas.microsoft.com/office/drawing/2014/main" id="{B4FF3F36-8B45-37E7-81B4-808618B1E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989" y="0"/>
            <a:ext cx="11656541"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7" name="Text Box 3">
            <a:extLst>
              <a:ext uri="{FF2B5EF4-FFF2-40B4-BE49-F238E27FC236}">
                <a16:creationId xmlns:a16="http://schemas.microsoft.com/office/drawing/2014/main" id="{3505772F-4481-3714-4D64-512C1394E690}"/>
              </a:ext>
            </a:extLst>
          </p:cNvPr>
          <p:cNvSpPr txBox="1">
            <a:spLocks noChangeArrowheads="1"/>
          </p:cNvSpPr>
          <p:nvPr/>
        </p:nvSpPr>
        <p:spPr bwMode="auto">
          <a:xfrm>
            <a:off x="1227438" y="3429000"/>
            <a:ext cx="10066638"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defRPr/>
            </a:pPr>
            <a:r>
              <a:rPr lang="vi-VN" altLang="en-US" sz="4400" b="1" dirty="0">
                <a:solidFill>
                  <a:srgbClr val="D60093"/>
                </a:solidFill>
                <a:latin typeface="Times New Roman" panose="02020603050405020304" pitchFamily="18" charset="0"/>
                <a:cs typeface="Times New Roman" panose="02020603050405020304" pitchFamily="18" charset="0"/>
              </a:rPr>
              <a:t>Thảo luận nhóm</a:t>
            </a:r>
          </a:p>
          <a:p>
            <a:pPr algn="ctr" eaLnBrk="1" hangingPunct="1">
              <a:spcBef>
                <a:spcPct val="50000"/>
              </a:spcBef>
              <a:buFontTx/>
              <a:buNone/>
              <a:defRPr/>
            </a:pPr>
            <a:r>
              <a:rPr lang="vi-VN" altLang="en-US" sz="4000" dirty="0">
                <a:solidFill>
                  <a:srgbClr val="6600FF"/>
                </a:solidFill>
                <a:latin typeface="+mj-lt"/>
                <a:cs typeface="Times New Roman" panose="02020603050405020304" pitchFamily="18" charset="0"/>
              </a:rPr>
              <a:t>Khi lập dự toán NSX UBND xã phải đáp ứng những yêu cầu cơ bản nào?</a:t>
            </a:r>
            <a:endParaRPr lang="en-US" altLang="en-US" sz="4000" dirty="0">
              <a:solidFill>
                <a:srgbClr val="FF0066"/>
              </a:solidFill>
              <a:latin typeface="+mj-lt"/>
              <a:cs typeface="Times New Roman" panose="02020603050405020304" pitchFamily="18" charset="0"/>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B0D81-F4DF-9EEA-E51C-CBD6B54428E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2133FE6-B97D-4D55-E45A-B35D06295294}"/>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Content Placeholder 4">
            <a:extLst>
              <a:ext uri="{FF2B5EF4-FFF2-40B4-BE49-F238E27FC236}">
                <a16:creationId xmlns:a16="http://schemas.microsoft.com/office/drawing/2014/main" id="{B02EC17A-7BA7-0B2D-4503-E396FFDC030D}"/>
              </a:ext>
            </a:extLst>
          </p:cNvPr>
          <p:cNvSpPr txBox="1">
            <a:spLocks/>
          </p:cNvSpPr>
          <p:nvPr/>
        </p:nvSpPr>
        <p:spPr>
          <a:xfrm>
            <a:off x="0" y="1377887"/>
            <a:ext cx="11662133" cy="5017674"/>
          </a:xfrm>
          <a:prstGeom prst="rect">
            <a:avLst/>
          </a:prstGeom>
        </p:spPr>
        <p:txBody>
          <a:bodyP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panose="05000000000000000000" pitchFamily="2" charset="2"/>
              <a:buChar char="Ø"/>
            </a:pPr>
            <a:r>
              <a:rPr lang="en-US" sz="11200" b="1" dirty="0" err="1">
                <a:solidFill>
                  <a:srgbClr val="FF0000"/>
                </a:solidFill>
                <a:latin typeface="Times New Roman" panose="02020603050405020304" pitchFamily="18" charset="0"/>
                <a:cs typeface="Times New Roman" panose="02020603050405020304" pitchFamily="18" charset="0"/>
              </a:rPr>
              <a:t>Yêu</a:t>
            </a:r>
            <a:r>
              <a:rPr lang="en-US" sz="11200" b="1" dirty="0">
                <a:solidFill>
                  <a:srgbClr val="FF0000"/>
                </a:solidFill>
                <a:latin typeface="Times New Roman" panose="02020603050405020304" pitchFamily="18" charset="0"/>
                <a:cs typeface="Times New Roman" panose="02020603050405020304" pitchFamily="18" charset="0"/>
              </a:rPr>
              <a:t> </a:t>
            </a:r>
            <a:r>
              <a:rPr lang="en-US" sz="11200" b="1" dirty="0" err="1">
                <a:solidFill>
                  <a:srgbClr val="FF0000"/>
                </a:solidFill>
                <a:latin typeface="Times New Roman" panose="02020603050405020304" pitchFamily="18" charset="0"/>
                <a:cs typeface="Times New Roman" panose="02020603050405020304" pitchFamily="18" charset="0"/>
              </a:rPr>
              <a:t>cầu</a:t>
            </a:r>
            <a:r>
              <a:rPr lang="en-US" sz="11200" b="1" dirty="0">
                <a:solidFill>
                  <a:srgbClr val="FF0000"/>
                </a:solidFill>
                <a:latin typeface="Times New Roman" panose="02020603050405020304" pitchFamily="18" charset="0"/>
                <a:cs typeface="Times New Roman" panose="02020603050405020304" pitchFamily="18" charset="0"/>
              </a:rPr>
              <a:t> </a:t>
            </a:r>
            <a:r>
              <a:rPr lang="en-US" sz="11200" b="1" dirty="0" err="1">
                <a:solidFill>
                  <a:srgbClr val="FF0000"/>
                </a:solidFill>
                <a:latin typeface="Times New Roman" panose="02020603050405020304" pitchFamily="18" charset="0"/>
                <a:cs typeface="Times New Roman" panose="02020603050405020304" pitchFamily="18" charset="0"/>
              </a:rPr>
              <a:t>lập</a:t>
            </a:r>
            <a:r>
              <a:rPr lang="en-US" sz="11200" b="1" dirty="0">
                <a:solidFill>
                  <a:srgbClr val="FF0000"/>
                </a:solidFill>
                <a:latin typeface="Times New Roman" panose="02020603050405020304" pitchFamily="18" charset="0"/>
                <a:cs typeface="Times New Roman" panose="02020603050405020304" pitchFamily="18" charset="0"/>
              </a:rPr>
              <a:t> </a:t>
            </a:r>
            <a:r>
              <a:rPr lang="en-US" sz="11200" b="1" dirty="0" err="1">
                <a:solidFill>
                  <a:srgbClr val="FF0000"/>
                </a:solidFill>
                <a:latin typeface="Times New Roman" panose="02020603050405020304" pitchFamily="18" charset="0"/>
                <a:cs typeface="Times New Roman" panose="02020603050405020304" pitchFamily="18" charset="0"/>
              </a:rPr>
              <a:t>dự</a:t>
            </a:r>
            <a:r>
              <a:rPr lang="en-US" sz="11200" b="1" dirty="0">
                <a:solidFill>
                  <a:srgbClr val="FF0000"/>
                </a:solidFill>
                <a:latin typeface="Times New Roman" panose="02020603050405020304" pitchFamily="18" charset="0"/>
                <a:cs typeface="Times New Roman" panose="02020603050405020304" pitchFamily="18" charset="0"/>
              </a:rPr>
              <a:t> </a:t>
            </a:r>
            <a:r>
              <a:rPr lang="en-US" sz="11200" b="1" dirty="0" err="1">
                <a:solidFill>
                  <a:srgbClr val="FF0000"/>
                </a:solidFill>
                <a:latin typeface="Times New Roman" panose="02020603050405020304" pitchFamily="18" charset="0"/>
                <a:cs typeface="Times New Roman" panose="02020603050405020304" pitchFamily="18" charset="0"/>
              </a:rPr>
              <a:t>toán</a:t>
            </a:r>
            <a:r>
              <a:rPr lang="en-US" sz="11200" b="1" dirty="0">
                <a:solidFill>
                  <a:srgbClr val="FF0000"/>
                </a:solidFill>
                <a:latin typeface="Times New Roman" panose="02020603050405020304" pitchFamily="18" charset="0"/>
                <a:cs typeface="Times New Roman" panose="02020603050405020304" pitchFamily="18" charset="0"/>
              </a:rPr>
              <a:t> NS </a:t>
            </a:r>
            <a:r>
              <a:rPr lang="en-US" sz="11200" b="1" dirty="0" err="1">
                <a:solidFill>
                  <a:srgbClr val="FF0000"/>
                </a:solidFill>
                <a:latin typeface="Times New Roman" panose="02020603050405020304" pitchFamily="18" charset="0"/>
                <a:cs typeface="Times New Roman" panose="02020603050405020304" pitchFamily="18" charset="0"/>
              </a:rPr>
              <a:t>xã</a:t>
            </a:r>
            <a:r>
              <a:rPr lang="vi-VN" sz="8600" b="1" i="1" dirty="0">
                <a:solidFill>
                  <a:srgbClr val="FF0000"/>
                </a:solidFill>
                <a:latin typeface="Times New Roman" panose="02020603050405020304" pitchFamily="18" charset="0"/>
                <a:cs typeface="Times New Roman" panose="02020603050405020304" pitchFamily="18" charset="0"/>
              </a:rPr>
              <a:t>	</a:t>
            </a:r>
            <a:r>
              <a:rPr lang="en-US" altLang="en-US" sz="5100" dirty="0">
                <a:latin typeface="Times New Roman" panose="02020603050405020304" pitchFamily="18" charset="0"/>
                <a:cs typeface="Times New Roman" panose="02020603050405020304" pitchFamily="18" charset="0"/>
              </a:rPr>
              <a:t>	</a:t>
            </a:r>
          </a:p>
          <a:p>
            <a:pPr marL="0" indent="0" algn="just">
              <a:lnSpc>
                <a:spcPct val="120000"/>
              </a:lnSpc>
              <a:buFont typeface="Arial" panose="020B0604020202020204" pitchFamily="34" charset="0"/>
              <a:buNone/>
            </a:pPr>
            <a:r>
              <a:rPr lang="vi-VN" altLang="en-US" sz="5100" b="1" i="1" dirty="0">
                <a:solidFill>
                  <a:srgbClr val="FF0000"/>
                </a:solidFill>
                <a:latin typeface="Times New Roman" panose="02020603050405020304" pitchFamily="18" charset="0"/>
                <a:cs typeface="Times New Roman" panose="02020603050405020304" pitchFamily="18" charset="0"/>
              </a:rPr>
              <a:t> </a:t>
            </a:r>
            <a:r>
              <a:rPr lang="en-US" altLang="en-US" sz="5100" b="1" i="1" dirty="0">
                <a:solidFill>
                  <a:srgbClr val="FF0000"/>
                </a:solidFill>
                <a:latin typeface="Times New Roman" panose="02020603050405020304" pitchFamily="18" charset="0"/>
                <a:cs typeface="Times New Roman" panose="02020603050405020304" pitchFamily="18" charset="0"/>
              </a:rPr>
              <a:t>	</a:t>
            </a:r>
            <a:r>
              <a:rPr lang="vi-VN"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Phù</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hợp</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với</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kế</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hoạch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phát</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triển</a:t>
            </a:r>
            <a:r>
              <a:rPr lang="en-US" altLang="en-US" sz="9600" dirty="0">
                <a:latin typeface="Times New Roman" panose="02020603050405020304" pitchFamily="18" charset="0"/>
                <a:cs typeface="Times New Roman" panose="02020603050405020304" pitchFamily="18" charset="0"/>
              </a:rPr>
              <a:t> KT- XH </a:t>
            </a:r>
            <a:r>
              <a:rPr lang="en-US" altLang="en-US" sz="9600" dirty="0" err="1">
                <a:latin typeface="Times New Roman" panose="02020603050405020304" pitchFamily="18" charset="0"/>
                <a:cs typeface="Times New Roman" panose="02020603050405020304" pitchFamily="18" charset="0"/>
              </a:rPr>
              <a:t>của</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xã</a:t>
            </a:r>
            <a:r>
              <a:rPr lang="en-US" altLang="en-US" sz="9600" dirty="0">
                <a:latin typeface="Times New Roman" panose="02020603050405020304" pitchFamily="18" charset="0"/>
                <a:cs typeface="Times New Roman" panose="02020603050405020304" pitchFamily="18" charset="0"/>
              </a:rPr>
              <a:t>;</a:t>
            </a:r>
            <a:endParaRPr lang="vi-VN" altLang="en-US" sz="9600" dirty="0">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r>
              <a:rPr lang="vi-VN" altLang="en-US" sz="9600" dirty="0">
                <a:latin typeface="Times New Roman" panose="02020603050405020304" pitchFamily="18" charset="0"/>
                <a:cs typeface="Times New Roman" panose="02020603050405020304" pitchFamily="18" charset="0"/>
              </a:rPr>
              <a:t>	-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ngân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sách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xã</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phải</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tổng</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hợp</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theo</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từng</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lĩnh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vực</a:t>
            </a:r>
            <a:r>
              <a:rPr lang="en-US" altLang="en-US" sz="9600" dirty="0">
                <a:latin typeface="Times New Roman" panose="02020603050405020304" pitchFamily="18" charset="0"/>
                <a:cs typeface="Times New Roman" panose="02020603050405020304" pitchFamily="18" charset="0"/>
              </a:rPr>
              <a:t> </a:t>
            </a:r>
            <a:r>
              <a:rPr lang="vi-VN" altLang="en-US" sz="9600" dirty="0">
                <a:latin typeface="Times New Roman" panose="02020603050405020304" pitchFamily="18" charset="0"/>
                <a:cs typeface="Times New Roman" panose="02020603050405020304" pitchFamily="18" charset="0"/>
              </a:rPr>
              <a:t>thu, chi NSX</a:t>
            </a:r>
            <a:r>
              <a:rPr lang="en-US" altLang="en-US" sz="9600" dirty="0">
                <a:latin typeface="Times New Roman" panose="02020603050405020304" pitchFamily="18" charset="0"/>
                <a:cs typeface="Times New Roman" panose="02020603050405020304" pitchFamily="18" charset="0"/>
              </a:rPr>
              <a:t>;</a:t>
            </a:r>
          </a:p>
          <a:p>
            <a:pPr marL="0" indent="0" algn="just">
              <a:lnSpc>
                <a:spcPct val="120000"/>
              </a:lnSpc>
              <a:buFont typeface="Arial" panose="020B0604020202020204" pitchFamily="34" charset="0"/>
              <a:buNone/>
            </a:pPr>
            <a:r>
              <a:rPr lang="en-US" altLang="en-US" sz="9600" dirty="0">
                <a:latin typeface="Times New Roman" panose="02020603050405020304" pitchFamily="18" charset="0"/>
                <a:cs typeface="Times New Roman" panose="02020603050405020304" pitchFamily="18" charset="0"/>
              </a:rPr>
              <a:t>	-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en-US" altLang="en-US" sz="9600" dirty="0">
                <a:latin typeface="Times New Roman" panose="02020603050405020304" pitchFamily="18" charset="0"/>
                <a:cs typeface="Times New Roman" panose="02020603050405020304" pitchFamily="18" charset="0"/>
              </a:rPr>
              <a:t> NS </a:t>
            </a:r>
            <a:r>
              <a:rPr lang="en-US" altLang="en-US" sz="9600" dirty="0" err="1">
                <a:latin typeface="Times New Roman" panose="02020603050405020304" pitchFamily="18" charset="0"/>
                <a:cs typeface="Times New Roman" panose="02020603050405020304" pitchFamily="18" charset="0"/>
              </a:rPr>
              <a:t>của</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đơn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vị</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và</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en-US" altLang="en-US" sz="9600" dirty="0">
                <a:latin typeface="Times New Roman" panose="02020603050405020304" pitchFamily="18" charset="0"/>
                <a:cs typeface="Times New Roman" panose="02020603050405020304" pitchFamily="18" charset="0"/>
              </a:rPr>
              <a:t> NS </a:t>
            </a:r>
            <a:r>
              <a:rPr lang="en-US" altLang="en-US" sz="9600" dirty="0" err="1">
                <a:latin typeface="Times New Roman" panose="02020603050405020304" pitchFamily="18" charset="0"/>
                <a:cs typeface="Times New Roman" panose="02020603050405020304" pitchFamily="18" charset="0"/>
              </a:rPr>
              <a:t>xã</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được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lập</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thể</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hiện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đầy</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đủ</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các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khoản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thu</a:t>
            </a:r>
            <a:r>
              <a:rPr lang="en-US" altLang="en-US" sz="9600" dirty="0">
                <a:latin typeface="Times New Roman" panose="02020603050405020304" pitchFamily="18" charset="0"/>
                <a:cs typeface="Times New Roman" panose="02020603050405020304" pitchFamily="18" charset="0"/>
              </a:rPr>
              <a:t>, chi </a:t>
            </a:r>
            <a:r>
              <a:rPr lang="en-US" altLang="en-US" sz="9600" dirty="0" err="1">
                <a:latin typeface="Times New Roman" panose="02020603050405020304" pitchFamily="18" charset="0"/>
                <a:cs typeface="Times New Roman" panose="02020603050405020304" pitchFamily="18" charset="0"/>
              </a:rPr>
              <a:t>theo</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đúng</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biểu</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mẫu</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thời</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hạn</a:t>
            </a:r>
            <a:r>
              <a:rPr lang="en-US" altLang="en-US" sz="9600" dirty="0">
                <a:latin typeface="Times New Roman" panose="02020603050405020304" pitchFamily="18" charset="0"/>
                <a:cs typeface="Times New Roman" panose="02020603050405020304" pitchFamily="18" charset="0"/>
              </a:rPr>
              <a:t> do </a:t>
            </a:r>
            <a:r>
              <a:rPr lang="en-US" altLang="en-US" sz="9600" dirty="0" err="1">
                <a:latin typeface="Times New Roman" panose="02020603050405020304" pitchFamily="18" charset="0"/>
                <a:cs typeface="Times New Roman" panose="02020603050405020304" pitchFamily="18" charset="0"/>
              </a:rPr>
              <a:t>cơ</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quan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nhà</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nước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có</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thẩm</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quyền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quy</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định</a:t>
            </a:r>
            <a:r>
              <a:rPr lang="en-US" altLang="en-US" sz="9600" dirty="0">
                <a:latin typeface="Times New Roman" panose="02020603050405020304" pitchFamily="18" charset="0"/>
                <a:cs typeface="Times New Roman" panose="02020603050405020304" pitchFamily="18" charset="0"/>
              </a:rPr>
              <a:t>;</a:t>
            </a:r>
          </a:p>
          <a:p>
            <a:pPr marL="0" indent="0" algn="just">
              <a:lnSpc>
                <a:spcPct val="120000"/>
              </a:lnSpc>
              <a:buFont typeface="Arial" panose="020B0604020202020204" pitchFamily="34" charset="0"/>
              <a:buNone/>
            </a:pPr>
            <a:r>
              <a:rPr lang="en-US" altLang="en-US" sz="9600" dirty="0">
                <a:latin typeface="Times New Roman" panose="02020603050405020304" pitchFamily="18" charset="0"/>
                <a:cs typeface="Times New Roman" panose="02020603050405020304" pitchFamily="18" charset="0"/>
              </a:rPr>
              <a:t>	</a:t>
            </a:r>
            <a:r>
              <a:rPr lang="vi-VN"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Phải</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đảm</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bảo</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nguyên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tắc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cân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đối</a:t>
            </a:r>
            <a:r>
              <a:rPr lang="vi-VN" altLang="en-US" sz="9600" dirty="0">
                <a:latin typeface="Times New Roman" panose="02020603050405020304" pitchFamily="18" charset="0"/>
                <a:cs typeface="Times New Roman" panose="02020603050405020304" pitchFamily="18" charset="0"/>
              </a:rPr>
              <a:t> </a:t>
            </a:r>
            <a:r>
              <a:rPr lang="en-US" altLang="en-US" sz="9600" dirty="0">
                <a:latin typeface="Times New Roman" panose="02020603050405020304" pitchFamily="18" charset="0"/>
                <a:cs typeface="Times New Roman" panose="02020603050405020304" pitchFamily="18" charset="0"/>
              </a:rPr>
              <a:t> </a:t>
            </a:r>
            <a:r>
              <a:rPr lang="vi-VN" altLang="en-US" sz="9600" dirty="0">
                <a:latin typeface="Times New Roman" panose="02020603050405020304" pitchFamily="18" charset="0"/>
                <a:cs typeface="Times New Roman" panose="02020603050405020304" pitchFamily="18" charset="0"/>
              </a:rPr>
              <a:t>khả năng thu với nhu cầu chi</a:t>
            </a:r>
            <a:r>
              <a:rPr lang="en-US" altLang="en-US" sz="9600" dirty="0">
                <a:latin typeface="Times New Roman" panose="02020603050405020304" pitchFamily="18" charset="0"/>
                <a:cs typeface="Times New Roman" panose="02020603050405020304" pitchFamily="18" charset="0"/>
              </a:rPr>
              <a:t>, chi </a:t>
            </a:r>
            <a:r>
              <a:rPr lang="en-US" altLang="en-US" sz="9600" dirty="0" err="1">
                <a:latin typeface="Times New Roman" panose="02020603050405020304" pitchFamily="18" charset="0"/>
                <a:cs typeface="Times New Roman" panose="02020603050405020304" pitchFamily="18" charset="0"/>
              </a:rPr>
              <a:t>phải</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có</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nguồn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đảm</a:t>
            </a:r>
            <a:r>
              <a:rPr lang="en-US" altLang="en-US" sz="9600" dirty="0">
                <a:latin typeface="Times New Roman" panose="02020603050405020304" pitchFamily="18" charset="0"/>
                <a:cs typeface="Times New Roman" panose="02020603050405020304" pitchFamily="18" charset="0"/>
              </a:rPr>
              <a:t> </a:t>
            </a:r>
            <a:r>
              <a:rPr lang="vi-VN" altLang="en-US" sz="9600" dirty="0">
                <a:latin typeface="Times New Roman" panose="02020603050405020304" pitchFamily="18" charset="0"/>
                <a:cs typeface="Times New Roman" panose="02020603050405020304" pitchFamily="18" charset="0"/>
              </a:rPr>
              <a:t>bảo</a:t>
            </a:r>
            <a:r>
              <a:rPr lang="en-US" altLang="en-US" sz="9600" dirty="0">
                <a:latin typeface="Times New Roman" panose="02020603050405020304" pitchFamily="18" charset="0"/>
                <a:cs typeface="Times New Roman" panose="02020603050405020304" pitchFamily="18" charset="0"/>
              </a:rPr>
              <a:t>;</a:t>
            </a:r>
            <a:endParaRPr lang="vi-VN" altLang="en-US" sz="9600" dirty="0">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r>
              <a:rPr lang="vi-VN" altLang="en-US" sz="9600" dirty="0">
                <a:latin typeface="Times New Roman" panose="02020603050405020304" pitchFamily="18" charset="0"/>
                <a:cs typeface="Times New Roman" panose="02020603050405020304" pitchFamily="18" charset="0"/>
              </a:rPr>
              <a:t>	- </a:t>
            </a:r>
            <a:r>
              <a:rPr lang="en-US" altLang="en-US" sz="9600" dirty="0" err="1">
                <a:latin typeface="Times New Roman" panose="02020603050405020304" pitchFamily="18" charset="0"/>
                <a:cs typeface="Times New Roman" panose="02020603050405020304" pitchFamily="18" charset="0"/>
              </a:rPr>
              <a:t>Bản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vi-VN"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phải</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lập</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kèm</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theo</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bản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thuyết</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minh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chứng</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minh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căn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cứ</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để</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tính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vi-VN" altLang="en-US" sz="9600" dirty="0">
                <a:latin typeface="Times New Roman" panose="02020603050405020304" pitchFamily="18" charset="0"/>
                <a:cs typeface="Times New Roman" panose="02020603050405020304" pitchFamily="18" charset="0"/>
              </a:rPr>
              <a:t> các khoản thu, chi dự kiến</a:t>
            </a:r>
            <a:r>
              <a:rPr lang="en-US" altLang="en-US" sz="9600" dirty="0">
                <a:latin typeface="Times New Roman" panose="02020603050405020304" pitchFamily="18" charset="0"/>
                <a:cs typeface="Times New Roman" panose="02020603050405020304" pitchFamily="18" charset="0"/>
              </a:rPr>
              <a:t>;</a:t>
            </a:r>
            <a:endParaRPr lang="vi-VN" altLang="en-US" sz="9600" dirty="0">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r>
              <a:rPr lang="vi-VN" altLang="en-US" sz="9600" dirty="0">
                <a:latin typeface="Times New Roman" panose="02020603050405020304" pitchFamily="18" charset="0"/>
                <a:cs typeface="Times New Roman" panose="02020603050405020304" pitchFamily="18" charset="0"/>
              </a:rPr>
              <a:t>	 - </a:t>
            </a:r>
            <a:r>
              <a:rPr lang="en-US" altLang="en-US" sz="9600" dirty="0" err="1">
                <a:latin typeface="Times New Roman" panose="02020603050405020304" pitchFamily="18" charset="0"/>
                <a:cs typeface="Times New Roman" panose="02020603050405020304" pitchFamily="18" charset="0"/>
              </a:rPr>
              <a:t>Xác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định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các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biện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pháp</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để</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thực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hiện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được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en-US" altLang="en-US" sz="9600" dirty="0">
                <a:latin typeface="Times New Roman" panose="02020603050405020304" pitchFamily="18" charset="0"/>
                <a:cs typeface="Times New Roman" panose="02020603050405020304" pitchFamily="18" charset="0"/>
              </a:rPr>
              <a:t>;</a:t>
            </a:r>
            <a:endParaRPr lang="vi-VN" altLang="en-US" sz="9600" dirty="0">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r>
              <a:rPr lang="vi-VN" altLang="en-US" sz="6000" dirty="0">
                <a:latin typeface="Times New Roman" panose="02020603050405020304" pitchFamily="18" charset="0"/>
                <a:cs typeface="Times New Roman" panose="02020603050405020304" pitchFamily="18" charset="0"/>
              </a:rPr>
              <a:t>	</a:t>
            </a:r>
            <a:endParaRPr lang="en-US" altLang="en-US" sz="60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r>
              <a:rPr lang="en-US" altLang="en-US" sz="3000" dirty="0">
                <a:latin typeface="Times New Roman" panose="02020603050405020304" pitchFamily="18" charset="0"/>
                <a:cs typeface="Times New Roman" panose="02020603050405020304" pitchFamily="18" charset="0"/>
              </a:rPr>
              <a:t>	</a:t>
            </a:r>
            <a:endParaRPr lang="en-US" sz="3000" b="1"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7043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 calcmode="lin" valueType="num">
                                      <p:cBhvr additive="base">
                                        <p:cTn id="5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823B-D07F-F89E-0D6F-383E57A38EA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C3C5F91-B4D6-AD59-46DE-AC3AD1562E36}"/>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3" name="TextBox 2">
            <a:extLst>
              <a:ext uri="{FF2B5EF4-FFF2-40B4-BE49-F238E27FC236}">
                <a16:creationId xmlns:a16="http://schemas.microsoft.com/office/drawing/2014/main" id="{8EBBB8F9-E5C3-A8D0-4CA8-92D88517A12A}"/>
              </a:ext>
            </a:extLst>
          </p:cNvPr>
          <p:cNvSpPr txBox="1"/>
          <p:nvPr/>
        </p:nvSpPr>
        <p:spPr>
          <a:xfrm>
            <a:off x="0" y="1351508"/>
            <a:ext cx="11720946" cy="4967514"/>
          </a:xfrm>
          <a:prstGeom prst="rect">
            <a:avLst/>
          </a:prstGeom>
          <a:noFill/>
        </p:spPr>
        <p:txBody>
          <a:bodyPr wrap="square">
            <a:spAutoFit/>
          </a:bodyPr>
          <a:lstStyle/>
          <a:p>
            <a:pPr marL="285750" indent="-285750" algn="just">
              <a:lnSpc>
                <a:spcPct val="120000"/>
              </a:lnSpc>
              <a:buFont typeface="Wingdings" panose="05000000000000000000" pitchFamily="2" charset="2"/>
              <a:buChar char="Ø"/>
            </a:pPr>
            <a:r>
              <a:rPr lang="en-US" sz="2800" b="1" dirty="0" err="1">
                <a:solidFill>
                  <a:srgbClr val="FF0000"/>
                </a:solidFill>
                <a:latin typeface="Times New Roman" panose="02020603050405020304" pitchFamily="18" charset="0"/>
                <a:cs typeface="Times New Roman" panose="02020603050405020304" pitchFamily="18" charset="0"/>
              </a:rPr>
              <a:t>Yêu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cầu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lập</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dự</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toán</a:t>
            </a:r>
            <a:r>
              <a:rPr lang="en-US" sz="2800" b="1" dirty="0">
                <a:solidFill>
                  <a:srgbClr val="FF0000"/>
                </a:solidFill>
                <a:latin typeface="Times New Roman" panose="02020603050405020304" pitchFamily="18" charset="0"/>
                <a:cs typeface="Times New Roman" panose="02020603050405020304" pitchFamily="18" charset="0"/>
              </a:rPr>
              <a:t> NS </a:t>
            </a:r>
            <a:r>
              <a:rPr lang="en-US" sz="2800" b="1" dirty="0" err="1">
                <a:solidFill>
                  <a:srgbClr val="FF0000"/>
                </a:solidFill>
                <a:latin typeface="Times New Roman" panose="02020603050405020304" pitchFamily="18" charset="0"/>
                <a:cs typeface="Times New Roman" panose="02020603050405020304" pitchFamily="18" charset="0"/>
              </a:rPr>
              <a:t>xã</a:t>
            </a:r>
            <a:r>
              <a:rPr lang="vi-VN" sz="2800" b="1" i="1" dirty="0">
                <a:solidFill>
                  <a:srgbClr val="FF0000"/>
                </a:solidFill>
                <a:latin typeface="Times New Roman" panose="02020603050405020304" pitchFamily="18" charset="0"/>
                <a:cs typeface="Times New Roman" panose="02020603050405020304" pitchFamily="18" charset="0"/>
              </a:rPr>
              <a:t>	</a:t>
            </a:r>
            <a:r>
              <a:rPr lang="vi-VN" altLang="en-US" sz="2400" b="1" i="1" dirty="0">
                <a:solidFill>
                  <a:srgbClr val="FF0000"/>
                </a:solidFill>
                <a:latin typeface="Times New Roman" panose="02020603050405020304" pitchFamily="18" charset="0"/>
                <a:cs typeface="Times New Roman" panose="02020603050405020304" pitchFamily="18" charset="0"/>
              </a:rPr>
              <a:t> </a:t>
            </a:r>
            <a:endParaRPr lang="en-US" altLang="en-US" sz="2400" b="1" i="1" dirty="0">
              <a:solidFill>
                <a:srgbClr val="FF0000"/>
              </a:solidFill>
              <a:latin typeface="Times New Roman" panose="02020603050405020304" pitchFamily="18" charset="0"/>
              <a:cs typeface="Times New Roman" panose="02020603050405020304" pitchFamily="18" charset="0"/>
            </a:endParaRPr>
          </a:p>
          <a:p>
            <a:pPr algn="just">
              <a:lnSpc>
                <a:spcPct val="120000"/>
              </a:lnSpc>
            </a:pPr>
            <a:r>
              <a:rPr lang="en-US" altLang="en-US" sz="2400" dirty="0">
                <a:latin typeface="Times New Roman" panose="02020603050405020304" pitchFamily="18" charset="0"/>
                <a:cs typeface="Times New Roman" panose="02020603050405020304" pitchFamily="18" charset="0"/>
              </a:rPr>
              <a:t>	-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toán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thu</a:t>
            </a:r>
            <a:r>
              <a:rPr lang="en-US" altLang="en-US" sz="2400" dirty="0">
                <a:latin typeface="Times New Roman" panose="02020603050405020304" pitchFamily="18" charset="0"/>
                <a:cs typeface="Times New Roman" panose="02020603050405020304" pitchFamily="18" charset="0"/>
              </a:rPr>
              <a:t> NS </a:t>
            </a:r>
            <a:r>
              <a:rPr lang="en-US" altLang="en-US" sz="2400" dirty="0" err="1">
                <a:latin typeface="Times New Roman" panose="02020603050405020304" pitchFamily="18" charset="0"/>
                <a:cs typeface="Times New Roman" panose="02020603050405020304" pitchFamily="18" charset="0"/>
              </a:rPr>
              <a:t>xã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lập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cơ</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sở</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chỉ</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tiêu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kinh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vĩ</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mô</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chỉ</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tiêu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khác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liên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quan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định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PL </a:t>
            </a:r>
            <a:r>
              <a:rPr lang="en-US" altLang="en-US" sz="2400" dirty="0" err="1">
                <a:latin typeface="Times New Roman" panose="02020603050405020304" pitchFamily="18" charset="0"/>
                <a:cs typeface="Times New Roman" panose="02020603050405020304" pitchFamily="18" charset="0"/>
              </a:rPr>
              <a:t>về</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thuế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lệ</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khoản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khác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thuộc</a:t>
            </a:r>
            <a:r>
              <a:rPr lang="en-US" altLang="en-US" sz="2400" dirty="0">
                <a:latin typeface="Times New Roman" panose="02020603050405020304" pitchFamily="18" charset="0"/>
                <a:cs typeface="Times New Roman" panose="02020603050405020304" pitchFamily="18" charset="0"/>
              </a:rPr>
              <a:t> NS;	</a:t>
            </a:r>
          </a:p>
          <a:p>
            <a:pPr algn="just">
              <a:lnSpc>
                <a:spcPct val="120000"/>
              </a:lnSpc>
            </a:pPr>
            <a:r>
              <a:rPr lang="en-US" altLang="en-US" sz="2400" dirty="0">
                <a:latin typeface="Times New Roman" panose="02020603050405020304" pitchFamily="18" charset="0"/>
                <a:cs typeface="Times New Roman" panose="02020603050405020304" pitchFamily="18" charset="0"/>
              </a:rPr>
              <a:t>	- </a:t>
            </a:r>
            <a:r>
              <a:rPr lang="vi-VN" altLang="en-US" sz="2400" dirty="0">
                <a:latin typeface="Times New Roman" panose="02020603050405020304" pitchFamily="18" charset="0"/>
                <a:cs typeface="Times New Roman" panose="02020603050405020304" pitchFamily="18" charset="0"/>
              </a:rPr>
              <a:t>Dự toán thu phải sát thực với các hoạt động của xã, đánh giá đúng các thế mạnh, khả năng thu</a:t>
            </a:r>
            <a:r>
              <a:rPr lang="en-US" altLang="en-US" sz="2400" dirty="0">
                <a:latin typeface="Times New Roman" panose="02020603050405020304" pitchFamily="18" charset="0"/>
                <a:cs typeface="Times New Roman" panose="02020603050405020304" pitchFamily="18" charset="0"/>
              </a:rPr>
              <a:t>;</a:t>
            </a:r>
          </a:p>
          <a:p>
            <a:pPr algn="just">
              <a:lnSpc>
                <a:spcPct val="120000"/>
              </a:lnSpc>
            </a:pPr>
            <a:r>
              <a:rPr lang="en-US" altLang="en-US" sz="2400" dirty="0">
                <a:latin typeface="Times New Roman" panose="02020603050405020304" pitchFamily="18" charset="0"/>
                <a:cs typeface="Times New Roman" panose="02020603050405020304" pitchFamily="18" charset="0"/>
              </a:rPr>
              <a:t>	-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toán</a:t>
            </a:r>
            <a:r>
              <a:rPr lang="en-US" altLang="en-US" sz="2400" dirty="0">
                <a:latin typeface="Times New Roman" panose="02020603050405020304" pitchFamily="18" charset="0"/>
                <a:cs typeface="Times New Roman" panose="02020603050405020304" pitchFamily="18" charset="0"/>
              </a:rPr>
              <a:t> chi ĐTPT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lập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cơ</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sở</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chương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trình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nhiệm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vụ</a:t>
            </a:r>
            <a:r>
              <a:rPr lang="en-US" altLang="en-US" sz="2400" dirty="0">
                <a:latin typeface="Times New Roman" panose="02020603050405020304" pitchFamily="18" charset="0"/>
                <a:cs typeface="Times New Roman" panose="02020603050405020304" pitchFamily="18" charset="0"/>
              </a:rPr>
              <a:t> chi </a:t>
            </a:r>
            <a:r>
              <a:rPr lang="en-US" altLang="en-US" sz="2400" dirty="0" err="1">
                <a:latin typeface="Times New Roman" panose="02020603050405020304" pitchFamily="18" charset="0"/>
                <a:cs typeface="Times New Roman" panose="02020603050405020304" pitchFamily="18" charset="0"/>
              </a:rPr>
              <a:t>đã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cấp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thẩm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quyền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phê</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duyệt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theo</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định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PL; </a:t>
            </a:r>
            <a:r>
              <a:rPr lang="en-US" altLang="en-US" sz="2400" dirty="0" err="1">
                <a:latin typeface="Times New Roman" panose="02020603050405020304" pitchFamily="18" charset="0"/>
                <a:cs typeface="Times New Roman" panose="02020603050405020304" pitchFamily="18" charset="0"/>
              </a:rPr>
              <a:t>kế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tài</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chính</a:t>
            </a:r>
            <a:r>
              <a:rPr lang="en-US" altLang="en-US" sz="2400" dirty="0">
                <a:latin typeface="Times New Roman" panose="02020603050405020304" pitchFamily="18" charset="0"/>
                <a:cs typeface="Times New Roman" panose="02020603050405020304" pitchFamily="18" charset="0"/>
              </a:rPr>
              <a:t> 05 </a:t>
            </a:r>
            <a:r>
              <a:rPr lang="en-US" altLang="en-US" sz="2400" dirty="0" err="1">
                <a:latin typeface="Times New Roman" panose="02020603050405020304" pitchFamily="18" charset="0"/>
                <a:cs typeface="Times New Roman" panose="02020603050405020304" pitchFamily="18" charset="0"/>
              </a:rPr>
              <a:t>năm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đầu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tư</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công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trung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nguồn</a:t>
            </a:r>
            <a:r>
              <a:rPr lang="en-US" altLang="en-US" sz="2400" dirty="0">
                <a:latin typeface="Times New Roman" panose="02020603050405020304" pitchFamily="18" charset="0"/>
                <a:cs typeface="Times New Roman" panose="02020603050405020304" pitchFamily="18" charset="0"/>
              </a:rPr>
              <a:t> NSNN, </a:t>
            </a:r>
            <a:r>
              <a:rPr lang="en-US" altLang="en-US" sz="2400" dirty="0" err="1">
                <a:latin typeface="Times New Roman" panose="02020603050405020304" pitchFamily="18" charset="0"/>
                <a:cs typeface="Times New Roman" panose="02020603050405020304" pitchFamily="18" charset="0"/>
              </a:rPr>
              <a:t>khả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năng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cân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đối</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nguồn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trong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năm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toán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định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PL;</a:t>
            </a:r>
            <a:endParaRPr lang="vi-VN" altLang="en-US" sz="2400" dirty="0">
              <a:latin typeface="Times New Roman" panose="02020603050405020304" pitchFamily="18" charset="0"/>
              <a:cs typeface="Times New Roman" panose="02020603050405020304" pitchFamily="18" charset="0"/>
            </a:endParaRPr>
          </a:p>
          <a:p>
            <a:pPr algn="just">
              <a:lnSpc>
                <a:spcPct val="120000"/>
              </a:lnSpc>
            </a:pPr>
            <a:endParaRPr lang="en-US" altLang="en-US" sz="2400"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0101836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16796-89E9-C868-4632-3348DA8BD4D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70C24D3-964F-DB69-0683-37C3B3A3697A}"/>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3" name="TextBox 2">
            <a:extLst>
              <a:ext uri="{FF2B5EF4-FFF2-40B4-BE49-F238E27FC236}">
                <a16:creationId xmlns:a16="http://schemas.microsoft.com/office/drawing/2014/main" id="{943BD8F8-AC7C-B8DA-C81B-938CB421DC6A}"/>
              </a:ext>
            </a:extLst>
          </p:cNvPr>
          <p:cNvSpPr txBox="1"/>
          <p:nvPr/>
        </p:nvSpPr>
        <p:spPr>
          <a:xfrm>
            <a:off x="0" y="1351508"/>
            <a:ext cx="11720946" cy="4967514"/>
          </a:xfrm>
          <a:prstGeom prst="rect">
            <a:avLst/>
          </a:prstGeom>
          <a:noFill/>
        </p:spPr>
        <p:txBody>
          <a:bodyPr wrap="square">
            <a:spAutoFit/>
          </a:bodyPr>
          <a:lstStyle/>
          <a:p>
            <a:pPr marL="285750" indent="-285750" algn="just">
              <a:lnSpc>
                <a:spcPct val="120000"/>
              </a:lnSpc>
              <a:buFont typeface="Wingdings" panose="05000000000000000000" pitchFamily="2" charset="2"/>
              <a:buChar char="Ø"/>
            </a:pPr>
            <a:r>
              <a:rPr lang="en-US" sz="2800" b="1" dirty="0" err="1">
                <a:solidFill>
                  <a:srgbClr val="FF0000"/>
                </a:solidFill>
                <a:latin typeface="Times New Roman" panose="02020603050405020304" pitchFamily="18" charset="0"/>
                <a:cs typeface="Times New Roman" panose="02020603050405020304" pitchFamily="18" charset="0"/>
              </a:rPr>
              <a:t>Yêu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cầu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lập</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dự</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toán</a:t>
            </a:r>
            <a:r>
              <a:rPr lang="en-US" sz="2800" b="1" dirty="0">
                <a:solidFill>
                  <a:srgbClr val="FF0000"/>
                </a:solidFill>
                <a:latin typeface="Times New Roman" panose="02020603050405020304" pitchFamily="18" charset="0"/>
                <a:cs typeface="Times New Roman" panose="02020603050405020304" pitchFamily="18" charset="0"/>
              </a:rPr>
              <a:t> NS </a:t>
            </a:r>
            <a:r>
              <a:rPr lang="en-US" sz="2800" b="1" dirty="0" err="1">
                <a:solidFill>
                  <a:srgbClr val="FF0000"/>
                </a:solidFill>
                <a:latin typeface="Times New Roman" panose="02020603050405020304" pitchFamily="18" charset="0"/>
                <a:cs typeface="Times New Roman" panose="02020603050405020304" pitchFamily="18" charset="0"/>
              </a:rPr>
              <a:t>xã</a:t>
            </a:r>
            <a:r>
              <a:rPr lang="vi-VN" sz="2800" b="1" i="1" dirty="0">
                <a:solidFill>
                  <a:srgbClr val="FF0000"/>
                </a:solidFill>
                <a:latin typeface="Times New Roman" panose="02020603050405020304" pitchFamily="18" charset="0"/>
                <a:cs typeface="Times New Roman" panose="02020603050405020304" pitchFamily="18" charset="0"/>
              </a:rPr>
              <a:t>	</a:t>
            </a:r>
            <a:r>
              <a:rPr lang="vi-VN" altLang="en-US" sz="2400" b="1" i="1" dirty="0">
                <a:solidFill>
                  <a:srgbClr val="FF0000"/>
                </a:solidFill>
                <a:latin typeface="Times New Roman" panose="02020603050405020304" pitchFamily="18" charset="0"/>
                <a:cs typeface="Times New Roman" panose="02020603050405020304" pitchFamily="18" charset="0"/>
              </a:rPr>
              <a:t> </a:t>
            </a:r>
            <a:endParaRPr lang="en-US" altLang="en-US" sz="2400" b="1" i="1" dirty="0">
              <a:solidFill>
                <a:srgbClr val="FF0000"/>
              </a:solidFill>
              <a:latin typeface="Times New Roman" panose="02020603050405020304" pitchFamily="18" charset="0"/>
              <a:cs typeface="Times New Roman" panose="02020603050405020304" pitchFamily="18" charset="0"/>
            </a:endParaRPr>
          </a:p>
          <a:p>
            <a:pPr algn="just">
              <a:lnSpc>
                <a:spcPct val="120000"/>
              </a:lnSpc>
            </a:pPr>
            <a:r>
              <a:rPr lang="en-US" altLang="en-US" sz="2400" dirty="0">
                <a:latin typeface="Times New Roman" panose="02020603050405020304" pitchFamily="18" charset="0"/>
                <a:cs typeface="Times New Roman" panose="02020603050405020304" pitchFamily="18" charset="0"/>
              </a:rPr>
              <a:t>	-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toán</a:t>
            </a:r>
            <a:r>
              <a:rPr lang="en-US" altLang="en-US" sz="2400" dirty="0">
                <a:latin typeface="Times New Roman" panose="02020603050405020304" pitchFamily="18" charset="0"/>
                <a:cs typeface="Times New Roman" panose="02020603050405020304" pitchFamily="18" charset="0"/>
              </a:rPr>
              <a:t> c</a:t>
            </a:r>
            <a:r>
              <a:rPr lang="vi-VN" altLang="en-US" sz="2400" dirty="0">
                <a:latin typeface="Times New Roman" panose="02020603050405020304" pitchFamily="18" charset="0"/>
                <a:cs typeface="Times New Roman" panose="02020603050405020304" pitchFamily="18" charset="0"/>
              </a:rPr>
              <a:t>hi thường xuyên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lập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cơ</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sở</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phát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triển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ngành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lĩnh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chương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trình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đề</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cấp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thẩm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quyền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phê</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duyệt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độ</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chính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tiêu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chuẩn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định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mức</a:t>
            </a:r>
            <a:r>
              <a:rPr lang="en-US" altLang="en-US" sz="2400" dirty="0">
                <a:latin typeface="Times New Roman" panose="02020603050405020304" pitchFamily="18" charset="0"/>
                <a:cs typeface="Times New Roman" panose="02020603050405020304" pitchFamily="18" charset="0"/>
              </a:rPr>
              <a:t> chi (</a:t>
            </a:r>
            <a:r>
              <a:rPr lang="en-US" altLang="en-US" sz="2400" dirty="0" err="1">
                <a:latin typeface="Times New Roman" panose="02020603050405020304" pitchFamily="18" charset="0"/>
                <a:cs typeface="Times New Roman" panose="02020603050405020304" pitchFamily="18" charset="0"/>
              </a:rPr>
              <a:t>nếu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nhiệm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vụ</a:t>
            </a:r>
            <a:r>
              <a:rPr lang="en-US" altLang="en-US" sz="2400" dirty="0">
                <a:latin typeface="Times New Roman" panose="02020603050405020304" pitchFamily="18" charset="0"/>
                <a:cs typeface="Times New Roman" panose="02020603050405020304" pitchFamily="18" charset="0"/>
              </a:rPr>
              <a:t> chi </a:t>
            </a:r>
            <a:r>
              <a:rPr lang="en-US" altLang="en-US" sz="2400" dirty="0" err="1">
                <a:latin typeface="Times New Roman" panose="02020603050405020304" pitchFamily="18" charset="0"/>
                <a:cs typeface="Times New Roman" panose="02020603050405020304" pitchFamily="18" charset="0"/>
              </a:rPr>
              <a:t>cần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thiết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khác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chủ</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trương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cấp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thẩm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quyền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kiến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phát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sinh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khi</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cần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bố</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nguồn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để</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a:t>
            </a:r>
          </a:p>
          <a:p>
            <a:pPr marL="0" indent="0" algn="just">
              <a:lnSpc>
                <a:spcPct val="120000"/>
              </a:lnSpc>
              <a:buNone/>
            </a:pPr>
            <a:r>
              <a:rPr lang="en-US" altLang="en-US" sz="2400" dirty="0">
                <a:latin typeface="Times New Roman" panose="02020603050405020304" pitchFamily="18" charset="0"/>
                <a:cs typeface="Times New Roman" panose="02020603050405020304" pitchFamily="18" charset="0"/>
              </a:rPr>
              <a:t>	- </a:t>
            </a:r>
            <a:r>
              <a:rPr lang="en-US" altLang="en-US" sz="2400" dirty="0" err="1">
                <a:latin typeface="Times New Roman" panose="02020603050405020304" pitchFamily="18" charset="0"/>
                <a:cs typeface="Times New Roman" panose="02020603050405020304" pitchFamily="18" charset="0"/>
              </a:rPr>
              <a:t>Việc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lập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toán</a:t>
            </a:r>
            <a:r>
              <a:rPr lang="en-US" altLang="en-US" sz="2400" dirty="0">
                <a:latin typeface="Times New Roman" panose="02020603050405020304" pitchFamily="18" charset="0"/>
                <a:cs typeface="Times New Roman" panose="02020603050405020304" pitchFamily="18" charset="0"/>
              </a:rPr>
              <a:t> NS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cơ</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quan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nước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độ</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chủ</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chịu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nhiệm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về</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dụng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biên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kinh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quản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lý</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hành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chính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vị</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nghiệp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công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lập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quyền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chủ</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chịu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nhiệm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về</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nhiệm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vụ</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tổ</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chức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bộ</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máy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biên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tài</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chính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kinh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động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cung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cấp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dịch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vụ</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cơ</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quan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hành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chính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nước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theo</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định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Chính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phủ</a:t>
            </a:r>
            <a:endParaRPr lang="vi-VN" altLang="en-US" sz="2400"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5513986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44F1D-EFE9-5A1E-21F4-1995109E7EA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1404CD1-EDD7-7D98-C3B4-83FC763EA3C4}"/>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3" name="TextBox 2">
            <a:extLst>
              <a:ext uri="{FF2B5EF4-FFF2-40B4-BE49-F238E27FC236}">
                <a16:creationId xmlns:a16="http://schemas.microsoft.com/office/drawing/2014/main" id="{B4CCE9D5-7F85-1D38-F140-0525DEF6D71F}"/>
              </a:ext>
            </a:extLst>
          </p:cNvPr>
          <p:cNvSpPr txBox="1"/>
          <p:nvPr/>
        </p:nvSpPr>
        <p:spPr>
          <a:xfrm>
            <a:off x="0" y="1351508"/>
            <a:ext cx="11720946" cy="2308324"/>
          </a:xfrm>
          <a:prstGeom prst="rect">
            <a:avLst/>
          </a:prstGeom>
          <a:noFill/>
        </p:spPr>
        <p:txBody>
          <a:bodyPr wrap="square">
            <a:spAutoFit/>
          </a:bodyPr>
          <a:lstStyle/>
          <a:p>
            <a:pPr marL="285750" indent="-285750" algn="just">
              <a:lnSpc>
                <a:spcPct val="120000"/>
              </a:lnSpc>
              <a:buFont typeface="Wingdings" panose="05000000000000000000" pitchFamily="2" charset="2"/>
              <a:buChar char="Ø"/>
            </a:pPr>
            <a:r>
              <a:rPr lang="en-US" sz="2800" b="1" dirty="0" err="1">
                <a:solidFill>
                  <a:srgbClr val="FF0000"/>
                </a:solidFill>
                <a:latin typeface="Times New Roman" panose="02020603050405020304" pitchFamily="18" charset="0"/>
                <a:cs typeface="Times New Roman" panose="02020603050405020304" pitchFamily="18" charset="0"/>
              </a:rPr>
              <a:t>Yêu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cầu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lập</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dự</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toán</a:t>
            </a:r>
            <a:r>
              <a:rPr lang="en-US" sz="2800" b="1" dirty="0">
                <a:solidFill>
                  <a:srgbClr val="FF0000"/>
                </a:solidFill>
                <a:latin typeface="Times New Roman" panose="02020603050405020304" pitchFamily="18" charset="0"/>
                <a:cs typeface="Times New Roman" panose="02020603050405020304" pitchFamily="18" charset="0"/>
              </a:rPr>
              <a:t> NS </a:t>
            </a:r>
            <a:r>
              <a:rPr lang="en-US" sz="2800" b="1" dirty="0" err="1">
                <a:solidFill>
                  <a:srgbClr val="FF0000"/>
                </a:solidFill>
                <a:latin typeface="Times New Roman" panose="02020603050405020304" pitchFamily="18" charset="0"/>
                <a:cs typeface="Times New Roman" panose="02020603050405020304" pitchFamily="18" charset="0"/>
              </a:rPr>
              <a:t>xã</a:t>
            </a:r>
            <a:r>
              <a:rPr lang="vi-VN" sz="2800" b="1" i="1" dirty="0">
                <a:solidFill>
                  <a:srgbClr val="FF0000"/>
                </a:solidFill>
                <a:latin typeface="Times New Roman" panose="02020603050405020304" pitchFamily="18" charset="0"/>
                <a:cs typeface="Times New Roman" panose="02020603050405020304" pitchFamily="18" charset="0"/>
              </a:rPr>
              <a:t>	</a:t>
            </a:r>
            <a:r>
              <a:rPr lang="vi-VN" altLang="en-US" sz="2400" b="1" i="1" dirty="0">
                <a:solidFill>
                  <a:srgbClr val="FF0000"/>
                </a:solidFill>
                <a:latin typeface="Times New Roman" panose="02020603050405020304" pitchFamily="18" charset="0"/>
                <a:cs typeface="Times New Roman" panose="02020603050405020304" pitchFamily="18" charset="0"/>
              </a:rPr>
              <a:t> </a:t>
            </a:r>
            <a:endParaRPr lang="en-US" altLang="en-US" sz="2400" b="1" i="1" dirty="0">
              <a:solidFill>
                <a:srgbClr val="FF0000"/>
              </a:solidFill>
              <a:latin typeface="Times New Roman" panose="02020603050405020304" pitchFamily="18" charset="0"/>
              <a:cs typeface="Times New Roman" panose="02020603050405020304" pitchFamily="18" charset="0"/>
            </a:endParaRPr>
          </a:p>
          <a:p>
            <a:pPr algn="just">
              <a:lnSpc>
                <a:spcPct val="120000"/>
              </a:lnSpc>
            </a:pPr>
            <a:r>
              <a:rPr lang="en-US" altLang="en-US" sz="2400" dirty="0">
                <a:latin typeface="Times New Roman" panose="02020603050405020304" pitchFamily="18" charset="0"/>
                <a:cs typeface="Times New Roman" panose="02020603050405020304" pitchFamily="18" charset="0"/>
              </a:rPr>
              <a:t>	-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toán</a:t>
            </a:r>
            <a:r>
              <a:rPr lang="en-US" altLang="en-US" sz="2400" dirty="0">
                <a:latin typeface="Times New Roman" panose="02020603050405020304" pitchFamily="18" charset="0"/>
                <a:cs typeface="Times New Roman" panose="02020603050405020304" pitchFamily="18" charset="0"/>
              </a:rPr>
              <a:t> chi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chương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trình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đề</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nhiệm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vụ</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cấp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thẩm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quyền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phê</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duyệt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trong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nhiều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năm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lập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cơ</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sở</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khả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năng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hàng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năm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tổng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mức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kinh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phê</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duyệt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nếu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a:t>
            </a:r>
            <a:endParaRPr lang="vi-VN" altLang="en-US" sz="2400"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71120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41995-3C81-1CDA-32C5-0D67C562BAA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F0C89E-534B-1FBB-CAB7-E1DEF5A06204}"/>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50DE9550-28C4-D990-402F-FDA9E0488D88}"/>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vi-VN" sz="3200" dirty="0">
                <a:solidFill>
                  <a:srgbClr val="FF0000"/>
                </a:solidFill>
                <a:latin typeface="+mj-lt"/>
              </a:rPr>
              <a:t>T</a:t>
            </a:r>
            <a:r>
              <a:rPr lang="vi-VN" sz="3200" b="1" dirty="0">
                <a:solidFill>
                  <a:srgbClr val="FF0000"/>
                </a:solidFill>
                <a:latin typeface="+mj-lt"/>
              </a:rPr>
              <a:t>rình tự 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E60C2B3A-775F-4B90-47AA-6861FF24E25B}"/>
              </a:ext>
            </a:extLst>
          </p:cNvPr>
          <p:cNvSpPr txBox="1"/>
          <p:nvPr/>
        </p:nvSpPr>
        <p:spPr>
          <a:xfrm>
            <a:off x="375874" y="2210384"/>
            <a:ext cx="10326762" cy="1200329"/>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Bước</a:t>
            </a:r>
            <a:r>
              <a:rPr lang="en-US" sz="2400" dirty="0">
                <a:latin typeface="Times New Roman" panose="02020603050405020304" pitchFamily="18" charset="0"/>
                <a:cs typeface="Times New Roman" panose="02020603050405020304" pitchFamily="18" charset="0"/>
              </a:rPr>
              <a:t> 1: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Bước</a:t>
            </a:r>
            <a:r>
              <a:rPr lang="en-US" sz="2400"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Bước</a:t>
            </a:r>
            <a:r>
              <a:rPr lang="en-US" sz="2400" dirty="0">
                <a:latin typeface="Times New Roman" panose="02020603050405020304" pitchFamily="18" charset="0"/>
                <a:cs typeface="Times New Roman" panose="02020603050405020304" pitchFamily="18" charset="0"/>
              </a:rPr>
              <a:t> 3: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39606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0C57C-3D60-033D-BE56-E8D68074B1C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538C986-8502-4781-6338-AD9BEA65FB98}"/>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721DE2D8-50A5-5928-4F33-725F5703BFDC}"/>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vi-VN" sz="3200" dirty="0">
                <a:solidFill>
                  <a:srgbClr val="FF0000"/>
                </a:solidFill>
                <a:latin typeface="+mj-lt"/>
              </a:rPr>
              <a:t>T</a:t>
            </a:r>
            <a:r>
              <a:rPr lang="vi-VN" sz="3200" b="1" dirty="0">
                <a:solidFill>
                  <a:srgbClr val="FF0000"/>
                </a:solidFill>
                <a:latin typeface="+mj-lt"/>
              </a:rPr>
              <a:t>rình tự 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252907D2-AD9F-902E-26C2-02871F634798}"/>
              </a:ext>
            </a:extLst>
          </p:cNvPr>
          <p:cNvSpPr txBox="1"/>
          <p:nvPr/>
        </p:nvSpPr>
        <p:spPr>
          <a:xfrm>
            <a:off x="375874" y="2210384"/>
            <a:ext cx="11440252" cy="3729482"/>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1: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itchFamily="18" charset="0"/>
                <a:cs typeface="Times New Roman" pitchFamily="18" charset="0"/>
              </a:rPr>
              <a:t>- </a:t>
            </a:r>
            <a:r>
              <a:rPr lang="en-US" sz="2400" dirty="0" err="1">
                <a:latin typeface="Times New Roman" pitchFamily="18" charset="0"/>
                <a:cs typeface="Times New Roman" pitchFamily="18" charset="0"/>
              </a:rPr>
              <a:t>Căn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cứ</a:t>
            </a:r>
            <a:r>
              <a:rPr lang="en-US" sz="2400" dirty="0">
                <a:latin typeface="Times New Roman" pitchFamily="18" charset="0"/>
                <a:cs typeface="Times New Roman" pitchFamily="18" charset="0"/>
              </a:rPr>
              <a:t> </a:t>
            </a:r>
            <a:r>
              <a:rPr lang="vi-VN" sz="2400" dirty="0">
                <a:latin typeface="Times New Roman" panose="02020603050405020304" pitchFamily="18" charset="0"/>
                <a:cs typeface="Times New Roman" panose="02020603050405020304" pitchFamily="18" charset="0"/>
              </a:rPr>
              <a:t>quy định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phủ</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về việc xây dựng kế hoạch phát triển kinh tế - xã hội, dự toán </a:t>
            </a:r>
            <a:r>
              <a:rPr lang="en-US" sz="2400" dirty="0">
                <a:latin typeface="Times New Roman" panose="02020603050405020304" pitchFamily="18" charset="0"/>
                <a:cs typeface="Times New Roman" panose="02020603050405020304" pitchFamily="18" charset="0"/>
              </a:rPr>
              <a:t>NSNN </a:t>
            </a:r>
            <a:r>
              <a:rPr lang="vi-VN" sz="2400" dirty="0">
                <a:latin typeface="Times New Roman" panose="02020603050405020304" pitchFamily="18" charset="0"/>
                <a:cs typeface="Times New Roman" panose="02020603050405020304" pitchFamily="18" charset="0"/>
              </a:rPr>
              <a:t>năm sau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xây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hội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năm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hướng dẫn xây dựng dự toán ngân sách năm sau ở địa 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dung,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a:t>
            </a:r>
            <a:endParaRPr lang="en-US" sz="2400" dirty="0"/>
          </a:p>
        </p:txBody>
      </p:sp>
    </p:spTree>
    <p:extLst>
      <p:ext uri="{BB962C8B-B14F-4D97-AF65-F5344CB8AC3E}">
        <p14:creationId xmlns:p14="http://schemas.microsoft.com/office/powerpoint/2010/main" val="25759812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F5683-4952-4785-B31C-24D1C2492B9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F3D09AB-CC73-BFEF-4F77-1E109749CED5}"/>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02E13D28-9B17-EAAB-A076-BCBAF1AA17DC}"/>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vi-VN" sz="3200" dirty="0">
                <a:solidFill>
                  <a:srgbClr val="FF0000"/>
                </a:solidFill>
                <a:latin typeface="+mj-lt"/>
              </a:rPr>
              <a:t>T</a:t>
            </a:r>
            <a:r>
              <a:rPr lang="vi-VN" sz="3200" b="1" dirty="0">
                <a:solidFill>
                  <a:srgbClr val="FF0000"/>
                </a:solidFill>
                <a:latin typeface="+mj-lt"/>
              </a:rPr>
              <a:t>rình tự 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260D0A79-D515-55C4-164C-C91DC50B7407}"/>
              </a:ext>
            </a:extLst>
          </p:cNvPr>
          <p:cNvSpPr txBox="1"/>
          <p:nvPr/>
        </p:nvSpPr>
        <p:spPr>
          <a:xfrm>
            <a:off x="130629" y="2210384"/>
            <a:ext cx="11685497" cy="3719288"/>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buFontTx/>
              <a:buChar char="-"/>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Lập</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dự</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toán</a:t>
            </a:r>
            <a:r>
              <a:rPr lang="en-US" sz="2400" b="1" dirty="0">
                <a:latin typeface="Times New Roman" pitchFamily="18" charset="0"/>
                <a:cs typeface="Times New Roman" pitchFamily="18" charset="0"/>
              </a:rPr>
              <a:t> NSNN </a:t>
            </a:r>
            <a:r>
              <a:rPr lang="en-US" sz="2400" b="1" dirty="0" err="1">
                <a:latin typeface="Times New Roman" pitchFamily="18" charset="0"/>
                <a:cs typeface="Times New Roman" pitchFamily="18" charset="0"/>
              </a:rPr>
              <a:t>tại</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các</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cơ</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quan</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thu</a:t>
            </a:r>
            <a:r>
              <a:rPr lang="en-US" sz="2400" b="1" dirty="0">
                <a:latin typeface="Times New Roman" pitchFamily="18" charset="0"/>
                <a:cs typeface="Times New Roman" pitchFamily="18" charset="0"/>
              </a:rPr>
              <a:t> NS</a:t>
            </a:r>
          </a:p>
          <a:p>
            <a:pPr algn="just">
              <a:lnSpc>
                <a:spcPct val="150000"/>
              </a:lnSpc>
            </a:pP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thuế</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NSNN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phạm</a:t>
            </a:r>
            <a:r>
              <a:rPr lang="en-US" sz="2400" dirty="0">
                <a:latin typeface="Times New Roman" panose="02020603050405020304" pitchFamily="18" charset="0"/>
                <a:cs typeface="Times New Roman" panose="02020603050405020304" pitchFamily="18" charset="0"/>
              </a:rPr>
              <a:t> vi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gửi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dung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phạm</a:t>
            </a:r>
            <a:r>
              <a:rPr lang="en-US" sz="2400" dirty="0">
                <a:latin typeface="Times New Roman" panose="02020603050405020304" pitchFamily="18" charset="0"/>
                <a:cs typeface="Times New Roman" panose="02020603050405020304" pitchFamily="18" charset="0"/>
              </a:rPr>
              <a:t> vi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gửi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693797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3E7D3-C778-3015-D710-E5F52E7402E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A8E914A-2684-809E-B061-840A2ED72EFF}"/>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B66B52CE-99BF-7FA1-11B7-DBBF2FB00614}"/>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vi-VN" sz="3200" dirty="0">
                <a:solidFill>
                  <a:srgbClr val="FF0000"/>
                </a:solidFill>
                <a:latin typeface="+mj-lt"/>
              </a:rPr>
              <a:t>T</a:t>
            </a:r>
            <a:r>
              <a:rPr lang="vi-VN" sz="3200" b="1" dirty="0">
                <a:solidFill>
                  <a:srgbClr val="FF0000"/>
                </a:solidFill>
                <a:latin typeface="+mj-lt"/>
              </a:rPr>
              <a:t>rình tự 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71C965DC-B124-25A8-04D2-2F9C75EEC6EE}"/>
              </a:ext>
            </a:extLst>
          </p:cNvPr>
          <p:cNvSpPr txBox="1"/>
          <p:nvPr/>
        </p:nvSpPr>
        <p:spPr>
          <a:xfrm>
            <a:off x="130629" y="2210384"/>
            <a:ext cx="11685497" cy="3719288"/>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buFontTx/>
              <a:buChar char="-"/>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Lập</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dự</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toán</a:t>
            </a:r>
            <a:r>
              <a:rPr lang="en-US" sz="2400" b="1" dirty="0">
                <a:latin typeface="Times New Roman" pitchFamily="18" charset="0"/>
                <a:cs typeface="Times New Roman" pitchFamily="18" charset="0"/>
              </a:rPr>
              <a:t> NSNN </a:t>
            </a:r>
            <a:r>
              <a:rPr lang="en-US" sz="2400" b="1" dirty="0" err="1">
                <a:latin typeface="Times New Roman" pitchFamily="18" charset="0"/>
                <a:cs typeface="Times New Roman" pitchFamily="18" charset="0"/>
              </a:rPr>
              <a:t>tại</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các</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đơn</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vị</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dự</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toán</a:t>
            </a:r>
            <a:r>
              <a:rPr lang="en-US" sz="2400" b="1" dirty="0">
                <a:latin typeface="Times New Roman" pitchFamily="18" charset="0"/>
                <a:cs typeface="Times New Roman" pitchFamily="18" charset="0"/>
              </a:rPr>
              <a:t> NS</a:t>
            </a:r>
          </a:p>
          <a:p>
            <a:pPr algn="just">
              <a:lnSpc>
                <a:spcPct val="150000"/>
              </a:lnSpc>
            </a:pP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sử</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dụng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phạm</a:t>
            </a:r>
            <a:r>
              <a:rPr lang="en-US" sz="2400" dirty="0">
                <a:latin typeface="Times New Roman" pitchFamily="18" charset="0"/>
                <a:cs typeface="Times New Roman" pitchFamily="18" charset="0"/>
              </a:rPr>
              <a:t> vi, </a:t>
            </a:r>
            <a:r>
              <a:rPr lang="en-US" sz="2400" dirty="0" err="1">
                <a:latin typeface="Times New Roman" pitchFamily="18" charset="0"/>
                <a:cs typeface="Times New Roman" pitchFamily="18" charset="0"/>
              </a:rPr>
              <a:t>nhiệm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vụ</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chịu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nhiệm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xuất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liệu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gửi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tiếp</a:t>
            </a:r>
            <a:r>
              <a:rPr lang="en-US" sz="2400" dirty="0">
                <a:latin typeface="Times New Roman" pitchFamily="18" charset="0"/>
                <a:cs typeface="Times New Roman" pitchFamily="18" charset="0"/>
              </a:rPr>
              <a:t>.</a:t>
            </a:r>
          </a:p>
          <a:p>
            <a:pPr algn="just">
              <a:lnSpc>
                <a:spcPct val="150000"/>
              </a:lnSpc>
            </a:pP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tiếp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trường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phải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I) </a:t>
            </a:r>
            <a:r>
              <a:rPr lang="en-US" sz="2400" dirty="0" err="1">
                <a:latin typeface="Times New Roman" pitchFamily="18" charset="0"/>
                <a:cs typeface="Times New Roman" pitchFamily="18" charset="0"/>
              </a:rPr>
              <a:t>xem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xét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phạm</a:t>
            </a:r>
            <a:r>
              <a:rPr lang="en-US" sz="2400" dirty="0">
                <a:latin typeface="Times New Roman" pitchFamily="18" charset="0"/>
                <a:cs typeface="Times New Roman" pitchFamily="18" charset="0"/>
              </a:rPr>
              <a:t> vi </a:t>
            </a:r>
            <a:r>
              <a:rPr lang="en-US" sz="2400" dirty="0" err="1">
                <a:latin typeface="Times New Roman" pitchFamily="18" charset="0"/>
                <a:cs typeface="Times New Roman" pitchFamily="18" charset="0"/>
              </a:rPr>
              <a:t>quản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chịu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nhiệm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hồ</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liệu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gửi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I.</a:t>
            </a:r>
          </a:p>
        </p:txBody>
      </p:sp>
    </p:spTree>
    <p:extLst>
      <p:ext uri="{BB962C8B-B14F-4D97-AF65-F5344CB8AC3E}">
        <p14:creationId xmlns:p14="http://schemas.microsoft.com/office/powerpoint/2010/main" val="440588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DD14D-B7AB-5F18-A81C-98CE74221B6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A67A1A-C04C-0CE2-C3C0-F4B825159B0B}"/>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1A13909E-5A8D-5678-CE7B-57D1A2C76917}"/>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vi-VN" sz="3200" dirty="0">
                <a:solidFill>
                  <a:srgbClr val="FF0000"/>
                </a:solidFill>
                <a:latin typeface="+mj-lt"/>
              </a:rPr>
              <a:t>T</a:t>
            </a:r>
            <a:r>
              <a:rPr lang="vi-VN" sz="3200" b="1" dirty="0">
                <a:solidFill>
                  <a:srgbClr val="FF0000"/>
                </a:solidFill>
                <a:latin typeface="+mj-lt"/>
              </a:rPr>
              <a:t>rình tự 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F8D8D2C6-B52B-F5B5-AAFE-1ABF010CBD02}"/>
              </a:ext>
            </a:extLst>
          </p:cNvPr>
          <p:cNvSpPr txBox="1"/>
          <p:nvPr/>
        </p:nvSpPr>
        <p:spPr>
          <a:xfrm>
            <a:off x="130629" y="2014436"/>
            <a:ext cx="11685497" cy="4827284"/>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buFontTx/>
              <a:buChar char="-"/>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Lập</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dự</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toán</a:t>
            </a:r>
            <a:r>
              <a:rPr lang="en-US" sz="2400" b="1" dirty="0">
                <a:latin typeface="Times New Roman" pitchFamily="18" charset="0"/>
                <a:cs typeface="Times New Roman" pitchFamily="18" charset="0"/>
              </a:rPr>
              <a:t> NSNN </a:t>
            </a:r>
            <a:r>
              <a:rPr lang="en-US" sz="2400" b="1" dirty="0" err="1">
                <a:latin typeface="Times New Roman" pitchFamily="18" charset="0"/>
                <a:cs typeface="Times New Roman" pitchFamily="18" charset="0"/>
              </a:rPr>
              <a:t>tại</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các</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đơn</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vị</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dự</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toán</a:t>
            </a:r>
            <a:r>
              <a:rPr lang="en-US" sz="2400" b="1" dirty="0">
                <a:latin typeface="Times New Roman" pitchFamily="18" charset="0"/>
                <a:cs typeface="Times New Roman" pitchFamily="18" charset="0"/>
              </a:rPr>
              <a:t> NS (</a:t>
            </a:r>
            <a:r>
              <a:rPr lang="en-US" sz="2400" b="1" dirty="0" err="1">
                <a:latin typeface="Times New Roman" pitchFamily="18" charset="0"/>
                <a:cs typeface="Times New Roman" pitchFamily="18" charset="0"/>
              </a:rPr>
              <a:t>tt</a:t>
            </a:r>
            <a:r>
              <a:rPr lang="en-US" sz="2400" b="1" dirty="0">
                <a:latin typeface="Times New Roman" pitchFamily="18" charset="0"/>
                <a:cs typeface="Times New Roman" pitchFamily="18" charset="0"/>
              </a:rPr>
              <a:t>)</a:t>
            </a:r>
          </a:p>
          <a:p>
            <a:pPr algn="just">
              <a:lnSpc>
                <a:spcPct val="150000"/>
              </a:lnSpc>
            </a:pPr>
            <a:r>
              <a:rPr lang="en-US" sz="2400" dirty="0" err="1">
                <a:latin typeface="Times New Roman" pitchFamily="18" charset="0"/>
                <a:cs typeface="Times New Roman" pitchFamily="18" charset="0"/>
              </a:rPr>
              <a:t>Đối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tầng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vận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hành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khai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bảo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trì</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tầng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nhiệm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vụ</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kinh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phí</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nhiệm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vụ</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gửi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nước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lĩnh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hoạt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động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chuyên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môn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tương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ứng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xem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xét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cùng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QLNN.</a:t>
            </a:r>
          </a:p>
          <a:p>
            <a:pPr algn="just">
              <a:lnSpc>
                <a:spcPct val="150000"/>
              </a:lnSpc>
            </a:pP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I </a:t>
            </a:r>
            <a:r>
              <a:rPr lang="en-US" sz="2400" dirty="0" err="1">
                <a:latin typeface="Times New Roman" pitchFamily="18" charset="0"/>
                <a:cs typeface="Times New Roman" pitchFamily="18" charset="0"/>
              </a:rPr>
              <a:t>xem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xét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do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dưới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khoản</a:t>
            </a:r>
            <a:r>
              <a:rPr lang="en-US" sz="2400" dirty="0">
                <a:latin typeface="Times New Roman" pitchFamily="18" charset="0"/>
                <a:cs typeface="Times New Roman" pitchFamily="18" charset="0"/>
              </a:rPr>
              <a:t> 3, </a:t>
            </a:r>
            <a:r>
              <a:rPr lang="en-US" sz="2400" dirty="0" err="1">
                <a:latin typeface="Times New Roman" pitchFamily="18" charset="0"/>
                <a:cs typeface="Times New Roman" pitchFamily="18" charset="0"/>
              </a:rPr>
              <a:t>Điều</a:t>
            </a:r>
            <a:r>
              <a:rPr lang="en-US" sz="2400" dirty="0">
                <a:latin typeface="Times New Roman" pitchFamily="18" charset="0"/>
                <a:cs typeface="Times New Roman" pitchFamily="18" charset="0"/>
              </a:rPr>
              <a:t> 13, NĐ 73/2026/NĐ-CP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chịu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nhiệm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hồ</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liệu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gửi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cùng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33851089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DFDA4-D4EC-A3EE-7F01-324FECB0A9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DEC5B4-1864-77AA-9EC6-AF2581393F7A}"/>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E5AE940C-EF7F-B0ED-BA25-E35507FE865F}"/>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vi-VN" sz="3200" dirty="0">
                <a:solidFill>
                  <a:srgbClr val="FF0000"/>
                </a:solidFill>
                <a:latin typeface="+mj-lt"/>
              </a:rPr>
              <a:t>T</a:t>
            </a:r>
            <a:r>
              <a:rPr lang="vi-VN" sz="3200" b="1" dirty="0">
                <a:solidFill>
                  <a:srgbClr val="FF0000"/>
                </a:solidFill>
                <a:latin typeface="+mj-lt"/>
              </a:rPr>
              <a:t>rình tự 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E9740CB1-94E8-C866-4E37-2B07BCA24CDC}"/>
              </a:ext>
            </a:extLst>
          </p:cNvPr>
          <p:cNvSpPr txBox="1"/>
          <p:nvPr/>
        </p:nvSpPr>
        <p:spPr>
          <a:xfrm>
            <a:off x="130629" y="2014436"/>
            <a:ext cx="11685497" cy="4273286"/>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buFontTx/>
              <a:buChar char="-"/>
            </a:pPr>
            <a:r>
              <a:rPr lang="en-US" sz="2400" b="1"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chủ</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trì</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NSNN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bàn</a:t>
            </a:r>
            <a:r>
              <a:rPr lang="en-US" sz="2400" dirty="0">
                <a:latin typeface="Times New Roman" pitchFamily="18" charset="0"/>
                <a:cs typeface="Times New Roman" pitchFamily="18" charset="0"/>
              </a:rPr>
              <a:t> do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I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phạm</a:t>
            </a:r>
            <a:r>
              <a:rPr lang="en-US" sz="2400" dirty="0">
                <a:latin typeface="Times New Roman" pitchFamily="18" charset="0"/>
                <a:cs typeface="Times New Roman" pitchFamily="18" charset="0"/>
              </a:rPr>
              <a:t> vi </a:t>
            </a:r>
            <a:r>
              <a:rPr lang="en-US" sz="2400" dirty="0" err="1">
                <a:latin typeface="Times New Roman" pitchFamily="18" charset="0"/>
                <a:cs typeface="Times New Roman" pitchFamily="18" charset="0"/>
              </a:rPr>
              <a:t>quản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cáo</a:t>
            </a:r>
            <a:r>
              <a:rPr lang="en-US" sz="2400" dirty="0">
                <a:latin typeface="Times New Roman" pitchFamily="18" charset="0"/>
                <a:cs typeface="Times New Roman" pitchFamily="18" charset="0"/>
              </a:rPr>
              <a:t> UBNN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trình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thường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HĐND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xem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xét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cho</a:t>
            </a:r>
            <a:r>
              <a:rPr lang="en-US" sz="2400" dirty="0">
                <a:latin typeface="Times New Roman" pitchFamily="18" charset="0"/>
                <a:cs typeface="Times New Roman" pitchFamily="18" charset="0"/>
              </a:rPr>
              <a:t> ý </a:t>
            </a:r>
            <a:r>
              <a:rPr lang="en-US" sz="2400" dirty="0" err="1">
                <a:latin typeface="Times New Roman" pitchFamily="18" charset="0"/>
                <a:cs typeface="Times New Roman" pitchFamily="18" charset="0"/>
              </a:rPr>
              <a:t>kiến</a:t>
            </a:r>
            <a:r>
              <a:rPr lang="en-US" sz="2400" dirty="0">
                <a:latin typeface="Times New Roman" pitchFamily="18" charset="0"/>
                <a:cs typeface="Times New Roman" pitchFamily="18" charset="0"/>
              </a:rPr>
              <a:t>.</a:t>
            </a:r>
          </a:p>
          <a:p>
            <a:pPr algn="just">
              <a:lnSpc>
                <a:spcPct val="150000"/>
              </a:lnSpc>
              <a:buFontTx/>
              <a:buChar char="-"/>
            </a:pPr>
            <a:r>
              <a:rPr lang="en-US" sz="2400" dirty="0">
                <a:latin typeface="Times New Roman" pitchFamily="18" charset="0"/>
                <a:cs typeface="Times New Roman" pitchFamily="18" charset="0"/>
              </a:rPr>
              <a:t> Sau </a:t>
            </a:r>
            <a:r>
              <a:rPr lang="en-US" sz="2400" dirty="0" err="1">
                <a:latin typeface="Times New Roman" pitchFamily="18" charset="0"/>
                <a:cs typeface="Times New Roman" pitchFamily="18" charset="0"/>
              </a:rPr>
              <a:t>khi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có</a:t>
            </a:r>
            <a:r>
              <a:rPr lang="en-US" sz="2400" dirty="0">
                <a:latin typeface="Times New Roman" pitchFamily="18" charset="0"/>
                <a:cs typeface="Times New Roman" pitchFamily="18" charset="0"/>
              </a:rPr>
              <a:t> ý </a:t>
            </a:r>
            <a:r>
              <a:rPr lang="en-US" sz="2400" dirty="0" err="1">
                <a:latin typeface="Times New Roman" pitchFamily="18" charset="0"/>
                <a:cs typeface="Times New Roman" pitchFamily="18" charset="0"/>
              </a:rPr>
              <a:t>kiến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Thường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HĐND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UBND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gửi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NSNN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bàn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đến</a:t>
            </a:r>
            <a:r>
              <a:rPr lang="en-US" sz="2400" dirty="0">
                <a:latin typeface="Times New Roman" pitchFamily="18" charset="0"/>
                <a:cs typeface="Times New Roman" pitchFamily="18" charset="0"/>
              </a:rPr>
              <a:t> UBND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tỉnh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a:t>
            </a:r>
            <a:r>
              <a:rPr lang="en-US" sz="2400" dirty="0" err="1">
                <a:latin typeface="Times New Roman" pitchFamily="18" charset="0"/>
                <a:cs typeface="Times New Roman" pitchFamily="18" charset="0"/>
              </a:rPr>
              <a:t>ngân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theo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37415392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61E2F-22D0-1AEB-D0CE-749154AB679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3A9B0DD-9488-7E17-3217-D7ECDE3CC966}"/>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68304A3F-1498-4FDF-EA4A-32726B2DA9BC}"/>
              </a:ext>
            </a:extLst>
          </p:cNvPr>
          <p:cNvSpPr txBox="1">
            <a:spLocks/>
          </p:cNvSpPr>
          <p:nvPr/>
        </p:nvSpPr>
        <p:spPr>
          <a:xfrm>
            <a:off x="375874" y="123934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vi-VN" sz="3200" dirty="0">
                <a:solidFill>
                  <a:srgbClr val="FF0000"/>
                </a:solidFill>
                <a:latin typeface="+mj-lt"/>
              </a:rPr>
              <a:t>T</a:t>
            </a:r>
            <a:r>
              <a:rPr lang="vi-VN" sz="3200" b="1" dirty="0">
                <a:solidFill>
                  <a:srgbClr val="FF0000"/>
                </a:solidFill>
                <a:latin typeface="+mj-lt"/>
              </a:rPr>
              <a:t>rình tự 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75946964-0DED-44E3-433F-EC3B0156F3D1}"/>
              </a:ext>
            </a:extLst>
          </p:cNvPr>
          <p:cNvSpPr txBox="1"/>
          <p:nvPr/>
        </p:nvSpPr>
        <p:spPr>
          <a:xfrm>
            <a:off x="115881" y="1616232"/>
            <a:ext cx="11685497" cy="5381281"/>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buFontTx/>
              <a:buChar char="-"/>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Tổ</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chức</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thảo</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luận</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dự</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toán</a:t>
            </a:r>
            <a:endParaRPr lang="en-US" sz="2400" b="1" dirty="0">
              <a:latin typeface="Times New Roman" pitchFamily="18" charset="0"/>
              <a:cs typeface="Times New Roman" pitchFamily="18" charset="0"/>
            </a:endParaRPr>
          </a:p>
          <a:p>
            <a:pPr algn="just">
              <a:lnSpc>
                <a:spcPct val="150000"/>
              </a:lnSpc>
            </a:pPr>
            <a:r>
              <a:rPr lang="en-US" sz="2400" dirty="0">
                <a:latin typeface="Times New Roman" pitchFamily="18" charset="0"/>
                <a:cs typeface="Times New Roman" pitchFamily="18" charset="0"/>
              </a:rPr>
              <a:t>Các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ở </a:t>
            </a:r>
            <a:r>
              <a:rPr lang="en-US" sz="2400" dirty="0" err="1">
                <a:latin typeface="Times New Roman" pitchFamily="18" charset="0"/>
                <a:cs typeface="Times New Roman" pitchFamily="18" charset="0"/>
              </a:rPr>
              <a:t>địa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phương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thảo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theo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khoản</a:t>
            </a:r>
            <a:r>
              <a:rPr lang="en-US" sz="2400" dirty="0">
                <a:latin typeface="Times New Roman" pitchFamily="18" charset="0"/>
                <a:cs typeface="Times New Roman" pitchFamily="18" charset="0"/>
              </a:rPr>
              <a:t> 1 </a:t>
            </a:r>
            <a:r>
              <a:rPr lang="en-US" sz="2400" dirty="0" err="1">
                <a:latin typeface="Times New Roman" pitchFamily="18" charset="0"/>
                <a:cs typeface="Times New Roman" pitchFamily="18" charset="0"/>
              </a:rPr>
              <a:t>Điều</a:t>
            </a:r>
            <a:r>
              <a:rPr lang="en-US" sz="2400" dirty="0">
                <a:latin typeface="Times New Roman" pitchFamily="18" charset="0"/>
                <a:cs typeface="Times New Roman" pitchFamily="18" charset="0"/>
              </a:rPr>
              <a:t> 48 </a:t>
            </a:r>
            <a:r>
              <a:rPr lang="en-US" sz="2400" dirty="0" err="1">
                <a:latin typeface="Times New Roman" pitchFamily="18" charset="0"/>
                <a:cs typeface="Times New Roman" pitchFamily="18" charset="0"/>
              </a:rPr>
              <a:t>Luật</a:t>
            </a:r>
            <a:r>
              <a:rPr lang="en-US" sz="2400" dirty="0">
                <a:latin typeface="Times New Roman" pitchFamily="18" charset="0"/>
                <a:cs typeface="Times New Roman" pitchFamily="18" charset="0"/>
              </a:rPr>
              <a:t> NSNN;</a:t>
            </a:r>
          </a:p>
          <a:p>
            <a:pPr algn="just">
              <a:lnSpc>
                <a:spcPct val="150000"/>
              </a:lnSpc>
            </a:pP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chủ</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trì</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thảo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hình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thảo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hàng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năm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UBND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theo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nội</a:t>
            </a:r>
            <a:r>
              <a:rPr lang="en-US" sz="2400" dirty="0">
                <a:latin typeface="Times New Roman" pitchFamily="18" charset="0"/>
                <a:cs typeface="Times New Roman" pitchFamily="18" charset="0"/>
              </a:rPr>
              <a:t> dung </a:t>
            </a:r>
            <a:r>
              <a:rPr lang="en-US" sz="2400" dirty="0" err="1">
                <a:latin typeface="Times New Roman" pitchFamily="18" charset="0"/>
                <a:cs typeface="Times New Roman" pitchFamily="18" charset="0"/>
              </a:rPr>
              <a:t>quy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khoản</a:t>
            </a:r>
            <a:r>
              <a:rPr lang="en-US" sz="2400" dirty="0">
                <a:latin typeface="Times New Roman" pitchFamily="18" charset="0"/>
                <a:cs typeface="Times New Roman" pitchFamily="18" charset="0"/>
              </a:rPr>
              <a:t> 2 </a:t>
            </a:r>
            <a:r>
              <a:rPr lang="en-US" sz="2400" dirty="0" err="1">
                <a:latin typeface="Times New Roman" pitchFamily="18" charset="0"/>
                <a:cs typeface="Times New Roman" pitchFamily="18" charset="0"/>
              </a:rPr>
              <a:t>Điều</a:t>
            </a:r>
            <a:r>
              <a:rPr lang="en-US" sz="2400" dirty="0">
                <a:latin typeface="Times New Roman" pitchFamily="18" charset="0"/>
                <a:cs typeface="Times New Roman" pitchFamily="18" charset="0"/>
              </a:rPr>
              <a:t> 48 </a:t>
            </a:r>
            <a:r>
              <a:rPr lang="en-US" sz="2400" dirty="0" err="1">
                <a:latin typeface="Times New Roman" pitchFamily="18" charset="0"/>
                <a:cs typeface="Times New Roman" pitchFamily="18" charset="0"/>
              </a:rPr>
              <a:t>Luật</a:t>
            </a:r>
            <a:r>
              <a:rPr lang="en-US" sz="2400" dirty="0">
                <a:latin typeface="Times New Roman" pitchFamily="18" charset="0"/>
                <a:cs typeface="Times New Roman" pitchFamily="18" charset="0"/>
              </a:rPr>
              <a:t> NSNN. </a:t>
            </a:r>
          </a:p>
          <a:p>
            <a:pPr algn="just">
              <a:lnSpc>
                <a:spcPct val="150000"/>
              </a:lnSpc>
            </a:pP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chủ</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trì</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phối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liên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cùng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việc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phương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bổ</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mình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xuất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phương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đối</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nhằm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tăng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kiệm</a:t>
            </a:r>
            <a:r>
              <a:rPr lang="en-US" sz="2400" dirty="0">
                <a:latin typeface="Times New Roman" pitchFamily="18" charset="0"/>
                <a:cs typeface="Times New Roman" pitchFamily="18" charset="0"/>
              </a:rPr>
              <a:t> chi, </a:t>
            </a:r>
            <a:r>
              <a:rPr lang="en-US" sz="2400" dirty="0" err="1">
                <a:latin typeface="Times New Roman" pitchFamily="18" charset="0"/>
                <a:cs typeface="Times New Roman" pitchFamily="18" charset="0"/>
              </a:rPr>
              <a:t>báo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có</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thẩm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theo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Luật</a:t>
            </a:r>
            <a:r>
              <a:rPr lang="en-US" sz="2400" dirty="0">
                <a:latin typeface="Times New Roman" pitchFamily="18" charset="0"/>
                <a:cs typeface="Times New Roman" pitchFamily="18" charset="0"/>
              </a:rPr>
              <a:t> NSNN.</a:t>
            </a:r>
          </a:p>
        </p:txBody>
      </p:sp>
    </p:spTree>
    <p:extLst>
      <p:ext uri="{BB962C8B-B14F-4D97-AF65-F5344CB8AC3E}">
        <p14:creationId xmlns:p14="http://schemas.microsoft.com/office/powerpoint/2010/main" val="29915891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DD85F-F45A-CB14-8107-56A6BE65444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2B8C46C-05D9-65C6-43CA-372FBC0DB215}"/>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14C55752-3CC8-34E5-5E23-783BAEDA4F6A}"/>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vi-VN" sz="3200" dirty="0">
                <a:solidFill>
                  <a:srgbClr val="FF0000"/>
                </a:solidFill>
                <a:latin typeface="+mj-lt"/>
              </a:rPr>
              <a:t>T</a:t>
            </a:r>
            <a:r>
              <a:rPr lang="vi-VN" sz="3200" b="1" dirty="0">
                <a:solidFill>
                  <a:srgbClr val="FF0000"/>
                </a:solidFill>
                <a:latin typeface="+mj-lt"/>
              </a:rPr>
              <a:t>rình tự 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A89AF366-BCDA-8BDA-0E6E-62E623ADA455}"/>
              </a:ext>
            </a:extLst>
          </p:cNvPr>
          <p:cNvSpPr txBox="1"/>
          <p:nvPr/>
        </p:nvSpPr>
        <p:spPr>
          <a:xfrm>
            <a:off x="130629" y="2014436"/>
            <a:ext cx="11685497" cy="3719288"/>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3: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err="1">
                <a:latin typeface="Times New Roman" pitchFamily="18" charset="0"/>
                <a:cs typeface="Times New Roman" pitchFamily="18" charset="0"/>
              </a:rPr>
              <a:t>Chậm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nhất</a:t>
            </a:r>
            <a:r>
              <a:rPr lang="en-US" sz="2400" dirty="0">
                <a:latin typeface="Times New Roman" pitchFamily="18" charset="0"/>
                <a:cs typeface="Times New Roman" pitchFamily="18" charset="0"/>
              </a:rPr>
              <a:t> 10 </a:t>
            </a:r>
            <a:r>
              <a:rPr lang="en-US" sz="2400" dirty="0" err="1">
                <a:latin typeface="Times New Roman" pitchFamily="18" charset="0"/>
                <a:cs typeface="Times New Roman" pitchFamily="18" charset="0"/>
              </a:rPr>
              <a:t>ngày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ngày</a:t>
            </a:r>
            <a:r>
              <a:rPr lang="en-US" sz="2400" dirty="0">
                <a:latin typeface="Times New Roman" pitchFamily="18" charset="0"/>
                <a:cs typeface="Times New Roman" pitchFamily="18" charset="0"/>
              </a:rPr>
              <a:t> HĐND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tỉnh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bổ</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căn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cứ</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UBND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tỉnh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Hội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đồng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NSNN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bàn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bổ</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a:t>
            </a:r>
          </a:p>
          <a:p>
            <a:pPr algn="just">
              <a:lnSpc>
                <a:spcPct val="150000"/>
              </a:lnSpc>
            </a:pPr>
            <a:r>
              <a:rPr lang="en-US" sz="2400" dirty="0" err="1">
                <a:latin typeface="Times New Roman" pitchFamily="18" charset="0"/>
                <a:cs typeface="Times New Roman" pitchFamily="18" charset="0"/>
              </a:rPr>
              <a:t>Chậm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nhất</a:t>
            </a:r>
            <a:r>
              <a:rPr lang="en-US" sz="2400" dirty="0">
                <a:latin typeface="Times New Roman" pitchFamily="18" charset="0"/>
                <a:cs typeface="Times New Roman" pitchFamily="18" charset="0"/>
              </a:rPr>
              <a:t> 05 </a:t>
            </a:r>
            <a:r>
              <a:rPr lang="en-US" sz="2400" dirty="0" err="1">
                <a:latin typeface="Times New Roman" pitchFamily="18" charset="0"/>
                <a:cs typeface="Times New Roman" pitchFamily="18" charset="0"/>
              </a:rPr>
              <a:t>ngày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việc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ngày</a:t>
            </a:r>
            <a:r>
              <a:rPr lang="en-US" sz="2400" dirty="0">
                <a:latin typeface="Times New Roman" pitchFamily="18" charset="0"/>
                <a:cs typeface="Times New Roman" pitchFamily="18" charset="0"/>
              </a:rPr>
              <a:t> HĐND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UBND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cho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đồng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thời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đã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HĐND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UBND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10376375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B82A0-F887-4EDE-57D3-F5249E8E3C0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1385A80-72AA-9F26-C987-B667170A20B4}"/>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D89FBB48-832B-CA11-724F-26B43B72C032}"/>
              </a:ext>
            </a:extLst>
          </p:cNvPr>
          <p:cNvSpPr txBox="1">
            <a:spLocks/>
          </p:cNvSpPr>
          <p:nvPr/>
        </p:nvSpPr>
        <p:spPr>
          <a:xfrm>
            <a:off x="344342" y="1338508"/>
            <a:ext cx="11211781"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Công </a:t>
            </a:r>
            <a:r>
              <a:rPr lang="en-US" b="1" dirty="0" err="1">
                <a:solidFill>
                  <a:srgbClr val="FF0000"/>
                </a:solidFill>
                <a:latin typeface="Times New Roman" panose="02020603050405020304" pitchFamily="18" charset="0"/>
                <a:cs typeface="Times New Roman" panose="02020603050405020304" pitchFamily="18" charset="0"/>
              </a:rPr>
              <a:t>khai</a:t>
            </a:r>
            <a:r>
              <a:rPr lang="en-US" b="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dự toán</a:t>
            </a:r>
            <a:r>
              <a:rPr lang="en-US" b="1" dirty="0">
                <a:solidFill>
                  <a:srgbClr val="FF0000"/>
                </a:solidFill>
                <a:latin typeface="Times New Roman" panose="02020603050405020304" pitchFamily="18" charset="0"/>
                <a:cs typeface="Times New Roman" panose="02020603050405020304" pitchFamily="18" charset="0"/>
              </a:rPr>
              <a:t> NS </a:t>
            </a:r>
            <a:r>
              <a:rPr lang="en-US" b="1" dirty="0" err="1">
                <a:solidFill>
                  <a:srgbClr val="FF0000"/>
                </a:solidFill>
                <a:latin typeface="Times New Roman" panose="02020603050405020304" pitchFamily="18" charset="0"/>
                <a:cs typeface="Times New Roman" panose="02020603050405020304" pitchFamily="18" charset="0"/>
              </a:rPr>
              <a:t>xã</a:t>
            </a: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3200" dirty="0"/>
          </a:p>
        </p:txBody>
      </p:sp>
      <p:sp>
        <p:nvSpPr>
          <p:cNvPr id="6" name="TextBox 5">
            <a:extLst>
              <a:ext uri="{FF2B5EF4-FFF2-40B4-BE49-F238E27FC236}">
                <a16:creationId xmlns:a16="http://schemas.microsoft.com/office/drawing/2014/main" id="{8CD4034B-44A0-94AE-58B8-AD14A1C2A644}"/>
              </a:ext>
            </a:extLst>
          </p:cNvPr>
          <p:cNvSpPr txBox="1"/>
          <p:nvPr/>
        </p:nvSpPr>
        <p:spPr>
          <a:xfrm>
            <a:off x="110360" y="1847769"/>
            <a:ext cx="11737298" cy="2123658"/>
          </a:xfrm>
          <a:prstGeom prst="rect">
            <a:avLst/>
          </a:prstGeom>
          <a:noFill/>
        </p:spPr>
        <p:txBody>
          <a:bodyPr wrap="square" rtlCol="0">
            <a:spAutoFit/>
          </a:bodyPr>
          <a:lstStyle/>
          <a:p>
            <a:pPr>
              <a:lnSpc>
                <a:spcPct val="150000"/>
              </a:lnSpc>
            </a:pPr>
            <a:r>
              <a:rPr lang="en-US" altLang="en-US" sz="2400" b="1" dirty="0" err="1">
                <a:latin typeface="Times" panose="02020603050405020304" pitchFamily="18" charset="0"/>
                <a:ea typeface="Times" panose="02020603050405020304" pitchFamily="18" charset="0"/>
                <a:cs typeface="Times" panose="02020603050405020304" pitchFamily="18" charset="0"/>
              </a:rPr>
              <a:t>Trách</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b="1" dirty="0" err="1">
                <a:latin typeface="Times" panose="02020603050405020304" pitchFamily="18" charset="0"/>
                <a:ea typeface="Times" panose="02020603050405020304" pitchFamily="18" charset="0"/>
                <a:cs typeface="Times" panose="02020603050405020304" pitchFamily="18" charset="0"/>
              </a:rPr>
              <a:t>nhiệm</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b="1" dirty="0" err="1">
                <a:latin typeface="Times" panose="02020603050405020304" pitchFamily="18" charset="0"/>
                <a:ea typeface="Times" panose="02020603050405020304" pitchFamily="18" charset="0"/>
                <a:cs typeface="Times" panose="02020603050405020304" pitchFamily="18" charset="0"/>
              </a:rPr>
              <a:t>trong</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b="1" dirty="0" err="1">
                <a:latin typeface="Times" panose="02020603050405020304" pitchFamily="18" charset="0"/>
                <a:ea typeface="Times" panose="02020603050405020304" pitchFamily="18" charset="0"/>
                <a:cs typeface="Times" panose="02020603050405020304" pitchFamily="18" charset="0"/>
              </a:rPr>
              <a:t>công</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b="1" dirty="0" err="1">
                <a:latin typeface="Times" panose="02020603050405020304" pitchFamily="18" charset="0"/>
                <a:ea typeface="Times" panose="02020603050405020304" pitchFamily="18" charset="0"/>
                <a:cs typeface="Times" panose="02020603050405020304" pitchFamily="18" charset="0"/>
              </a:rPr>
              <a:t>khai</a:t>
            </a:r>
            <a:r>
              <a:rPr lang="en-US" altLang="en-US" sz="2400" b="1" dirty="0">
                <a:latin typeface="Times" panose="02020603050405020304" pitchFamily="18" charset="0"/>
                <a:ea typeface="Times" panose="02020603050405020304" pitchFamily="18" charset="0"/>
                <a:cs typeface="Times" panose="02020603050405020304" pitchFamily="18" charset="0"/>
              </a:rPr>
              <a:t> NS </a:t>
            </a:r>
            <a:r>
              <a:rPr lang="en-US" altLang="en-US" sz="2400" b="1" dirty="0" err="1">
                <a:latin typeface="Times" panose="02020603050405020304" pitchFamily="18" charset="0"/>
                <a:ea typeface="Times" panose="02020603050405020304" pitchFamily="18" charset="0"/>
                <a:cs typeface="Times" panose="02020603050405020304" pitchFamily="18" charset="0"/>
              </a:rPr>
              <a:t>cấp</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b="1" dirty="0" err="1">
                <a:latin typeface="Times" panose="02020603050405020304" pitchFamily="18" charset="0"/>
                <a:ea typeface="Times" panose="02020603050405020304" pitchFamily="18" charset="0"/>
                <a:cs typeface="Times" panose="02020603050405020304" pitchFamily="18" charset="0"/>
              </a:rPr>
              <a:t>xã</a:t>
            </a:r>
            <a:r>
              <a:rPr lang="vi-VN"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dirty="0">
                <a:solidFill>
                  <a:srgbClr val="FF0000"/>
                </a:solidFill>
                <a:latin typeface="Times" panose="02020603050405020304" pitchFamily="18" charset="0"/>
                <a:ea typeface="Times" panose="02020603050405020304" pitchFamily="18" charset="0"/>
                <a:cs typeface="Times" panose="02020603050405020304" pitchFamily="18" charset="0"/>
              </a:rPr>
              <a:t>(</a:t>
            </a:r>
            <a:r>
              <a:rPr lang="en-US" altLang="en-US" sz="2400" dirty="0" err="1">
                <a:solidFill>
                  <a:srgbClr val="FF0000"/>
                </a:solidFill>
                <a:latin typeface="Times" panose="02020603050405020304" pitchFamily="18" charset="0"/>
                <a:ea typeface="Times" panose="02020603050405020304" pitchFamily="18" charset="0"/>
                <a:cs typeface="Times" panose="02020603050405020304" pitchFamily="18" charset="0"/>
              </a:rPr>
              <a:t>Khoản</a:t>
            </a:r>
            <a:r>
              <a:rPr lang="en-US" altLang="en-US" sz="2400" dirty="0">
                <a:solidFill>
                  <a:srgbClr val="FF0000"/>
                </a:solidFill>
                <a:latin typeface="Times" panose="02020603050405020304" pitchFamily="18" charset="0"/>
                <a:ea typeface="Times" panose="02020603050405020304" pitchFamily="18" charset="0"/>
                <a:cs typeface="Times" panose="02020603050405020304" pitchFamily="18" charset="0"/>
              </a:rPr>
              <a:t> 3, </a:t>
            </a:r>
            <a:r>
              <a:rPr lang="en-US" altLang="en-US" sz="2400" dirty="0" err="1">
                <a:solidFill>
                  <a:srgbClr val="FF0000"/>
                </a:solidFill>
                <a:latin typeface="Times" panose="02020603050405020304" pitchFamily="18" charset="0"/>
                <a:ea typeface="Times" panose="02020603050405020304" pitchFamily="18" charset="0"/>
                <a:cs typeface="Times" panose="02020603050405020304" pitchFamily="18" charset="0"/>
              </a:rPr>
              <a:t>Điều</a:t>
            </a:r>
            <a:r>
              <a:rPr lang="en-US" altLang="en-US" sz="2400" dirty="0">
                <a:solidFill>
                  <a:srgbClr val="FF0000"/>
                </a:solidFill>
                <a:latin typeface="Times" panose="02020603050405020304" pitchFamily="18" charset="0"/>
                <a:ea typeface="Times" panose="02020603050405020304" pitchFamily="18" charset="0"/>
                <a:cs typeface="Times" panose="02020603050405020304" pitchFamily="18" charset="0"/>
              </a:rPr>
              <a:t> 36, NĐ 73/2026/NĐ-CP</a:t>
            </a:r>
            <a:endParaRPr lang="vi-VN" sz="2400" b="1" i="1" dirty="0">
              <a:latin typeface="Times New Roman" panose="02020603050405020304" pitchFamily="18" charset="0"/>
              <a:ea typeface="Times New Roman" panose="02020603050405020304" pitchFamily="18" charset="0"/>
            </a:endParaRPr>
          </a:p>
          <a:p>
            <a:pPr>
              <a:lnSpc>
                <a:spcPct val="150000"/>
              </a:lnSpc>
            </a:pPr>
            <a:r>
              <a:rPr lang="vi-VN" sz="2400" i="1" dirty="0"/>
              <a:t>	</a:t>
            </a:r>
            <a:r>
              <a:rPr lang="en-US" altLang="en-US" sz="2400" b="1" dirty="0">
                <a:latin typeface="Times" panose="02020603050405020304" pitchFamily="18" charset="0"/>
                <a:ea typeface="Times" panose="02020603050405020304" pitchFamily="18" charset="0"/>
                <a:cs typeface="Times" panose="02020603050405020304" pitchFamily="18" charset="0"/>
              </a:rPr>
              <a:t>UBND </a:t>
            </a:r>
            <a:r>
              <a:rPr lang="en-US" altLang="en-US" sz="2400" b="1" dirty="0" err="1">
                <a:latin typeface="Times" panose="02020603050405020304" pitchFamily="18" charset="0"/>
                <a:ea typeface="Times" panose="02020603050405020304" pitchFamily="18" charset="0"/>
                <a:cs typeface="Times" panose="02020603050405020304" pitchFamily="18" charset="0"/>
              </a:rPr>
              <a:t>cấp</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b="1" dirty="0" err="1">
                <a:latin typeface="Times" panose="02020603050405020304" pitchFamily="18" charset="0"/>
                <a:ea typeface="Times" panose="02020603050405020304" pitchFamily="18" charset="0"/>
                <a:cs typeface="Times" panose="02020603050405020304" pitchFamily="18" charset="0"/>
              </a:rPr>
              <a:t>xã</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thực</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hiện</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công</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khai</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ngân</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sách</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cấp</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xã</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các</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hoạt</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động</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tài</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chính</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khác</a:t>
            </a:r>
            <a:r>
              <a:rPr lang="en-US" altLang="en-US" sz="2400" dirty="0">
                <a:latin typeface="Times" panose="02020603050405020304" pitchFamily="18" charset="0"/>
                <a:ea typeface="Times" panose="02020603050405020304" pitchFamily="18" charset="0"/>
                <a:cs typeface="Times" panose="02020603050405020304" pitchFamily="18" charset="0"/>
              </a:rPr>
              <a:t> ở </a:t>
            </a:r>
            <a:r>
              <a:rPr lang="en-US" altLang="en-US" sz="2400" dirty="0" err="1">
                <a:latin typeface="Times" panose="02020603050405020304" pitchFamily="18" charset="0"/>
                <a:ea typeface="Times" panose="02020603050405020304" pitchFamily="18" charset="0"/>
                <a:cs typeface="Times" panose="02020603050405020304" pitchFamily="18" charset="0"/>
              </a:rPr>
              <a:t>cấp</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xã</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và</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các</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khoản</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hỗ</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trợ</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trực</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tiếp</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của</a:t>
            </a:r>
            <a:r>
              <a:rPr lang="en-US" altLang="en-US" sz="2400" dirty="0">
                <a:latin typeface="Times" panose="02020603050405020304" pitchFamily="18" charset="0"/>
                <a:ea typeface="Times" panose="02020603050405020304" pitchFamily="18" charset="0"/>
                <a:cs typeface="Times" panose="02020603050405020304" pitchFamily="18" charset="0"/>
              </a:rPr>
              <a:t> NSNN </a:t>
            </a:r>
            <a:r>
              <a:rPr lang="en-US" altLang="en-US" sz="2400" dirty="0" err="1">
                <a:latin typeface="Times" panose="02020603050405020304" pitchFamily="18" charset="0"/>
                <a:ea typeface="Times" panose="02020603050405020304" pitchFamily="18" charset="0"/>
                <a:cs typeface="Times" panose="02020603050405020304" pitchFamily="18" charset="0"/>
              </a:rPr>
              <a:t>cho</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người</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dân</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trên</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địa</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bàn</a:t>
            </a:r>
            <a:r>
              <a:rPr lang="en-US" altLang="en-US" sz="2400" dirty="0">
                <a:latin typeface="Times" panose="02020603050405020304" pitchFamily="18" charset="0"/>
                <a:ea typeface="Times" panose="02020603050405020304" pitchFamily="18" charset="0"/>
                <a:cs typeface="Times" panose="02020603050405020304" pitchFamily="18" charset="0"/>
              </a:rPr>
              <a:t>.</a:t>
            </a:r>
            <a:endParaRPr lang="en-US" sz="2400" dirty="0"/>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3862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CEA7D-DD5B-EFD8-7E15-0D7CCD71E6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DFC98FF-E058-B120-B039-4C275F6BBBA0}"/>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89066EBB-BEEE-A448-35F9-F70EBFF83EAC}"/>
              </a:ext>
            </a:extLst>
          </p:cNvPr>
          <p:cNvSpPr txBox="1">
            <a:spLocks/>
          </p:cNvSpPr>
          <p:nvPr/>
        </p:nvSpPr>
        <p:spPr>
          <a:xfrm>
            <a:off x="344342" y="1338508"/>
            <a:ext cx="11211781"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Công </a:t>
            </a:r>
            <a:r>
              <a:rPr lang="en-US" b="1" dirty="0" err="1">
                <a:solidFill>
                  <a:srgbClr val="FF0000"/>
                </a:solidFill>
                <a:latin typeface="Times New Roman" panose="02020603050405020304" pitchFamily="18" charset="0"/>
                <a:cs typeface="Times New Roman" panose="02020603050405020304" pitchFamily="18" charset="0"/>
              </a:rPr>
              <a:t>khai</a:t>
            </a:r>
            <a:r>
              <a:rPr lang="en-US" b="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dự toán</a:t>
            </a:r>
            <a:r>
              <a:rPr lang="en-US" b="1" dirty="0">
                <a:solidFill>
                  <a:srgbClr val="FF0000"/>
                </a:solidFill>
                <a:latin typeface="Times New Roman" panose="02020603050405020304" pitchFamily="18" charset="0"/>
                <a:cs typeface="Times New Roman" panose="02020603050405020304" pitchFamily="18" charset="0"/>
              </a:rPr>
              <a:t> NS </a:t>
            </a:r>
            <a:r>
              <a:rPr lang="en-US" b="1" dirty="0" err="1">
                <a:solidFill>
                  <a:srgbClr val="FF0000"/>
                </a:solidFill>
                <a:latin typeface="Times New Roman" panose="02020603050405020304" pitchFamily="18" charset="0"/>
                <a:cs typeface="Times New Roman" panose="02020603050405020304" pitchFamily="18" charset="0"/>
              </a:rPr>
              <a:t>xã</a:t>
            </a: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3200" dirty="0"/>
          </a:p>
        </p:txBody>
      </p:sp>
      <p:sp>
        <p:nvSpPr>
          <p:cNvPr id="6" name="TextBox 5">
            <a:extLst>
              <a:ext uri="{FF2B5EF4-FFF2-40B4-BE49-F238E27FC236}">
                <a16:creationId xmlns:a16="http://schemas.microsoft.com/office/drawing/2014/main" id="{DB648B6F-AE6C-46A1-C693-18B6386AF3F7}"/>
              </a:ext>
            </a:extLst>
          </p:cNvPr>
          <p:cNvSpPr txBox="1"/>
          <p:nvPr/>
        </p:nvSpPr>
        <p:spPr>
          <a:xfrm>
            <a:off x="81583" y="1832004"/>
            <a:ext cx="11737298" cy="4893647"/>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Công </a:t>
            </a:r>
            <a:r>
              <a:rPr lang="en-US" sz="2400" b="1" dirty="0" err="1">
                <a:latin typeface="Times New Roman" panose="02020603050405020304" pitchFamily="18" charset="0"/>
                <a:cs typeface="Times New Roman" panose="02020603050405020304" pitchFamily="18" charset="0"/>
              </a:rPr>
              <a:t>khai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số</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liệu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thuyết</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minh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dự</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toán</a:t>
            </a:r>
            <a:r>
              <a:rPr lang="en-US" sz="2400" b="1" dirty="0">
                <a:latin typeface="Times New Roman" panose="02020603050405020304" pitchFamily="18" charset="0"/>
                <a:cs typeface="Times New Roman" panose="02020603050405020304" pitchFamily="18" charset="0"/>
              </a:rPr>
              <a:t> NS </a:t>
            </a:r>
            <a:r>
              <a:rPr lang="en-US" sz="2400" b="1" dirty="0" err="1">
                <a:latin typeface="Times New Roman" panose="02020603050405020304" pitchFamily="18" charset="0"/>
                <a:cs typeface="Times New Roman" panose="02020603050405020304" pitchFamily="18" charset="0"/>
              </a:rPr>
              <a:t>cấp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xã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trình</a:t>
            </a:r>
            <a:r>
              <a:rPr lang="en-US" sz="2400" b="1" dirty="0">
                <a:latin typeface="Times New Roman" panose="02020603050405020304" pitchFamily="18" charset="0"/>
                <a:cs typeface="Times New Roman" panose="02020603050405020304" pitchFamily="18" charset="0"/>
              </a:rPr>
              <a:t> HĐND </a:t>
            </a:r>
            <a:r>
              <a:rPr lang="en-US" sz="2400" b="1" dirty="0" err="1">
                <a:latin typeface="Times New Roman" panose="02020603050405020304" pitchFamily="18" charset="0"/>
                <a:cs typeface="Times New Roman" panose="02020603050405020304" pitchFamily="18" charset="0"/>
              </a:rPr>
              <a:t>cấp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xã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gồm</a:t>
            </a:r>
            <a:r>
              <a:rPr lang="en-US" sz="2400" b="1"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a) Công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cứ</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xây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hưởng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kèm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nhằm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nguồn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rõ</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trọng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lớn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đến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b) Công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hưởng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toans</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c) </a:t>
            </a:r>
            <a:r>
              <a:rPr lang="en-US" sz="2400" dirty="0" err="1">
                <a:latin typeface="Times New Roman" panose="02020603050405020304" pitchFamily="18" charset="0"/>
                <a:cs typeface="Times New Roman" panose="02020603050405020304" pitchFamily="18" charset="0"/>
              </a:rPr>
              <a:t>Mẫu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biểu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biểu</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a:t>
            </a:r>
          </a:p>
          <a:p>
            <a:pPr algn="just"/>
            <a:r>
              <a:rPr lang="en-US" sz="2400" dirty="0">
                <a:solidFill>
                  <a:srgbClr val="FF0000"/>
                </a:solidFill>
                <a:latin typeface="Times New Roman" panose="02020603050405020304" pitchFamily="18" charset="0"/>
                <a:cs typeface="Times New Roman" panose="02020603050405020304" pitchFamily="18" charset="0"/>
              </a:rPr>
              <a:t>(</a:t>
            </a:r>
            <a:r>
              <a:rPr lang="en-US" sz="2400" dirty="0" err="1">
                <a:solidFill>
                  <a:srgbClr val="FF0000"/>
                </a:solidFill>
                <a:latin typeface="Times New Roman" panose="02020603050405020304" pitchFamily="18" charset="0"/>
                <a:cs typeface="Times New Roman" panose="02020603050405020304" pitchFamily="18" charset="0"/>
              </a:rPr>
              <a:t>Khoản</a:t>
            </a:r>
            <a:r>
              <a:rPr lang="en-US" sz="2400" dirty="0">
                <a:solidFill>
                  <a:srgbClr val="FF0000"/>
                </a:solidFill>
                <a:latin typeface="Times New Roman" panose="02020603050405020304" pitchFamily="18" charset="0"/>
                <a:cs typeface="Times New Roman" panose="02020603050405020304" pitchFamily="18" charset="0"/>
              </a:rPr>
              <a:t> 1, </a:t>
            </a:r>
            <a:r>
              <a:rPr lang="en-US" sz="2400" dirty="0" err="1">
                <a:solidFill>
                  <a:srgbClr val="FF0000"/>
                </a:solidFill>
                <a:latin typeface="Times New Roman" panose="02020603050405020304" pitchFamily="18" charset="0"/>
                <a:cs typeface="Times New Roman" panose="02020603050405020304" pitchFamily="18" charset="0"/>
              </a:rPr>
              <a:t>Điều</a:t>
            </a:r>
            <a:r>
              <a:rPr lang="en-US" sz="2400" dirty="0">
                <a:solidFill>
                  <a:srgbClr val="FF0000"/>
                </a:solidFill>
                <a:latin typeface="Times New Roman" panose="02020603050405020304" pitchFamily="18" charset="0"/>
                <a:cs typeface="Times New Roman" panose="02020603050405020304" pitchFamily="18" charset="0"/>
              </a:rPr>
              <a:t> 26, TT26/2026/TT-BTC)</a:t>
            </a:r>
          </a:p>
        </p:txBody>
      </p:sp>
    </p:spTree>
    <p:extLst>
      <p:ext uri="{BB962C8B-B14F-4D97-AF65-F5344CB8AC3E}">
        <p14:creationId xmlns:p14="http://schemas.microsoft.com/office/powerpoint/2010/main" val="28688850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AC989-2BF6-8645-2CBF-5E610728200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1CF1C38-026D-3A29-A9B9-71987053D457}"/>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7301814B-5FCF-87F2-61DE-C3F23B40A416}"/>
              </a:ext>
            </a:extLst>
          </p:cNvPr>
          <p:cNvSpPr txBox="1">
            <a:spLocks/>
          </p:cNvSpPr>
          <p:nvPr/>
        </p:nvSpPr>
        <p:spPr>
          <a:xfrm>
            <a:off x="344342" y="1338508"/>
            <a:ext cx="11211781"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Công </a:t>
            </a:r>
            <a:r>
              <a:rPr lang="en-US" b="1" dirty="0" err="1">
                <a:solidFill>
                  <a:srgbClr val="FF0000"/>
                </a:solidFill>
                <a:latin typeface="Times New Roman" panose="02020603050405020304" pitchFamily="18" charset="0"/>
                <a:cs typeface="Times New Roman" panose="02020603050405020304" pitchFamily="18" charset="0"/>
              </a:rPr>
              <a:t>khai</a:t>
            </a:r>
            <a:r>
              <a:rPr lang="en-US" b="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dự toán</a:t>
            </a:r>
            <a:r>
              <a:rPr lang="en-US" b="1" dirty="0">
                <a:solidFill>
                  <a:srgbClr val="FF0000"/>
                </a:solidFill>
                <a:latin typeface="Times New Roman" panose="02020603050405020304" pitchFamily="18" charset="0"/>
                <a:cs typeface="Times New Roman" panose="02020603050405020304" pitchFamily="18" charset="0"/>
              </a:rPr>
              <a:t> NS </a:t>
            </a:r>
            <a:r>
              <a:rPr lang="en-US" b="1" dirty="0" err="1">
                <a:solidFill>
                  <a:srgbClr val="FF0000"/>
                </a:solidFill>
                <a:latin typeface="Times New Roman" panose="02020603050405020304" pitchFamily="18" charset="0"/>
                <a:cs typeface="Times New Roman" panose="02020603050405020304" pitchFamily="18" charset="0"/>
              </a:rPr>
              <a:t>xã</a:t>
            </a: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3200" dirty="0"/>
          </a:p>
        </p:txBody>
      </p:sp>
      <p:sp>
        <p:nvSpPr>
          <p:cNvPr id="6" name="TextBox 5">
            <a:extLst>
              <a:ext uri="{FF2B5EF4-FFF2-40B4-BE49-F238E27FC236}">
                <a16:creationId xmlns:a16="http://schemas.microsoft.com/office/drawing/2014/main" id="{AC76DDE5-342E-8388-CCFE-40385A5D4273}"/>
              </a:ext>
            </a:extLst>
          </p:cNvPr>
          <p:cNvSpPr txBox="1"/>
          <p:nvPr/>
        </p:nvSpPr>
        <p:spPr>
          <a:xfrm>
            <a:off x="110360" y="1847769"/>
            <a:ext cx="11737298" cy="3903954"/>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Công </a:t>
            </a:r>
            <a:r>
              <a:rPr lang="en-US" sz="2400" b="1" dirty="0" err="1">
                <a:latin typeface="Times New Roman" panose="02020603050405020304" pitchFamily="18" charset="0"/>
                <a:cs typeface="Times New Roman" panose="02020603050405020304" pitchFamily="18" charset="0"/>
              </a:rPr>
              <a:t>khai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dự</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toán</a:t>
            </a:r>
            <a:r>
              <a:rPr lang="en-US" sz="2400" b="1" dirty="0">
                <a:latin typeface="Times New Roman" panose="02020603050405020304" pitchFamily="18" charset="0"/>
                <a:cs typeface="Times New Roman" panose="02020603050405020304" pitchFamily="18" charset="0"/>
              </a:rPr>
              <a:t> NS </a:t>
            </a:r>
            <a:r>
              <a:rPr lang="en-US" sz="2400" b="1" dirty="0" err="1">
                <a:latin typeface="Times New Roman" panose="02020603050405020304" pitchFamily="18" charset="0"/>
                <a:cs typeface="Times New Roman" panose="02020603050405020304" pitchFamily="18" charset="0"/>
              </a:rPr>
              <a:t>cấp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xã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được</a:t>
            </a:r>
            <a:r>
              <a:rPr lang="en-US" sz="2400" b="1" dirty="0">
                <a:latin typeface="Times New Roman" panose="02020603050405020304" pitchFamily="18" charset="0"/>
                <a:cs typeface="Times New Roman" panose="02020603050405020304" pitchFamily="18" charset="0"/>
              </a:rPr>
              <a:t> HĐND </a:t>
            </a:r>
            <a:r>
              <a:rPr lang="en-US" sz="2400" b="1" dirty="0" err="1">
                <a:latin typeface="Times New Roman" panose="02020603050405020304" pitchFamily="18" charset="0"/>
                <a:cs typeface="Times New Roman" panose="02020603050405020304" pitchFamily="18" charset="0"/>
              </a:rPr>
              <a:t>cấp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xã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quyết</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định</a:t>
            </a:r>
            <a:r>
              <a:rPr lang="en-US" sz="2400" b="1" dirty="0">
                <a:latin typeface="Times New Roman" panose="02020603050405020304" pitchFamily="18" charset="0"/>
                <a:cs typeface="Times New Roman" panose="02020603050405020304" pitchFamily="18" charset="0"/>
              </a:rPr>
              <a:t>:</a:t>
            </a:r>
          </a:p>
          <a:p>
            <a:pPr algn="just">
              <a:lnSpc>
                <a:spcPct val="150000"/>
              </a:lnSpc>
            </a:pPr>
            <a:r>
              <a:rPr lang="en-US" sz="2400" dirty="0">
                <a:latin typeface="Times New Roman" panose="02020603050405020304" pitchFamily="18" charset="0"/>
                <a:cs typeface="Times New Roman" panose="02020603050405020304" pitchFamily="18" charset="0"/>
              </a:rPr>
              <a:t>a) Công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hưởng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latin typeface="Times New Roman" panose="02020603050405020304" pitchFamily="18" charset="0"/>
                <a:cs typeface="Times New Roman" panose="02020603050405020304" pitchFamily="18" charset="0"/>
              </a:rPr>
              <a:t>b) </a:t>
            </a:r>
            <a:r>
              <a:rPr lang="en-US" sz="2400" dirty="0" err="1">
                <a:latin typeface="Times New Roman" panose="02020603050405020304" pitchFamily="18" charset="0"/>
                <a:cs typeface="Times New Roman" panose="02020603050405020304" pitchFamily="18" charset="0"/>
              </a:rPr>
              <a:t>Mẫu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biểu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biểu</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solidFill>
                  <a:srgbClr val="FF0000"/>
                </a:solidFill>
                <a:latin typeface="Times New Roman" panose="02020603050405020304" pitchFamily="18" charset="0"/>
                <a:cs typeface="Times New Roman" panose="02020603050405020304" pitchFamily="18" charset="0"/>
              </a:rPr>
              <a:t>(</a:t>
            </a:r>
            <a:r>
              <a:rPr lang="en-US" sz="2400" dirty="0" err="1">
                <a:solidFill>
                  <a:srgbClr val="FF0000"/>
                </a:solidFill>
                <a:latin typeface="Times New Roman" panose="02020603050405020304" pitchFamily="18" charset="0"/>
                <a:cs typeface="Times New Roman" panose="02020603050405020304" pitchFamily="18" charset="0"/>
              </a:rPr>
              <a:t>Khoản</a:t>
            </a:r>
            <a:r>
              <a:rPr lang="en-US" sz="2400" dirty="0">
                <a:solidFill>
                  <a:srgbClr val="FF0000"/>
                </a:solidFill>
                <a:latin typeface="Times New Roman" panose="02020603050405020304" pitchFamily="18" charset="0"/>
                <a:cs typeface="Times New Roman" panose="02020603050405020304" pitchFamily="18" charset="0"/>
              </a:rPr>
              <a:t> 2, </a:t>
            </a:r>
            <a:r>
              <a:rPr lang="en-US" sz="2400" dirty="0" err="1">
                <a:solidFill>
                  <a:srgbClr val="FF0000"/>
                </a:solidFill>
                <a:latin typeface="Times New Roman" panose="02020603050405020304" pitchFamily="18" charset="0"/>
                <a:cs typeface="Times New Roman" panose="02020603050405020304" pitchFamily="18" charset="0"/>
              </a:rPr>
              <a:t>Điều</a:t>
            </a:r>
            <a:r>
              <a:rPr lang="en-US" sz="2400" dirty="0">
                <a:solidFill>
                  <a:srgbClr val="FF0000"/>
                </a:solidFill>
                <a:latin typeface="Times New Roman" panose="02020603050405020304" pitchFamily="18" charset="0"/>
                <a:cs typeface="Times New Roman" panose="02020603050405020304" pitchFamily="18" charset="0"/>
              </a:rPr>
              <a:t> 26, TT26/2026/TT-BTC)</a:t>
            </a:r>
          </a:p>
        </p:txBody>
      </p:sp>
    </p:spTree>
    <p:extLst>
      <p:ext uri="{BB962C8B-B14F-4D97-AF65-F5344CB8AC3E}">
        <p14:creationId xmlns:p14="http://schemas.microsoft.com/office/powerpoint/2010/main" val="16927458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53BBE-FC60-9342-2B83-9EBC784E77D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7E4CDC5-D405-1F02-329C-55BBE2F486C1}"/>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C30BA9A4-3382-9873-BCAD-30825EDDD675}"/>
              </a:ext>
            </a:extLst>
          </p:cNvPr>
          <p:cNvSpPr txBox="1">
            <a:spLocks/>
          </p:cNvSpPr>
          <p:nvPr/>
        </p:nvSpPr>
        <p:spPr>
          <a:xfrm>
            <a:off x="344342" y="1338508"/>
            <a:ext cx="11211781"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Công </a:t>
            </a:r>
            <a:r>
              <a:rPr lang="en-US" b="1" dirty="0" err="1">
                <a:solidFill>
                  <a:srgbClr val="FF0000"/>
                </a:solidFill>
                <a:latin typeface="Times New Roman" panose="02020603050405020304" pitchFamily="18" charset="0"/>
                <a:cs typeface="Times New Roman" panose="02020603050405020304" pitchFamily="18" charset="0"/>
              </a:rPr>
              <a:t>khai</a:t>
            </a:r>
            <a:r>
              <a:rPr lang="en-US" b="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dự toán</a:t>
            </a:r>
            <a:r>
              <a:rPr lang="en-US" b="1" dirty="0">
                <a:solidFill>
                  <a:srgbClr val="FF0000"/>
                </a:solidFill>
                <a:latin typeface="Times New Roman" panose="02020603050405020304" pitchFamily="18" charset="0"/>
                <a:cs typeface="Times New Roman" panose="02020603050405020304" pitchFamily="18" charset="0"/>
              </a:rPr>
              <a:t> NS </a:t>
            </a:r>
            <a:r>
              <a:rPr lang="en-US" b="1" dirty="0" err="1">
                <a:solidFill>
                  <a:srgbClr val="FF0000"/>
                </a:solidFill>
                <a:latin typeface="Times New Roman" panose="02020603050405020304" pitchFamily="18" charset="0"/>
                <a:cs typeface="Times New Roman" panose="02020603050405020304" pitchFamily="18" charset="0"/>
              </a:rPr>
              <a:t>xã</a:t>
            </a: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3200" dirty="0"/>
          </a:p>
        </p:txBody>
      </p:sp>
      <p:sp>
        <p:nvSpPr>
          <p:cNvPr id="6" name="TextBox 5">
            <a:extLst>
              <a:ext uri="{FF2B5EF4-FFF2-40B4-BE49-F238E27FC236}">
                <a16:creationId xmlns:a16="http://schemas.microsoft.com/office/drawing/2014/main" id="{799E5B13-AA71-D5D2-AF2F-4985FA1B4498}"/>
              </a:ext>
            </a:extLst>
          </p:cNvPr>
          <p:cNvSpPr txBox="1"/>
          <p:nvPr/>
        </p:nvSpPr>
        <p:spPr>
          <a:xfrm>
            <a:off x="110360" y="1847769"/>
            <a:ext cx="11737298" cy="3903954"/>
          </a:xfrm>
          <a:prstGeom prst="rect">
            <a:avLst/>
          </a:prstGeom>
          <a:noFill/>
        </p:spPr>
        <p:txBody>
          <a:bodyPr wrap="square" rtlCol="0">
            <a:spAutoFit/>
          </a:bodyPr>
          <a:lstStyle/>
          <a:p>
            <a:pPr algn="just">
              <a:lnSpc>
                <a:spcPct val="150000"/>
              </a:lnSpc>
            </a:pPr>
            <a:r>
              <a:rPr lang="en-US" sz="2400" b="1" dirty="0" err="1">
                <a:latin typeface="Times New Roman" panose="02020603050405020304" pitchFamily="18" charset="0"/>
                <a:cs typeface="Times New Roman" panose="02020603050405020304" pitchFamily="18" charset="0"/>
              </a:rPr>
              <a:t>Hình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thức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công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khai</a:t>
            </a:r>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niêm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sở</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ấn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điện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đại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điện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bắt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điện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solidFill>
                  <a:srgbClr val="FF0000"/>
                </a:solidFill>
                <a:latin typeface="Times New Roman" panose="02020603050405020304" pitchFamily="18" charset="0"/>
                <a:cs typeface="Times New Roman" panose="02020603050405020304" pitchFamily="18" charset="0"/>
              </a:rPr>
              <a:t>(</a:t>
            </a:r>
            <a:r>
              <a:rPr lang="en-US" sz="2400" dirty="0" err="1">
                <a:solidFill>
                  <a:srgbClr val="FF0000"/>
                </a:solidFill>
                <a:latin typeface="Times New Roman" panose="02020603050405020304" pitchFamily="18" charset="0"/>
                <a:cs typeface="Times New Roman" panose="02020603050405020304" pitchFamily="18" charset="0"/>
              </a:rPr>
              <a:t>Điểm</a:t>
            </a:r>
            <a:r>
              <a:rPr lang="en-US" sz="2400" dirty="0">
                <a:solidFill>
                  <a:srgbClr val="FF0000"/>
                </a:solidFill>
                <a:latin typeface="Times New Roman" panose="02020603050405020304" pitchFamily="18" charset="0"/>
                <a:cs typeface="Times New Roman" panose="02020603050405020304" pitchFamily="18" charset="0"/>
              </a:rPr>
              <a:t> b, </a:t>
            </a:r>
            <a:r>
              <a:rPr lang="en-US" sz="2400" dirty="0" err="1">
                <a:solidFill>
                  <a:srgbClr val="FF0000"/>
                </a:solidFill>
                <a:latin typeface="Times New Roman" panose="02020603050405020304" pitchFamily="18" charset="0"/>
                <a:cs typeface="Times New Roman" panose="02020603050405020304" pitchFamily="18" charset="0"/>
              </a:rPr>
              <a:t>Khoản</a:t>
            </a:r>
            <a:r>
              <a:rPr lang="en-US" sz="2400" dirty="0">
                <a:solidFill>
                  <a:srgbClr val="FF0000"/>
                </a:solidFill>
                <a:latin typeface="Times New Roman" panose="02020603050405020304" pitchFamily="18" charset="0"/>
                <a:cs typeface="Times New Roman" panose="02020603050405020304" pitchFamily="18" charset="0"/>
              </a:rPr>
              <a:t> 1, </a:t>
            </a:r>
            <a:r>
              <a:rPr lang="en-US" sz="2400" dirty="0" err="1">
                <a:solidFill>
                  <a:srgbClr val="FF0000"/>
                </a:solidFill>
                <a:latin typeface="Times New Roman" panose="02020603050405020304" pitchFamily="18" charset="0"/>
                <a:cs typeface="Times New Roman" panose="02020603050405020304" pitchFamily="18" charset="0"/>
              </a:rPr>
              <a:t>Điều</a:t>
            </a:r>
            <a:r>
              <a:rPr lang="en-US" sz="2400" dirty="0">
                <a:solidFill>
                  <a:srgbClr val="FF0000"/>
                </a:solidFill>
                <a:latin typeface="Times New Roman" panose="02020603050405020304" pitchFamily="18" charset="0"/>
                <a:cs typeface="Times New Roman" panose="02020603050405020304" pitchFamily="18" charset="0"/>
              </a:rPr>
              <a:t> 15, </a:t>
            </a:r>
            <a:r>
              <a:rPr lang="en-US" sz="2400" dirty="0" err="1">
                <a:solidFill>
                  <a:srgbClr val="FF0000"/>
                </a:solidFill>
                <a:latin typeface="Times New Roman" panose="02020603050405020304" pitchFamily="18" charset="0"/>
                <a:cs typeface="Times New Roman" panose="02020603050405020304" pitchFamily="18" charset="0"/>
              </a:rPr>
              <a:t>Luật</a:t>
            </a:r>
            <a:r>
              <a:rPr lang="en-US" sz="2400" dirty="0">
                <a:solidFill>
                  <a:srgbClr val="FF0000"/>
                </a:solidFill>
                <a:latin typeface="Times New Roman" panose="02020603050405020304" pitchFamily="18" charset="0"/>
                <a:cs typeface="Times New Roman" panose="02020603050405020304" pitchFamily="18" charset="0"/>
              </a:rPr>
              <a:t> NSNN 2025)</a:t>
            </a:r>
          </a:p>
        </p:txBody>
      </p:sp>
    </p:spTree>
    <p:extLst>
      <p:ext uri="{BB962C8B-B14F-4D97-AF65-F5344CB8AC3E}">
        <p14:creationId xmlns:p14="http://schemas.microsoft.com/office/powerpoint/2010/main" val="14133648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6314</TotalTime>
  <Words>13484</Words>
  <Application>Microsoft Office PowerPoint</Application>
  <PresentationFormat>Widescreen</PresentationFormat>
  <Paragraphs>561</Paragraphs>
  <Slides>68</Slides>
  <Notes>59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68</vt:i4>
      </vt:variant>
    </vt:vector>
  </HeadingPairs>
  <TitlesOfParts>
    <vt:vector size="79" baseType="lpstr">
      <vt:lpstr>Aptos</vt:lpstr>
      <vt:lpstr>Aptos Display</vt:lpstr>
      <vt:lpstr>Arial</vt:lpstr>
      <vt:lpstr>Chivo</vt:lpstr>
      <vt:lpstr>Chivo Medium</vt:lpstr>
      <vt:lpstr>Gill Sans MT</vt:lpstr>
      <vt:lpstr>Times</vt:lpstr>
      <vt:lpstr>Times New Roman</vt:lpstr>
      <vt:lpstr>Wingdings</vt:lpstr>
      <vt:lpstr>Office Theme</vt:lpstr>
      <vt:lpstr>Gallery</vt:lpstr>
      <vt:lpstr>PowerPoint Presentation</vt:lpstr>
      <vt:lpstr>NỘI DUNG</vt:lpstr>
      <vt:lpstr>PowerPoint Presentation</vt:lpstr>
      <vt:lpstr>MỤC TIÊU CHƯƠNG 3</vt:lpstr>
      <vt:lpstr>TÀI LIỆU HỌC TẬP</vt:lpstr>
      <vt:lpstr>TÀI LIỆU HỌC TẬP</vt:lpstr>
      <vt:lpstr>TÀI LIỆU HỌC TẬP</vt:lpstr>
      <vt:lpstr>TÀI LIỆU HỌC TẬP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595</dc:creator>
  <cp:lastModifiedBy>Thang Tran Thanh</cp:lastModifiedBy>
  <cp:revision>49</cp:revision>
  <dcterms:created xsi:type="dcterms:W3CDTF">2025-05-08T12:26:13Z</dcterms:created>
  <dcterms:modified xsi:type="dcterms:W3CDTF">2026-04-23T01:16:48Z</dcterms:modified>
</cp:coreProperties>
</file>