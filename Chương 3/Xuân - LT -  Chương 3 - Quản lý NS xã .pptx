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 id="2147483677" r:id="rId2"/>
  </p:sldMasterIdLst>
  <p:notesMasterIdLst>
    <p:notesMasterId r:id="rId36"/>
  </p:notesMasterIdLst>
  <p:sldIdLst>
    <p:sldId id="256" r:id="rId3"/>
    <p:sldId id="264" r:id="rId4"/>
    <p:sldId id="1886" r:id="rId5"/>
    <p:sldId id="272" r:id="rId6"/>
    <p:sldId id="270" r:id="rId7"/>
    <p:sldId id="266" r:id="rId8"/>
    <p:sldId id="268" r:id="rId9"/>
    <p:sldId id="275" r:id="rId10"/>
    <p:sldId id="1885" r:id="rId11"/>
    <p:sldId id="603" r:id="rId12"/>
    <p:sldId id="3724" r:id="rId13"/>
    <p:sldId id="3719" r:id="rId14"/>
    <p:sldId id="3696" r:id="rId15"/>
    <p:sldId id="3715" r:id="rId16"/>
    <p:sldId id="3714" r:id="rId17"/>
    <p:sldId id="3716" r:id="rId18"/>
    <p:sldId id="3717" r:id="rId19"/>
    <p:sldId id="3718" r:id="rId20"/>
    <p:sldId id="3713" r:id="rId21"/>
    <p:sldId id="3711" r:id="rId22"/>
    <p:sldId id="3712" r:id="rId23"/>
    <p:sldId id="3697" r:id="rId24"/>
    <p:sldId id="3701" r:id="rId25"/>
    <p:sldId id="3699" r:id="rId26"/>
    <p:sldId id="3704" r:id="rId27"/>
    <p:sldId id="3698" r:id="rId28"/>
    <p:sldId id="3705" r:id="rId29"/>
    <p:sldId id="3706" r:id="rId30"/>
    <p:sldId id="3720" r:id="rId31"/>
    <p:sldId id="3707" r:id="rId32"/>
    <p:sldId id="3710" r:id="rId33"/>
    <p:sldId id="3721" r:id="rId34"/>
    <p:sldId id="1906" r:id="rId35"/>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B7D"/>
    <a:srgbClr val="E8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18" autoAdjust="0"/>
    <p:restoredTop sz="94061" autoAdjust="0"/>
  </p:normalViewPr>
  <p:slideViewPr>
    <p:cSldViewPr snapToGrid="0">
      <p:cViewPr varScale="1">
        <p:scale>
          <a:sx n="61" d="100"/>
          <a:sy n="61" d="100"/>
        </p:scale>
        <p:origin x="8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8C07B6-2451-4D6C-9629-8791FF24AAD3}"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792DA5A3-6A82-4742-91F3-40BB5B5B2C0E}">
      <dgm:prSet custT="1"/>
      <dgm:spPr/>
      <dgm:t>
        <a:bodyPr/>
        <a:lstStyle/>
        <a:p>
          <a:pPr rtl="0"/>
          <a:r>
            <a:rPr lang="vi-VN" sz="3200" b="1" dirty="0">
              <a:solidFill>
                <a:schemeClr val="bg1"/>
              </a:solidFill>
              <a:latin typeface="Times New Roman" panose="02020603050405020304" pitchFamily="18" charset="0"/>
              <a:cs typeface="Times New Roman" panose="02020603050405020304" pitchFamily="18" charset="0"/>
            </a:rPr>
            <a:t>Chương</a:t>
          </a:r>
          <a:r>
            <a:rPr lang="en-US" sz="3200" b="1" dirty="0">
              <a:solidFill>
                <a:schemeClr val="bg1"/>
              </a:solidFill>
              <a:latin typeface="Times New Roman" panose="02020603050405020304" pitchFamily="18" charset="0"/>
              <a:cs typeface="Times New Roman" panose="02020603050405020304" pitchFamily="18" charset="0"/>
            </a:rPr>
            <a:t> 1: </a:t>
          </a:r>
          <a:r>
            <a:rPr lang="vi-VN" sz="3200" b="1" dirty="0">
              <a:solidFill>
                <a:schemeClr val="bg1"/>
              </a:solidFill>
              <a:latin typeface="Times New Roman" panose="02020603050405020304" pitchFamily="18" charset="0"/>
              <a:cs typeface="Times New Roman" panose="02020603050405020304" pitchFamily="18" charset="0"/>
            </a:rPr>
            <a:t>Tổng quan về </a:t>
          </a:r>
          <a:r>
            <a:rPr lang="en-US" sz="3200" b="1" dirty="0">
              <a:solidFill>
                <a:schemeClr val="bg1"/>
              </a:solidFill>
              <a:latin typeface="Times New Roman" panose="02020603050405020304" pitchFamily="18" charset="0"/>
              <a:cs typeface="Times New Roman" panose="02020603050405020304" pitchFamily="18" charset="0"/>
            </a:rPr>
            <a:t>TCC </a:t>
          </a:r>
          <a:r>
            <a:rPr lang="en-US" sz="3200" b="1" dirty="0" err="1">
              <a:solidFill>
                <a:schemeClr val="bg1"/>
              </a:solidFill>
              <a:latin typeface="Times New Roman" panose="02020603050405020304" pitchFamily="18" charset="0"/>
              <a:cs typeface="Times New Roman" panose="02020603050405020304" pitchFamily="18" charset="0"/>
            </a:rPr>
            <a:t>và</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quản</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lý</a:t>
          </a:r>
          <a:r>
            <a:rPr lang="en-US" sz="3200" b="1" dirty="0">
              <a:solidFill>
                <a:schemeClr val="bg1"/>
              </a:solidFill>
              <a:latin typeface="Times New Roman" panose="02020603050405020304" pitchFamily="18" charset="0"/>
              <a:cs typeface="Times New Roman" panose="02020603050405020304" pitchFamily="18" charset="0"/>
            </a:rPr>
            <a:t> TCC</a:t>
          </a:r>
        </a:p>
      </dgm:t>
    </dgm:pt>
    <dgm:pt modelId="{5F2147CC-BE4E-46A9-9B1B-C298902C2DD0}" type="parTrans" cxnId="{F24B02F3-7FA5-40E2-BD50-A284406546B7}">
      <dgm:prSet/>
      <dgm:spPr/>
      <dgm:t>
        <a:bodyPr/>
        <a:lstStyle/>
        <a:p>
          <a:endParaRPr lang="en-US"/>
        </a:p>
      </dgm:t>
    </dgm:pt>
    <dgm:pt modelId="{7894BB4F-5D6F-4C97-9953-BA046C48D141}" type="sibTrans" cxnId="{F24B02F3-7FA5-40E2-BD50-A284406546B7}">
      <dgm:prSet/>
      <dgm:spPr/>
      <dgm:t>
        <a:bodyPr/>
        <a:lstStyle/>
        <a:p>
          <a:endParaRPr lang="en-US"/>
        </a:p>
      </dgm:t>
    </dgm:pt>
    <dgm:pt modelId="{B722C70B-ED1D-4434-8C27-A18E327A1477}">
      <dgm:prSet custT="1"/>
      <dgm:spPr/>
      <dgm:t>
        <a:bodyPr/>
        <a:lstStyle/>
        <a:p>
          <a:pPr rtl="0"/>
          <a:r>
            <a:rPr lang="en-US" sz="3200" b="1" dirty="0" err="1">
              <a:solidFill>
                <a:schemeClr val="bg1"/>
              </a:solidFill>
              <a:latin typeface="Times New Roman" panose="02020603050405020304" pitchFamily="18" charset="0"/>
              <a:cs typeface="Times New Roman" panose="02020603050405020304" pitchFamily="18" charset="0"/>
            </a:rPr>
            <a:t>Chương</a:t>
          </a:r>
          <a:r>
            <a:rPr lang="en-US" sz="3200" b="1" dirty="0">
              <a:solidFill>
                <a:schemeClr val="bg1"/>
              </a:solidFill>
              <a:latin typeface="Times New Roman" panose="02020603050405020304" pitchFamily="18" charset="0"/>
              <a:cs typeface="Times New Roman" panose="02020603050405020304" pitchFamily="18" charset="0"/>
            </a:rPr>
            <a:t> 2: Quản </a:t>
          </a:r>
          <a:r>
            <a:rPr lang="en-US" sz="3200" b="1" dirty="0" err="1">
              <a:solidFill>
                <a:schemeClr val="bg1"/>
              </a:solidFill>
              <a:latin typeface="Times New Roman" panose="02020603050405020304" pitchFamily="18" charset="0"/>
              <a:cs typeface="Times New Roman" panose="02020603050405020304" pitchFamily="18" charset="0"/>
            </a:rPr>
            <a:t>lý</a:t>
          </a:r>
          <a:r>
            <a:rPr lang="en-US" sz="3200" b="1" dirty="0">
              <a:solidFill>
                <a:schemeClr val="bg1"/>
              </a:solidFill>
              <a:latin typeface="Times New Roman" panose="02020603050405020304" pitchFamily="18" charset="0"/>
              <a:cs typeface="Times New Roman" panose="02020603050405020304" pitchFamily="18" charset="0"/>
            </a:rPr>
            <a:t> Ngân </a:t>
          </a:r>
          <a:r>
            <a:rPr lang="en-US" sz="3200" b="1" dirty="0" err="1">
              <a:solidFill>
                <a:schemeClr val="bg1"/>
              </a:solidFill>
              <a:latin typeface="Times New Roman" panose="02020603050405020304" pitchFamily="18" charset="0"/>
              <a:cs typeface="Times New Roman" panose="02020603050405020304" pitchFamily="18" charset="0"/>
            </a:rPr>
            <a:t>sách</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nhà</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nước</a:t>
          </a:r>
          <a:endParaRPr lang="en-US" sz="3200" b="1" dirty="0">
            <a:solidFill>
              <a:schemeClr val="bg1"/>
            </a:solidFill>
            <a:latin typeface="Times New Roman" panose="02020603050405020304" pitchFamily="18" charset="0"/>
            <a:cs typeface="Times New Roman" panose="02020603050405020304" pitchFamily="18" charset="0"/>
          </a:endParaRPr>
        </a:p>
      </dgm:t>
    </dgm:pt>
    <dgm:pt modelId="{5AF53FBE-6F89-40DF-8ABC-19865F0811D2}" type="parTrans" cxnId="{82FD3E0E-89ED-4F96-A76E-F0D0A1F3E9FB}">
      <dgm:prSet/>
      <dgm:spPr/>
      <dgm:t>
        <a:bodyPr/>
        <a:lstStyle/>
        <a:p>
          <a:endParaRPr lang="en-US"/>
        </a:p>
      </dgm:t>
    </dgm:pt>
    <dgm:pt modelId="{7F4A9CD1-CB98-455E-9F74-A6A22A7EB265}" type="sibTrans" cxnId="{82FD3E0E-89ED-4F96-A76E-F0D0A1F3E9FB}">
      <dgm:prSet/>
      <dgm:spPr/>
      <dgm:t>
        <a:bodyPr/>
        <a:lstStyle/>
        <a:p>
          <a:endParaRPr lang="en-US"/>
        </a:p>
      </dgm:t>
    </dgm:pt>
    <dgm:pt modelId="{953ADA59-D3E1-40A1-8D4F-9A765A34DAF7}">
      <dgm:prSet custT="1"/>
      <dgm:spPr/>
      <dgm:t>
        <a:bodyPr/>
        <a:lstStyle/>
        <a:p>
          <a:pPr rtl="0"/>
          <a:r>
            <a:rPr lang="en-US" sz="3200" b="1" dirty="0" err="1">
              <a:solidFill>
                <a:schemeClr val="bg1"/>
              </a:solidFill>
              <a:latin typeface="Times New Roman" panose="02020603050405020304" pitchFamily="18" charset="0"/>
              <a:cs typeface="Times New Roman" panose="02020603050405020304" pitchFamily="18" charset="0"/>
            </a:rPr>
            <a:t>Chương</a:t>
          </a:r>
          <a:r>
            <a:rPr lang="en-US" sz="3200" b="1" dirty="0">
              <a:solidFill>
                <a:schemeClr val="bg1"/>
              </a:solidFill>
              <a:latin typeface="Times New Roman" panose="02020603050405020304" pitchFamily="18" charset="0"/>
              <a:cs typeface="Times New Roman" panose="02020603050405020304" pitchFamily="18" charset="0"/>
            </a:rPr>
            <a:t> 3: </a:t>
          </a:r>
          <a:r>
            <a:rPr lang="vi-VN" sz="3200" b="1" dirty="0">
              <a:solidFill>
                <a:schemeClr val="bg1"/>
              </a:solidFill>
              <a:latin typeface="Times New Roman" panose="02020603050405020304" pitchFamily="18" charset="0"/>
              <a:cs typeface="Times New Roman" panose="02020603050405020304" pitchFamily="18" charset="0"/>
            </a:rPr>
            <a:t>Quản lý ngân sách xã</a:t>
          </a:r>
          <a:endParaRPr lang="en-US" sz="3200" b="1" dirty="0">
            <a:solidFill>
              <a:schemeClr val="bg1"/>
            </a:solidFill>
            <a:latin typeface="Times New Roman" panose="02020603050405020304" pitchFamily="18" charset="0"/>
            <a:cs typeface="Times New Roman" panose="02020603050405020304" pitchFamily="18" charset="0"/>
          </a:endParaRPr>
        </a:p>
      </dgm:t>
    </dgm:pt>
    <dgm:pt modelId="{3CA46FB3-6DD7-4AF9-90B0-25665D0BA84A}" type="parTrans" cxnId="{8AFC9255-09A1-4CBE-A6A4-02662B50AC0A}">
      <dgm:prSet/>
      <dgm:spPr/>
      <dgm:t>
        <a:bodyPr/>
        <a:lstStyle/>
        <a:p>
          <a:endParaRPr lang="en-US"/>
        </a:p>
      </dgm:t>
    </dgm:pt>
    <dgm:pt modelId="{8AC9B02A-2770-4CD3-AB0B-CF65885F17BF}" type="sibTrans" cxnId="{8AFC9255-09A1-4CBE-A6A4-02662B50AC0A}">
      <dgm:prSet/>
      <dgm:spPr/>
      <dgm:t>
        <a:bodyPr/>
        <a:lstStyle/>
        <a:p>
          <a:endParaRPr lang="en-US"/>
        </a:p>
      </dgm:t>
    </dgm:pt>
    <dgm:pt modelId="{2FD66D11-D4A9-4AF9-9814-3B1A70BF8713}">
      <dgm:prSet custT="1"/>
      <dgm:spPr>
        <a:solidFill>
          <a:schemeClr val="accent6">
            <a:lumMod val="60000"/>
            <a:lumOff val="40000"/>
          </a:schemeClr>
        </a:solidFill>
      </dgm:spPr>
      <dgm:t>
        <a:bodyPr/>
        <a:lstStyle/>
        <a:p>
          <a:pPr rtl="0"/>
          <a:r>
            <a:rPr lang="it-IT" sz="3200" b="1" dirty="0">
              <a:solidFill>
                <a:schemeClr val="bg1"/>
              </a:solidFill>
              <a:latin typeface="Times New Roman" panose="02020603050405020304" pitchFamily="18" charset="0"/>
              <a:cs typeface="Times New Roman" panose="02020603050405020304" pitchFamily="18" charset="0"/>
            </a:rPr>
            <a:t>Chương 4: Quản lý tài chính </a:t>
          </a:r>
          <a:r>
            <a:rPr lang="vi-VN" sz="3200" b="1" dirty="0">
              <a:solidFill>
                <a:schemeClr val="bg1"/>
              </a:solidFill>
              <a:latin typeface="Times New Roman" panose="02020603050405020304" pitchFamily="18" charset="0"/>
              <a:cs typeface="Times New Roman" panose="02020603050405020304" pitchFamily="18" charset="0"/>
            </a:rPr>
            <a:t>trong</a:t>
          </a:r>
          <a:r>
            <a:rPr lang="it-IT" sz="3200" b="1" dirty="0">
              <a:solidFill>
                <a:schemeClr val="bg1"/>
              </a:solidFill>
              <a:latin typeface="Times New Roman" panose="02020603050405020304" pitchFamily="18" charset="0"/>
              <a:cs typeface="Times New Roman" panose="02020603050405020304" pitchFamily="18" charset="0"/>
            </a:rPr>
            <a:t> các cơ quan nhà nước và đơn vị sự nghiệp</a:t>
          </a:r>
          <a:endParaRPr lang="en-US" sz="3200" b="1" dirty="0">
            <a:solidFill>
              <a:schemeClr val="bg1"/>
            </a:solidFill>
            <a:latin typeface="Times New Roman" panose="02020603050405020304" pitchFamily="18" charset="0"/>
            <a:cs typeface="Times New Roman" panose="02020603050405020304" pitchFamily="18" charset="0"/>
          </a:endParaRPr>
        </a:p>
      </dgm:t>
    </dgm:pt>
    <dgm:pt modelId="{1DA4E948-1673-4AB0-9ADB-CCBD259F374D}" type="parTrans" cxnId="{C5220F29-079F-4D60-839B-844D29187AA5}">
      <dgm:prSet/>
      <dgm:spPr/>
      <dgm:t>
        <a:bodyPr/>
        <a:lstStyle/>
        <a:p>
          <a:endParaRPr lang="en-US"/>
        </a:p>
      </dgm:t>
    </dgm:pt>
    <dgm:pt modelId="{D9A9E89B-4428-4152-8AC4-45A620EAFC22}" type="sibTrans" cxnId="{C5220F29-079F-4D60-839B-844D29187AA5}">
      <dgm:prSet/>
      <dgm:spPr/>
      <dgm:t>
        <a:bodyPr/>
        <a:lstStyle/>
        <a:p>
          <a:endParaRPr lang="en-US"/>
        </a:p>
      </dgm:t>
    </dgm:pt>
    <dgm:pt modelId="{489BEF3D-90E3-45DD-89C3-AF664E0E5092}" type="pres">
      <dgm:prSet presAssocID="{EF8C07B6-2451-4D6C-9629-8791FF24AAD3}" presName="Name0" presStyleCnt="0">
        <dgm:presLayoutVars>
          <dgm:chMax val="7"/>
          <dgm:chPref val="7"/>
          <dgm:dir/>
        </dgm:presLayoutVars>
      </dgm:prSet>
      <dgm:spPr/>
    </dgm:pt>
    <dgm:pt modelId="{24624BDD-CFC4-4DBC-B564-CB39527E8CB3}" type="pres">
      <dgm:prSet presAssocID="{EF8C07B6-2451-4D6C-9629-8791FF24AAD3}" presName="Name1" presStyleCnt="0"/>
      <dgm:spPr/>
    </dgm:pt>
    <dgm:pt modelId="{6755D732-F83B-4459-8314-7BFAF651B430}" type="pres">
      <dgm:prSet presAssocID="{EF8C07B6-2451-4D6C-9629-8791FF24AAD3}" presName="cycle" presStyleCnt="0"/>
      <dgm:spPr/>
    </dgm:pt>
    <dgm:pt modelId="{D72F9A06-19AE-4322-8943-13F5A62FAA1B}" type="pres">
      <dgm:prSet presAssocID="{EF8C07B6-2451-4D6C-9629-8791FF24AAD3}" presName="srcNode" presStyleLbl="node1" presStyleIdx="0" presStyleCnt="4"/>
      <dgm:spPr/>
    </dgm:pt>
    <dgm:pt modelId="{FBEFBF75-64EB-4F7E-A926-A4E66F89C7B0}" type="pres">
      <dgm:prSet presAssocID="{EF8C07B6-2451-4D6C-9629-8791FF24AAD3}" presName="conn" presStyleLbl="parChTrans1D2" presStyleIdx="0" presStyleCnt="1"/>
      <dgm:spPr/>
    </dgm:pt>
    <dgm:pt modelId="{173AB7EC-8BFC-42E7-8C32-A6569A06A0BE}" type="pres">
      <dgm:prSet presAssocID="{EF8C07B6-2451-4D6C-9629-8791FF24AAD3}" presName="extraNode" presStyleLbl="node1" presStyleIdx="0" presStyleCnt="4"/>
      <dgm:spPr/>
    </dgm:pt>
    <dgm:pt modelId="{BFDD0280-CA4B-48C5-A027-9A0A8AD512AF}" type="pres">
      <dgm:prSet presAssocID="{EF8C07B6-2451-4D6C-9629-8791FF24AAD3}" presName="dstNode" presStyleLbl="node1" presStyleIdx="0" presStyleCnt="4"/>
      <dgm:spPr/>
    </dgm:pt>
    <dgm:pt modelId="{903D4C07-2F7B-4768-B940-9EC734D124AC}" type="pres">
      <dgm:prSet presAssocID="{792DA5A3-6A82-4742-91F3-40BB5B5B2C0E}" presName="text_1" presStyleLbl="node1" presStyleIdx="0" presStyleCnt="4">
        <dgm:presLayoutVars>
          <dgm:bulletEnabled val="1"/>
        </dgm:presLayoutVars>
      </dgm:prSet>
      <dgm:spPr/>
    </dgm:pt>
    <dgm:pt modelId="{88DED3E1-FEA1-4672-AE97-A4E37130614E}" type="pres">
      <dgm:prSet presAssocID="{792DA5A3-6A82-4742-91F3-40BB5B5B2C0E}" presName="accent_1" presStyleCnt="0"/>
      <dgm:spPr/>
    </dgm:pt>
    <dgm:pt modelId="{666DCB58-F458-4F2E-B413-E6EC71986A16}" type="pres">
      <dgm:prSet presAssocID="{792DA5A3-6A82-4742-91F3-40BB5B5B2C0E}" presName="accentRepeatNode" presStyleLbl="solidFgAcc1" presStyleIdx="0" presStyleCnt="4" custLinFactNeighborX="5596"/>
      <dgm:spPr/>
    </dgm:pt>
    <dgm:pt modelId="{A5EF71E6-87C1-4DA1-AFF7-D586E2B69EAC}" type="pres">
      <dgm:prSet presAssocID="{B722C70B-ED1D-4434-8C27-A18E327A1477}" presName="text_2" presStyleLbl="node1" presStyleIdx="1" presStyleCnt="4">
        <dgm:presLayoutVars>
          <dgm:bulletEnabled val="1"/>
        </dgm:presLayoutVars>
      </dgm:prSet>
      <dgm:spPr/>
    </dgm:pt>
    <dgm:pt modelId="{4D7DA0B5-4BD6-473B-9D94-709A90D5813E}" type="pres">
      <dgm:prSet presAssocID="{B722C70B-ED1D-4434-8C27-A18E327A1477}" presName="accent_2" presStyleCnt="0"/>
      <dgm:spPr/>
    </dgm:pt>
    <dgm:pt modelId="{03B14AF4-B5B8-4120-A94F-C42F3ACBD4C0}" type="pres">
      <dgm:prSet presAssocID="{B722C70B-ED1D-4434-8C27-A18E327A1477}" presName="accentRepeatNode" presStyleLbl="solidFgAcc1" presStyleIdx="1" presStyleCnt="4"/>
      <dgm:spPr/>
    </dgm:pt>
    <dgm:pt modelId="{F24AED53-8AE0-4CB9-A674-944D01F5AFA7}" type="pres">
      <dgm:prSet presAssocID="{953ADA59-D3E1-40A1-8D4F-9A765A34DAF7}" presName="text_3" presStyleLbl="node1" presStyleIdx="2" presStyleCnt="4">
        <dgm:presLayoutVars>
          <dgm:bulletEnabled val="1"/>
        </dgm:presLayoutVars>
      </dgm:prSet>
      <dgm:spPr/>
    </dgm:pt>
    <dgm:pt modelId="{CBA4C8A9-B062-4206-9D5F-771AF8547386}" type="pres">
      <dgm:prSet presAssocID="{953ADA59-D3E1-40A1-8D4F-9A765A34DAF7}" presName="accent_3" presStyleCnt="0"/>
      <dgm:spPr/>
    </dgm:pt>
    <dgm:pt modelId="{7E79FFA8-5D9C-4C34-BC10-348E5B7963B1}" type="pres">
      <dgm:prSet presAssocID="{953ADA59-D3E1-40A1-8D4F-9A765A34DAF7}" presName="accentRepeatNode" presStyleLbl="solidFgAcc1" presStyleIdx="2" presStyleCnt="4"/>
      <dgm:spPr/>
    </dgm:pt>
    <dgm:pt modelId="{6217FA50-8478-467B-ACA9-B6E1B62BD4D6}" type="pres">
      <dgm:prSet presAssocID="{2FD66D11-D4A9-4AF9-9814-3B1A70BF8713}" presName="text_4" presStyleLbl="node1" presStyleIdx="3" presStyleCnt="4" custScaleY="126380">
        <dgm:presLayoutVars>
          <dgm:bulletEnabled val="1"/>
        </dgm:presLayoutVars>
      </dgm:prSet>
      <dgm:spPr/>
    </dgm:pt>
    <dgm:pt modelId="{6E463F9C-C7C9-42A5-9C60-157BE3B22711}" type="pres">
      <dgm:prSet presAssocID="{2FD66D11-D4A9-4AF9-9814-3B1A70BF8713}" presName="accent_4" presStyleCnt="0"/>
      <dgm:spPr/>
    </dgm:pt>
    <dgm:pt modelId="{6E402C4B-EDFD-42F0-AB38-9FE8CE6F595A}" type="pres">
      <dgm:prSet presAssocID="{2FD66D11-D4A9-4AF9-9814-3B1A70BF8713}" presName="accentRepeatNode" presStyleLbl="solidFgAcc1" presStyleIdx="3" presStyleCnt="4"/>
      <dgm:spPr/>
    </dgm:pt>
  </dgm:ptLst>
  <dgm:cxnLst>
    <dgm:cxn modelId="{82FD3E0E-89ED-4F96-A76E-F0D0A1F3E9FB}" srcId="{EF8C07B6-2451-4D6C-9629-8791FF24AAD3}" destId="{B722C70B-ED1D-4434-8C27-A18E327A1477}" srcOrd="1" destOrd="0" parTransId="{5AF53FBE-6F89-40DF-8ABC-19865F0811D2}" sibTransId="{7F4A9CD1-CB98-455E-9F74-A6A22A7EB265}"/>
    <dgm:cxn modelId="{C5220F29-079F-4D60-839B-844D29187AA5}" srcId="{EF8C07B6-2451-4D6C-9629-8791FF24AAD3}" destId="{2FD66D11-D4A9-4AF9-9814-3B1A70BF8713}" srcOrd="3" destOrd="0" parTransId="{1DA4E948-1673-4AB0-9ADB-CCBD259F374D}" sibTransId="{D9A9E89B-4428-4152-8AC4-45A620EAFC22}"/>
    <dgm:cxn modelId="{57A2642E-7D51-4BFD-9D22-06A2214D0863}" type="presOf" srcId="{953ADA59-D3E1-40A1-8D4F-9A765A34DAF7}" destId="{F24AED53-8AE0-4CB9-A674-944D01F5AFA7}" srcOrd="0" destOrd="0" presId="urn:microsoft.com/office/officeart/2008/layout/VerticalCurvedList"/>
    <dgm:cxn modelId="{4B2E0F46-2820-42DB-ADE2-5C8AC73BAEB7}" type="presOf" srcId="{792DA5A3-6A82-4742-91F3-40BB5B5B2C0E}" destId="{903D4C07-2F7B-4768-B940-9EC734D124AC}" srcOrd="0" destOrd="0" presId="urn:microsoft.com/office/officeart/2008/layout/VerticalCurvedList"/>
    <dgm:cxn modelId="{10CC0C68-8D54-4858-9AEF-BC024304BE0F}" type="presOf" srcId="{B722C70B-ED1D-4434-8C27-A18E327A1477}" destId="{A5EF71E6-87C1-4DA1-AFF7-D586E2B69EAC}" srcOrd="0" destOrd="0" presId="urn:microsoft.com/office/officeart/2008/layout/VerticalCurvedList"/>
    <dgm:cxn modelId="{8AFC9255-09A1-4CBE-A6A4-02662B50AC0A}" srcId="{EF8C07B6-2451-4D6C-9629-8791FF24AAD3}" destId="{953ADA59-D3E1-40A1-8D4F-9A765A34DAF7}" srcOrd="2" destOrd="0" parTransId="{3CA46FB3-6DD7-4AF9-90B0-25665D0BA84A}" sibTransId="{8AC9B02A-2770-4CD3-AB0B-CF65885F17BF}"/>
    <dgm:cxn modelId="{C4D74F7D-9691-4E29-B2B5-ACBB4DFB61B5}" type="presOf" srcId="{EF8C07B6-2451-4D6C-9629-8791FF24AAD3}" destId="{489BEF3D-90E3-45DD-89C3-AF664E0E5092}" srcOrd="0" destOrd="0" presId="urn:microsoft.com/office/officeart/2008/layout/VerticalCurvedList"/>
    <dgm:cxn modelId="{035338A8-4D56-42BE-9811-6E7E08888E57}" type="presOf" srcId="{2FD66D11-D4A9-4AF9-9814-3B1A70BF8713}" destId="{6217FA50-8478-467B-ACA9-B6E1B62BD4D6}" srcOrd="0" destOrd="0" presId="urn:microsoft.com/office/officeart/2008/layout/VerticalCurvedList"/>
    <dgm:cxn modelId="{2B7C5DB2-9D29-4820-A252-ACE8193F4838}" type="presOf" srcId="{7894BB4F-5D6F-4C97-9953-BA046C48D141}" destId="{FBEFBF75-64EB-4F7E-A926-A4E66F89C7B0}" srcOrd="0" destOrd="0" presId="urn:microsoft.com/office/officeart/2008/layout/VerticalCurvedList"/>
    <dgm:cxn modelId="{F24B02F3-7FA5-40E2-BD50-A284406546B7}" srcId="{EF8C07B6-2451-4D6C-9629-8791FF24AAD3}" destId="{792DA5A3-6A82-4742-91F3-40BB5B5B2C0E}" srcOrd="0" destOrd="0" parTransId="{5F2147CC-BE4E-46A9-9B1B-C298902C2DD0}" sibTransId="{7894BB4F-5D6F-4C97-9953-BA046C48D141}"/>
    <dgm:cxn modelId="{FD4A724E-3AD6-49B1-B2A7-BAEE683AC3DB}" type="presParOf" srcId="{489BEF3D-90E3-45DD-89C3-AF664E0E5092}" destId="{24624BDD-CFC4-4DBC-B564-CB39527E8CB3}" srcOrd="0" destOrd="0" presId="urn:microsoft.com/office/officeart/2008/layout/VerticalCurvedList"/>
    <dgm:cxn modelId="{8AD4A9CE-4928-4273-ACFB-9571A35E7FDC}" type="presParOf" srcId="{24624BDD-CFC4-4DBC-B564-CB39527E8CB3}" destId="{6755D732-F83B-4459-8314-7BFAF651B430}" srcOrd="0" destOrd="0" presId="urn:microsoft.com/office/officeart/2008/layout/VerticalCurvedList"/>
    <dgm:cxn modelId="{C29FC153-B511-4EFB-B5F3-27DB3036BF54}" type="presParOf" srcId="{6755D732-F83B-4459-8314-7BFAF651B430}" destId="{D72F9A06-19AE-4322-8943-13F5A62FAA1B}" srcOrd="0" destOrd="0" presId="urn:microsoft.com/office/officeart/2008/layout/VerticalCurvedList"/>
    <dgm:cxn modelId="{99CEED9E-2EC1-47E8-9056-D945B77B2EED}" type="presParOf" srcId="{6755D732-F83B-4459-8314-7BFAF651B430}" destId="{FBEFBF75-64EB-4F7E-A926-A4E66F89C7B0}" srcOrd="1" destOrd="0" presId="urn:microsoft.com/office/officeart/2008/layout/VerticalCurvedList"/>
    <dgm:cxn modelId="{8515289F-3C6F-44BC-A9D6-0F681AAB1565}" type="presParOf" srcId="{6755D732-F83B-4459-8314-7BFAF651B430}" destId="{173AB7EC-8BFC-42E7-8C32-A6569A06A0BE}" srcOrd="2" destOrd="0" presId="urn:microsoft.com/office/officeart/2008/layout/VerticalCurvedList"/>
    <dgm:cxn modelId="{977ED362-1B7D-4902-B81F-4D07E951619A}" type="presParOf" srcId="{6755D732-F83B-4459-8314-7BFAF651B430}" destId="{BFDD0280-CA4B-48C5-A027-9A0A8AD512AF}" srcOrd="3" destOrd="0" presId="urn:microsoft.com/office/officeart/2008/layout/VerticalCurvedList"/>
    <dgm:cxn modelId="{C09BC704-A8B5-48BA-9B6C-97F6BEFF2232}" type="presParOf" srcId="{24624BDD-CFC4-4DBC-B564-CB39527E8CB3}" destId="{903D4C07-2F7B-4768-B940-9EC734D124AC}" srcOrd="1" destOrd="0" presId="urn:microsoft.com/office/officeart/2008/layout/VerticalCurvedList"/>
    <dgm:cxn modelId="{79DADFE1-1ABC-454E-B58A-ED71E9AD03A8}" type="presParOf" srcId="{24624BDD-CFC4-4DBC-B564-CB39527E8CB3}" destId="{88DED3E1-FEA1-4672-AE97-A4E37130614E}" srcOrd="2" destOrd="0" presId="urn:microsoft.com/office/officeart/2008/layout/VerticalCurvedList"/>
    <dgm:cxn modelId="{306118C0-37F7-4D2C-8C64-3D2E8646F512}" type="presParOf" srcId="{88DED3E1-FEA1-4672-AE97-A4E37130614E}" destId="{666DCB58-F458-4F2E-B413-E6EC71986A16}" srcOrd="0" destOrd="0" presId="urn:microsoft.com/office/officeart/2008/layout/VerticalCurvedList"/>
    <dgm:cxn modelId="{B3AF2C3F-17D4-4B2B-A619-CC85E9B923F4}" type="presParOf" srcId="{24624BDD-CFC4-4DBC-B564-CB39527E8CB3}" destId="{A5EF71E6-87C1-4DA1-AFF7-D586E2B69EAC}" srcOrd="3" destOrd="0" presId="urn:microsoft.com/office/officeart/2008/layout/VerticalCurvedList"/>
    <dgm:cxn modelId="{14042423-2D22-4D71-AEA0-F9EA291C39B3}" type="presParOf" srcId="{24624BDD-CFC4-4DBC-B564-CB39527E8CB3}" destId="{4D7DA0B5-4BD6-473B-9D94-709A90D5813E}" srcOrd="4" destOrd="0" presId="urn:microsoft.com/office/officeart/2008/layout/VerticalCurvedList"/>
    <dgm:cxn modelId="{F1D44F73-D35A-45CB-AC98-BD4457C555B1}" type="presParOf" srcId="{4D7DA0B5-4BD6-473B-9D94-709A90D5813E}" destId="{03B14AF4-B5B8-4120-A94F-C42F3ACBD4C0}" srcOrd="0" destOrd="0" presId="urn:microsoft.com/office/officeart/2008/layout/VerticalCurvedList"/>
    <dgm:cxn modelId="{7D99780B-900E-41B9-8ADA-7457F7E6B72C}" type="presParOf" srcId="{24624BDD-CFC4-4DBC-B564-CB39527E8CB3}" destId="{F24AED53-8AE0-4CB9-A674-944D01F5AFA7}" srcOrd="5" destOrd="0" presId="urn:microsoft.com/office/officeart/2008/layout/VerticalCurvedList"/>
    <dgm:cxn modelId="{6F0D4F8A-D762-494C-9334-7BA8FE22D6C2}" type="presParOf" srcId="{24624BDD-CFC4-4DBC-B564-CB39527E8CB3}" destId="{CBA4C8A9-B062-4206-9D5F-771AF8547386}" srcOrd="6" destOrd="0" presId="urn:microsoft.com/office/officeart/2008/layout/VerticalCurvedList"/>
    <dgm:cxn modelId="{1E22DC35-9D61-4A29-B92B-1FB40C35FDD9}" type="presParOf" srcId="{CBA4C8A9-B062-4206-9D5F-771AF8547386}" destId="{7E79FFA8-5D9C-4C34-BC10-348E5B7963B1}" srcOrd="0" destOrd="0" presId="urn:microsoft.com/office/officeart/2008/layout/VerticalCurvedList"/>
    <dgm:cxn modelId="{76173AD1-E87C-41B4-88EC-F8BD95EF3413}" type="presParOf" srcId="{24624BDD-CFC4-4DBC-B564-CB39527E8CB3}" destId="{6217FA50-8478-467B-ACA9-B6E1B62BD4D6}" srcOrd="7" destOrd="0" presId="urn:microsoft.com/office/officeart/2008/layout/VerticalCurvedList"/>
    <dgm:cxn modelId="{89F9B745-228A-412A-AEE9-C6D289F3B085}" type="presParOf" srcId="{24624BDD-CFC4-4DBC-B564-CB39527E8CB3}" destId="{6E463F9C-C7C9-42A5-9C60-157BE3B22711}" srcOrd="8" destOrd="0" presId="urn:microsoft.com/office/officeart/2008/layout/VerticalCurvedList"/>
    <dgm:cxn modelId="{76A8424A-D066-4466-BA96-2C1D4662DBEB}" type="presParOf" srcId="{6E463F9C-C7C9-42A5-9C60-157BE3B22711}" destId="{6E402C4B-EDFD-42F0-AB38-9FE8CE6F595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8C07B6-2451-4D6C-9629-8791FF24AAD3}" type="doc">
      <dgm:prSet loTypeId="urn:microsoft.com/office/officeart/2008/layout/VerticalCurvedList" loCatId="list" qsTypeId="urn:microsoft.com/office/officeart/2005/8/quickstyle/3d3" qsCatId="3D" csTypeId="urn:microsoft.com/office/officeart/2005/8/colors/colorful1" csCatId="colorful" phldr="1"/>
      <dgm:spPr/>
      <dgm:t>
        <a:bodyPr/>
        <a:lstStyle/>
        <a:p>
          <a:endParaRPr lang="en-US"/>
        </a:p>
      </dgm:t>
    </dgm:pt>
    <dgm:pt modelId="{792DA5A3-6A82-4742-91F3-40BB5B5B2C0E}">
      <dgm:prSet custT="1"/>
      <dgm:spPr/>
      <dgm:t>
        <a:bodyPr/>
        <a:lstStyle/>
        <a:p>
          <a:pPr rtl="0"/>
          <a:r>
            <a:rPr lang="en-US" sz="3200" b="1" dirty="0">
              <a:latin typeface="Times New Roman" panose="02020603050405020304" pitchFamily="18" charset="0"/>
              <a:cs typeface="Times New Roman" panose="02020603050405020304" pitchFamily="18" charset="0"/>
            </a:rPr>
            <a:t>3.1. Phạm vi </a:t>
          </a:r>
          <a:r>
            <a:rPr lang="en-US" sz="3200" b="1" dirty="0" err="1">
              <a:latin typeface="Times New Roman" panose="02020603050405020304" pitchFamily="18" charset="0"/>
              <a:cs typeface="Times New Roman" panose="02020603050405020304" pitchFamily="18" charset="0"/>
            </a:rPr>
            <a:t>thu</a:t>
          </a:r>
          <a:r>
            <a:rPr lang="en-US" sz="3200" b="1" dirty="0">
              <a:latin typeface="Times New Roman" panose="02020603050405020304" pitchFamily="18" charset="0"/>
              <a:cs typeface="Times New Roman" panose="02020603050405020304" pitchFamily="18" charset="0"/>
            </a:rPr>
            <a:t>, chi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đặc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5F2147CC-BE4E-46A9-9B1B-C298902C2DD0}" type="parTrans" cxnId="{F24B02F3-7FA5-40E2-BD50-A284406546B7}">
      <dgm:prSet/>
      <dgm:spPr/>
      <dgm:t>
        <a:bodyPr/>
        <a:lstStyle/>
        <a:p>
          <a:endParaRPr lang="en-US"/>
        </a:p>
      </dgm:t>
    </dgm:pt>
    <dgm:pt modelId="{7894BB4F-5D6F-4C97-9953-BA046C48D141}" type="sibTrans" cxnId="{F24B02F3-7FA5-40E2-BD50-A284406546B7}">
      <dgm:prSet/>
      <dgm:spPr/>
      <dgm:t>
        <a:bodyPr/>
        <a:lstStyle/>
        <a:p>
          <a:endParaRPr lang="en-US"/>
        </a:p>
      </dgm:t>
    </dgm:pt>
    <dgm:pt modelId="{B722C70B-ED1D-4434-8C27-A18E327A1477}">
      <dgm:prSet custT="1"/>
      <dgm:spPr/>
      <dgm:t>
        <a:bodyPr/>
        <a:lstStyle/>
        <a:p>
          <a:pPr rtl="0"/>
          <a:r>
            <a:rPr lang="en-US" sz="3200" b="1" dirty="0">
              <a:latin typeface="Times New Roman" panose="02020603050405020304" pitchFamily="18" charset="0"/>
              <a:cs typeface="Times New Roman" panose="02020603050405020304" pitchFamily="18" charset="0"/>
            </a:rPr>
            <a:t>3.2. </a:t>
          </a:r>
          <a:r>
            <a:rPr lang="en-US" sz="3200" b="1" dirty="0" err="1">
              <a:latin typeface="Times New Roman" panose="02020603050405020304" pitchFamily="18" charset="0"/>
              <a:cs typeface="Times New Roman" panose="02020603050405020304" pitchFamily="18" charset="0"/>
            </a:rPr>
            <a:t>Khái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niệm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nguyên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tắc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5AF53FBE-6F89-40DF-8ABC-19865F0811D2}" type="parTrans" cxnId="{82FD3E0E-89ED-4F96-A76E-F0D0A1F3E9FB}">
      <dgm:prSet/>
      <dgm:spPr/>
      <dgm:t>
        <a:bodyPr/>
        <a:lstStyle/>
        <a:p>
          <a:endParaRPr lang="en-US"/>
        </a:p>
      </dgm:t>
    </dgm:pt>
    <dgm:pt modelId="{7F4A9CD1-CB98-455E-9F74-A6A22A7EB265}" type="sibTrans" cxnId="{82FD3E0E-89ED-4F96-A76E-F0D0A1F3E9FB}">
      <dgm:prSet/>
      <dgm:spPr/>
      <dgm:t>
        <a:bodyPr/>
        <a:lstStyle/>
        <a:p>
          <a:endParaRPr lang="en-US"/>
        </a:p>
      </dgm:t>
    </dgm:pt>
    <dgm:pt modelId="{953ADA59-D3E1-40A1-8D4F-9A765A34DAF7}">
      <dgm:prSet custT="1"/>
      <dgm:spPr/>
      <dgm:t>
        <a:bodyPr/>
        <a:lstStyle/>
        <a:p>
          <a:pPr rtl="0"/>
          <a:r>
            <a:rPr lang="en-US" sz="3200" b="1" dirty="0">
              <a:latin typeface="Times New Roman" panose="02020603050405020304" pitchFamily="18" charset="0"/>
              <a:cs typeface="Times New Roman" panose="02020603050405020304" pitchFamily="18" charset="0"/>
            </a:rPr>
            <a:t>3.3. Chu </a:t>
          </a:r>
          <a:r>
            <a:rPr lang="en-US" sz="3200" b="1" dirty="0" err="1">
              <a:latin typeface="Times New Roman" panose="02020603050405020304" pitchFamily="18" charset="0"/>
              <a:cs typeface="Times New Roman" panose="02020603050405020304" pitchFamily="18" charset="0"/>
            </a:rPr>
            <a:t>trình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3CA46FB3-6DD7-4AF9-90B0-25665D0BA84A}" type="parTrans" cxnId="{8AFC9255-09A1-4CBE-A6A4-02662B50AC0A}">
      <dgm:prSet/>
      <dgm:spPr/>
      <dgm:t>
        <a:bodyPr/>
        <a:lstStyle/>
        <a:p>
          <a:endParaRPr lang="en-US"/>
        </a:p>
      </dgm:t>
    </dgm:pt>
    <dgm:pt modelId="{8AC9B02A-2770-4CD3-AB0B-CF65885F17BF}" type="sibTrans" cxnId="{8AFC9255-09A1-4CBE-A6A4-02662B50AC0A}">
      <dgm:prSet/>
      <dgm:spPr/>
      <dgm:t>
        <a:bodyPr/>
        <a:lstStyle/>
        <a:p>
          <a:endParaRPr lang="en-US"/>
        </a:p>
      </dgm:t>
    </dgm:pt>
    <dgm:pt modelId="{2FD66D11-D4A9-4AF9-9814-3B1A70BF8713}">
      <dgm:prSet custT="1"/>
      <dgm:spPr/>
      <dgm:t>
        <a:bodyPr/>
        <a:lstStyle/>
        <a:p>
          <a:pPr rtl="0"/>
          <a:r>
            <a:rPr lang="en-US" sz="3200" b="1" dirty="0">
              <a:latin typeface="Times New Roman" panose="02020603050405020304" pitchFamily="18" charset="0"/>
              <a:cs typeface="Times New Roman" panose="02020603050405020304" pitchFamily="18" charset="0"/>
            </a:rPr>
            <a:t>3.4. </a:t>
          </a:r>
          <a:r>
            <a:rPr lang="en-US" sz="3200" b="1" dirty="0" err="1">
              <a:latin typeface="Times New Roman" panose="02020603050405020304" pitchFamily="18" charset="0"/>
              <a:cs typeface="Times New Roman" panose="02020603050405020304" pitchFamily="18" charset="0"/>
            </a:rPr>
            <a:t>Trách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nhiệm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quyền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hạn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các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cơ</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liên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trong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1DA4E948-1673-4AB0-9ADB-CCBD259F374D}" type="parTrans" cxnId="{C5220F29-079F-4D60-839B-844D29187AA5}">
      <dgm:prSet/>
      <dgm:spPr/>
      <dgm:t>
        <a:bodyPr/>
        <a:lstStyle/>
        <a:p>
          <a:endParaRPr lang="en-US"/>
        </a:p>
      </dgm:t>
    </dgm:pt>
    <dgm:pt modelId="{D9A9E89B-4428-4152-8AC4-45A620EAFC22}" type="sibTrans" cxnId="{C5220F29-079F-4D60-839B-844D29187AA5}">
      <dgm:prSet/>
      <dgm:spPr/>
      <dgm:t>
        <a:bodyPr/>
        <a:lstStyle/>
        <a:p>
          <a:endParaRPr lang="en-US"/>
        </a:p>
      </dgm:t>
    </dgm:pt>
    <dgm:pt modelId="{489BEF3D-90E3-45DD-89C3-AF664E0E5092}" type="pres">
      <dgm:prSet presAssocID="{EF8C07B6-2451-4D6C-9629-8791FF24AAD3}" presName="Name0" presStyleCnt="0">
        <dgm:presLayoutVars>
          <dgm:chMax val="7"/>
          <dgm:chPref val="7"/>
          <dgm:dir/>
        </dgm:presLayoutVars>
      </dgm:prSet>
      <dgm:spPr/>
    </dgm:pt>
    <dgm:pt modelId="{24624BDD-CFC4-4DBC-B564-CB39527E8CB3}" type="pres">
      <dgm:prSet presAssocID="{EF8C07B6-2451-4D6C-9629-8791FF24AAD3}" presName="Name1" presStyleCnt="0"/>
      <dgm:spPr/>
    </dgm:pt>
    <dgm:pt modelId="{6755D732-F83B-4459-8314-7BFAF651B430}" type="pres">
      <dgm:prSet presAssocID="{EF8C07B6-2451-4D6C-9629-8791FF24AAD3}" presName="cycle" presStyleCnt="0"/>
      <dgm:spPr/>
    </dgm:pt>
    <dgm:pt modelId="{D72F9A06-19AE-4322-8943-13F5A62FAA1B}" type="pres">
      <dgm:prSet presAssocID="{EF8C07B6-2451-4D6C-9629-8791FF24AAD3}" presName="srcNode" presStyleLbl="node1" presStyleIdx="0" presStyleCnt="4"/>
      <dgm:spPr/>
    </dgm:pt>
    <dgm:pt modelId="{FBEFBF75-64EB-4F7E-A926-A4E66F89C7B0}" type="pres">
      <dgm:prSet presAssocID="{EF8C07B6-2451-4D6C-9629-8791FF24AAD3}" presName="conn" presStyleLbl="parChTrans1D2" presStyleIdx="0" presStyleCnt="1"/>
      <dgm:spPr/>
    </dgm:pt>
    <dgm:pt modelId="{173AB7EC-8BFC-42E7-8C32-A6569A06A0BE}" type="pres">
      <dgm:prSet presAssocID="{EF8C07B6-2451-4D6C-9629-8791FF24AAD3}" presName="extraNode" presStyleLbl="node1" presStyleIdx="0" presStyleCnt="4"/>
      <dgm:spPr/>
    </dgm:pt>
    <dgm:pt modelId="{BFDD0280-CA4B-48C5-A027-9A0A8AD512AF}" type="pres">
      <dgm:prSet presAssocID="{EF8C07B6-2451-4D6C-9629-8791FF24AAD3}" presName="dstNode" presStyleLbl="node1" presStyleIdx="0" presStyleCnt="4"/>
      <dgm:spPr/>
    </dgm:pt>
    <dgm:pt modelId="{903D4C07-2F7B-4768-B940-9EC734D124AC}" type="pres">
      <dgm:prSet presAssocID="{792DA5A3-6A82-4742-91F3-40BB5B5B2C0E}" presName="text_1" presStyleLbl="node1" presStyleIdx="0" presStyleCnt="4">
        <dgm:presLayoutVars>
          <dgm:bulletEnabled val="1"/>
        </dgm:presLayoutVars>
      </dgm:prSet>
      <dgm:spPr/>
    </dgm:pt>
    <dgm:pt modelId="{88DED3E1-FEA1-4672-AE97-A4E37130614E}" type="pres">
      <dgm:prSet presAssocID="{792DA5A3-6A82-4742-91F3-40BB5B5B2C0E}" presName="accent_1" presStyleCnt="0"/>
      <dgm:spPr/>
    </dgm:pt>
    <dgm:pt modelId="{666DCB58-F458-4F2E-B413-E6EC71986A16}" type="pres">
      <dgm:prSet presAssocID="{792DA5A3-6A82-4742-91F3-40BB5B5B2C0E}" presName="accentRepeatNode" presStyleLbl="solidFgAcc1" presStyleIdx="0" presStyleCnt="4" custLinFactNeighborX="5596"/>
      <dgm:spPr/>
    </dgm:pt>
    <dgm:pt modelId="{A5EF71E6-87C1-4DA1-AFF7-D586E2B69EAC}" type="pres">
      <dgm:prSet presAssocID="{B722C70B-ED1D-4434-8C27-A18E327A1477}" presName="text_2" presStyleLbl="node1" presStyleIdx="1" presStyleCnt="4">
        <dgm:presLayoutVars>
          <dgm:bulletEnabled val="1"/>
        </dgm:presLayoutVars>
      </dgm:prSet>
      <dgm:spPr/>
    </dgm:pt>
    <dgm:pt modelId="{4D7DA0B5-4BD6-473B-9D94-709A90D5813E}" type="pres">
      <dgm:prSet presAssocID="{B722C70B-ED1D-4434-8C27-A18E327A1477}" presName="accent_2" presStyleCnt="0"/>
      <dgm:spPr/>
    </dgm:pt>
    <dgm:pt modelId="{03B14AF4-B5B8-4120-A94F-C42F3ACBD4C0}" type="pres">
      <dgm:prSet presAssocID="{B722C70B-ED1D-4434-8C27-A18E327A1477}" presName="accentRepeatNode" presStyleLbl="solidFgAcc1" presStyleIdx="1" presStyleCnt="4"/>
      <dgm:spPr/>
    </dgm:pt>
    <dgm:pt modelId="{F24AED53-8AE0-4CB9-A674-944D01F5AFA7}" type="pres">
      <dgm:prSet presAssocID="{953ADA59-D3E1-40A1-8D4F-9A765A34DAF7}" presName="text_3" presStyleLbl="node1" presStyleIdx="2" presStyleCnt="4">
        <dgm:presLayoutVars>
          <dgm:bulletEnabled val="1"/>
        </dgm:presLayoutVars>
      </dgm:prSet>
      <dgm:spPr/>
    </dgm:pt>
    <dgm:pt modelId="{CBA4C8A9-B062-4206-9D5F-771AF8547386}" type="pres">
      <dgm:prSet presAssocID="{953ADA59-D3E1-40A1-8D4F-9A765A34DAF7}" presName="accent_3" presStyleCnt="0"/>
      <dgm:spPr/>
    </dgm:pt>
    <dgm:pt modelId="{7E79FFA8-5D9C-4C34-BC10-348E5B7963B1}" type="pres">
      <dgm:prSet presAssocID="{953ADA59-D3E1-40A1-8D4F-9A765A34DAF7}" presName="accentRepeatNode" presStyleLbl="solidFgAcc1" presStyleIdx="2" presStyleCnt="4"/>
      <dgm:spPr/>
    </dgm:pt>
    <dgm:pt modelId="{6217FA50-8478-467B-ACA9-B6E1B62BD4D6}" type="pres">
      <dgm:prSet presAssocID="{2FD66D11-D4A9-4AF9-9814-3B1A70BF8713}" presName="text_4" presStyleLbl="node1" presStyleIdx="3" presStyleCnt="4" custScaleY="126380">
        <dgm:presLayoutVars>
          <dgm:bulletEnabled val="1"/>
        </dgm:presLayoutVars>
      </dgm:prSet>
      <dgm:spPr/>
    </dgm:pt>
    <dgm:pt modelId="{6E463F9C-C7C9-42A5-9C60-157BE3B22711}" type="pres">
      <dgm:prSet presAssocID="{2FD66D11-D4A9-4AF9-9814-3B1A70BF8713}" presName="accent_4" presStyleCnt="0"/>
      <dgm:spPr/>
    </dgm:pt>
    <dgm:pt modelId="{6E402C4B-EDFD-42F0-AB38-9FE8CE6F595A}" type="pres">
      <dgm:prSet presAssocID="{2FD66D11-D4A9-4AF9-9814-3B1A70BF8713}" presName="accentRepeatNode" presStyleLbl="solidFgAcc1" presStyleIdx="3" presStyleCnt="4"/>
      <dgm:spPr/>
    </dgm:pt>
  </dgm:ptLst>
  <dgm:cxnLst>
    <dgm:cxn modelId="{82FD3E0E-89ED-4F96-A76E-F0D0A1F3E9FB}" srcId="{EF8C07B6-2451-4D6C-9629-8791FF24AAD3}" destId="{B722C70B-ED1D-4434-8C27-A18E327A1477}" srcOrd="1" destOrd="0" parTransId="{5AF53FBE-6F89-40DF-8ABC-19865F0811D2}" sibTransId="{7F4A9CD1-CB98-455E-9F74-A6A22A7EB265}"/>
    <dgm:cxn modelId="{C5220F29-079F-4D60-839B-844D29187AA5}" srcId="{EF8C07B6-2451-4D6C-9629-8791FF24AAD3}" destId="{2FD66D11-D4A9-4AF9-9814-3B1A70BF8713}" srcOrd="3" destOrd="0" parTransId="{1DA4E948-1673-4AB0-9ADB-CCBD259F374D}" sibTransId="{D9A9E89B-4428-4152-8AC4-45A620EAFC22}"/>
    <dgm:cxn modelId="{57A2642E-7D51-4BFD-9D22-06A2214D0863}" type="presOf" srcId="{953ADA59-D3E1-40A1-8D4F-9A765A34DAF7}" destId="{F24AED53-8AE0-4CB9-A674-944D01F5AFA7}" srcOrd="0" destOrd="0" presId="urn:microsoft.com/office/officeart/2008/layout/VerticalCurvedList"/>
    <dgm:cxn modelId="{4B2E0F46-2820-42DB-ADE2-5C8AC73BAEB7}" type="presOf" srcId="{792DA5A3-6A82-4742-91F3-40BB5B5B2C0E}" destId="{903D4C07-2F7B-4768-B940-9EC734D124AC}" srcOrd="0" destOrd="0" presId="urn:microsoft.com/office/officeart/2008/layout/VerticalCurvedList"/>
    <dgm:cxn modelId="{10CC0C68-8D54-4858-9AEF-BC024304BE0F}" type="presOf" srcId="{B722C70B-ED1D-4434-8C27-A18E327A1477}" destId="{A5EF71E6-87C1-4DA1-AFF7-D586E2B69EAC}" srcOrd="0" destOrd="0" presId="urn:microsoft.com/office/officeart/2008/layout/VerticalCurvedList"/>
    <dgm:cxn modelId="{8AFC9255-09A1-4CBE-A6A4-02662B50AC0A}" srcId="{EF8C07B6-2451-4D6C-9629-8791FF24AAD3}" destId="{953ADA59-D3E1-40A1-8D4F-9A765A34DAF7}" srcOrd="2" destOrd="0" parTransId="{3CA46FB3-6DD7-4AF9-90B0-25665D0BA84A}" sibTransId="{8AC9B02A-2770-4CD3-AB0B-CF65885F17BF}"/>
    <dgm:cxn modelId="{C4D74F7D-9691-4E29-B2B5-ACBB4DFB61B5}" type="presOf" srcId="{EF8C07B6-2451-4D6C-9629-8791FF24AAD3}" destId="{489BEF3D-90E3-45DD-89C3-AF664E0E5092}" srcOrd="0" destOrd="0" presId="urn:microsoft.com/office/officeart/2008/layout/VerticalCurvedList"/>
    <dgm:cxn modelId="{035338A8-4D56-42BE-9811-6E7E08888E57}" type="presOf" srcId="{2FD66D11-D4A9-4AF9-9814-3B1A70BF8713}" destId="{6217FA50-8478-467B-ACA9-B6E1B62BD4D6}" srcOrd="0" destOrd="0" presId="urn:microsoft.com/office/officeart/2008/layout/VerticalCurvedList"/>
    <dgm:cxn modelId="{2B7C5DB2-9D29-4820-A252-ACE8193F4838}" type="presOf" srcId="{7894BB4F-5D6F-4C97-9953-BA046C48D141}" destId="{FBEFBF75-64EB-4F7E-A926-A4E66F89C7B0}" srcOrd="0" destOrd="0" presId="urn:microsoft.com/office/officeart/2008/layout/VerticalCurvedList"/>
    <dgm:cxn modelId="{F24B02F3-7FA5-40E2-BD50-A284406546B7}" srcId="{EF8C07B6-2451-4D6C-9629-8791FF24AAD3}" destId="{792DA5A3-6A82-4742-91F3-40BB5B5B2C0E}" srcOrd="0" destOrd="0" parTransId="{5F2147CC-BE4E-46A9-9B1B-C298902C2DD0}" sibTransId="{7894BB4F-5D6F-4C97-9953-BA046C48D141}"/>
    <dgm:cxn modelId="{FD4A724E-3AD6-49B1-B2A7-BAEE683AC3DB}" type="presParOf" srcId="{489BEF3D-90E3-45DD-89C3-AF664E0E5092}" destId="{24624BDD-CFC4-4DBC-B564-CB39527E8CB3}" srcOrd="0" destOrd="0" presId="urn:microsoft.com/office/officeart/2008/layout/VerticalCurvedList"/>
    <dgm:cxn modelId="{8AD4A9CE-4928-4273-ACFB-9571A35E7FDC}" type="presParOf" srcId="{24624BDD-CFC4-4DBC-B564-CB39527E8CB3}" destId="{6755D732-F83B-4459-8314-7BFAF651B430}" srcOrd="0" destOrd="0" presId="urn:microsoft.com/office/officeart/2008/layout/VerticalCurvedList"/>
    <dgm:cxn modelId="{C29FC153-B511-4EFB-B5F3-27DB3036BF54}" type="presParOf" srcId="{6755D732-F83B-4459-8314-7BFAF651B430}" destId="{D72F9A06-19AE-4322-8943-13F5A62FAA1B}" srcOrd="0" destOrd="0" presId="urn:microsoft.com/office/officeart/2008/layout/VerticalCurvedList"/>
    <dgm:cxn modelId="{99CEED9E-2EC1-47E8-9056-D945B77B2EED}" type="presParOf" srcId="{6755D732-F83B-4459-8314-7BFAF651B430}" destId="{FBEFBF75-64EB-4F7E-A926-A4E66F89C7B0}" srcOrd="1" destOrd="0" presId="urn:microsoft.com/office/officeart/2008/layout/VerticalCurvedList"/>
    <dgm:cxn modelId="{8515289F-3C6F-44BC-A9D6-0F681AAB1565}" type="presParOf" srcId="{6755D732-F83B-4459-8314-7BFAF651B430}" destId="{173AB7EC-8BFC-42E7-8C32-A6569A06A0BE}" srcOrd="2" destOrd="0" presId="urn:microsoft.com/office/officeart/2008/layout/VerticalCurvedList"/>
    <dgm:cxn modelId="{977ED362-1B7D-4902-B81F-4D07E951619A}" type="presParOf" srcId="{6755D732-F83B-4459-8314-7BFAF651B430}" destId="{BFDD0280-CA4B-48C5-A027-9A0A8AD512AF}" srcOrd="3" destOrd="0" presId="urn:microsoft.com/office/officeart/2008/layout/VerticalCurvedList"/>
    <dgm:cxn modelId="{C09BC704-A8B5-48BA-9B6C-97F6BEFF2232}" type="presParOf" srcId="{24624BDD-CFC4-4DBC-B564-CB39527E8CB3}" destId="{903D4C07-2F7B-4768-B940-9EC734D124AC}" srcOrd="1" destOrd="0" presId="urn:microsoft.com/office/officeart/2008/layout/VerticalCurvedList"/>
    <dgm:cxn modelId="{79DADFE1-1ABC-454E-B58A-ED71E9AD03A8}" type="presParOf" srcId="{24624BDD-CFC4-4DBC-B564-CB39527E8CB3}" destId="{88DED3E1-FEA1-4672-AE97-A4E37130614E}" srcOrd="2" destOrd="0" presId="urn:microsoft.com/office/officeart/2008/layout/VerticalCurvedList"/>
    <dgm:cxn modelId="{306118C0-37F7-4D2C-8C64-3D2E8646F512}" type="presParOf" srcId="{88DED3E1-FEA1-4672-AE97-A4E37130614E}" destId="{666DCB58-F458-4F2E-B413-E6EC71986A16}" srcOrd="0" destOrd="0" presId="urn:microsoft.com/office/officeart/2008/layout/VerticalCurvedList"/>
    <dgm:cxn modelId="{B3AF2C3F-17D4-4B2B-A619-CC85E9B923F4}" type="presParOf" srcId="{24624BDD-CFC4-4DBC-B564-CB39527E8CB3}" destId="{A5EF71E6-87C1-4DA1-AFF7-D586E2B69EAC}" srcOrd="3" destOrd="0" presId="urn:microsoft.com/office/officeart/2008/layout/VerticalCurvedList"/>
    <dgm:cxn modelId="{14042423-2D22-4D71-AEA0-F9EA291C39B3}" type="presParOf" srcId="{24624BDD-CFC4-4DBC-B564-CB39527E8CB3}" destId="{4D7DA0B5-4BD6-473B-9D94-709A90D5813E}" srcOrd="4" destOrd="0" presId="urn:microsoft.com/office/officeart/2008/layout/VerticalCurvedList"/>
    <dgm:cxn modelId="{F1D44F73-D35A-45CB-AC98-BD4457C555B1}" type="presParOf" srcId="{4D7DA0B5-4BD6-473B-9D94-709A90D5813E}" destId="{03B14AF4-B5B8-4120-A94F-C42F3ACBD4C0}" srcOrd="0" destOrd="0" presId="urn:microsoft.com/office/officeart/2008/layout/VerticalCurvedList"/>
    <dgm:cxn modelId="{7D99780B-900E-41B9-8ADA-7457F7E6B72C}" type="presParOf" srcId="{24624BDD-CFC4-4DBC-B564-CB39527E8CB3}" destId="{F24AED53-8AE0-4CB9-A674-944D01F5AFA7}" srcOrd="5" destOrd="0" presId="urn:microsoft.com/office/officeart/2008/layout/VerticalCurvedList"/>
    <dgm:cxn modelId="{6F0D4F8A-D762-494C-9334-7BA8FE22D6C2}" type="presParOf" srcId="{24624BDD-CFC4-4DBC-B564-CB39527E8CB3}" destId="{CBA4C8A9-B062-4206-9D5F-771AF8547386}" srcOrd="6" destOrd="0" presId="urn:microsoft.com/office/officeart/2008/layout/VerticalCurvedList"/>
    <dgm:cxn modelId="{1E22DC35-9D61-4A29-B92B-1FB40C35FDD9}" type="presParOf" srcId="{CBA4C8A9-B062-4206-9D5F-771AF8547386}" destId="{7E79FFA8-5D9C-4C34-BC10-348E5B7963B1}" srcOrd="0" destOrd="0" presId="urn:microsoft.com/office/officeart/2008/layout/VerticalCurvedList"/>
    <dgm:cxn modelId="{76173AD1-E87C-41B4-88EC-F8BD95EF3413}" type="presParOf" srcId="{24624BDD-CFC4-4DBC-B564-CB39527E8CB3}" destId="{6217FA50-8478-467B-ACA9-B6E1B62BD4D6}" srcOrd="7" destOrd="0" presId="urn:microsoft.com/office/officeart/2008/layout/VerticalCurvedList"/>
    <dgm:cxn modelId="{89F9B745-228A-412A-AEE9-C6D289F3B085}" type="presParOf" srcId="{24624BDD-CFC4-4DBC-B564-CB39527E8CB3}" destId="{6E463F9C-C7C9-42A5-9C60-157BE3B22711}" srcOrd="8" destOrd="0" presId="urn:microsoft.com/office/officeart/2008/layout/VerticalCurvedList"/>
    <dgm:cxn modelId="{76A8424A-D066-4466-BA96-2C1D4662DBEB}" type="presParOf" srcId="{6E463F9C-C7C9-42A5-9C60-157BE3B22711}" destId="{6E402C4B-EDFD-42F0-AB38-9FE8CE6F595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FBF75-64EB-4F7E-A926-A4E66F89C7B0}">
      <dsp:nvSpPr>
        <dsp:cNvPr id="0" name=""/>
        <dsp:cNvSpPr/>
      </dsp:nvSpPr>
      <dsp:spPr>
        <a:xfrm>
          <a:off x="-6198465" y="-948278"/>
          <a:ext cx="7378406" cy="7378406"/>
        </a:xfrm>
        <a:prstGeom prst="blockArc">
          <a:avLst>
            <a:gd name="adj1" fmla="val 18900000"/>
            <a:gd name="adj2" fmla="val 2700000"/>
            <a:gd name="adj3" fmla="val 293"/>
          </a:avLst>
        </a:pr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3D4C07-2F7B-4768-B940-9EC734D124AC}">
      <dsp:nvSpPr>
        <dsp:cNvPr id="0" name=""/>
        <dsp:cNvSpPr/>
      </dsp:nvSpPr>
      <dsp:spPr>
        <a:xfrm>
          <a:off x="617518" y="421444"/>
          <a:ext cx="11015121" cy="84332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vi-VN" sz="3200" b="1" kern="1200" dirty="0">
              <a:solidFill>
                <a:schemeClr val="bg1"/>
              </a:solidFill>
              <a:latin typeface="Times New Roman" panose="02020603050405020304" pitchFamily="18" charset="0"/>
              <a:cs typeface="Times New Roman" panose="02020603050405020304" pitchFamily="18" charset="0"/>
            </a:rPr>
            <a:t>Chương</a:t>
          </a:r>
          <a:r>
            <a:rPr lang="en-US" sz="3200" b="1" kern="1200" dirty="0">
              <a:solidFill>
                <a:schemeClr val="bg1"/>
              </a:solidFill>
              <a:latin typeface="Times New Roman" panose="02020603050405020304" pitchFamily="18" charset="0"/>
              <a:cs typeface="Times New Roman" panose="02020603050405020304" pitchFamily="18" charset="0"/>
            </a:rPr>
            <a:t> 1: </a:t>
          </a:r>
          <a:r>
            <a:rPr lang="vi-VN" sz="3200" b="1" kern="1200" dirty="0">
              <a:solidFill>
                <a:schemeClr val="bg1"/>
              </a:solidFill>
              <a:latin typeface="Times New Roman" panose="02020603050405020304" pitchFamily="18" charset="0"/>
              <a:cs typeface="Times New Roman" panose="02020603050405020304" pitchFamily="18" charset="0"/>
            </a:rPr>
            <a:t>Tổng quan về </a:t>
          </a:r>
          <a:r>
            <a:rPr lang="en-US" sz="3200" b="1" kern="1200" dirty="0">
              <a:solidFill>
                <a:schemeClr val="bg1"/>
              </a:solidFill>
              <a:latin typeface="Times New Roman" panose="02020603050405020304" pitchFamily="18" charset="0"/>
              <a:cs typeface="Times New Roman" panose="02020603050405020304" pitchFamily="18" charset="0"/>
            </a:rPr>
            <a:t>TCC </a:t>
          </a:r>
          <a:r>
            <a:rPr lang="en-US" sz="3200" b="1" kern="1200" dirty="0" err="1">
              <a:solidFill>
                <a:schemeClr val="bg1"/>
              </a:solidFill>
              <a:latin typeface="Times New Roman" panose="02020603050405020304" pitchFamily="18" charset="0"/>
              <a:cs typeface="Times New Roman" panose="02020603050405020304" pitchFamily="18" charset="0"/>
            </a:rPr>
            <a:t>và</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quản</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lý</a:t>
          </a:r>
          <a:r>
            <a:rPr lang="en-US" sz="3200" b="1" kern="1200" dirty="0">
              <a:solidFill>
                <a:schemeClr val="bg1"/>
              </a:solidFill>
              <a:latin typeface="Times New Roman" panose="02020603050405020304" pitchFamily="18" charset="0"/>
              <a:cs typeface="Times New Roman" panose="02020603050405020304" pitchFamily="18" charset="0"/>
            </a:rPr>
            <a:t> TCC</a:t>
          </a:r>
        </a:p>
      </dsp:txBody>
      <dsp:txXfrm>
        <a:off x="617518" y="421444"/>
        <a:ext cx="11015121" cy="843327"/>
      </dsp:txXfrm>
    </dsp:sp>
    <dsp:sp modelId="{666DCB58-F458-4F2E-B413-E6EC71986A16}">
      <dsp:nvSpPr>
        <dsp:cNvPr id="0" name=""/>
        <dsp:cNvSpPr/>
      </dsp:nvSpPr>
      <dsp:spPr>
        <a:xfrm>
          <a:off x="149429" y="316028"/>
          <a:ext cx="1054159" cy="1054159"/>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EF71E6-87C1-4DA1-AFF7-D586E2B69EAC}">
      <dsp:nvSpPr>
        <dsp:cNvPr id="0" name=""/>
        <dsp:cNvSpPr/>
      </dsp:nvSpPr>
      <dsp:spPr>
        <a:xfrm>
          <a:off x="1101017" y="1686655"/>
          <a:ext cx="10531622" cy="84332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err="1">
              <a:solidFill>
                <a:schemeClr val="bg1"/>
              </a:solidFill>
              <a:latin typeface="Times New Roman" panose="02020603050405020304" pitchFamily="18" charset="0"/>
              <a:cs typeface="Times New Roman" panose="02020603050405020304" pitchFamily="18" charset="0"/>
            </a:rPr>
            <a:t>Chương</a:t>
          </a:r>
          <a:r>
            <a:rPr lang="en-US" sz="3200" b="1" kern="1200" dirty="0">
              <a:solidFill>
                <a:schemeClr val="bg1"/>
              </a:solidFill>
              <a:latin typeface="Times New Roman" panose="02020603050405020304" pitchFamily="18" charset="0"/>
              <a:cs typeface="Times New Roman" panose="02020603050405020304" pitchFamily="18" charset="0"/>
            </a:rPr>
            <a:t> 2: Quản </a:t>
          </a:r>
          <a:r>
            <a:rPr lang="en-US" sz="3200" b="1" kern="1200" dirty="0" err="1">
              <a:solidFill>
                <a:schemeClr val="bg1"/>
              </a:solidFill>
              <a:latin typeface="Times New Roman" panose="02020603050405020304" pitchFamily="18" charset="0"/>
              <a:cs typeface="Times New Roman" panose="02020603050405020304" pitchFamily="18" charset="0"/>
            </a:rPr>
            <a:t>lý</a:t>
          </a:r>
          <a:r>
            <a:rPr lang="en-US" sz="3200" b="1" kern="1200" dirty="0">
              <a:solidFill>
                <a:schemeClr val="bg1"/>
              </a:solidFill>
              <a:latin typeface="Times New Roman" panose="02020603050405020304" pitchFamily="18" charset="0"/>
              <a:cs typeface="Times New Roman" panose="02020603050405020304" pitchFamily="18" charset="0"/>
            </a:rPr>
            <a:t> Ngân </a:t>
          </a:r>
          <a:r>
            <a:rPr lang="en-US" sz="3200" b="1" kern="1200" dirty="0" err="1">
              <a:solidFill>
                <a:schemeClr val="bg1"/>
              </a:solidFill>
              <a:latin typeface="Times New Roman" panose="02020603050405020304" pitchFamily="18" charset="0"/>
              <a:cs typeface="Times New Roman" panose="02020603050405020304" pitchFamily="18" charset="0"/>
            </a:rPr>
            <a:t>sách</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nhà</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nước</a:t>
          </a:r>
          <a:endParaRPr lang="en-US" sz="3200" b="1" kern="1200" dirty="0">
            <a:solidFill>
              <a:schemeClr val="bg1"/>
            </a:solidFill>
            <a:latin typeface="Times New Roman" panose="02020603050405020304" pitchFamily="18" charset="0"/>
            <a:cs typeface="Times New Roman" panose="02020603050405020304" pitchFamily="18" charset="0"/>
          </a:endParaRPr>
        </a:p>
      </dsp:txBody>
      <dsp:txXfrm>
        <a:off x="1101017" y="1686655"/>
        <a:ext cx="10531622" cy="843327"/>
      </dsp:txXfrm>
    </dsp:sp>
    <dsp:sp modelId="{03B14AF4-B5B8-4120-A94F-C42F3ACBD4C0}">
      <dsp:nvSpPr>
        <dsp:cNvPr id="0" name=""/>
        <dsp:cNvSpPr/>
      </dsp:nvSpPr>
      <dsp:spPr>
        <a:xfrm>
          <a:off x="573937" y="1581239"/>
          <a:ext cx="1054159" cy="1054159"/>
        </a:xfrm>
        <a:prstGeom prst="ellipse">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4AED53-8AE0-4CB9-A674-944D01F5AFA7}">
      <dsp:nvSpPr>
        <dsp:cNvPr id="0" name=""/>
        <dsp:cNvSpPr/>
      </dsp:nvSpPr>
      <dsp:spPr>
        <a:xfrm>
          <a:off x="1101017" y="2951866"/>
          <a:ext cx="10531622" cy="84332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err="1">
              <a:solidFill>
                <a:schemeClr val="bg1"/>
              </a:solidFill>
              <a:latin typeface="Times New Roman" panose="02020603050405020304" pitchFamily="18" charset="0"/>
              <a:cs typeface="Times New Roman" panose="02020603050405020304" pitchFamily="18" charset="0"/>
            </a:rPr>
            <a:t>Chương</a:t>
          </a:r>
          <a:r>
            <a:rPr lang="en-US" sz="3200" b="1" kern="1200" dirty="0">
              <a:solidFill>
                <a:schemeClr val="bg1"/>
              </a:solidFill>
              <a:latin typeface="Times New Roman" panose="02020603050405020304" pitchFamily="18" charset="0"/>
              <a:cs typeface="Times New Roman" panose="02020603050405020304" pitchFamily="18" charset="0"/>
            </a:rPr>
            <a:t> 3: </a:t>
          </a:r>
          <a:r>
            <a:rPr lang="vi-VN" sz="3200" b="1" kern="1200" dirty="0">
              <a:solidFill>
                <a:schemeClr val="bg1"/>
              </a:solidFill>
              <a:latin typeface="Times New Roman" panose="02020603050405020304" pitchFamily="18" charset="0"/>
              <a:cs typeface="Times New Roman" panose="02020603050405020304" pitchFamily="18" charset="0"/>
            </a:rPr>
            <a:t>Quản lý ngân sách xã</a:t>
          </a:r>
          <a:endParaRPr lang="en-US" sz="3200" b="1" kern="1200" dirty="0">
            <a:solidFill>
              <a:schemeClr val="bg1"/>
            </a:solidFill>
            <a:latin typeface="Times New Roman" panose="02020603050405020304" pitchFamily="18" charset="0"/>
            <a:cs typeface="Times New Roman" panose="02020603050405020304" pitchFamily="18" charset="0"/>
          </a:endParaRPr>
        </a:p>
      </dsp:txBody>
      <dsp:txXfrm>
        <a:off x="1101017" y="2951866"/>
        <a:ext cx="10531622" cy="843327"/>
      </dsp:txXfrm>
    </dsp:sp>
    <dsp:sp modelId="{7E79FFA8-5D9C-4C34-BC10-348E5B7963B1}">
      <dsp:nvSpPr>
        <dsp:cNvPr id="0" name=""/>
        <dsp:cNvSpPr/>
      </dsp:nvSpPr>
      <dsp:spPr>
        <a:xfrm>
          <a:off x="573937" y="2846450"/>
          <a:ext cx="1054159" cy="1054159"/>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17FA50-8478-467B-ACA9-B6E1B62BD4D6}">
      <dsp:nvSpPr>
        <dsp:cNvPr id="0" name=""/>
        <dsp:cNvSpPr/>
      </dsp:nvSpPr>
      <dsp:spPr>
        <a:xfrm>
          <a:off x="617518" y="4105842"/>
          <a:ext cx="11015121" cy="1065797"/>
        </a:xfrm>
        <a:prstGeom prst="rect">
          <a:avLst/>
        </a:prstGeom>
        <a:solidFill>
          <a:schemeClr val="accent6">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it-IT" sz="3200" b="1" kern="1200" dirty="0">
              <a:solidFill>
                <a:schemeClr val="bg1"/>
              </a:solidFill>
              <a:latin typeface="Times New Roman" panose="02020603050405020304" pitchFamily="18" charset="0"/>
              <a:cs typeface="Times New Roman" panose="02020603050405020304" pitchFamily="18" charset="0"/>
            </a:rPr>
            <a:t>Chương 4: Quản lý tài chính </a:t>
          </a:r>
          <a:r>
            <a:rPr lang="vi-VN" sz="3200" b="1" kern="1200" dirty="0">
              <a:solidFill>
                <a:schemeClr val="bg1"/>
              </a:solidFill>
              <a:latin typeface="Times New Roman" panose="02020603050405020304" pitchFamily="18" charset="0"/>
              <a:cs typeface="Times New Roman" panose="02020603050405020304" pitchFamily="18" charset="0"/>
            </a:rPr>
            <a:t>trong</a:t>
          </a:r>
          <a:r>
            <a:rPr lang="it-IT" sz="3200" b="1" kern="1200" dirty="0">
              <a:solidFill>
                <a:schemeClr val="bg1"/>
              </a:solidFill>
              <a:latin typeface="Times New Roman" panose="02020603050405020304" pitchFamily="18" charset="0"/>
              <a:cs typeface="Times New Roman" panose="02020603050405020304" pitchFamily="18" charset="0"/>
            </a:rPr>
            <a:t> các cơ quan nhà nước và đơn vị sự nghiệp</a:t>
          </a:r>
          <a:endParaRPr lang="en-US" sz="3200" b="1" kern="1200" dirty="0">
            <a:solidFill>
              <a:schemeClr val="bg1"/>
            </a:solidFill>
            <a:latin typeface="Times New Roman" panose="02020603050405020304" pitchFamily="18" charset="0"/>
            <a:cs typeface="Times New Roman" panose="02020603050405020304" pitchFamily="18" charset="0"/>
          </a:endParaRPr>
        </a:p>
      </dsp:txBody>
      <dsp:txXfrm>
        <a:off x="617518" y="4105842"/>
        <a:ext cx="11015121" cy="1065797"/>
      </dsp:txXfrm>
    </dsp:sp>
    <dsp:sp modelId="{6E402C4B-EDFD-42F0-AB38-9FE8CE6F595A}">
      <dsp:nvSpPr>
        <dsp:cNvPr id="0" name=""/>
        <dsp:cNvSpPr/>
      </dsp:nvSpPr>
      <dsp:spPr>
        <a:xfrm>
          <a:off x="90438" y="4111661"/>
          <a:ext cx="1054159" cy="1054159"/>
        </a:xfrm>
        <a:prstGeom prst="ellipse">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FBF75-64EB-4F7E-A926-A4E66F89C7B0}">
      <dsp:nvSpPr>
        <dsp:cNvPr id="0" name=""/>
        <dsp:cNvSpPr/>
      </dsp:nvSpPr>
      <dsp:spPr>
        <a:xfrm>
          <a:off x="-6198465" y="-948278"/>
          <a:ext cx="7378406" cy="7378406"/>
        </a:xfrm>
        <a:prstGeom prst="blockArc">
          <a:avLst>
            <a:gd name="adj1" fmla="val 18900000"/>
            <a:gd name="adj2" fmla="val 2700000"/>
            <a:gd name="adj3" fmla="val 293"/>
          </a:avLst>
        </a:prstGeom>
        <a:noFill/>
        <a:ln w="1905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03D4C07-2F7B-4768-B940-9EC734D124AC}">
      <dsp:nvSpPr>
        <dsp:cNvPr id="0" name=""/>
        <dsp:cNvSpPr/>
      </dsp:nvSpPr>
      <dsp:spPr>
        <a:xfrm>
          <a:off x="617518" y="421444"/>
          <a:ext cx="11015121" cy="843327"/>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3.1. Phạm vi </a:t>
          </a:r>
          <a:r>
            <a:rPr lang="en-US" sz="3200" b="1" kern="1200" dirty="0" err="1">
              <a:latin typeface="Times New Roman" panose="02020603050405020304" pitchFamily="18" charset="0"/>
              <a:cs typeface="Times New Roman" panose="02020603050405020304" pitchFamily="18" charset="0"/>
            </a:rPr>
            <a:t>thu</a:t>
          </a:r>
          <a:r>
            <a:rPr lang="en-US" sz="3200" b="1" kern="1200" dirty="0">
              <a:latin typeface="Times New Roman" panose="02020603050405020304" pitchFamily="18" charset="0"/>
              <a:cs typeface="Times New Roman" panose="02020603050405020304" pitchFamily="18" charset="0"/>
            </a:rPr>
            <a:t>, chi </a:t>
          </a:r>
          <a:r>
            <a:rPr lang="en-US" sz="3200" b="1" kern="1200" dirty="0" err="1">
              <a:latin typeface="Times New Roman" panose="02020603050405020304" pitchFamily="18" charset="0"/>
              <a:cs typeface="Times New Roman" panose="02020603050405020304" pitchFamily="18" charset="0"/>
            </a:rPr>
            <a:t>và</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đặc</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điểm</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617518" y="421444"/>
        <a:ext cx="11015121" cy="843327"/>
      </dsp:txXfrm>
    </dsp:sp>
    <dsp:sp modelId="{666DCB58-F458-4F2E-B413-E6EC71986A16}">
      <dsp:nvSpPr>
        <dsp:cNvPr id="0" name=""/>
        <dsp:cNvSpPr/>
      </dsp:nvSpPr>
      <dsp:spPr>
        <a:xfrm>
          <a:off x="149429" y="316028"/>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5EF71E6-87C1-4DA1-AFF7-D586E2B69EAC}">
      <dsp:nvSpPr>
        <dsp:cNvPr id="0" name=""/>
        <dsp:cNvSpPr/>
      </dsp:nvSpPr>
      <dsp:spPr>
        <a:xfrm>
          <a:off x="1101017" y="1686655"/>
          <a:ext cx="10531622" cy="843327"/>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3.2. </a:t>
          </a:r>
          <a:r>
            <a:rPr lang="en-US" sz="3200" b="1" kern="1200" dirty="0" err="1">
              <a:latin typeface="Times New Roman" panose="02020603050405020304" pitchFamily="18" charset="0"/>
              <a:cs typeface="Times New Roman" panose="02020603050405020304" pitchFamily="18" charset="0"/>
            </a:rPr>
            <a:t>Khái</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niệm</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nguyên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tắc</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quản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lý</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1101017" y="1686655"/>
        <a:ext cx="10531622" cy="843327"/>
      </dsp:txXfrm>
    </dsp:sp>
    <dsp:sp modelId="{03B14AF4-B5B8-4120-A94F-C42F3ACBD4C0}">
      <dsp:nvSpPr>
        <dsp:cNvPr id="0" name=""/>
        <dsp:cNvSpPr/>
      </dsp:nvSpPr>
      <dsp:spPr>
        <a:xfrm>
          <a:off x="573937" y="1581239"/>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F24AED53-8AE0-4CB9-A674-944D01F5AFA7}">
      <dsp:nvSpPr>
        <dsp:cNvPr id="0" name=""/>
        <dsp:cNvSpPr/>
      </dsp:nvSpPr>
      <dsp:spPr>
        <a:xfrm>
          <a:off x="1101017" y="2951866"/>
          <a:ext cx="10531622" cy="843327"/>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3.3. Chu </a:t>
          </a:r>
          <a:r>
            <a:rPr lang="en-US" sz="3200" b="1" kern="1200" dirty="0" err="1">
              <a:latin typeface="Times New Roman" panose="02020603050405020304" pitchFamily="18" charset="0"/>
              <a:cs typeface="Times New Roman" panose="02020603050405020304" pitchFamily="18" charset="0"/>
            </a:rPr>
            <a:t>trình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quản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lý</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1101017" y="2951866"/>
        <a:ext cx="10531622" cy="843327"/>
      </dsp:txXfrm>
    </dsp:sp>
    <dsp:sp modelId="{7E79FFA8-5D9C-4C34-BC10-348E5B7963B1}">
      <dsp:nvSpPr>
        <dsp:cNvPr id="0" name=""/>
        <dsp:cNvSpPr/>
      </dsp:nvSpPr>
      <dsp:spPr>
        <a:xfrm>
          <a:off x="573937" y="2846450"/>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6217FA50-8478-467B-ACA9-B6E1B62BD4D6}">
      <dsp:nvSpPr>
        <dsp:cNvPr id="0" name=""/>
        <dsp:cNvSpPr/>
      </dsp:nvSpPr>
      <dsp:spPr>
        <a:xfrm>
          <a:off x="617518" y="4105842"/>
          <a:ext cx="11015121" cy="106579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3.4. </a:t>
          </a:r>
          <a:r>
            <a:rPr lang="en-US" sz="3200" b="1" kern="1200" dirty="0" err="1">
              <a:latin typeface="Times New Roman" panose="02020603050405020304" pitchFamily="18" charset="0"/>
              <a:cs typeface="Times New Roman" panose="02020603050405020304" pitchFamily="18" charset="0"/>
            </a:rPr>
            <a:t>Trách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nhiệm</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quyền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hạn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của</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các</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cơ</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quan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liên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quan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trong</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quản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lý</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617518" y="4105842"/>
        <a:ext cx="11015121" cy="1065797"/>
      </dsp:txXfrm>
    </dsp:sp>
    <dsp:sp modelId="{6E402C4B-EDFD-42F0-AB38-9FE8CE6F595A}">
      <dsp:nvSpPr>
        <dsp:cNvPr id="0" name=""/>
        <dsp:cNvSpPr/>
      </dsp:nvSpPr>
      <dsp:spPr>
        <a:xfrm>
          <a:off x="90438" y="4111661"/>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751A4-7C76-407E-B6D3-EF0F49618DCB}" type="datetimeFigureOut">
              <a:rPr lang="en-US" smtClean="0"/>
              <a:t>13/4/2026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107A9-A0C7-4078-AEEF-185A00981267}" type="slidenum">
              <a:rPr lang="en-US" smtClean="0"/>
              <a:t>‹#›</a:t>
            </a:fld>
            <a:endParaRPr lang="en-US"/>
          </a:p>
        </p:txBody>
      </p:sp>
    </p:spTree>
    <p:extLst>
      <p:ext uri="{BB962C8B-B14F-4D97-AF65-F5344CB8AC3E}">
        <p14:creationId xmlns:p14="http://schemas.microsoft.com/office/powerpoint/2010/main" val="16345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mof.gov.vn/hoidapcstc/home/cthoidap/104011#_ftn1" TargetMode="External"/><Relationship Id="rId2" Type="http://schemas.openxmlformats.org/officeDocument/2006/relationships/slide" Target="../slides/slide27.xml"/><Relationship Id="rId1" Type="http://schemas.openxmlformats.org/officeDocument/2006/relationships/notesMaster" Target="../notesMasters/notesMaster1.xml"/><Relationship Id="rId6" Type="http://schemas.openxmlformats.org/officeDocument/2006/relationships/hyperlink" Target="https://mof.gov.vn/hoidapcstc/home/cthoidap/104011#_ftnref2" TargetMode="External"/><Relationship Id="rId5" Type="http://schemas.openxmlformats.org/officeDocument/2006/relationships/hyperlink" Target="https://mof.gov.vn/hoidapcstc/home/cthoidap/104011#_ftnref1" TargetMode="External"/><Relationship Id="rId4" Type="http://schemas.openxmlformats.org/officeDocument/2006/relationships/hyperlink" Target="https://mof.gov.vn/hoidapcstc/home/cthoidap/104011#_ftn2"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buổi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hôm</a:t>
            </a:r>
            <a:r>
              <a:rPr lang="en-US" sz="1200" kern="1200" dirty="0">
                <a:solidFill>
                  <a:schemeClr val="tx1"/>
                </a:solidFill>
                <a:effectLst/>
                <a:latin typeface="+mn-lt"/>
                <a:ea typeface="+mn-ea"/>
                <a:cs typeface="+mn-cs"/>
              </a:rPr>
              <a:t> nay,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sâu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cứu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phạm</a:t>
            </a:r>
            <a:r>
              <a:rPr lang="en-US" sz="1200" kern="1200" dirty="0">
                <a:solidFill>
                  <a:schemeClr val="tx1"/>
                </a:solidFill>
                <a:effectLst/>
                <a:latin typeface="+mn-lt"/>
                <a:ea typeface="+mn-ea"/>
                <a:cs typeface="+mn-cs"/>
              </a:rPr>
              <a:t> vi </a:t>
            </a:r>
            <a:r>
              <a:rPr lang="en-US" sz="1200" kern="1200" dirty="0" err="1">
                <a:solidFill>
                  <a:schemeClr val="tx1"/>
                </a:solidFill>
                <a:effectLst/>
                <a:latin typeface="+mn-lt"/>
                <a:ea typeface="+mn-ea"/>
                <a:cs typeface="+mn-cs"/>
              </a:rPr>
              <a:t>ngân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xã</a:t>
            </a:r>
            <a:endParaRPr lang="en-US" dirty="0"/>
          </a:p>
        </p:txBody>
      </p:sp>
      <p:sp>
        <p:nvSpPr>
          <p:cNvPr id="4" name="Slide Number Placeholder 3"/>
          <p:cNvSpPr>
            <a:spLocks noGrp="1"/>
          </p:cNvSpPr>
          <p:nvPr>
            <p:ph type="sldNum" sz="quarter" idx="5"/>
          </p:nvPr>
        </p:nvSpPr>
        <p:spPr/>
        <p:txBody>
          <a:bodyPr/>
          <a:lstStyle/>
          <a:p>
            <a:fld id="{1DD107A9-A0C7-4078-AEEF-185A00981267}" type="slidenum">
              <a:rPr lang="en-US" smtClean="0"/>
              <a:t>10</a:t>
            </a:fld>
            <a:endParaRPr lang="en-US"/>
          </a:p>
        </p:txBody>
      </p:sp>
    </p:spTree>
    <p:extLst>
      <p:ext uri="{BB962C8B-B14F-4D97-AF65-F5344CB8AC3E}">
        <p14:creationId xmlns:p14="http://schemas.microsoft.com/office/powerpoint/2010/main" val="4277985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01C35-7815-E80C-CAA9-2B5F1C410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6703A-FC9B-7BDA-C4C6-88081AF60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71D92-492F-4983-1ABA-49D36B3A37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A7B6ABE-BE18-6F64-B8AD-EB74D0186007}"/>
              </a:ext>
            </a:extLst>
          </p:cNvPr>
          <p:cNvSpPr>
            <a:spLocks noGrp="1"/>
          </p:cNvSpPr>
          <p:nvPr>
            <p:ph type="sldNum" sz="quarter" idx="5"/>
          </p:nvPr>
        </p:nvSpPr>
        <p:spPr/>
        <p:txBody>
          <a:bodyPr/>
          <a:lstStyle/>
          <a:p>
            <a:fld id="{1DD107A9-A0C7-4078-AEEF-185A00981267}" type="slidenum">
              <a:rPr lang="en-US" smtClean="0"/>
              <a:t>13</a:t>
            </a:fld>
            <a:endParaRPr lang="en-US"/>
          </a:p>
        </p:txBody>
      </p:sp>
    </p:spTree>
    <p:extLst>
      <p:ext uri="{BB962C8B-B14F-4D97-AF65-F5344CB8AC3E}">
        <p14:creationId xmlns:p14="http://schemas.microsoft.com/office/powerpoint/2010/main" val="1753587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048E-2F13-713F-1181-59E39E98F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13B98-9FAB-0E53-F555-E7A5B58C9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3EDCA-481D-B28C-E0A2-E52A93B418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F9159D1-E1A7-CCC2-688E-D83C363BD7D8}"/>
              </a:ext>
            </a:extLst>
          </p:cNvPr>
          <p:cNvSpPr>
            <a:spLocks noGrp="1"/>
          </p:cNvSpPr>
          <p:nvPr>
            <p:ph type="sldNum" sz="quarter" idx="5"/>
          </p:nvPr>
        </p:nvSpPr>
        <p:spPr/>
        <p:txBody>
          <a:bodyPr/>
          <a:lstStyle/>
          <a:p>
            <a:fld id="{1DD107A9-A0C7-4078-AEEF-185A00981267}" type="slidenum">
              <a:rPr lang="en-US" smtClean="0"/>
              <a:t>14</a:t>
            </a:fld>
            <a:endParaRPr lang="en-US"/>
          </a:p>
        </p:txBody>
      </p:sp>
    </p:spTree>
    <p:extLst>
      <p:ext uri="{BB962C8B-B14F-4D97-AF65-F5344CB8AC3E}">
        <p14:creationId xmlns:p14="http://schemas.microsoft.com/office/powerpoint/2010/main" val="4280598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71A6A-8EAD-79E8-2015-0517F9E40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4D8FD-C001-5F80-73D1-44E5DE754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EF5A3-E045-CB82-D42E-C482E7E04E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Phân quyền và ủy quyền mạnh hơn cho cấp xã </a:t>
            </a:r>
            <a:endParaRPr lang="en-US" b="1"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vi-VN" dirty="0"/>
              <a:t>Vị trí độc lập hơn trong hệ thống hành chính: Cấp xã trở thành đơn vị hành chính cơ sở duy nhất dưới cấp tỉnh, không còn cấp huyện làm trung gian, sẽ trực tiếp làm việc với UBND cấp tỉnh qua các sở, ngành chuyên môn (như Sở Tài chính). Điều này giúp cấp xã linh hoạt và chủ động hơn trong việc ra quyết định nhưng cũng đòi hỏi trách nhiệm cao hơn.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Nhiệm vụ chi và quyền quản lý vốn đầu tư được mở rộng, bao gồm cả những dự án trước đây do cấp huyện đảm nhiệm: Theo Luật Ngân sách nhà nước số 89/2025/QH15, cấp xã có quyền tự chủ trong phân bổ ngân sách cho các khoản chi thường xuyên và đầu tư nhỏ như việc quyết định chủ trương đầu tư dự án nhóm C sử dụng vốn ngân sách địa phương. Ngoài ra, cơ chế ủy quyền từ tỉnh cho phép cấp xã quản lý các dự án chuyển tiếp từ cấp huyện cũ. </a:t>
            </a:r>
            <a:endParaRPr lang="en-US" dirty="0"/>
          </a:p>
        </p:txBody>
      </p:sp>
      <p:sp>
        <p:nvSpPr>
          <p:cNvPr id="4" name="Slide Number Placeholder 3">
            <a:extLst>
              <a:ext uri="{FF2B5EF4-FFF2-40B4-BE49-F238E27FC236}">
                <a16:creationId xmlns:a16="http://schemas.microsoft.com/office/drawing/2014/main" id="{4B03A472-DC97-0550-DC4D-EF5549841A2D}"/>
              </a:ext>
            </a:extLst>
          </p:cNvPr>
          <p:cNvSpPr>
            <a:spLocks noGrp="1"/>
          </p:cNvSpPr>
          <p:nvPr>
            <p:ph type="sldNum" sz="quarter" idx="5"/>
          </p:nvPr>
        </p:nvSpPr>
        <p:spPr/>
        <p:txBody>
          <a:bodyPr/>
          <a:lstStyle/>
          <a:p>
            <a:fld id="{1DD107A9-A0C7-4078-AEEF-185A00981267}" type="slidenum">
              <a:rPr lang="en-US" smtClean="0"/>
              <a:t>15</a:t>
            </a:fld>
            <a:endParaRPr lang="en-US"/>
          </a:p>
        </p:txBody>
      </p:sp>
    </p:spTree>
    <p:extLst>
      <p:ext uri="{BB962C8B-B14F-4D97-AF65-F5344CB8AC3E}">
        <p14:creationId xmlns:p14="http://schemas.microsoft.com/office/powerpoint/2010/main" val="3371992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9B66A-705A-1C31-66F6-D6B615258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669E6-615C-5BEF-C071-E1B74FB5B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55B41-4089-99CE-C76B-0FB6EBD374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Tăng</a:t>
            </a:r>
            <a:r>
              <a:rPr lang="en-US" b="1" dirty="0"/>
              <a:t> </a:t>
            </a:r>
            <a:r>
              <a:rPr lang="en-US" b="1" dirty="0" err="1"/>
              <a:t>quy</a:t>
            </a:r>
            <a:r>
              <a:rPr lang="en-US" b="1" dirty="0"/>
              <a:t> </a:t>
            </a:r>
            <a:r>
              <a:rPr lang="en-US" b="1" dirty="0" err="1"/>
              <a:t>mô</a:t>
            </a:r>
            <a:r>
              <a:rPr lang="en-US" b="1" dirty="0"/>
              <a:t> </a:t>
            </a:r>
            <a:r>
              <a:rPr lang="en-US" b="1" dirty="0" err="1"/>
              <a:t>ngân</a:t>
            </a:r>
            <a:r>
              <a:rPr lang="en-US" b="1" dirty="0"/>
              <a:t> </a:t>
            </a:r>
            <a:r>
              <a:rPr lang="en-US" b="1" dirty="0" err="1"/>
              <a:t>sách</a:t>
            </a:r>
            <a:r>
              <a:rPr lang="en-US" b="1" dirty="0"/>
              <a:t> </a:t>
            </a:r>
            <a:r>
              <a:rPr lang="en-US" b="1" dirty="0" err="1"/>
              <a:t>và</a:t>
            </a:r>
            <a:r>
              <a:rPr lang="en-US" b="1" dirty="0"/>
              <a:t> </a:t>
            </a:r>
            <a:r>
              <a:rPr lang="en-US" b="1" dirty="0" err="1"/>
              <a:t>vốn</a:t>
            </a:r>
            <a:r>
              <a:rPr lang="en-US" b="1" dirty="0"/>
              <a:t> </a:t>
            </a:r>
            <a:r>
              <a:rPr lang="en-US" b="1" dirty="0" err="1"/>
              <a:t>đầu</a:t>
            </a:r>
            <a:r>
              <a:rPr lang="en-US" b="1" dirty="0"/>
              <a:t> </a:t>
            </a:r>
            <a:r>
              <a:rPr lang="en-US" b="1" dirty="0" err="1"/>
              <a:t>tư</a:t>
            </a:r>
            <a:r>
              <a:rPr 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Ngân sách xã quản lý lớn hơn, đa dạng nguồn thu (phân cấp thu từ tỉnh, phí - lệ phí, thu từ khai thác tài sản công...): Ngân sách xã không chỉ dựa vào nguồn phân cấp từ tỉnh mà còn bao gồm các khoản thu tự chủ như phí, lệ phí địa phương (phí vệ sinh, phí chợ), thu từ khai thác tài sản công (cho thuê đất công, tài sản nhà nước) và các khoản thu từ đất đai (tiền sử dụng đất, thuế đất phi nông nghiệp)</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Số lượng dự án đầu tư tăng (hạ tầng kỹ thuật, hạ tầng xã hội, dịch vụ công): Do sắp xếp ĐVHC làm cấp xã mới có địa bàn rộng hơn, phải quản lý nhiều dự án hơn, từ hạ tầng kỹ thuật (đường giao thông, hệ thống thoát nước) đến hạ tầng xã hội (trường học, nhà văn hóa) và dịch vụ công (y tế cơ sở, an sinh xã hội). Thực tế cho thấy số lượng dự án nhóm B và C thuộc thẩm quyền cấp xã có thể tăng gấp đôi, với tổng vốn đầu tư có thể đạt hàng trăm tỷ đồng mỗi năm ở các ĐVHC cấp xã lớn, đòi hỏi khả năng lập kế hoạch và giải ngân hiệu quả. </a:t>
            </a:r>
            <a:endParaRPr lang="en-US" dirty="0"/>
          </a:p>
        </p:txBody>
      </p:sp>
      <p:sp>
        <p:nvSpPr>
          <p:cNvPr id="4" name="Slide Number Placeholder 3">
            <a:extLst>
              <a:ext uri="{FF2B5EF4-FFF2-40B4-BE49-F238E27FC236}">
                <a16:creationId xmlns:a16="http://schemas.microsoft.com/office/drawing/2014/main" id="{1DC35816-909E-5DE2-45FE-06D42CAAAA25}"/>
              </a:ext>
            </a:extLst>
          </p:cNvPr>
          <p:cNvSpPr>
            <a:spLocks noGrp="1"/>
          </p:cNvSpPr>
          <p:nvPr>
            <p:ph type="sldNum" sz="quarter" idx="5"/>
          </p:nvPr>
        </p:nvSpPr>
        <p:spPr/>
        <p:txBody>
          <a:bodyPr/>
          <a:lstStyle/>
          <a:p>
            <a:fld id="{1DD107A9-A0C7-4078-AEEF-185A00981267}" type="slidenum">
              <a:rPr lang="en-US" smtClean="0"/>
              <a:t>16</a:t>
            </a:fld>
            <a:endParaRPr lang="en-US"/>
          </a:p>
        </p:txBody>
      </p:sp>
    </p:spTree>
    <p:extLst>
      <p:ext uri="{BB962C8B-B14F-4D97-AF65-F5344CB8AC3E}">
        <p14:creationId xmlns:p14="http://schemas.microsoft.com/office/powerpoint/2010/main" val="1310052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D5927-85FC-5530-E567-AE0249669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7D93C-41AC-610F-7C31-9A13AC6DA0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E70BE-FDC7-5403-2FAF-6BCB7A13EA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Trực tiếp chịu trách nhiệm giải trình với cấp tỉnh và cộng đồng dân cư </a:t>
            </a: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vi-VN" dirty="0"/>
              <a:t>Không còn tầng giám sát trung gian là cấp huyện: Trước đây, cấp huyện giám sát chặt chẽ các hoạt động tài chính - đầu tư của cấp xã; hiện nay cấp xã phải tự giám sát nội bộ qua HĐND xã và báo cáo trực tiếp lên cấp tỉnh qua các sở, ngành (như Sở Tài chính).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HĐND cấp xã, UBND cấp xã phải tự thực hiện chức năng giám sát, báo cáo định kỳ trực tiếp lên cấp tỉnh qua các sở, ngành</a:t>
            </a:r>
            <a:endParaRPr lang="en-US" dirty="0"/>
          </a:p>
        </p:txBody>
      </p:sp>
      <p:sp>
        <p:nvSpPr>
          <p:cNvPr id="4" name="Slide Number Placeholder 3">
            <a:extLst>
              <a:ext uri="{FF2B5EF4-FFF2-40B4-BE49-F238E27FC236}">
                <a16:creationId xmlns:a16="http://schemas.microsoft.com/office/drawing/2014/main" id="{4200B8C1-773C-E076-6771-E6C599FD7F08}"/>
              </a:ext>
            </a:extLst>
          </p:cNvPr>
          <p:cNvSpPr>
            <a:spLocks noGrp="1"/>
          </p:cNvSpPr>
          <p:nvPr>
            <p:ph type="sldNum" sz="quarter" idx="5"/>
          </p:nvPr>
        </p:nvSpPr>
        <p:spPr/>
        <p:txBody>
          <a:bodyPr/>
          <a:lstStyle/>
          <a:p>
            <a:fld id="{1DD107A9-A0C7-4078-AEEF-185A00981267}" type="slidenum">
              <a:rPr lang="en-US" smtClean="0"/>
              <a:t>17</a:t>
            </a:fld>
            <a:endParaRPr lang="en-US"/>
          </a:p>
        </p:txBody>
      </p:sp>
    </p:spTree>
    <p:extLst>
      <p:ext uri="{BB962C8B-B14F-4D97-AF65-F5344CB8AC3E}">
        <p14:creationId xmlns:p14="http://schemas.microsoft.com/office/powerpoint/2010/main" val="1269612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B39C4-E2AF-409B-04A0-496C4F822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CDFA2-B673-E259-B53A-7F20A1DE39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D644D1-C7A3-BAB2-6415-280702C689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Yêu cầu chuyên môn cao hơn</a:t>
            </a: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vi-VN" dirty="0"/>
              <a:t>Nhu cầu về đội ngũ chuyên môn: Cần công chức về tài chính - kế toán (lập dự toán, quyết toán), quản lý xây dựng cơ bản (thẩm định dự án, giám sát thi công), kế hoạch - đầu tư (lập kế hoạch trung hạn, đánh giá hiệu quả vốn).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Tăng ứng dụng công nghệ số trong lập dự toán, giải ngân, giám sát dự án: Cán bộ phải thành thạo các phần mềm như TABMIS (Hệ thống thông tin quản lý ngân sách và Kho bạc), PMIS (Hệ thống quản lý đầu tư công) để lập dự toán, giải ngân trực tuyến. </a:t>
            </a:r>
            <a:endParaRPr lang="en-US" dirty="0"/>
          </a:p>
        </p:txBody>
      </p:sp>
      <p:sp>
        <p:nvSpPr>
          <p:cNvPr id="4" name="Slide Number Placeholder 3">
            <a:extLst>
              <a:ext uri="{FF2B5EF4-FFF2-40B4-BE49-F238E27FC236}">
                <a16:creationId xmlns:a16="http://schemas.microsoft.com/office/drawing/2014/main" id="{96CBAAB5-80E1-2675-D61E-8C155CFA0EDE}"/>
              </a:ext>
            </a:extLst>
          </p:cNvPr>
          <p:cNvSpPr>
            <a:spLocks noGrp="1"/>
          </p:cNvSpPr>
          <p:nvPr>
            <p:ph type="sldNum" sz="quarter" idx="5"/>
          </p:nvPr>
        </p:nvSpPr>
        <p:spPr/>
        <p:txBody>
          <a:bodyPr/>
          <a:lstStyle/>
          <a:p>
            <a:fld id="{1DD107A9-A0C7-4078-AEEF-185A00981267}" type="slidenum">
              <a:rPr lang="en-US" smtClean="0"/>
              <a:t>18</a:t>
            </a:fld>
            <a:endParaRPr lang="en-US"/>
          </a:p>
        </p:txBody>
      </p:sp>
    </p:spTree>
    <p:extLst>
      <p:ext uri="{BB962C8B-B14F-4D97-AF65-F5344CB8AC3E}">
        <p14:creationId xmlns:p14="http://schemas.microsoft.com/office/powerpoint/2010/main" val="519328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7D19-2A49-75AC-BD6B-A4616216D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36BDE4-9590-B7F4-B90F-D1975425F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49DC6-6AB0-B0B2-03AD-E5B10FBC24A1}"/>
              </a:ext>
            </a:extLst>
          </p:cNvPr>
          <p:cNvSpPr>
            <a:spLocks noGrp="1"/>
          </p:cNvSpPr>
          <p:nvPr>
            <p:ph type="body" idx="1"/>
          </p:nvPr>
        </p:nvSpPr>
        <p:spPr/>
        <p:txBody>
          <a:bodyPr/>
          <a:lstStyle/>
          <a:p>
            <a:pPr marL="0" indent="0" algn="just">
              <a:lnSpc>
                <a:spcPct val="150000"/>
              </a:lnSpc>
              <a:buFont typeface="Arial" panose="020B0604020202020204" pitchFamily="34" charset="0"/>
              <a:buNone/>
            </a:pPr>
            <a:r>
              <a:rPr lang="en-US" sz="1200" dirty="0" err="1">
                <a:latin typeface="Times New Roman" panose="02020603050405020304" pitchFamily="18" charset="0"/>
                <a:cs typeface="Times New Roman" panose="02020603050405020304" pitchFamily="18" charset="0"/>
              </a:rPr>
              <a:t>Hệ</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thống</a:t>
            </a:r>
            <a:r>
              <a:rPr lang="en-US" sz="1200" dirty="0">
                <a:latin typeface="Times New Roman" panose="02020603050405020304" pitchFamily="18" charset="0"/>
                <a:cs typeface="Times New Roman" panose="02020603050405020304" pitchFamily="18" charset="0"/>
              </a:rPr>
              <a:t> NSNN </a:t>
            </a:r>
            <a:r>
              <a:rPr lang="en-US" sz="1200" dirty="0" err="1">
                <a:latin typeface="Times New Roman" panose="02020603050405020304" pitchFamily="18" charset="0"/>
                <a:cs typeface="Times New Roman" panose="02020603050405020304" pitchFamily="18" charset="0"/>
              </a:rPr>
              <a:t>cũng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những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đổi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phù</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hợp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với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đơn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vị</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hành</a:t>
            </a:r>
            <a:r>
              <a:rPr lang="en-US" sz="1200" dirty="0">
                <a:latin typeface="Times New Roman" panose="02020603050405020304" pitchFamily="18" charset="0"/>
                <a:cs typeface="Times New Roman" panose="02020603050405020304" pitchFamily="18" charset="0"/>
              </a:rPr>
              <a:t> </a:t>
            </a:r>
            <a:r>
              <a:rPr lang="en-US" sz="1200" err="1">
                <a:latin typeface="Times New Roman" panose="02020603050405020304" pitchFamily="18" charset="0"/>
                <a:cs typeface="Times New Roman" panose="02020603050405020304" pitchFamily="18" charset="0"/>
              </a:rPr>
              <a:t>chính</a:t>
            </a:r>
            <a:r>
              <a:rPr lang="en-US" sz="1200">
                <a:latin typeface="Times New Roman" panose="02020603050405020304" pitchFamily="18" charset="0"/>
                <a:cs typeface="Times New Roman" panose="02020603050405020304" pitchFamily="18" charset="0"/>
              </a:rPr>
              <a:t> vmô </a:t>
            </a:r>
            <a:r>
              <a:rPr lang="en-US" sz="1200" dirty="0" err="1">
                <a:latin typeface="Times New Roman" panose="02020603050405020304" pitchFamily="18" charset="0"/>
                <a:cs typeface="Times New Roman" panose="02020603050405020304" pitchFamily="18" charset="0"/>
              </a:rPr>
              <a:t>hình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chính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quyền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địa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phương</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cấp</a:t>
            </a:r>
            <a:endParaRPr lang="en-US" sz="1200"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Theo </a:t>
            </a:r>
            <a:r>
              <a:rPr lang="en-US" sz="1200" dirty="0" err="1">
                <a:latin typeface="Times New Roman" panose="02020603050405020304" pitchFamily="18" charset="0"/>
                <a:cs typeface="Times New Roman" panose="02020603050405020304" pitchFamily="18" charset="0"/>
              </a:rPr>
              <a:t>Điều</a:t>
            </a:r>
            <a:r>
              <a:rPr lang="en-US" sz="1200" dirty="0">
                <a:latin typeface="Times New Roman" panose="02020603050405020304" pitchFamily="18" charset="0"/>
                <a:cs typeface="Times New Roman" panose="02020603050405020304" pitchFamily="18" charset="0"/>
              </a:rPr>
              <a:t> 6, </a:t>
            </a:r>
            <a:r>
              <a:rPr lang="en-US" sz="1200" dirty="0" err="1">
                <a:latin typeface="Times New Roman" panose="02020603050405020304" pitchFamily="18" charset="0"/>
                <a:cs typeface="Times New Roman" panose="02020603050405020304" pitchFamily="18" charset="0"/>
              </a:rPr>
              <a:t>Luật</a:t>
            </a:r>
            <a:r>
              <a:rPr lang="en-US" sz="1200" dirty="0">
                <a:latin typeface="Times New Roman" panose="02020603050405020304" pitchFamily="18" charset="0"/>
                <a:cs typeface="Times New Roman" panose="02020603050405020304" pitchFamily="18" charset="0"/>
              </a:rPr>
              <a:t> NSNN 2025, </a:t>
            </a:r>
            <a:r>
              <a:rPr lang="en-US" sz="1200" dirty="0" err="1">
                <a:latin typeface="Times New Roman" panose="02020603050405020304" pitchFamily="18" charset="0"/>
                <a:cs typeface="Times New Roman" panose="02020603050405020304" pitchFamily="18" charset="0"/>
              </a:rPr>
              <a:t>Hệ</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thống</a:t>
            </a:r>
            <a:r>
              <a:rPr lang="en-US" sz="1200" dirty="0">
                <a:latin typeface="Times New Roman" panose="02020603050405020304" pitchFamily="18" charset="0"/>
                <a:cs typeface="Times New Roman" panose="02020603050405020304" pitchFamily="18" charset="0"/>
              </a:rPr>
              <a:t> NSNN:</a:t>
            </a:r>
            <a:endParaRPr lang="en-US" sz="1200" dirty="0"/>
          </a:p>
          <a:p>
            <a:pPr marL="0" indent="0" algn="just">
              <a:lnSpc>
                <a:spcPct val="150000"/>
              </a:lnSpc>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1. NSNN bao </a:t>
            </a:r>
            <a:r>
              <a:rPr lang="en-US" sz="1200" dirty="0" err="1">
                <a:latin typeface="Times New Roman" panose="02020603050405020304" pitchFamily="18" charset="0"/>
                <a:cs typeface="Times New Roman" panose="02020603050405020304" pitchFamily="18" charset="0"/>
              </a:rPr>
              <a:t>gồm</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trung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ương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địa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phương</a:t>
            </a:r>
            <a:r>
              <a:rPr lang="en-US" sz="1200" dirty="0">
                <a:latin typeface="Times New Roman" panose="02020603050405020304" pitchFamily="18" charset="0"/>
                <a:cs typeface="Times New Roman" panose="02020603050405020304" pitchFamily="18" charset="0"/>
              </a:rPr>
              <a:t>.</a:t>
            </a:r>
          </a:p>
          <a:p>
            <a:pPr marL="0" indent="0" algn="just">
              <a:lnSpc>
                <a:spcPct val="150000"/>
              </a:lnSpc>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2. NS </a:t>
            </a:r>
            <a:r>
              <a:rPr lang="en-US" sz="1200" dirty="0" err="1">
                <a:latin typeface="Times New Roman" panose="02020603050405020304" pitchFamily="18" charset="0"/>
                <a:cs typeface="Times New Roman" panose="02020603050405020304" pitchFamily="18" charset="0"/>
              </a:rPr>
              <a:t>địa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phương</a:t>
            </a:r>
            <a:r>
              <a:rPr lang="en-US" sz="1200" dirty="0">
                <a:latin typeface="Times New Roman" panose="02020603050405020304" pitchFamily="18" charset="0"/>
                <a:cs typeface="Times New Roman" panose="02020603050405020304" pitchFamily="18" charset="0"/>
              </a:rPr>
              <a:t> bao </a:t>
            </a:r>
            <a:r>
              <a:rPr lang="en-US" sz="1200" dirty="0" err="1">
                <a:latin typeface="Times New Roman" panose="02020603050405020304" pitchFamily="18" charset="0"/>
                <a:cs typeface="Times New Roman" panose="02020603050405020304" pitchFamily="18" charset="0"/>
              </a:rPr>
              <a:t>gồm</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cấp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tỉnh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cấp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xã</a:t>
            </a:r>
            <a:endParaRPr lang="en-US" sz="1200"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r>
              <a:rPr lang="vi-VN" sz="1200" dirty="0">
                <a:latin typeface="Times New Roman" panose="02020603050405020304" pitchFamily="18" charset="0"/>
                <a:cs typeface="Times New Roman" panose="02020603050405020304" pitchFamily="18" charset="0"/>
              </a:rPr>
              <a:t>Hệ thống NSNN là tập hợp các cấp ngân sách từ trung ương đến địa phương, được xây dựng theo mối quan hệ chiều dọc, dựa trên những nguyên tắc nhất định để đảm bảo sự hoạt động thống nhất của từng cấp trong toàn bộ hệ thống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nghĩa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là</a:t>
            </a:r>
            <a:r>
              <a:rPr lang="en-US" sz="1200" dirty="0">
                <a:latin typeface="Times New Roman" panose="02020603050405020304" pitchFamily="18" charset="0"/>
                <a:cs typeface="Times New Roman" panose="02020603050405020304" pitchFamily="18" charset="0"/>
              </a:rPr>
              <a:t> </a:t>
            </a:r>
            <a:r>
              <a:rPr lang="vi-VN" sz="1200" dirty="0">
                <a:latin typeface="Times New Roman" panose="02020603050405020304" pitchFamily="18" charset="0"/>
                <a:cs typeface="Times New Roman" panose="02020603050405020304" pitchFamily="18" charset="0"/>
              </a:rPr>
              <a:t> </a:t>
            </a:r>
            <a:r>
              <a:rPr lang="en-US" sz="1200" kern="1200" dirty="0" err="1">
                <a:solidFill>
                  <a:schemeClr val="tx1"/>
                </a:solidFill>
                <a:effectLst/>
                <a:latin typeface="+mn-lt"/>
                <a:ea typeface="+mn-ea"/>
                <a:cs typeface="+mn-cs"/>
              </a:rPr>
              <a:t>mọi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máu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a:t>
            </a:r>
            <a:r>
              <a:rPr lang="en-US" sz="1200" kern="1200" dirty="0">
                <a:solidFill>
                  <a:schemeClr val="tx1"/>
                </a:solidFill>
                <a:effectLst/>
                <a:latin typeface="+mn-lt"/>
                <a:ea typeface="+mn-ea"/>
                <a:cs typeface="+mn-cs"/>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B47D45E-CC80-4079-0286-EBBF35776ABD}"/>
              </a:ext>
            </a:extLst>
          </p:cNvPr>
          <p:cNvSpPr>
            <a:spLocks noGrp="1"/>
          </p:cNvSpPr>
          <p:nvPr>
            <p:ph type="sldNum" sz="quarter" idx="5"/>
          </p:nvPr>
        </p:nvSpPr>
        <p:spPr/>
        <p:txBody>
          <a:bodyPr/>
          <a:lstStyle/>
          <a:p>
            <a:fld id="{1DD107A9-A0C7-4078-AEEF-185A00981267}" type="slidenum">
              <a:rPr lang="en-US" smtClean="0"/>
              <a:t>19</a:t>
            </a:fld>
            <a:endParaRPr lang="en-US"/>
          </a:p>
        </p:txBody>
      </p:sp>
    </p:spTree>
    <p:extLst>
      <p:ext uri="{BB962C8B-B14F-4D97-AF65-F5344CB8AC3E}">
        <p14:creationId xmlns:p14="http://schemas.microsoft.com/office/powerpoint/2010/main" val="1426015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487AD-9E46-2C27-84CA-AB22D770C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3EDB1-16A2-8AF8-122B-237A36975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9D44F3-180E-0539-CBBE-5CDF0C3ED3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705175B-125E-F007-E202-EFD0318D98E7}"/>
              </a:ext>
            </a:extLst>
          </p:cNvPr>
          <p:cNvSpPr>
            <a:spLocks noGrp="1"/>
          </p:cNvSpPr>
          <p:nvPr>
            <p:ph type="sldNum" sz="quarter" idx="5"/>
          </p:nvPr>
        </p:nvSpPr>
        <p:spPr/>
        <p:txBody>
          <a:bodyPr/>
          <a:lstStyle/>
          <a:p>
            <a:fld id="{1DD107A9-A0C7-4078-AEEF-185A00981267}" type="slidenum">
              <a:rPr lang="en-US" smtClean="0"/>
              <a:t>20</a:t>
            </a:fld>
            <a:endParaRPr lang="en-US"/>
          </a:p>
        </p:txBody>
      </p:sp>
    </p:spTree>
    <p:extLst>
      <p:ext uri="{BB962C8B-B14F-4D97-AF65-F5344CB8AC3E}">
        <p14:creationId xmlns:p14="http://schemas.microsoft.com/office/powerpoint/2010/main" val="545970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61D6D-BA46-CA86-20FA-14EA4EDE5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04A68-9B84-0019-AC75-F88BF761B5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C5B61-F4E7-F4CA-F96B-17DC3797CC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F922BA0-E564-4D93-5C02-586B3D9027B1}"/>
              </a:ext>
            </a:extLst>
          </p:cNvPr>
          <p:cNvSpPr>
            <a:spLocks noGrp="1"/>
          </p:cNvSpPr>
          <p:nvPr>
            <p:ph type="sldNum" sz="quarter" idx="5"/>
          </p:nvPr>
        </p:nvSpPr>
        <p:spPr/>
        <p:txBody>
          <a:bodyPr/>
          <a:lstStyle/>
          <a:p>
            <a:fld id="{1DD107A9-A0C7-4078-AEEF-185A00981267}" type="slidenum">
              <a:rPr lang="en-US" smtClean="0"/>
              <a:t>21</a:t>
            </a:fld>
            <a:endParaRPr lang="en-US"/>
          </a:p>
        </p:txBody>
      </p:sp>
    </p:spTree>
    <p:extLst>
      <p:ext uri="{BB962C8B-B14F-4D97-AF65-F5344CB8AC3E}">
        <p14:creationId xmlns:p14="http://schemas.microsoft.com/office/powerpoint/2010/main" val="1663350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276D9-CBC2-9B16-2F81-B8A3A0B71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5BB66-464D-A624-6EA7-C66FFD8F3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0BC7A-BFB5-293D-1733-F01EBBD4BD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6C18445-403A-4683-8D5D-0BA8E71B5FE4}"/>
              </a:ext>
            </a:extLst>
          </p:cNvPr>
          <p:cNvSpPr>
            <a:spLocks noGrp="1"/>
          </p:cNvSpPr>
          <p:nvPr>
            <p:ph type="sldNum" sz="quarter" idx="5"/>
          </p:nvPr>
        </p:nvSpPr>
        <p:spPr/>
        <p:txBody>
          <a:bodyPr/>
          <a:lstStyle/>
          <a:p>
            <a:fld id="{1DD107A9-A0C7-4078-AEEF-185A00981267}" type="slidenum">
              <a:rPr lang="en-US" smtClean="0"/>
              <a:t>22</a:t>
            </a:fld>
            <a:endParaRPr lang="en-US"/>
          </a:p>
        </p:txBody>
      </p:sp>
    </p:spTree>
    <p:extLst>
      <p:ext uri="{BB962C8B-B14F-4D97-AF65-F5344CB8AC3E}">
        <p14:creationId xmlns:p14="http://schemas.microsoft.com/office/powerpoint/2010/main" val="1242830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D1C04-584F-093E-CC82-C6A80C7C1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946F3-BA9F-FD42-5B09-8BBDF08A5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2F2E3-551F-4616-36E5-C300E7ECE9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331E310-F8CE-EC8B-7E6D-7BD4735FC448}"/>
              </a:ext>
            </a:extLst>
          </p:cNvPr>
          <p:cNvSpPr>
            <a:spLocks noGrp="1"/>
          </p:cNvSpPr>
          <p:nvPr>
            <p:ph type="sldNum" sz="quarter" idx="5"/>
          </p:nvPr>
        </p:nvSpPr>
        <p:spPr/>
        <p:txBody>
          <a:bodyPr/>
          <a:lstStyle/>
          <a:p>
            <a:fld id="{1DD107A9-A0C7-4078-AEEF-185A00981267}" type="slidenum">
              <a:rPr lang="en-US" smtClean="0"/>
              <a:t>23</a:t>
            </a:fld>
            <a:endParaRPr lang="en-US"/>
          </a:p>
        </p:txBody>
      </p:sp>
    </p:spTree>
    <p:extLst>
      <p:ext uri="{BB962C8B-B14F-4D97-AF65-F5344CB8AC3E}">
        <p14:creationId xmlns:p14="http://schemas.microsoft.com/office/powerpoint/2010/main" val="3149495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4F9AF-5407-AC5E-E7EE-BD975B0BB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98A41-E0AA-780A-B499-EF56C64EE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669FE-4C69-A28D-F173-4E6FE989AF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0C40976-7A8D-0DEB-30CB-4E6AA2095D8C}"/>
              </a:ext>
            </a:extLst>
          </p:cNvPr>
          <p:cNvSpPr>
            <a:spLocks noGrp="1"/>
          </p:cNvSpPr>
          <p:nvPr>
            <p:ph type="sldNum" sz="quarter" idx="5"/>
          </p:nvPr>
        </p:nvSpPr>
        <p:spPr/>
        <p:txBody>
          <a:bodyPr/>
          <a:lstStyle/>
          <a:p>
            <a:fld id="{1DD107A9-A0C7-4078-AEEF-185A00981267}" type="slidenum">
              <a:rPr lang="en-US" smtClean="0"/>
              <a:t>24</a:t>
            </a:fld>
            <a:endParaRPr lang="en-US"/>
          </a:p>
        </p:txBody>
      </p:sp>
    </p:spTree>
    <p:extLst>
      <p:ext uri="{BB962C8B-B14F-4D97-AF65-F5344CB8AC3E}">
        <p14:creationId xmlns:p14="http://schemas.microsoft.com/office/powerpoint/2010/main" val="3146757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3D2BD-E24B-FA46-6601-B60C68700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B9FAD-B445-772D-7568-9E68CF465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B1E816-5772-F06A-A51D-912AB769BFD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5B850FC-4367-9636-785C-906BD17D6DE6}"/>
              </a:ext>
            </a:extLst>
          </p:cNvPr>
          <p:cNvSpPr>
            <a:spLocks noGrp="1"/>
          </p:cNvSpPr>
          <p:nvPr>
            <p:ph type="sldNum" sz="quarter" idx="5"/>
          </p:nvPr>
        </p:nvSpPr>
        <p:spPr/>
        <p:txBody>
          <a:bodyPr/>
          <a:lstStyle/>
          <a:p>
            <a:fld id="{1DD107A9-A0C7-4078-AEEF-185A00981267}" type="slidenum">
              <a:rPr lang="en-US" smtClean="0"/>
              <a:t>25</a:t>
            </a:fld>
            <a:endParaRPr lang="en-US"/>
          </a:p>
        </p:txBody>
      </p:sp>
    </p:spTree>
    <p:extLst>
      <p:ext uri="{BB962C8B-B14F-4D97-AF65-F5344CB8AC3E}">
        <p14:creationId xmlns:p14="http://schemas.microsoft.com/office/powerpoint/2010/main" val="2555814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9E5C6-B866-ABF6-184B-EACBEA336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C9E61-7C85-54C8-7516-71D70AC62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EA7E4B-ED00-C83A-97AE-D1C7D04A01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131739E-FD75-167E-57C0-FC805E294B5E}"/>
              </a:ext>
            </a:extLst>
          </p:cNvPr>
          <p:cNvSpPr>
            <a:spLocks noGrp="1"/>
          </p:cNvSpPr>
          <p:nvPr>
            <p:ph type="sldNum" sz="quarter" idx="5"/>
          </p:nvPr>
        </p:nvSpPr>
        <p:spPr/>
        <p:txBody>
          <a:bodyPr/>
          <a:lstStyle/>
          <a:p>
            <a:fld id="{1DD107A9-A0C7-4078-AEEF-185A00981267}" type="slidenum">
              <a:rPr lang="en-US" smtClean="0"/>
              <a:t>26</a:t>
            </a:fld>
            <a:endParaRPr lang="en-US"/>
          </a:p>
        </p:txBody>
      </p:sp>
    </p:spTree>
    <p:extLst>
      <p:ext uri="{BB962C8B-B14F-4D97-AF65-F5344CB8AC3E}">
        <p14:creationId xmlns:p14="http://schemas.microsoft.com/office/powerpoint/2010/main" val="749429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6EF44-E75F-C6DD-625C-A13A682F1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D3C52-7E53-7FDF-7004-32B50ED1D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86BAB-7A1A-123B-4C9F-1C7F2B49DD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dirty="0"/>
              <a:t>Chuyển nguồn</a:t>
            </a:r>
            <a:endParaRPr lang="en-US" sz="1200" b="1" dirty="0"/>
          </a:p>
          <a:p>
            <a:pPr algn="just"/>
            <a:r>
              <a:rPr lang="vi-VN" sz="800" b="1" i="0" kern="1200" dirty="0">
                <a:solidFill>
                  <a:srgbClr val="073D9F"/>
                </a:solidFill>
                <a:effectLst/>
                <a:latin typeface="+mn-lt"/>
                <a:ea typeface="+mn-ea"/>
                <a:cs typeface="+mn-cs"/>
              </a:rPr>
              <a:t>Chuyển nguồn ngân sách từ năm trước sang năm sau</a:t>
            </a:r>
          </a:p>
          <a:p>
            <a:pPr algn="just"/>
            <a:r>
              <a:rPr lang="vi-VN" sz="800" b="0" i="0" kern="1200" dirty="0">
                <a:solidFill>
                  <a:srgbClr val="343434"/>
                </a:solidFill>
                <a:effectLst/>
                <a:latin typeface="+mn-lt"/>
                <a:ea typeface="+mn-ea"/>
                <a:cs typeface="+mn-cs"/>
              </a:rPr>
              <a:t>Chuyển nguồn kinh phí ngân sách năm trước sang năm sau là thực hiện các khoản chi đã được bố trí trong dự toán năm trước hoặc dự toán bổ sung, nhưng đến hết thời gian chỉnh lý chưa thực hiện hoặc thực hiện chưa đáp ứng các điều kiện nhất định và được cơ quan có thẩm quyền cho tiếp tục thực hiện chi vào ngân sách năm sau. Việc chuyển nguồn ngân sách từ năm trước sang năm sau quy định tại Điều 43 Nghị định 163/2016 như sau:</a:t>
            </a:r>
          </a:p>
          <a:p>
            <a:pPr algn="just"/>
            <a:r>
              <a:rPr lang="vi-VN" sz="800" b="1" i="0" kern="1200" dirty="0">
                <a:solidFill>
                  <a:srgbClr val="0000FF"/>
                </a:solidFill>
                <a:effectLst/>
                <a:latin typeface="+mn-lt"/>
                <a:ea typeface="+mn-ea"/>
                <a:cs typeface="+mn-cs"/>
              </a:rPr>
              <a:t>Các khoản dự toán chưa thực hiện hoặc chưa chi hết</a:t>
            </a:r>
          </a:p>
          <a:p>
            <a:pPr algn="just"/>
            <a:r>
              <a:rPr lang="vi-VN" sz="800" b="0" i="0" kern="1200" dirty="0">
                <a:solidFill>
                  <a:srgbClr val="343434"/>
                </a:solidFill>
                <a:effectLst/>
                <a:latin typeface="+mn-lt"/>
                <a:ea typeface="+mn-ea"/>
                <a:cs typeface="+mn-cs"/>
              </a:rPr>
              <a:t>Các khoản dự toán chưa thực hiện hoặc chưa chi hết, các khoản đã tạm ứng trong dự toán, số dư tài khoản tiền gửi đến hết thời gian chỉnh lý quyết toán chưa thực hiện được hoặc chưa sử dụng hết, được chuyển sang năm sau tiếp tục sử dụng gồm:</a:t>
            </a:r>
          </a:p>
          <a:p>
            <a:pPr algn="just"/>
            <a:r>
              <a:rPr lang="vi-VN" sz="800" b="0" i="0" kern="1200" dirty="0">
                <a:solidFill>
                  <a:srgbClr val="343434"/>
                </a:solidFill>
                <a:effectLst/>
                <a:latin typeface="+mn-lt"/>
                <a:ea typeface="+mn-ea"/>
                <a:cs typeface="+mn-cs"/>
              </a:rPr>
              <a:t>+ Chi đầu tư phát triển thực hiện chuyển sang năm sau theo quy định của Luật Đầu tư công. Trường hợp đặc biệt, Thủ tướng Chính phủ quyết định về việc cho phép chuyển nguồn sang năm sau nữa, nhưng không quá thời hạn giải ngân của dự án nằm trong kế hoạch đầu tư công trung hạn;</a:t>
            </a:r>
          </a:p>
          <a:p>
            <a:pPr algn="just"/>
            <a:r>
              <a:rPr lang="vi-VN" sz="800" b="0" i="0" kern="1200" dirty="0">
                <a:solidFill>
                  <a:srgbClr val="343434"/>
                </a:solidFill>
                <a:effectLst/>
                <a:latin typeface="+mn-lt"/>
                <a:ea typeface="+mn-ea"/>
                <a:cs typeface="+mn-cs"/>
              </a:rPr>
              <a:t>+ Chi mua sắm trang thiết bị đã đầy đủ hồ sơ, hợp đồng mua sắm trang thiết bị ký trước ngày 31 tháng 12 năm thực hiện dự toán; chi mua tăng, mua bù hàng dự trữ quốc gia;</a:t>
            </a:r>
          </a:p>
          <a:p>
            <a:pPr algn="just"/>
            <a:r>
              <a:rPr lang="vi-VN" sz="800" b="0" i="0" kern="1200" dirty="0">
                <a:solidFill>
                  <a:srgbClr val="343434"/>
                </a:solidFill>
                <a:effectLst/>
                <a:latin typeface="+mn-lt"/>
                <a:ea typeface="+mn-ea"/>
                <a:cs typeface="+mn-cs"/>
              </a:rPr>
              <a:t>+ Nguồn thực hiện chính sách tiền lương, phụ cấp, trợ cấp và các khoản tính theo tiền lương cơ sở, bảo trợ xã hội;</a:t>
            </a:r>
          </a:p>
          <a:p>
            <a:pPr algn="just"/>
            <a:r>
              <a:rPr lang="vi-VN" sz="800" b="0" i="0" kern="1200" dirty="0">
                <a:solidFill>
                  <a:srgbClr val="343434"/>
                </a:solidFill>
                <a:effectLst/>
                <a:latin typeface="+mn-lt"/>
                <a:ea typeface="+mn-ea"/>
                <a:cs typeface="+mn-cs"/>
              </a:rPr>
              <a:t>+ Kinh phí được giao tự chủ của các đơn vị sự nghiệp công lập và các cơ quan nhà nước; các khoản viện trợ không hoàn lại đã xác định cụ thể nhiệm vụ chi;</a:t>
            </a:r>
          </a:p>
          <a:p>
            <a:pPr algn="just"/>
            <a:r>
              <a:rPr lang="vi-VN" sz="800" b="0" i="0" kern="1200" dirty="0">
                <a:solidFill>
                  <a:srgbClr val="343434"/>
                </a:solidFill>
                <a:effectLst/>
                <a:latin typeface="+mn-lt"/>
                <a:ea typeface="+mn-ea"/>
                <a:cs typeface="+mn-cs"/>
              </a:rPr>
              <a:t>+ Các khoản dự toán được cấp có thẩm quyền bổ sung sau ngày 30 tháng 9 năm thực hiện dự toán, không bao gồm các khoản bổ sung do các đơn vị dự toán cấp trên điều chỉnh dự toán đã giao của các đơn vị dự toán trực thuộc;</a:t>
            </a:r>
          </a:p>
          <a:p>
            <a:pPr algn="just"/>
            <a:r>
              <a:rPr lang="vi-VN" sz="800" b="0" i="0" kern="1200" dirty="0">
                <a:solidFill>
                  <a:srgbClr val="343434"/>
                </a:solidFill>
                <a:effectLst/>
                <a:latin typeface="+mn-lt"/>
                <a:ea typeface="+mn-ea"/>
                <a:cs typeface="+mn-cs"/>
              </a:rPr>
              <a:t>+ Kinh phí nghiên cứu khoa học bố trí cho các đề tài, dự án nghiên cứu khoa học được cấp có thẩm quyền quyết định đang trong thời gian thực hiện.</a:t>
            </a:r>
          </a:p>
          <a:p>
            <a:pPr algn="just"/>
            <a:r>
              <a:rPr lang="vi-VN" sz="800" b="1" i="0" kern="1200" dirty="0">
                <a:solidFill>
                  <a:srgbClr val="0000FF"/>
                </a:solidFill>
                <a:effectLst/>
                <a:latin typeface="+mn-lt"/>
                <a:ea typeface="+mn-ea"/>
                <a:cs typeface="+mn-cs"/>
              </a:rPr>
              <a:t>Các khoản tăng thu, tiết kiệm chi</a:t>
            </a:r>
          </a:p>
          <a:p>
            <a:pPr algn="just"/>
            <a:r>
              <a:rPr lang="vi-VN" sz="800" b="0" i="0" kern="1200" dirty="0">
                <a:solidFill>
                  <a:srgbClr val="343434"/>
                </a:solidFill>
                <a:effectLst/>
                <a:latin typeface="+mn-lt"/>
                <a:ea typeface="+mn-ea"/>
                <a:cs typeface="+mn-cs"/>
              </a:rPr>
              <a:t>Các khoản tăng thu, tiết kiệm chi được cấp có thẩm quyền quyết định cho phép sử dụng vào năm sau để giảm bội chi, tăng chi trả nợ; bổ sung quỹ dự trữ tài chính; bổ sung nguồn thực hiện chính sách tiền lương; thực hiện một số chính sách an sinh xã hội được chuyển sang năm sau tiếp tục sử dụng.</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dirty="0"/>
              <a:t>Kết dư</a:t>
            </a:r>
            <a:endParaRPr lang="en-US" sz="1200" b="1" dirty="0"/>
          </a:p>
          <a:p>
            <a:pPr algn="just" fontAlgn="auto"/>
            <a:r>
              <a:rPr lang="vi-VN" sz="1200" b="0" i="0" kern="1200" dirty="0">
                <a:solidFill>
                  <a:srgbClr val="000000"/>
                </a:solidFill>
                <a:effectLst/>
                <a:latin typeface="+mn-lt"/>
                <a:ea typeface="+mn-ea"/>
                <a:cs typeface="+mn-cs"/>
              </a:rPr>
              <a:t>Đây thực chất là khoản chênh lệch thu lớn hơn chi (trong quá trình điều hành ngân sách, khoản này gọi là tăng thu, tiết kiệm chi, xử lý theo Điều 59 của Luật NSNN; khi đưa vào quyết toán gọi là kết dự ngân sách, xử lý theo Điều 72); nội dung câu hỏi là việc thực hiện xong chuyển nguồn, có được phép trình Thường trực HĐND phân bổ khoản tăng thu, tiết kiệm chi ngân sách (thực chất là khoản kết dư) trước khi HĐND phê chuẩn quyết toán NSNN hay không.</a:t>
            </a:r>
          </a:p>
          <a:p>
            <a:pPr algn="just" fontAlgn="auto"/>
            <a:r>
              <a:rPr lang="vi-VN" sz="1200" b="0" i="0" kern="1200" dirty="0">
                <a:solidFill>
                  <a:srgbClr val="000000"/>
                </a:solidFill>
                <a:effectLst/>
                <a:latin typeface="+mn-lt"/>
                <a:ea typeface="+mn-ea"/>
                <a:cs typeface="+mn-cs"/>
              </a:rPr>
              <a:t>- Trường hợp chưa trình HĐND phê chuẩn quyết toán: đề nghị thực hiện theo quy định tại khoản 2 Điều 59 Luật NSNN</a:t>
            </a:r>
            <a:r>
              <a:rPr lang="vi-VN" sz="1200" b="0" i="0" kern="1200" dirty="0">
                <a:solidFill>
                  <a:srgbClr val="000000"/>
                </a:solidFill>
                <a:effectLst/>
                <a:latin typeface="+mn-lt"/>
                <a:ea typeface="+mn-ea"/>
                <a:cs typeface="+mn-cs"/>
                <a:hlinkClick r:id="rId3"/>
              </a:rPr>
              <a:t>[1]</a:t>
            </a:r>
            <a:r>
              <a:rPr lang="vi-VN" sz="1200" b="0" i="0" kern="1200" dirty="0">
                <a:solidFill>
                  <a:srgbClr val="000000"/>
                </a:solidFill>
                <a:effectLst/>
                <a:latin typeface="+mn-lt"/>
                <a:ea typeface="+mn-ea"/>
                <a:cs typeface="+mn-cs"/>
              </a:rPr>
              <a:t>. Như vậy khi xác định được số tăng thu, tiết kiệm chi ngân sách, UBND lập phương án sử dụng, báo cáo Thường trực HĐND quyết định, thực hiện chuyển nguồn khoản tăng thu, tiết kiệm chi sang ngân sách năm sau theo quy định của Luật NSNN và các Văn bản hướng dẫn thực hiện.</a:t>
            </a:r>
          </a:p>
          <a:p>
            <a:pPr algn="just" fontAlgn="auto"/>
            <a:r>
              <a:rPr lang="vi-VN" sz="1200" b="0" i="0" kern="1200" dirty="0">
                <a:solidFill>
                  <a:srgbClr val="000000"/>
                </a:solidFill>
                <a:effectLst/>
                <a:latin typeface="+mn-lt"/>
                <a:ea typeface="+mn-ea"/>
                <a:cs typeface="+mn-cs"/>
              </a:rPr>
              <a:t>- Trường hợp HĐND đã phê chuẩn quyết toán: Việc xử lý số kết dư được thực hiện theo quy định tại Điều 72 Luật NSNN</a:t>
            </a:r>
            <a:r>
              <a:rPr lang="vi-VN" sz="1200" b="0" i="0" kern="1200" dirty="0">
                <a:solidFill>
                  <a:srgbClr val="000000"/>
                </a:solidFill>
                <a:effectLst/>
                <a:latin typeface="+mn-lt"/>
                <a:ea typeface="+mn-ea"/>
                <a:cs typeface="+mn-cs"/>
                <a:hlinkClick r:id="rId4"/>
              </a:rPr>
              <a:t>[2]</a:t>
            </a:r>
            <a:r>
              <a:rPr lang="vi-VN" sz="1200" b="0" i="0" kern="1200" dirty="0">
                <a:solidFill>
                  <a:srgbClr val="000000"/>
                </a:solidFill>
                <a:effectLst/>
                <a:latin typeface="+mn-lt"/>
                <a:ea typeface="+mn-ea"/>
                <a:cs typeface="+mn-cs"/>
              </a:rPr>
              <a:t>.</a:t>
            </a:r>
          </a:p>
          <a:p>
            <a:pPr algn="just" fontAlgn="auto"/>
            <a:br>
              <a:rPr lang="vi-VN" sz="1200" b="0" i="0" kern="1200" dirty="0">
                <a:solidFill>
                  <a:srgbClr val="000000"/>
                </a:solidFill>
                <a:effectLst/>
                <a:latin typeface="+mn-lt"/>
                <a:ea typeface="+mn-ea"/>
                <a:cs typeface="+mn-cs"/>
              </a:rPr>
            </a:br>
            <a:r>
              <a:rPr lang="vi-VN" sz="1200" b="0" i="0" kern="1200" dirty="0">
                <a:solidFill>
                  <a:srgbClr val="000000"/>
                </a:solidFill>
                <a:effectLst/>
                <a:latin typeface="+mn-lt"/>
                <a:ea typeface="+mn-ea"/>
                <a:cs typeface="+mn-cs"/>
                <a:hlinkClick r:id="rId5"/>
              </a:rPr>
              <a:t>[1]</a:t>
            </a:r>
            <a:r>
              <a:rPr lang="vi-VN" sz="1200" b="0" i="0" kern="1200" dirty="0">
                <a:solidFill>
                  <a:srgbClr val="000000"/>
                </a:solidFill>
                <a:effectLst/>
                <a:latin typeface="+mn-lt"/>
                <a:ea typeface="+mn-ea"/>
                <a:cs typeface="+mn-cs"/>
              </a:rPr>
              <a:t> Theo đó: “Số tăng thu, trừ tăng thu của ngân sách địa phương do phát sinh nguồn thu từ dự án mới đi vào hoạt động trong thời kỳ ổn định ngân sách phải nộp về ngân sách cấp trên và số tiết kiệm chi ngân sách so với dự toán được sử dụng theo thứ tự ưu tiên như sau:</a:t>
            </a:r>
          </a:p>
          <a:p>
            <a:pPr algn="just" fontAlgn="auto">
              <a:buFont typeface="+mj-lt"/>
              <a:buAutoNum type="arabicPeriod"/>
            </a:pPr>
            <a:r>
              <a:rPr lang="vi-VN" sz="1200" b="0" i="0" kern="1200" dirty="0">
                <a:solidFill>
                  <a:srgbClr val="000000"/>
                </a:solidFill>
                <a:effectLst/>
                <a:latin typeface="+mn-lt"/>
                <a:ea typeface="+mn-ea"/>
                <a:cs typeface="+mn-cs"/>
              </a:rPr>
              <a:t>Giảm bội chi, tăng chi trả nợ, bao gồm trả nợ gốc và lãi;</a:t>
            </a:r>
          </a:p>
          <a:p>
            <a:pPr algn="just" fontAlgn="auto">
              <a:buFont typeface="+mj-lt"/>
              <a:buAutoNum type="arabicPeriod"/>
            </a:pPr>
            <a:r>
              <a:rPr lang="vi-VN" sz="1200" b="0" i="0" kern="1200" dirty="0">
                <a:solidFill>
                  <a:srgbClr val="000000"/>
                </a:solidFill>
                <a:effectLst/>
                <a:latin typeface="+mn-lt"/>
                <a:ea typeface="+mn-ea"/>
                <a:cs typeface="+mn-cs"/>
              </a:rPr>
              <a:t>Bổ sung quỹ dự trữ tài chính;</a:t>
            </a:r>
          </a:p>
          <a:p>
            <a:pPr algn="just" fontAlgn="auto">
              <a:buFont typeface="+mj-lt"/>
              <a:buAutoNum type="arabicPeriod"/>
            </a:pPr>
            <a:r>
              <a:rPr lang="vi-VN" sz="1200" b="0" i="0" kern="1200" dirty="0">
                <a:solidFill>
                  <a:srgbClr val="000000"/>
                </a:solidFill>
                <a:effectLst/>
                <a:latin typeface="+mn-lt"/>
                <a:ea typeface="+mn-ea"/>
                <a:cs typeface="+mn-cs"/>
              </a:rPr>
              <a:t>Bổ sung nguồn thực hiện chính sách tiền lương;</a:t>
            </a:r>
          </a:p>
          <a:p>
            <a:pPr algn="l" fontAlgn="auto">
              <a:buFont typeface="+mj-lt"/>
              <a:buAutoNum type="arabicPeriod"/>
            </a:pPr>
            <a:r>
              <a:rPr lang="vi-VN" sz="1200" b="0" i="0" kern="1200" dirty="0">
                <a:solidFill>
                  <a:srgbClr val="000000"/>
                </a:solidFill>
                <a:effectLst/>
                <a:latin typeface="+mn-lt"/>
                <a:ea typeface="+mn-ea"/>
                <a:cs typeface="+mn-cs"/>
              </a:rPr>
              <a:t>Thực hiện một số chính sách an sinh xã hội;</a:t>
            </a:r>
            <a:br>
              <a:rPr lang="vi-VN" sz="1200" b="0" i="0" kern="1200" dirty="0">
                <a:solidFill>
                  <a:srgbClr val="000000"/>
                </a:solidFill>
                <a:effectLst/>
                <a:latin typeface="+mn-lt"/>
                <a:ea typeface="+mn-ea"/>
                <a:cs typeface="+mn-cs"/>
              </a:rPr>
            </a:br>
            <a:r>
              <a:rPr lang="vi-VN" sz="1200" b="0" i="0" kern="1200" dirty="0">
                <a:solidFill>
                  <a:srgbClr val="000000"/>
                </a:solidFill>
                <a:effectLst/>
                <a:latin typeface="+mn-lt"/>
                <a:ea typeface="+mn-ea"/>
                <a:cs typeface="+mn-cs"/>
              </a:rPr>
              <a:t>đ. Tăng chi đầu tư một số dự án quan trọng;</a:t>
            </a:r>
            <a:br>
              <a:rPr lang="vi-VN" sz="1200" b="0" i="0" kern="1200" dirty="0">
                <a:solidFill>
                  <a:srgbClr val="000000"/>
                </a:solidFill>
                <a:effectLst/>
                <a:latin typeface="+mn-lt"/>
                <a:ea typeface="+mn-ea"/>
                <a:cs typeface="+mn-cs"/>
              </a:rPr>
            </a:br>
            <a:r>
              <a:rPr lang="vi-VN" sz="1200" b="0" i="0" kern="1200" dirty="0">
                <a:solidFill>
                  <a:srgbClr val="000000"/>
                </a:solidFill>
                <a:effectLst/>
                <a:latin typeface="+mn-lt"/>
                <a:ea typeface="+mn-ea"/>
                <a:cs typeface="+mn-cs"/>
              </a:rPr>
              <a:t>e.Thực hiện nhiệm vụ quy định tại khoản 3 và khoản 4 Điều này.</a:t>
            </a:r>
          </a:p>
          <a:p>
            <a:pPr algn="just" fontAlgn="auto"/>
            <a:r>
              <a:rPr lang="vi-VN" sz="1200" b="0" i="0" kern="1200" dirty="0">
                <a:solidFill>
                  <a:srgbClr val="000000"/>
                </a:solidFill>
                <a:effectLst/>
                <a:latin typeface="+mn-lt"/>
                <a:ea typeface="+mn-ea"/>
                <a:cs typeface="+mn-cs"/>
              </a:rPr>
              <a:t>… Ủy ban nhân dân lập phương án sử dụng số tăng thu và tiết kiệm chi ngân sách cấp mình, báo cáo Thường trực Hội đồng nhân dân quyết định và báo cáo Hội đồng nhân dân tại kỳ họp gần nhất…”.</a:t>
            </a:r>
          </a:p>
          <a:p>
            <a:pPr algn="just" fontAlgn="auto"/>
            <a:r>
              <a:rPr lang="vi-VN" sz="1200" b="0" i="0" kern="1200" dirty="0">
                <a:solidFill>
                  <a:srgbClr val="000000"/>
                </a:solidFill>
                <a:effectLst/>
                <a:latin typeface="+mn-lt"/>
                <a:ea typeface="+mn-ea"/>
                <a:cs typeface="+mn-cs"/>
                <a:hlinkClick r:id="rId6"/>
              </a:rPr>
              <a:t>[2]</a:t>
            </a:r>
            <a:r>
              <a:rPr lang="vi-VN" sz="1200" b="0" i="0" kern="1200" dirty="0">
                <a:solidFill>
                  <a:srgbClr val="000000"/>
                </a:solidFill>
                <a:effectLst/>
                <a:latin typeface="+mn-lt"/>
                <a:ea typeface="+mn-ea"/>
                <a:cs typeface="+mn-cs"/>
              </a:rPr>
              <a:t> Xử lý kết dư ngân sách nhà nước: (1) Kết dư ngân sách trung ương, ngân sách cấp tỉnh được sử dụng để chi trả nợ gốc và lãi các khoản vay của ngân sách nhà nước. Trường hợp còn kết dư ngân sách thì trích 50% vào quỹ dự trữ tài chính cùng cấp; trích 50% còn lại vào thu ngân sách năm sau; trường hợp quỹ dự trữ tài chính đã đủ mức 25% dự toán chi ngân sách hàng năm thì số kết dư còn lại hạch toán vào thu ngân sách năm sau; (2) Kết dư ngân sách cấp huyện, cấp xã được hạch toán vào thu ngân sách năm sau.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F648E36-FC2B-E2C5-6098-74F1B91DEDFE}"/>
              </a:ext>
            </a:extLst>
          </p:cNvPr>
          <p:cNvSpPr>
            <a:spLocks noGrp="1"/>
          </p:cNvSpPr>
          <p:nvPr>
            <p:ph type="sldNum" sz="quarter" idx="5"/>
          </p:nvPr>
        </p:nvSpPr>
        <p:spPr/>
        <p:txBody>
          <a:bodyPr/>
          <a:lstStyle/>
          <a:p>
            <a:fld id="{1DD107A9-A0C7-4078-AEEF-185A00981267}" type="slidenum">
              <a:rPr lang="en-US" smtClean="0"/>
              <a:t>27</a:t>
            </a:fld>
            <a:endParaRPr lang="en-US"/>
          </a:p>
        </p:txBody>
      </p:sp>
    </p:spTree>
    <p:extLst>
      <p:ext uri="{BB962C8B-B14F-4D97-AF65-F5344CB8AC3E}">
        <p14:creationId xmlns:p14="http://schemas.microsoft.com/office/powerpoint/2010/main" val="852634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1608-2E7E-2693-5588-2CDDE1CB0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93746-A9B2-67C3-A99F-A3BBE75BC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C878E0-D9D3-9B40-0E89-AEB69E44C9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B1A2585-627F-06EF-B188-E8F57DCB01EF}"/>
              </a:ext>
            </a:extLst>
          </p:cNvPr>
          <p:cNvSpPr>
            <a:spLocks noGrp="1"/>
          </p:cNvSpPr>
          <p:nvPr>
            <p:ph type="sldNum" sz="quarter" idx="5"/>
          </p:nvPr>
        </p:nvSpPr>
        <p:spPr/>
        <p:txBody>
          <a:bodyPr/>
          <a:lstStyle/>
          <a:p>
            <a:fld id="{1DD107A9-A0C7-4078-AEEF-185A00981267}" type="slidenum">
              <a:rPr lang="en-US" smtClean="0"/>
              <a:t>28</a:t>
            </a:fld>
            <a:endParaRPr lang="en-US"/>
          </a:p>
        </p:txBody>
      </p:sp>
    </p:spTree>
    <p:extLst>
      <p:ext uri="{BB962C8B-B14F-4D97-AF65-F5344CB8AC3E}">
        <p14:creationId xmlns:p14="http://schemas.microsoft.com/office/powerpoint/2010/main" val="1980459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984E2-F0EC-C1A2-7275-2615C0FA7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7D4C9-F713-8C6D-81A0-189495B89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6148E-7E1E-3E7D-672D-368F9ED5FD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7B31EBB-D9F7-38EC-1E89-F02CFFB9D4BC}"/>
              </a:ext>
            </a:extLst>
          </p:cNvPr>
          <p:cNvSpPr>
            <a:spLocks noGrp="1"/>
          </p:cNvSpPr>
          <p:nvPr>
            <p:ph type="sldNum" sz="quarter" idx="5"/>
          </p:nvPr>
        </p:nvSpPr>
        <p:spPr/>
        <p:txBody>
          <a:bodyPr/>
          <a:lstStyle/>
          <a:p>
            <a:fld id="{1DD107A9-A0C7-4078-AEEF-185A00981267}" type="slidenum">
              <a:rPr lang="en-US" smtClean="0"/>
              <a:t>29</a:t>
            </a:fld>
            <a:endParaRPr lang="en-US"/>
          </a:p>
        </p:txBody>
      </p:sp>
    </p:spTree>
    <p:extLst>
      <p:ext uri="{BB962C8B-B14F-4D97-AF65-F5344CB8AC3E}">
        <p14:creationId xmlns:p14="http://schemas.microsoft.com/office/powerpoint/2010/main" val="825129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69D4D-677F-2376-539A-3BEF607B1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3084A-473B-EA29-F14E-2128083BF6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6A4C4-5548-EAF7-03FA-E866F2C9AE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D1DEAAE-4980-B589-72F9-0C84B3E09FF5}"/>
              </a:ext>
            </a:extLst>
          </p:cNvPr>
          <p:cNvSpPr>
            <a:spLocks noGrp="1"/>
          </p:cNvSpPr>
          <p:nvPr>
            <p:ph type="sldNum" sz="quarter" idx="5"/>
          </p:nvPr>
        </p:nvSpPr>
        <p:spPr/>
        <p:txBody>
          <a:bodyPr/>
          <a:lstStyle/>
          <a:p>
            <a:fld id="{1DD107A9-A0C7-4078-AEEF-185A00981267}" type="slidenum">
              <a:rPr lang="en-US" smtClean="0"/>
              <a:t>30</a:t>
            </a:fld>
            <a:endParaRPr lang="en-US"/>
          </a:p>
        </p:txBody>
      </p:sp>
    </p:spTree>
    <p:extLst>
      <p:ext uri="{BB962C8B-B14F-4D97-AF65-F5344CB8AC3E}">
        <p14:creationId xmlns:p14="http://schemas.microsoft.com/office/powerpoint/2010/main" val="3060839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B7DEA-3DF4-911D-237F-93A9776E8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1BE98-D57D-D54C-7A57-A8EE0381A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16A4D-1EBB-0956-B671-B87AF315AF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F2F3256-C9C8-BA25-5781-73C790AFC626}"/>
              </a:ext>
            </a:extLst>
          </p:cNvPr>
          <p:cNvSpPr>
            <a:spLocks noGrp="1"/>
          </p:cNvSpPr>
          <p:nvPr>
            <p:ph type="sldNum" sz="quarter" idx="5"/>
          </p:nvPr>
        </p:nvSpPr>
        <p:spPr/>
        <p:txBody>
          <a:bodyPr/>
          <a:lstStyle/>
          <a:p>
            <a:fld id="{1DD107A9-A0C7-4078-AEEF-185A00981267}" type="slidenum">
              <a:rPr lang="en-US" smtClean="0"/>
              <a:t>31</a:t>
            </a:fld>
            <a:endParaRPr lang="en-US"/>
          </a:p>
        </p:txBody>
      </p:sp>
    </p:spTree>
    <p:extLst>
      <p:ext uri="{BB962C8B-B14F-4D97-AF65-F5344CB8AC3E}">
        <p14:creationId xmlns:p14="http://schemas.microsoft.com/office/powerpoint/2010/main" val="444338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D554-44EE-3D7E-8820-93907870A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BDD51-6470-B836-C0D9-0F70FF2E6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E3EFCD-D85B-BFA8-E35A-D37367B951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CC6317D-4DC8-0B03-333C-D8345993DDD0}"/>
              </a:ext>
            </a:extLst>
          </p:cNvPr>
          <p:cNvSpPr>
            <a:spLocks noGrp="1"/>
          </p:cNvSpPr>
          <p:nvPr>
            <p:ph type="sldNum" sz="quarter" idx="5"/>
          </p:nvPr>
        </p:nvSpPr>
        <p:spPr/>
        <p:txBody>
          <a:bodyPr/>
          <a:lstStyle/>
          <a:p>
            <a:fld id="{1DD107A9-A0C7-4078-AEEF-185A00981267}" type="slidenum">
              <a:rPr lang="en-US" smtClean="0"/>
              <a:t>32</a:t>
            </a:fld>
            <a:endParaRPr lang="en-US"/>
          </a:p>
        </p:txBody>
      </p:sp>
    </p:spTree>
    <p:extLst>
      <p:ext uri="{BB962C8B-B14F-4D97-AF65-F5344CB8AC3E}">
        <p14:creationId xmlns:p14="http://schemas.microsoft.com/office/powerpoint/2010/main" val="31001418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BEA24-7C9A-7E4B-6C4C-008876143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C6193-A73C-C481-7A29-C18DD8F0D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E93CE-8D37-5BA5-CD3F-F46CF5F8E4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521270-4D15-7AB2-AB50-E5EF007580E4}"/>
              </a:ext>
            </a:extLst>
          </p:cNvPr>
          <p:cNvSpPr>
            <a:spLocks noGrp="1"/>
          </p:cNvSpPr>
          <p:nvPr>
            <p:ph type="sldNum" sz="quarter" idx="5"/>
          </p:nvPr>
        </p:nvSpPr>
        <p:spPr/>
        <p:txBody>
          <a:bodyPr/>
          <a:lstStyle/>
          <a:p>
            <a:fld id="{1DD107A9-A0C7-4078-AEEF-185A00981267}" type="slidenum">
              <a:rPr lang="en-US" smtClean="0"/>
              <a:t>33</a:t>
            </a:fld>
            <a:endParaRPr lang="en-US"/>
          </a:p>
        </p:txBody>
      </p:sp>
    </p:spTree>
    <p:extLst>
      <p:ext uri="{BB962C8B-B14F-4D97-AF65-F5344CB8AC3E}">
        <p14:creationId xmlns:p14="http://schemas.microsoft.com/office/powerpoint/2010/main" val="2079211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919E8-C866-0E85-3277-B8C699275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308F0850-3C3A-432D-CA6D-115123B8DB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18F375A3-D5F6-4400-164F-792E0CB98503}"/>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a:extLst>
              <a:ext uri="{FF2B5EF4-FFF2-40B4-BE49-F238E27FC236}">
                <a16:creationId xmlns:a16="http://schemas.microsoft.com/office/drawing/2014/main" id="{A41D7DA0-7091-52FC-5129-B2371C2E9C9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52DEB31-02C1-29BF-E5A5-95FE85F7F125}"/>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1096608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CBBD-C804-DAD2-B81F-98170CF431C5}"/>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0DC6D03D-2F04-C332-3A9D-3D3C89290C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997D471-379F-E81E-7D22-5DDE168A169B}"/>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a:extLst>
              <a:ext uri="{FF2B5EF4-FFF2-40B4-BE49-F238E27FC236}">
                <a16:creationId xmlns:a16="http://schemas.microsoft.com/office/drawing/2014/main" id="{CCEA1277-D7A7-969C-492A-DAC04E0553C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36E63A6-1528-FD92-5062-84088251F670}"/>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0466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0B44-73BA-45E8-B90C-FF02F828B0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556C897A-A7A7-7A9E-7572-921645D814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028200-CE4A-29DD-9B08-5D59EE079539}"/>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a:extLst>
              <a:ext uri="{FF2B5EF4-FFF2-40B4-BE49-F238E27FC236}">
                <a16:creationId xmlns:a16="http://schemas.microsoft.com/office/drawing/2014/main" id="{2857265B-3C64-1719-FA7C-3D09926CABA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448DDF6-402B-3E97-9925-7ED2EB4B2D06}"/>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7737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C819-A214-85AB-F9E4-13E8A8988158}"/>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CA9D00F6-B668-C3E8-8F6F-47268F02A9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7DE64A4E-11B2-ED3F-DDE3-FACD9EB5E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43848483-C9FB-58BE-AFB2-B2F35FF4210A}"/>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6" name="Footer Placeholder 5">
            <a:extLst>
              <a:ext uri="{FF2B5EF4-FFF2-40B4-BE49-F238E27FC236}">
                <a16:creationId xmlns:a16="http://schemas.microsoft.com/office/drawing/2014/main" id="{1B115912-C43E-0F7D-DBE9-B02BBDDD1ED0}"/>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1AFDADB5-E6F4-703C-F6F7-7EB0CFE8B2E9}"/>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05362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D139-474E-CCCD-2F1E-998B9D8F4370}"/>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9CDA755E-D89F-980C-09DF-E0FD86D4FE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B4759F-465A-8984-E798-91A03E35B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3DD81737-1D83-27E4-C4B8-F805A70E4C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A9810-A2E7-51B6-9DEC-0ED5F26087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4BAF915C-B42F-F88C-26AA-DB99B374C653}"/>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8" name="Footer Placeholder 7">
            <a:extLst>
              <a:ext uri="{FF2B5EF4-FFF2-40B4-BE49-F238E27FC236}">
                <a16:creationId xmlns:a16="http://schemas.microsoft.com/office/drawing/2014/main" id="{098F6EEB-2EA5-2E0C-22B7-8CF155B9A455}"/>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4EBDCFD-FC7C-EF07-4E83-F2D7956E1EC1}"/>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65785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4FC3-7CA6-AB15-FFE1-54E0D8AB81AB}"/>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456300B3-3FD0-F392-7440-E3A6806D3701}"/>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4" name="Footer Placeholder 3">
            <a:extLst>
              <a:ext uri="{FF2B5EF4-FFF2-40B4-BE49-F238E27FC236}">
                <a16:creationId xmlns:a16="http://schemas.microsoft.com/office/drawing/2014/main" id="{39EE939F-DA44-2088-C19F-E747AC7E659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F14A2417-57C2-8FF3-AACB-E3417558F08C}"/>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917902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6D39B6-5E89-66DA-EB19-0D2A9723AC9B}"/>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3" name="Footer Placeholder 2">
            <a:extLst>
              <a:ext uri="{FF2B5EF4-FFF2-40B4-BE49-F238E27FC236}">
                <a16:creationId xmlns:a16="http://schemas.microsoft.com/office/drawing/2014/main" id="{DAEAFB0C-6320-ECA9-3630-D6760BF2904D}"/>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6CB9763E-3638-9284-734B-ED09A8766722}"/>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690275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D833C-F7D5-0222-A265-8D9E830E2B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A30A460-9514-6B68-DC85-C682ED63C6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7BCA776D-FB3B-D341-DC06-53DA4C6C42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BFAA7B-8D38-956A-B3C8-9189A78E6A17}"/>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6" name="Footer Placeholder 5">
            <a:extLst>
              <a:ext uri="{FF2B5EF4-FFF2-40B4-BE49-F238E27FC236}">
                <a16:creationId xmlns:a16="http://schemas.microsoft.com/office/drawing/2014/main" id="{0DCDEF49-E2C9-6F98-F66E-04968EB7CE8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3924F5D-E524-70F9-17BC-C7BB81E902F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475010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9236-B38C-04A4-1515-A6E70C3679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6B74C4FF-B914-4590-C700-2C4BA0355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FEA8981-5307-ED6B-7393-58C1FA86C7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32F05-54D9-AC2F-BCDD-45C40D548EA2}"/>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6" name="Footer Placeholder 5">
            <a:extLst>
              <a:ext uri="{FF2B5EF4-FFF2-40B4-BE49-F238E27FC236}">
                <a16:creationId xmlns:a16="http://schemas.microsoft.com/office/drawing/2014/main" id="{1956D5E2-8FEF-F7E6-E1D3-0A00B73822A8}"/>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6957B6D-00FC-595D-8C5E-9C06B99BBF98}"/>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94880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11D75-82A0-ACE5-AEAC-67A1068E978D}"/>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54A4E0E5-677E-319F-0419-AEA14E6BD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D7790C5C-4FA2-9494-7621-8383AC4DE79B}"/>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a:extLst>
              <a:ext uri="{FF2B5EF4-FFF2-40B4-BE49-F238E27FC236}">
                <a16:creationId xmlns:a16="http://schemas.microsoft.com/office/drawing/2014/main" id="{C1711235-FAEA-8718-21BB-631EAE8A91D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3C58324-DAF8-8E8F-8AD2-A6CF5A723ABB}"/>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53514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3A9EEE-7BB9-82A5-DDBC-EF8A30B54F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6CFCDB4-AEB2-4571-3BB2-DB8A3D236E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B9B0936-EDB1-8D52-D4D3-0EE0D7D3F4D6}"/>
              </a:ext>
            </a:extLst>
          </p:cNvPr>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a:extLst>
              <a:ext uri="{FF2B5EF4-FFF2-40B4-BE49-F238E27FC236}">
                <a16:creationId xmlns:a16="http://schemas.microsoft.com/office/drawing/2014/main" id="{22CFE319-5EAA-F060-29F5-842601545CA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202313A-C5D1-8E45-43C5-CDD5166D128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984658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BC9FB2B2-7097-B344-B47F-CA906A8B5746}"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9267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0985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7195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E996D4-7AAD-2A44-8BE7-1727DCC42208}" type="datetimeFigureOut">
              <a:rPr lang="en-VN" smtClean="0"/>
              <a:t>04/13/2026</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BC9FB2B2-7097-B344-B47F-CA906A8B5746}"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1414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E996D4-7AAD-2A44-8BE7-1727DCC42208}" type="datetimeFigureOut">
              <a:rPr lang="en-VN" smtClean="0"/>
              <a:t>04/13/2026</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BC9FB2B2-7097-B344-B47F-CA906A8B5746}"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21635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E996D4-7AAD-2A44-8BE7-1727DCC42208}" type="datetimeFigureOut">
              <a:rPr lang="en-VN" smtClean="0"/>
              <a:t>04/13/2026</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BC9FB2B2-7097-B344-B47F-CA906A8B5746}"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0841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996D4-7AAD-2A44-8BE7-1727DCC42208}" type="datetimeFigureOut">
              <a:rPr lang="en-VN" smtClean="0"/>
              <a:t>04/13/2026</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1446321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E996D4-7AAD-2A44-8BE7-1727DCC42208}" type="datetimeFigureOut">
              <a:rPr lang="en-VN" smtClean="0"/>
              <a:t>04/13/2026</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BC9FB2B2-7097-B344-B47F-CA906A8B5746}"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8890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6E996D4-7AAD-2A44-8BE7-1727DCC42208}" type="datetimeFigureOut">
              <a:rPr lang="en-VN" smtClean="0"/>
              <a:t>04/13/2026</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VN"/>
          </a:p>
        </p:txBody>
      </p:sp>
      <p:sp>
        <p:nvSpPr>
          <p:cNvPr id="7" name="Slide Number Placeholder 6"/>
          <p:cNvSpPr>
            <a:spLocks noGrp="1"/>
          </p:cNvSpPr>
          <p:nvPr>
            <p:ph type="sldNum" sz="quarter" idx="12"/>
          </p:nvPr>
        </p:nvSpPr>
        <p:spPr/>
        <p:txBody>
          <a:bodyPr/>
          <a:lstStyle/>
          <a:p>
            <a:fld id="{BC9FB2B2-7097-B344-B47F-CA906A8B5746}"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0306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43024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04/13/2026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971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8C9955-552A-CE70-F829-5F452221B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57344CC6-27E5-D574-E5EE-8558C4A23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B79254D-7687-5709-147A-2574AA31C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E996D4-7AAD-2A44-8BE7-1727DCC42208}" type="datetimeFigureOut">
              <a:rPr lang="en-VN" smtClean="0"/>
              <a:t>04/13/2026</a:t>
            </a:fld>
            <a:endParaRPr lang="en-VN"/>
          </a:p>
        </p:txBody>
      </p:sp>
      <p:sp>
        <p:nvSpPr>
          <p:cNvPr id="5" name="Footer Placeholder 4">
            <a:extLst>
              <a:ext uri="{FF2B5EF4-FFF2-40B4-BE49-F238E27FC236}">
                <a16:creationId xmlns:a16="http://schemas.microsoft.com/office/drawing/2014/main" id="{89235861-A636-014E-4913-210DEA1DA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02FC3369-5A30-D5DF-D02A-852FA88D1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9FB2B2-7097-B344-B47F-CA906A8B5746}" type="slidenum">
              <a:rPr lang="en-VN" smtClean="0"/>
              <a:t>‹#›</a:t>
            </a:fld>
            <a:endParaRPr lang="en-VN"/>
          </a:p>
        </p:txBody>
      </p:sp>
    </p:spTree>
    <p:extLst>
      <p:ext uri="{BB962C8B-B14F-4D97-AF65-F5344CB8AC3E}">
        <p14:creationId xmlns:p14="http://schemas.microsoft.com/office/powerpoint/2010/main" val="2277011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6E996D4-7AAD-2A44-8BE7-1727DCC42208}" type="datetimeFigureOut">
              <a:rPr lang="en-VN" smtClean="0"/>
              <a:t>04/13/2026</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C9FB2B2-7097-B344-B47F-CA906A8B5746}"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043783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mof.gov.vn/" TargetMode="External"/><Relationship Id="rId2" Type="http://schemas.openxmlformats.org/officeDocument/2006/relationships/hyperlink" Target="https://chinhphu.v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www.quanlynhanuoc.vn/2025/04/22/to-chuc-va-hoat-dong-chinh-quyen-dia-phuong-o-viet-nam-thuc-trang-va-yeu-cau-doi-moi/"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0D40366-CC2F-BB4A-C904-ACCCE1418C90}"/>
              </a:ext>
            </a:extLst>
          </p:cNvPr>
          <p:cNvGrpSpPr>
            <a:grpSpLocks noGrp="1" noUngrp="1" noRot="1" noMove="1" noResize="1"/>
          </p:cNvGrpSpPr>
          <p:nvPr/>
        </p:nvGrpSpPr>
        <p:grpSpPr>
          <a:xfrm>
            <a:off x="2535753" y="325034"/>
            <a:ext cx="7377415" cy="630942"/>
            <a:chOff x="2535753" y="325034"/>
            <a:chExt cx="7377415" cy="630942"/>
          </a:xfrm>
        </p:grpSpPr>
        <p:pic>
          <p:nvPicPr>
            <p:cNvPr id="7" name="Picture 6">
              <a:extLst>
                <a:ext uri="{FF2B5EF4-FFF2-40B4-BE49-F238E27FC236}">
                  <a16:creationId xmlns:a16="http://schemas.microsoft.com/office/drawing/2014/main" id="{62630845-8820-6A94-2861-35458DDC5035}"/>
                </a:ext>
              </a:extLst>
            </p:cNvPr>
            <p:cNvPicPr>
              <a:picLocks noGrp="1" noRot="1" noChangeAspect="1" noMove="1" noResize="1" noEditPoints="1" noAdjustHandles="1" noChangeArrowheads="1" noChangeShapeType="1" noCrop="1"/>
            </p:cNvPicPr>
            <p:nvPr/>
          </p:nvPicPr>
          <p:blipFill>
            <a:blip r:embed="rId3"/>
            <a:stretch>
              <a:fillRect/>
            </a:stretch>
          </p:blipFill>
          <p:spPr>
            <a:xfrm>
              <a:off x="2535753" y="435129"/>
              <a:ext cx="1455885" cy="420589"/>
            </a:xfrm>
            <a:prstGeom prst="rect">
              <a:avLst/>
            </a:prstGeom>
          </p:spPr>
        </p:pic>
        <p:sp>
          <p:nvSpPr>
            <p:cNvPr id="10" name="TextBox 9">
              <a:extLst>
                <a:ext uri="{FF2B5EF4-FFF2-40B4-BE49-F238E27FC236}">
                  <a16:creationId xmlns:a16="http://schemas.microsoft.com/office/drawing/2014/main" id="{73FA787E-3561-4D42-93FF-8DEB3F25AF34}"/>
                </a:ext>
              </a:extLst>
            </p:cNvPr>
            <p:cNvSpPr txBox="1">
              <a:spLocks noGrp="1" noRot="1" noMove="1" noResize="1" noEditPoints="1" noAdjustHandles="1" noChangeArrowheads="1" noChangeShapeType="1"/>
            </p:cNvSpPr>
            <p:nvPr/>
          </p:nvSpPr>
          <p:spPr>
            <a:xfrm>
              <a:off x="3991638" y="325034"/>
              <a:ext cx="5921530" cy="630942"/>
            </a:xfrm>
            <a:prstGeom prst="rect">
              <a:avLst/>
            </a:prstGeom>
            <a:noFill/>
          </p:spPr>
          <p:txBody>
            <a:bodyPr wrap="square">
              <a:spAutoFit/>
            </a:bodyPr>
            <a:lstStyle/>
            <a:p>
              <a:pPr algn="ctr"/>
              <a:r>
                <a:rPr lang="en-VN" sz="1600" spc="100" dirty="0">
                  <a:solidFill>
                    <a:srgbClr val="2C2B7D"/>
                  </a:solidFill>
                  <a:latin typeface="Chivo" pitchFamily="2" charset="77"/>
                  <a:cs typeface="Times New Roman" panose="02020603050405020304" pitchFamily="18" charset="0"/>
                </a:rPr>
                <a:t>HỌC VIỆN </a:t>
              </a:r>
              <a:r>
                <a:rPr lang="en-US" sz="1600" spc="100" dirty="0">
                  <a:solidFill>
                    <a:srgbClr val="2C2B7D"/>
                  </a:solidFill>
                  <a:latin typeface="Chivo" pitchFamily="2" charset="77"/>
                  <a:cs typeface="Times New Roman" panose="02020603050405020304" pitchFamily="18" charset="0"/>
                </a:rPr>
                <a:t>CHÍNH TRỊ QUỐC GIA HỒ CHÍ MINH</a:t>
              </a:r>
              <a:endParaRPr lang="en-VN" sz="1600" spc="100" dirty="0">
                <a:solidFill>
                  <a:srgbClr val="2C2B7D"/>
                </a:solidFill>
                <a:latin typeface="Chivo" pitchFamily="2" charset="77"/>
                <a:cs typeface="Times New Roman" panose="02020603050405020304" pitchFamily="18" charset="0"/>
              </a:endParaRPr>
            </a:p>
            <a:p>
              <a:pPr algn="ctr"/>
              <a:r>
                <a:rPr lang="en-VN" sz="1900" b="1" spc="100" dirty="0">
                  <a:solidFill>
                    <a:srgbClr val="2C2B7D"/>
                  </a:solidFill>
                  <a:latin typeface="Chivo" pitchFamily="2" charset="77"/>
                  <a:cs typeface="Times New Roman" panose="02020603050405020304" pitchFamily="18" charset="0"/>
                </a:rPr>
                <a:t>HỌC VIỆN HÀNH CHÍNH VÀ QUẢN TRỊ CÔNG</a:t>
              </a:r>
              <a:endParaRPr lang="en-VN" sz="1900" b="1" dirty="0">
                <a:solidFill>
                  <a:srgbClr val="2C2B7D"/>
                </a:solidFill>
                <a:latin typeface="Chivo" pitchFamily="2" charset="77"/>
                <a:cs typeface="Times New Roman" panose="02020603050405020304" pitchFamily="18" charset="0"/>
              </a:endParaRPr>
            </a:p>
          </p:txBody>
        </p:sp>
      </p:grpSp>
      <p:sp>
        <p:nvSpPr>
          <p:cNvPr id="14" name="TextBox 13">
            <a:extLst>
              <a:ext uri="{FF2B5EF4-FFF2-40B4-BE49-F238E27FC236}">
                <a16:creationId xmlns:a16="http://schemas.microsoft.com/office/drawing/2014/main" id="{1E97EC90-0777-4F85-F985-CC5EAB09F807}"/>
              </a:ext>
            </a:extLst>
          </p:cNvPr>
          <p:cNvSpPr txBox="1"/>
          <p:nvPr/>
        </p:nvSpPr>
        <p:spPr>
          <a:xfrm>
            <a:off x="1504335" y="2301249"/>
            <a:ext cx="9276736" cy="923330"/>
          </a:xfrm>
          <a:prstGeom prst="rect">
            <a:avLst/>
          </a:prstGeom>
          <a:noFill/>
        </p:spPr>
        <p:txBody>
          <a:bodyPr wrap="square">
            <a:spAutoFit/>
          </a:bodyPr>
          <a:lstStyle/>
          <a:p>
            <a:pPr algn="ctr"/>
            <a:r>
              <a:rPr lang="en-US" sz="5400" dirty="0">
                <a:solidFill>
                  <a:schemeClr val="bg1"/>
                </a:solidFill>
                <a:latin typeface="Chivo Medium" pitchFamily="2" charset="77"/>
                <a:cs typeface="Chivo Medium" pitchFamily="2" charset="77"/>
              </a:rPr>
              <a:t>QUẢN LÝ TÀI CHÍNH CÔNG</a:t>
            </a:r>
            <a:endParaRPr lang="en-VN" sz="5400" dirty="0">
              <a:solidFill>
                <a:schemeClr val="bg1"/>
              </a:solidFill>
              <a:latin typeface="Chivo Medium" pitchFamily="2" charset="77"/>
              <a:cs typeface="Chivo Medium" pitchFamily="2" charset="77"/>
            </a:endParaRPr>
          </a:p>
        </p:txBody>
      </p:sp>
      <p:sp>
        <p:nvSpPr>
          <p:cNvPr id="17" name="TextBox 16">
            <a:extLst>
              <a:ext uri="{FF2B5EF4-FFF2-40B4-BE49-F238E27FC236}">
                <a16:creationId xmlns:a16="http://schemas.microsoft.com/office/drawing/2014/main" id="{C8F2C2B0-6CD3-172C-F787-58B651C1A91A}"/>
              </a:ext>
            </a:extLst>
          </p:cNvPr>
          <p:cNvSpPr txBox="1"/>
          <p:nvPr/>
        </p:nvSpPr>
        <p:spPr>
          <a:xfrm>
            <a:off x="5692871" y="4516569"/>
            <a:ext cx="6228326" cy="1862048"/>
          </a:xfrm>
          <a:prstGeom prst="rect">
            <a:avLst/>
          </a:prstGeom>
          <a:noFill/>
        </p:spPr>
        <p:txBody>
          <a:bodyPr wrap="square">
            <a:spAutoFit/>
          </a:bodyPr>
          <a:lstStyle/>
          <a:p>
            <a:pPr>
              <a:spcBef>
                <a:spcPts val="600"/>
              </a:spcBef>
            </a:pPr>
            <a:r>
              <a:rPr lang="en-VN" sz="2100" b="1" dirty="0">
                <a:solidFill>
                  <a:schemeClr val="bg1"/>
                </a:solidFill>
                <a:latin typeface="Chivo" pitchFamily="2" charset="77"/>
                <a:cs typeface="Chivo" pitchFamily="2" charset="77"/>
              </a:rPr>
              <a:t>T</a:t>
            </a:r>
            <a:r>
              <a:rPr lang="en-US" sz="2100" b="1" dirty="0">
                <a:solidFill>
                  <a:schemeClr val="bg1"/>
                </a:solidFill>
                <a:latin typeface="Chivo" pitchFamily="2" charset="77"/>
                <a:cs typeface="Chivo" pitchFamily="2" charset="77"/>
              </a:rPr>
              <a:t>h</a:t>
            </a:r>
            <a:r>
              <a:rPr lang="en-VN" sz="2100" b="1" dirty="0">
                <a:solidFill>
                  <a:schemeClr val="bg1"/>
                </a:solidFill>
                <a:latin typeface="Chivo" pitchFamily="2" charset="77"/>
                <a:cs typeface="Chivo" pitchFamily="2" charset="77"/>
              </a:rPr>
              <a:t>S.GV. </a:t>
            </a:r>
            <a:r>
              <a:rPr lang="en-US" sz="2100" b="1" dirty="0">
                <a:solidFill>
                  <a:schemeClr val="bg1"/>
                </a:solidFill>
                <a:latin typeface="Chivo" pitchFamily="2" charset="77"/>
                <a:cs typeface="Chivo" pitchFamily="2" charset="77"/>
              </a:rPr>
              <a:t>NGUYỄN ĐÀO XUÂN</a:t>
            </a:r>
            <a:endParaRPr lang="en-VN" sz="2100" b="1" dirty="0">
              <a:solidFill>
                <a:schemeClr val="bg1"/>
              </a:solidFill>
              <a:latin typeface="Chivo" pitchFamily="2" charset="77"/>
              <a:cs typeface="Chivo" pitchFamily="2" charset="77"/>
            </a:endParaRPr>
          </a:p>
          <a:p>
            <a:pPr>
              <a:spcBef>
                <a:spcPts val="600"/>
              </a:spcBef>
            </a:pPr>
            <a:r>
              <a:rPr lang="en-US" sz="2000" dirty="0">
                <a:solidFill>
                  <a:schemeClr val="bg1"/>
                </a:solidFill>
                <a:latin typeface="Chivo" pitchFamily="2" charset="77"/>
                <a:cs typeface="Chivo" pitchFamily="2" charset="77"/>
              </a:rPr>
              <a:t>KHOA LUẬT VÀ KHOA HỌC LIÊN NGÀNH</a:t>
            </a:r>
            <a:endParaRPr lang="en-VN" sz="2000" dirty="0">
              <a:solidFill>
                <a:schemeClr val="bg1"/>
              </a:solidFill>
              <a:latin typeface="Chivo" pitchFamily="2" charset="77"/>
              <a:cs typeface="Chivo" pitchFamily="2" charset="77"/>
            </a:endParaRPr>
          </a:p>
          <a:p>
            <a:pPr>
              <a:spcBef>
                <a:spcPts val="600"/>
              </a:spcBef>
            </a:pPr>
            <a:r>
              <a:rPr lang="en-US" dirty="0" err="1">
                <a:solidFill>
                  <a:schemeClr val="bg1"/>
                </a:solidFill>
                <a:latin typeface="Chivo" pitchFamily="2" charset="77"/>
                <a:cs typeface="Chivo" pitchFamily="2" charset="77"/>
              </a:rPr>
              <a:t>Phân</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hiệu</a:t>
            </a:r>
            <a:r>
              <a:rPr lang="en-US" dirty="0">
                <a:solidFill>
                  <a:schemeClr val="bg1"/>
                </a:solidFill>
                <a:latin typeface="Chivo" pitchFamily="2" charset="77"/>
                <a:cs typeface="Chivo" pitchFamily="2" charset="77"/>
              </a:rPr>
              <a:t> </a:t>
            </a:r>
            <a:r>
              <a:rPr lang="en-VN" dirty="0">
                <a:solidFill>
                  <a:schemeClr val="bg1"/>
                </a:solidFill>
                <a:latin typeface="Chivo" pitchFamily="2" charset="77"/>
                <a:cs typeface="Chivo" pitchFamily="2" charset="77"/>
              </a:rPr>
              <a:t>Học viện Hành chính và Quản trị công</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tại</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tỉnh</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Đắk</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Lắk</a:t>
            </a:r>
            <a:endParaRPr lang="en-VN" dirty="0">
              <a:solidFill>
                <a:schemeClr val="bg1"/>
              </a:solidFill>
              <a:latin typeface="Chivo" pitchFamily="2" charset="77"/>
              <a:cs typeface="Chivo" pitchFamily="2" charset="77"/>
            </a:endParaRPr>
          </a:p>
          <a:p>
            <a:pPr>
              <a:spcBef>
                <a:spcPts val="600"/>
              </a:spcBef>
            </a:pPr>
            <a:r>
              <a:rPr lang="en-VN" dirty="0">
                <a:solidFill>
                  <a:schemeClr val="bg1"/>
                </a:solidFill>
                <a:latin typeface="Chivo" pitchFamily="2" charset="77"/>
                <a:cs typeface="Chivo" pitchFamily="2" charset="77"/>
              </a:rPr>
              <a:t>ĐT: 09</a:t>
            </a:r>
            <a:r>
              <a:rPr lang="en-US" dirty="0">
                <a:solidFill>
                  <a:schemeClr val="bg1"/>
                </a:solidFill>
                <a:latin typeface="Chivo" pitchFamily="2" charset="77"/>
                <a:cs typeface="Chivo" pitchFamily="2" charset="77"/>
              </a:rPr>
              <a:t>34.878.789</a:t>
            </a:r>
            <a:endParaRPr lang="en-VN" dirty="0">
              <a:solidFill>
                <a:schemeClr val="bg1"/>
              </a:solidFill>
              <a:latin typeface="Chivo" pitchFamily="2" charset="77"/>
              <a:cs typeface="Chivo" pitchFamily="2" charset="77"/>
            </a:endParaRPr>
          </a:p>
          <a:p>
            <a:pPr>
              <a:spcBef>
                <a:spcPts val="600"/>
              </a:spcBef>
            </a:pPr>
            <a:r>
              <a:rPr lang="en-VN" dirty="0">
                <a:solidFill>
                  <a:schemeClr val="bg1"/>
                </a:solidFill>
                <a:latin typeface="Chivo" pitchFamily="2" charset="77"/>
                <a:cs typeface="Chivo" pitchFamily="2" charset="77"/>
              </a:rPr>
              <a:t>Email: </a:t>
            </a:r>
            <a:r>
              <a:rPr lang="en-US" dirty="0" err="1">
                <a:solidFill>
                  <a:schemeClr val="bg1"/>
                </a:solidFill>
                <a:latin typeface="Chivo" pitchFamily="2" charset="77"/>
                <a:cs typeface="Chivo" pitchFamily="2" charset="77"/>
              </a:rPr>
              <a:t>xuannd</a:t>
            </a:r>
            <a:r>
              <a:rPr lang="en-VN" dirty="0">
                <a:solidFill>
                  <a:schemeClr val="bg1"/>
                </a:solidFill>
                <a:latin typeface="Chivo" pitchFamily="2" charset="77"/>
                <a:cs typeface="Chivo" pitchFamily="2" charset="77"/>
              </a:rPr>
              <a:t>@apag.edu.vn</a:t>
            </a:r>
          </a:p>
        </p:txBody>
      </p:sp>
    </p:spTree>
    <p:extLst>
      <p:ext uri="{BB962C8B-B14F-4D97-AF65-F5344CB8AC3E}">
        <p14:creationId xmlns:p14="http://schemas.microsoft.com/office/powerpoint/2010/main" val="209198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05C869C-64C7-7383-A834-C6574861AA95}"/>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F560E46-AAB4-95A3-AA43-56FB823EC1DE}"/>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A33D66-F7BE-A800-B469-B6550E248CE4}"/>
              </a:ext>
            </a:extLst>
          </p:cNvPr>
          <p:cNvSpPr>
            <a:spLocks noGrp="1"/>
          </p:cNvSpPr>
          <p:nvPr>
            <p:ph type="title"/>
          </p:nvPr>
        </p:nvSpPr>
        <p:spPr>
          <a:xfrm>
            <a:off x="838200" y="70160"/>
            <a:ext cx="10515600" cy="817350"/>
          </a:xfrm>
        </p:spPr>
        <p:txBody>
          <a:bodyPr/>
          <a:lstStyle/>
          <a:p>
            <a:pPr algn="ctr"/>
            <a:r>
              <a:rPr lang="en-US" b="1" dirty="0">
                <a:solidFill>
                  <a:schemeClr val="bg1"/>
                </a:solidFill>
                <a:latin typeface="Times New Roman" pitchFamily="18" charset="0"/>
                <a:cs typeface="Times New Roman" pitchFamily="18" charset="0"/>
              </a:rPr>
              <a:t>NỘI DUNG</a:t>
            </a:r>
            <a:endParaRPr lang="en-US" dirty="0">
              <a:solidFill>
                <a:schemeClr val="bg1"/>
              </a:solidFill>
            </a:endParaRPr>
          </a:p>
        </p:txBody>
      </p:sp>
      <p:sp>
        <p:nvSpPr>
          <p:cNvPr id="3" name="Content Placeholder 2">
            <a:extLst>
              <a:ext uri="{FF2B5EF4-FFF2-40B4-BE49-F238E27FC236}">
                <a16:creationId xmlns:a16="http://schemas.microsoft.com/office/drawing/2014/main" id="{1F679DA0-4ABD-51B6-86C9-ADA9211A955D}"/>
              </a:ext>
            </a:extLst>
          </p:cNvPr>
          <p:cNvSpPr>
            <a:spLocks noGrp="1"/>
          </p:cNvSpPr>
          <p:nvPr>
            <p:ph idx="1"/>
          </p:nvPr>
        </p:nvSpPr>
        <p:spPr>
          <a:xfrm>
            <a:off x="162233" y="887512"/>
            <a:ext cx="11710220" cy="3197792"/>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C8C9FD7C-D720-2093-8500-8964B61E6698}"/>
              </a:ext>
            </a:extLst>
          </p:cNvPr>
          <p:cNvGraphicFramePr>
            <a:graphicFrameLocks/>
          </p:cNvGraphicFramePr>
          <p:nvPr/>
        </p:nvGraphicFramePr>
        <p:xfrm>
          <a:off x="308106" y="1071350"/>
          <a:ext cx="11710220" cy="5481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441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graphicEl>
                                              <a:dgm id="{FBEFBF75-64EB-4F7E-A926-A4E66F89C7B0}"/>
                                            </p:graphicEl>
                                          </p:spTgt>
                                        </p:tgtEl>
                                        <p:attrNameLst>
                                          <p:attrName>style.visibility</p:attrName>
                                        </p:attrNameLst>
                                      </p:cBhvr>
                                      <p:to>
                                        <p:strVal val="visible"/>
                                      </p:to>
                                    </p:set>
                                    <p:anim calcmode="lin" valueType="num">
                                      <p:cBhvr additive="base">
                                        <p:cTn id="7" dur="500" fill="hold"/>
                                        <p:tgtEl>
                                          <p:spTgt spid="5">
                                            <p:graphicEl>
                                              <a:dgm id="{FBEFBF75-64EB-4F7E-A926-A4E66F89C7B0}"/>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graphicEl>
                                              <a:dgm id="{FBEFBF75-64EB-4F7E-A926-A4E66F89C7B0}"/>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graphicEl>
                                              <a:dgm id="{666DCB58-F458-4F2E-B413-E6EC71986A16}"/>
                                            </p:graphicEl>
                                          </p:spTgt>
                                        </p:tgtEl>
                                        <p:attrNameLst>
                                          <p:attrName>style.visibility</p:attrName>
                                        </p:attrNameLst>
                                      </p:cBhvr>
                                      <p:to>
                                        <p:strVal val="visible"/>
                                      </p:to>
                                    </p:set>
                                    <p:anim calcmode="lin" valueType="num">
                                      <p:cBhvr additive="base">
                                        <p:cTn id="11" dur="500" fill="hold"/>
                                        <p:tgtEl>
                                          <p:spTgt spid="5">
                                            <p:graphicEl>
                                              <a:dgm id="{666DCB58-F458-4F2E-B413-E6EC71986A16}"/>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
                                            <p:graphicEl>
                                              <a:dgm id="{666DCB58-F458-4F2E-B413-E6EC71986A16}"/>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
                                            <p:graphicEl>
                                              <a:dgm id="{903D4C07-2F7B-4768-B940-9EC734D124AC}"/>
                                            </p:graphicEl>
                                          </p:spTgt>
                                        </p:tgtEl>
                                        <p:attrNameLst>
                                          <p:attrName>style.visibility</p:attrName>
                                        </p:attrNameLst>
                                      </p:cBhvr>
                                      <p:to>
                                        <p:strVal val="visible"/>
                                      </p:to>
                                    </p:set>
                                    <p:anim calcmode="lin" valueType="num">
                                      <p:cBhvr additive="base">
                                        <p:cTn id="15" dur="500" fill="hold"/>
                                        <p:tgtEl>
                                          <p:spTgt spid="5">
                                            <p:graphicEl>
                                              <a:dgm id="{903D4C07-2F7B-4768-B940-9EC734D124AC}"/>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
                                            <p:graphicEl>
                                              <a:dgm id="{903D4C07-2F7B-4768-B940-9EC734D124AC}"/>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5">
                                            <p:graphicEl>
                                              <a:dgm id="{03B14AF4-B5B8-4120-A94F-C42F3ACBD4C0}"/>
                                            </p:graphicEl>
                                          </p:spTgt>
                                        </p:tgtEl>
                                        <p:attrNameLst>
                                          <p:attrName>style.visibility</p:attrName>
                                        </p:attrNameLst>
                                      </p:cBhvr>
                                      <p:to>
                                        <p:strVal val="visible"/>
                                      </p:to>
                                    </p:set>
                                    <p:anim calcmode="lin" valueType="num">
                                      <p:cBhvr additive="base">
                                        <p:cTn id="21" dur="500" fill="hold"/>
                                        <p:tgtEl>
                                          <p:spTgt spid="5">
                                            <p:graphicEl>
                                              <a:dgm id="{03B14AF4-B5B8-4120-A94F-C42F3ACBD4C0}"/>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
                                            <p:graphicEl>
                                              <a:dgm id="{03B14AF4-B5B8-4120-A94F-C42F3ACBD4C0}"/>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5">
                                            <p:graphicEl>
                                              <a:dgm id="{A5EF71E6-87C1-4DA1-AFF7-D586E2B69EAC}"/>
                                            </p:graphicEl>
                                          </p:spTgt>
                                        </p:tgtEl>
                                        <p:attrNameLst>
                                          <p:attrName>style.visibility</p:attrName>
                                        </p:attrNameLst>
                                      </p:cBhvr>
                                      <p:to>
                                        <p:strVal val="visible"/>
                                      </p:to>
                                    </p:set>
                                    <p:anim calcmode="lin" valueType="num">
                                      <p:cBhvr additive="base">
                                        <p:cTn id="25" dur="500" fill="hold"/>
                                        <p:tgtEl>
                                          <p:spTgt spid="5">
                                            <p:graphicEl>
                                              <a:dgm id="{A5EF71E6-87C1-4DA1-AFF7-D586E2B69EAC}"/>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graphicEl>
                                              <a:dgm id="{A5EF71E6-87C1-4DA1-AFF7-D586E2B69EAC}"/>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
                                            <p:graphicEl>
                                              <a:dgm id="{7E79FFA8-5D9C-4C34-BC10-348E5B7963B1}"/>
                                            </p:graphicEl>
                                          </p:spTgt>
                                        </p:tgtEl>
                                        <p:attrNameLst>
                                          <p:attrName>style.visibility</p:attrName>
                                        </p:attrNameLst>
                                      </p:cBhvr>
                                      <p:to>
                                        <p:strVal val="visible"/>
                                      </p:to>
                                    </p:set>
                                    <p:anim calcmode="lin" valueType="num">
                                      <p:cBhvr additive="base">
                                        <p:cTn id="31" dur="500" fill="hold"/>
                                        <p:tgtEl>
                                          <p:spTgt spid="5">
                                            <p:graphicEl>
                                              <a:dgm id="{7E79FFA8-5D9C-4C34-BC10-348E5B7963B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graphicEl>
                                              <a:dgm id="{7E79FFA8-5D9C-4C34-BC10-348E5B7963B1}"/>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5">
                                            <p:graphicEl>
                                              <a:dgm id="{F24AED53-8AE0-4CB9-A674-944D01F5AFA7}"/>
                                            </p:graphicEl>
                                          </p:spTgt>
                                        </p:tgtEl>
                                        <p:attrNameLst>
                                          <p:attrName>style.visibility</p:attrName>
                                        </p:attrNameLst>
                                      </p:cBhvr>
                                      <p:to>
                                        <p:strVal val="visible"/>
                                      </p:to>
                                    </p:set>
                                    <p:anim calcmode="lin" valueType="num">
                                      <p:cBhvr additive="base">
                                        <p:cTn id="35" dur="500" fill="hold"/>
                                        <p:tgtEl>
                                          <p:spTgt spid="5">
                                            <p:graphicEl>
                                              <a:dgm id="{F24AED53-8AE0-4CB9-A674-944D01F5AFA7}"/>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
                                            <p:graphicEl>
                                              <a:dgm id="{F24AED53-8AE0-4CB9-A674-944D01F5AFA7}"/>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5">
                                            <p:graphicEl>
                                              <a:dgm id="{6E402C4B-EDFD-42F0-AB38-9FE8CE6F595A}"/>
                                            </p:graphicEl>
                                          </p:spTgt>
                                        </p:tgtEl>
                                        <p:attrNameLst>
                                          <p:attrName>style.visibility</p:attrName>
                                        </p:attrNameLst>
                                      </p:cBhvr>
                                      <p:to>
                                        <p:strVal val="visible"/>
                                      </p:to>
                                    </p:set>
                                    <p:anim calcmode="lin" valueType="num">
                                      <p:cBhvr additive="base">
                                        <p:cTn id="41" dur="500" fill="hold"/>
                                        <p:tgtEl>
                                          <p:spTgt spid="5">
                                            <p:graphicEl>
                                              <a:dgm id="{6E402C4B-EDFD-42F0-AB38-9FE8CE6F595A}"/>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
                                            <p:graphicEl>
                                              <a:dgm id="{6E402C4B-EDFD-42F0-AB38-9FE8CE6F595A}"/>
                                            </p:graphic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5">
                                            <p:graphicEl>
                                              <a:dgm id="{6217FA50-8478-467B-ACA9-B6E1B62BD4D6}"/>
                                            </p:graphicEl>
                                          </p:spTgt>
                                        </p:tgtEl>
                                        <p:attrNameLst>
                                          <p:attrName>style.visibility</p:attrName>
                                        </p:attrNameLst>
                                      </p:cBhvr>
                                      <p:to>
                                        <p:strVal val="visible"/>
                                      </p:to>
                                    </p:set>
                                    <p:anim calcmode="lin" valueType="num">
                                      <p:cBhvr additive="base">
                                        <p:cTn id="45" dur="500" fill="hold"/>
                                        <p:tgtEl>
                                          <p:spTgt spid="5">
                                            <p:graphicEl>
                                              <a:dgm id="{6217FA50-8478-467B-ACA9-B6E1B62BD4D6}"/>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5">
                                            <p:graphicEl>
                                              <a:dgm id="{6217FA50-8478-467B-ACA9-B6E1B62BD4D6}"/>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FD289D-433D-686B-CA41-9A94F90A84BC}"/>
              </a:ext>
            </a:extLst>
          </p:cNvPr>
          <p:cNvSpPr txBox="1"/>
          <p:nvPr/>
        </p:nvSpPr>
        <p:spPr>
          <a:xfrm>
            <a:off x="214009" y="1595335"/>
            <a:ext cx="11977991" cy="2154436"/>
          </a:xfrm>
          <a:prstGeom prst="rect">
            <a:avLst/>
          </a:prstGeom>
          <a:noFill/>
        </p:spPr>
        <p:txBody>
          <a:bodyPr wrap="square" rtlCol="0">
            <a:spAutoFit/>
          </a:bodyPr>
          <a:lstStyle/>
          <a:p>
            <a:r>
              <a:rPr lang="en-US" sz="4400" b="1" dirty="0">
                <a:solidFill>
                  <a:srgbClr val="C00000"/>
                </a:solidFill>
                <a:latin typeface="Arial" panose="020B0604020202020204" pitchFamily="34" charset="0"/>
                <a:cs typeface="Arial" panose="020B0604020202020204" pitchFamily="34" charset="0"/>
              </a:rPr>
              <a:t>CHƯƠNG 3: </a:t>
            </a:r>
          </a:p>
          <a:p>
            <a:endParaRPr lang="en-US" sz="3600" b="1" dirty="0">
              <a:solidFill>
                <a:schemeClr val="bg2">
                  <a:lumMod val="10000"/>
                </a:schemeClr>
              </a:solidFill>
              <a:latin typeface="Arial" panose="020B0604020202020204" pitchFamily="34" charset="0"/>
              <a:cs typeface="Arial" panose="020B0604020202020204" pitchFamily="34" charset="0"/>
            </a:endParaRPr>
          </a:p>
          <a:p>
            <a:pPr algn="ctr"/>
            <a:r>
              <a:rPr lang="en-US" sz="5400" b="1" dirty="0">
                <a:solidFill>
                  <a:schemeClr val="bg2">
                    <a:lumMod val="10000"/>
                  </a:schemeClr>
                </a:solidFill>
                <a:latin typeface="Arial" panose="020B0604020202020204" pitchFamily="34" charset="0"/>
                <a:cs typeface="Arial" panose="020B0604020202020204" pitchFamily="34" charset="0"/>
              </a:rPr>
              <a:t>QUẢN LÝ NGÂN SÁCH XÃ</a:t>
            </a:r>
          </a:p>
        </p:txBody>
      </p:sp>
    </p:spTree>
    <p:extLst>
      <p:ext uri="{BB962C8B-B14F-4D97-AF65-F5344CB8AC3E}">
        <p14:creationId xmlns:p14="http://schemas.microsoft.com/office/powerpoint/2010/main" val="3459495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695AC-698A-D080-A48E-6E9BAB49C97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85DAFC4-4492-41DB-BCB6-F09BC9749C52}"/>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58B5CE5-CE24-3B70-F79F-BE051F05E610}"/>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3CA020-CDAC-0532-20F7-73EE30AECF30}"/>
              </a:ext>
            </a:extLst>
          </p:cNvPr>
          <p:cNvSpPr>
            <a:spLocks noGrp="1"/>
          </p:cNvSpPr>
          <p:nvPr>
            <p:ph type="title"/>
          </p:nvPr>
        </p:nvSpPr>
        <p:spPr>
          <a:xfrm>
            <a:off x="838200" y="70160"/>
            <a:ext cx="10515600" cy="817350"/>
          </a:xfrm>
        </p:spPr>
        <p:txBody>
          <a:bodyPr/>
          <a:lstStyle/>
          <a:p>
            <a:pPr algn="ctr"/>
            <a:r>
              <a:rPr lang="en-US" b="1" dirty="0">
                <a:solidFill>
                  <a:schemeClr val="bg1"/>
                </a:solidFill>
                <a:latin typeface="Times New Roman" pitchFamily="18" charset="0"/>
                <a:cs typeface="Times New Roman" pitchFamily="18" charset="0"/>
              </a:rPr>
              <a:t>MỤC TIÊU CHƯƠNG 3</a:t>
            </a:r>
            <a:endParaRPr lang="en-US" dirty="0">
              <a:solidFill>
                <a:schemeClr val="bg1"/>
              </a:solidFill>
            </a:endParaRPr>
          </a:p>
        </p:txBody>
      </p:sp>
      <p:sp>
        <p:nvSpPr>
          <p:cNvPr id="10" name="Content Placeholder 2">
            <a:extLst>
              <a:ext uri="{FF2B5EF4-FFF2-40B4-BE49-F238E27FC236}">
                <a16:creationId xmlns:a16="http://schemas.microsoft.com/office/drawing/2014/main" id="{F2BC65DA-E0DC-B060-488A-AA9FBD79BD99}"/>
              </a:ext>
            </a:extLst>
          </p:cNvPr>
          <p:cNvSpPr>
            <a:spLocks noGrp="1"/>
          </p:cNvSpPr>
          <p:nvPr>
            <p:ph idx="1"/>
          </p:nvPr>
        </p:nvSpPr>
        <p:spPr>
          <a:xfrm>
            <a:off x="24580" y="887510"/>
            <a:ext cx="12192000" cy="6079560"/>
          </a:xfrm>
        </p:spPr>
        <p:txBody>
          <a:bodyPr>
            <a:noAutofit/>
          </a:bodyPr>
          <a:lstStyle/>
          <a:p>
            <a:pPr marL="457200" lvl="1" indent="0" algn="just">
              <a:lnSpc>
                <a:spcPct val="150000"/>
              </a:lnSpc>
              <a:buNone/>
            </a:pPr>
            <a:r>
              <a:rPr lang="en-US" sz="2800" b="1" dirty="0" err="1">
                <a:latin typeface="Times New Roman" panose="02020603050405020304" pitchFamily="18" charset="0"/>
                <a:cs typeface="Times New Roman" panose="02020603050405020304" pitchFamily="18" charset="0"/>
              </a:rPr>
              <a:t>Về</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kiến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thức</a:t>
            </a:r>
            <a:r>
              <a:rPr lang="en-US"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dirty="0" err="1">
                <a:latin typeface="Times New Roman" panose="02020603050405020304" pitchFamily="18" charset="0"/>
                <a:cs typeface="Times New Roman" panose="02020603050405020304" pitchFamily="18" charset="0"/>
              </a:rPr>
              <a:t>Trình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bày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phạm</a:t>
            </a:r>
            <a:r>
              <a:rPr lang="en-US" sz="2800" dirty="0">
                <a:latin typeface="Times New Roman" panose="02020603050405020304" pitchFamily="18" charset="0"/>
                <a:cs typeface="Times New Roman" panose="02020603050405020304" pitchFamily="18" charset="0"/>
              </a:rPr>
              <a:t> vi </a:t>
            </a:r>
            <a:r>
              <a:rPr lang="en-US" sz="2800" dirty="0" err="1">
                <a:latin typeface="Times New Roman" panose="02020603050405020304" pitchFamily="18" charset="0"/>
                <a:cs typeface="Times New Roman" panose="02020603050405020304" pitchFamily="18" charset="0"/>
              </a:rPr>
              <a:t>thu</a:t>
            </a:r>
            <a:r>
              <a:rPr lang="en-US" sz="2800" dirty="0">
                <a:latin typeface="Times New Roman" panose="02020603050405020304" pitchFamily="18" charset="0"/>
                <a:cs typeface="Times New Roman" panose="02020603050405020304" pitchFamily="18" charset="0"/>
              </a:rPr>
              <a:t>, chi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điểm</a:t>
            </a:r>
            <a:r>
              <a:rPr lang="en-US" sz="2800" dirty="0">
                <a:latin typeface="Times New Roman" panose="02020603050405020304" pitchFamily="18" charset="0"/>
                <a:cs typeface="Times New Roman" panose="02020603050405020304" pitchFamily="18" charset="0"/>
              </a:rPr>
              <a:t>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niệm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nguyên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tắc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chu </a:t>
            </a:r>
            <a:r>
              <a:rPr lang="en-US" sz="2800" dirty="0" err="1">
                <a:latin typeface="Times New Roman" panose="02020603050405020304" pitchFamily="18" charset="0"/>
                <a:cs typeface="Times New Roman" panose="02020603050405020304" pitchFamily="18" charset="0"/>
              </a:rPr>
              <a:t>trình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b="1" dirty="0" err="1">
                <a:latin typeface="Times New Roman" panose="02020603050405020304" pitchFamily="18" charset="0"/>
                <a:cs typeface="Times New Roman" panose="02020603050405020304" pitchFamily="18" charset="0"/>
              </a:rPr>
              <a:t>Về</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kỹ</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năng</a:t>
            </a:r>
            <a:r>
              <a:rPr lang="en-US"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dirty="0" err="1">
                <a:latin typeface="Times New Roman" panose="02020603050405020304" pitchFamily="18" charset="0"/>
                <a:cs typeface="Times New Roman" panose="02020603050405020304" pitchFamily="18" charset="0"/>
              </a:rPr>
              <a:t>Phân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b="1" dirty="0" err="1">
                <a:latin typeface="Times New Roman" panose="02020603050405020304" pitchFamily="18" charset="0"/>
                <a:cs typeface="Times New Roman" panose="02020603050405020304" pitchFamily="18" charset="0"/>
              </a:rPr>
              <a:t>Về</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nhiệm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hội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thủ</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luật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chấp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nội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đơn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tài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công</a:t>
            </a:r>
            <a:r>
              <a:rPr lang="en-US" sz="2800" dirty="0">
                <a:latin typeface="Times New Roman" panose="02020603050405020304" pitchFamily="18" charset="0"/>
                <a:cs typeface="Times New Roman" panose="02020603050405020304" pitchFamily="18" charset="0"/>
              </a:rPr>
              <a:t>.</a:t>
            </a:r>
          </a:p>
          <a:p>
            <a:pPr lvl="1" algn="just">
              <a:lnSpc>
                <a:spcPct val="150000"/>
              </a:lnSpc>
              <a:buFontTx/>
              <a:buChar char="-"/>
            </a:pPr>
            <a:endParaRPr lang="en-US" sz="2800" dirty="0">
              <a:latin typeface="Times New Roman" panose="02020603050405020304" pitchFamily="18" charset="0"/>
              <a:cs typeface="Times New Roman" panose="02020603050405020304" pitchFamily="18" charset="0"/>
            </a:endParaRPr>
          </a:p>
          <a:p>
            <a:pPr marL="0" indent="0">
              <a:lnSpc>
                <a:spcPct val="150000"/>
              </a:lnSpc>
              <a:buNone/>
            </a:pP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237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2E16C-D5D3-156A-8580-CDA4F749E7E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C026659-57A0-BC57-85EA-D6327FD99FB4}"/>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7B9C133-8170-9151-0A09-D63720DCBC67}"/>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174D3B-8D6B-37D4-FE63-5AAA68D7FC03}"/>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
        <p:nvSpPr>
          <p:cNvPr id="3" name="Content Placeholder 2">
            <a:extLst>
              <a:ext uri="{FF2B5EF4-FFF2-40B4-BE49-F238E27FC236}">
                <a16:creationId xmlns:a16="http://schemas.microsoft.com/office/drawing/2014/main" id="{724075A8-DF1C-A1EB-93AE-7FC5F53F52CB}"/>
              </a:ext>
            </a:extLst>
          </p:cNvPr>
          <p:cNvSpPr>
            <a:spLocks noGrp="1"/>
          </p:cNvSpPr>
          <p:nvPr>
            <p:ph idx="1"/>
          </p:nvPr>
        </p:nvSpPr>
        <p:spPr>
          <a:xfrm>
            <a:off x="331076" y="1100757"/>
            <a:ext cx="11541376" cy="4574769"/>
          </a:xfrm>
        </p:spPr>
        <p:txBody>
          <a:bodyPr>
            <a:normAutofit fontScale="92500" lnSpcReduction="10000"/>
          </a:bodyPr>
          <a:lstStyle/>
          <a:p>
            <a:pPr marL="457200" lvl="1" indent="0" algn="just">
              <a:lnSpc>
                <a:spcPct val="150000"/>
              </a:lnSpc>
              <a:buNone/>
            </a:pPr>
            <a:r>
              <a:rPr lang="vi-VN" sz="2600" b="1" dirty="0">
                <a:latin typeface="Times New Roman" panose="02020603050405020304" pitchFamily="18" charset="0"/>
                <a:cs typeface="Times New Roman" panose="02020603050405020304" pitchFamily="18" charset="0"/>
              </a:rPr>
              <a:t>Tài liệu/giáo trình:</a:t>
            </a: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[1]. </a:t>
            </a:r>
            <a:r>
              <a:rPr lang="en-US" sz="2600" dirty="0">
                <a:latin typeface="Times New Roman" panose="02020603050405020304" pitchFamily="18" charset="0"/>
                <a:cs typeface="Times New Roman" panose="02020603050405020304" pitchFamily="18" charset="0"/>
              </a:rPr>
              <a:t>TS. Bùi Tiến Hanh, TS. Phạm Thị Hoàng Phương (2016), </a:t>
            </a:r>
            <a:r>
              <a:rPr lang="en-US" sz="2600" dirty="0" err="1">
                <a:latin typeface="Times New Roman" panose="02020603050405020304" pitchFamily="18" charset="0"/>
                <a:cs typeface="Times New Roman" panose="02020603050405020304" pitchFamily="18" charset="0"/>
              </a:rPr>
              <a:t>Giáo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trình</a:t>
            </a:r>
            <a:r>
              <a:rPr lang="en-US" sz="2600" dirty="0">
                <a:latin typeface="Times New Roman" panose="02020603050405020304" pitchFamily="18" charset="0"/>
                <a:cs typeface="Times New Roman" panose="02020603050405020304" pitchFamily="18" charset="0"/>
              </a:rPr>
              <a:t> Quản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công</a:t>
            </a:r>
            <a:r>
              <a:rPr lang="en-US" sz="2600" dirty="0">
                <a:latin typeface="Times New Roman" panose="02020603050405020304" pitchFamily="18" charset="0"/>
                <a:cs typeface="Times New Roman" panose="02020603050405020304" pitchFamily="18" charset="0"/>
              </a:rPr>
              <a:t>, NXB Tài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[2] PGS.TS. Dương </a:t>
            </a:r>
            <a:r>
              <a:rPr lang="en-US" sz="2600" dirty="0" err="1">
                <a:latin typeface="Times New Roman" panose="02020603050405020304" pitchFamily="18" charset="0"/>
                <a:cs typeface="Times New Roman" panose="02020603050405020304" pitchFamily="18" charset="0"/>
              </a:rPr>
              <a:t>Đăng</a:t>
            </a:r>
            <a:r>
              <a:rPr lang="en-US" sz="2600" dirty="0">
                <a:latin typeface="Times New Roman" panose="02020603050405020304" pitchFamily="18" charset="0"/>
                <a:cs typeface="Times New Roman" panose="02020603050405020304" pitchFamily="18" charset="0"/>
              </a:rPr>
              <a:t> Chinh, TS. Phạm Văn </a:t>
            </a:r>
            <a:r>
              <a:rPr lang="en-US" sz="2600" dirty="0" err="1">
                <a:latin typeface="Times New Roman" panose="02020603050405020304" pitchFamily="18" charset="0"/>
                <a:cs typeface="Times New Roman" panose="02020603050405020304" pitchFamily="18" charset="0"/>
              </a:rPr>
              <a:t>Khoan</a:t>
            </a:r>
            <a:r>
              <a:rPr lang="en-US" sz="2600" dirty="0">
                <a:latin typeface="Times New Roman" panose="02020603050405020304" pitchFamily="18" charset="0"/>
                <a:cs typeface="Times New Roman" panose="02020603050405020304" pitchFamily="18" charset="0"/>
              </a:rPr>
              <a:t> (2009), </a:t>
            </a:r>
            <a:r>
              <a:rPr lang="en-US" sz="2600" dirty="0" err="1">
                <a:latin typeface="Times New Roman" panose="02020603050405020304" pitchFamily="18" charset="0"/>
                <a:cs typeface="Times New Roman" panose="02020603050405020304" pitchFamily="18" charset="0"/>
              </a:rPr>
              <a:t>Giáo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trình</a:t>
            </a:r>
            <a:r>
              <a:rPr lang="en-US" sz="2600" dirty="0">
                <a:latin typeface="Times New Roman" panose="02020603050405020304" pitchFamily="18" charset="0"/>
                <a:cs typeface="Times New Roman" panose="02020603050405020304" pitchFamily="18" charset="0"/>
              </a:rPr>
              <a:t> Quản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công</a:t>
            </a:r>
            <a:r>
              <a:rPr lang="en-US" sz="2600" dirty="0">
                <a:latin typeface="Times New Roman" panose="02020603050405020304" pitchFamily="18" charset="0"/>
                <a:cs typeface="Times New Roman" panose="02020603050405020304" pitchFamily="18" charset="0"/>
              </a:rPr>
              <a:t>, NXB Tài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a:t>
            </a:r>
            <a:endParaRPr lang="vi-VN"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3</a:t>
            </a:r>
            <a:r>
              <a:rPr lang="vi-VN" sz="2600" dirty="0">
                <a:latin typeface="Times New Roman" panose="02020603050405020304" pitchFamily="18" charset="0"/>
                <a:cs typeface="Times New Roman" panose="02020603050405020304" pitchFamily="18" charset="0"/>
              </a:rPr>
              <a:t>]. PGS. TS Trần Văn Giao (2019), Giáo trình Quản lý tài chính công, Nhà xuất bản Bách Khoa</a:t>
            </a:r>
            <a:endParaRPr lang="en-US" sz="2600" dirty="0">
              <a:latin typeface="Times New Roman" panose="02020603050405020304" pitchFamily="18" charset="0"/>
              <a:cs typeface="Times New Roman" panose="02020603050405020304" pitchFamily="18" charset="0"/>
            </a:endParaRPr>
          </a:p>
          <a:p>
            <a:pPr marL="457200" lvl="1" indent="0" algn="ctr">
              <a:lnSpc>
                <a:spcPct val="150000"/>
              </a:lnSpc>
              <a:buNone/>
            </a:pPr>
            <a:r>
              <a:rPr lang="en-US" sz="2600" dirty="0">
                <a:solidFill>
                  <a:srgbClr val="FF0000"/>
                </a:solidFill>
                <a:latin typeface="Times New Roman" panose="02020603050405020304" pitchFamily="18" charset="0"/>
                <a:cs typeface="Times New Roman" panose="02020603050405020304" pitchFamily="18" charset="0"/>
              </a:rPr>
              <a:t>(</a:t>
            </a:r>
            <a:r>
              <a:rPr lang="en-US" sz="2600" dirty="0" err="1">
                <a:solidFill>
                  <a:srgbClr val="FF0000"/>
                </a:solidFill>
                <a:latin typeface="Times New Roman" panose="02020603050405020304" pitchFamily="18" charset="0"/>
                <a:cs typeface="Times New Roman" panose="02020603050405020304" pitchFamily="18" charset="0"/>
              </a:rPr>
              <a:t>Một</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số</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nội</a:t>
            </a:r>
            <a:r>
              <a:rPr lang="en-US" sz="2600" dirty="0">
                <a:solidFill>
                  <a:srgbClr val="FF0000"/>
                </a:solidFill>
                <a:latin typeface="Times New Roman" panose="02020603050405020304" pitchFamily="18" charset="0"/>
                <a:cs typeface="Times New Roman" panose="02020603050405020304" pitchFamily="18" charset="0"/>
              </a:rPr>
              <a:t> dung </a:t>
            </a:r>
            <a:r>
              <a:rPr lang="en-US" sz="2600" dirty="0" err="1">
                <a:solidFill>
                  <a:srgbClr val="FF0000"/>
                </a:solidFill>
                <a:latin typeface="Times New Roman" panose="02020603050405020304" pitchFamily="18" charset="0"/>
                <a:cs typeface="Times New Roman" panose="02020603050405020304" pitchFamily="18" charset="0"/>
              </a:rPr>
              <a:t>trong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các</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tài</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liệu</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có</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giá</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trị</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tham</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khảo</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mang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tính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lịch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sử</a:t>
            </a:r>
            <a:r>
              <a:rPr lang="en-US" sz="2600" dirty="0">
                <a:solidFill>
                  <a:srgbClr val="FF0000"/>
                </a:solidFill>
                <a:latin typeface="Times New Roman" panose="02020603050405020304" pitchFamily="18" charset="0"/>
                <a:cs typeface="Times New Roman" panose="02020603050405020304" pitchFamily="18" charset="0"/>
              </a:rPr>
              <a:t>)</a:t>
            </a:r>
            <a:endParaRPr lang="vi-VN" sz="2600" dirty="0">
              <a:solidFill>
                <a:srgbClr val="FF000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6263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898DD-D4E3-623A-0315-DE29B79B1D6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76A7322-D690-AE0E-CA24-E56D6D23A503}"/>
              </a:ext>
            </a:extLst>
          </p:cNvPr>
          <p:cNvSpPr/>
          <p:nvPr/>
        </p:nvSpPr>
        <p:spPr>
          <a:xfrm>
            <a:off x="-2458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610C75-C5FF-867D-0512-265FA44FF3C1}"/>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1A2CB1D-348C-9889-3AD9-8FF234194B46}"/>
              </a:ext>
            </a:extLst>
          </p:cNvPr>
          <p:cNvSpPr>
            <a:spLocks noGrp="1"/>
          </p:cNvSpPr>
          <p:nvPr>
            <p:ph idx="1"/>
          </p:nvPr>
        </p:nvSpPr>
        <p:spPr>
          <a:xfrm>
            <a:off x="0" y="934110"/>
            <a:ext cx="12192000" cy="5923890"/>
          </a:xfrm>
        </p:spPr>
        <p:txBody>
          <a:bodyPr>
            <a:noAutofit/>
          </a:bodyPr>
          <a:lstStyle/>
          <a:p>
            <a:pPr marL="457200" lvl="1" indent="0" algn="just">
              <a:lnSpc>
                <a:spcPct val="150000"/>
              </a:lnSpc>
              <a:buNone/>
            </a:pPr>
            <a:r>
              <a:rPr lang="en-US" sz="2800" b="1" dirty="0">
                <a:latin typeface="Times New Roman" panose="02020603050405020304" pitchFamily="18" charset="0"/>
                <a:cs typeface="Times New Roman" panose="02020603050405020304" pitchFamily="18" charset="0"/>
              </a:rPr>
              <a:t>Văn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phạm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pháp</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luật</a:t>
            </a:r>
            <a:r>
              <a:rPr lang="vi-VN"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vi-VN" sz="2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4</a:t>
            </a: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NSNN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83/2015/QH13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25/6/2015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bổ</a:t>
            </a:r>
            <a:r>
              <a:rPr lang="en-US" dirty="0">
                <a:latin typeface="Times New Roman" panose="02020603050405020304" pitchFamily="18" charset="0"/>
                <a:cs typeface="Times New Roman" panose="02020603050405020304" pitchFamily="18" charset="0"/>
              </a:rPr>
              <a:t> sung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Doanh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59/2020/QH14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17/6/2020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56/2024/QH15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29/11/2024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a:t>
            </a:r>
            <a:r>
              <a:rPr lang="en-US" dirty="0" err="1">
                <a:solidFill>
                  <a:srgbClr val="FF0000"/>
                </a:solidFill>
                <a:latin typeface="Times New Roman" panose="02020603050405020304" pitchFamily="18" charset="0"/>
                <a:cs typeface="Times New Roman" panose="02020603050405020304" pitchFamily="18" charset="0"/>
              </a:rPr>
              <a:t>hết</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hiệu</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lực</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từ</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năm</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ngân</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sách</a:t>
            </a:r>
            <a:r>
              <a:rPr lang="en-US" dirty="0">
                <a:solidFill>
                  <a:srgbClr val="FF0000"/>
                </a:solidFill>
                <a:latin typeface="Times New Roman" panose="02020603050405020304" pitchFamily="18" charset="0"/>
                <a:cs typeface="Times New Roman" panose="02020603050405020304" pitchFamily="18" charset="0"/>
              </a:rPr>
              <a:t> 2026).</a:t>
            </a:r>
            <a:endParaRPr lang="en-US"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dirty="0">
                <a:latin typeface="Times New Roman" panose="02020603050405020304" pitchFamily="18" charset="0"/>
                <a:cs typeface="Times New Roman" panose="02020603050405020304" pitchFamily="18" charset="0"/>
              </a:rPr>
              <a:t>[5]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NSNN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89/2025/QH15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25/6/2025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a:t>
            </a:r>
            <a:r>
              <a:rPr lang="en-US" dirty="0" err="1">
                <a:solidFill>
                  <a:srgbClr val="FF0000"/>
                </a:solidFill>
                <a:latin typeface="Times New Roman" panose="02020603050405020304" pitchFamily="18" charset="0"/>
                <a:cs typeface="Times New Roman" panose="02020603050405020304" pitchFamily="18" charset="0"/>
              </a:rPr>
              <a:t>có</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hiệu</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lực</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từ</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năm</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ngân</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sách</a:t>
            </a:r>
            <a:r>
              <a:rPr lang="en-US" dirty="0">
                <a:solidFill>
                  <a:srgbClr val="FF0000"/>
                </a:solidFill>
                <a:latin typeface="Times New Roman" panose="02020603050405020304" pitchFamily="18" charset="0"/>
                <a:cs typeface="Times New Roman" panose="02020603050405020304" pitchFamily="18" charset="0"/>
              </a:rPr>
              <a:t> 2026).</a:t>
            </a:r>
          </a:p>
          <a:p>
            <a:endParaRPr lang="en-US"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DC0775A-A033-B2E6-8B99-89D4FBB40E92}"/>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Tree>
    <p:extLst>
      <p:ext uri="{BB962C8B-B14F-4D97-AF65-F5344CB8AC3E}">
        <p14:creationId xmlns:p14="http://schemas.microsoft.com/office/powerpoint/2010/main" val="3919087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7703-03FA-CC1F-B5BF-B109F33A7F9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1722E9B-0CE9-7C4C-9120-2CF7B40F5A1F}"/>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1CAB3D-9B61-9E2F-5E28-3856F5B54284}"/>
              </a:ext>
            </a:extLst>
          </p:cNvPr>
          <p:cNvSpPr>
            <a:spLocks noGrp="1"/>
          </p:cNvSpPr>
          <p:nvPr>
            <p:ph idx="1"/>
          </p:nvPr>
        </p:nvSpPr>
        <p:spPr>
          <a:xfrm>
            <a:off x="0" y="887508"/>
            <a:ext cx="12192000" cy="5970491"/>
          </a:xfrm>
        </p:spPr>
        <p:txBody>
          <a:bodyPr>
            <a:normAutofit fontScale="85000" lnSpcReduction="20000"/>
          </a:bodyPr>
          <a:lstStyle/>
          <a:p>
            <a:pPr marL="457200" lvl="1" indent="0" algn="just">
              <a:lnSpc>
                <a:spcPct val="150000"/>
              </a:lnSpc>
              <a:buNone/>
            </a:pPr>
            <a:r>
              <a:rPr lang="en-US" sz="2600" b="1" dirty="0">
                <a:latin typeface="Times New Roman" panose="02020603050405020304" pitchFamily="18" charset="0"/>
                <a:cs typeface="Times New Roman" panose="02020603050405020304" pitchFamily="18" charset="0"/>
              </a:rPr>
              <a:t>Văn </a:t>
            </a:r>
            <a:r>
              <a:rPr lang="en-US" sz="2600" b="1" dirty="0" err="1">
                <a:latin typeface="Times New Roman" panose="02020603050405020304" pitchFamily="18" charset="0"/>
                <a:cs typeface="Times New Roman" panose="02020603050405020304" pitchFamily="18" charset="0"/>
              </a:rPr>
              <a:t>bản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quy</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phạm</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pháp</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luật</a:t>
            </a:r>
            <a:r>
              <a:rPr lang="vi-VN" sz="2600" b="1" dirty="0">
                <a:latin typeface="Times New Roman" panose="02020603050405020304" pitchFamily="18" charset="0"/>
                <a:cs typeface="Times New Roman" panose="02020603050405020304" pitchFamily="18" charset="0"/>
              </a:rPr>
              <a:t>:</a:t>
            </a:r>
            <a:endParaRPr lang="en-US" sz="2600" b="1"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6</a:t>
            </a:r>
            <a:r>
              <a:rPr lang="vi-VN"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Nghị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73/2026/NĐ-CP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10/3/2026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chi </a:t>
            </a:r>
            <a:r>
              <a:rPr lang="en-US" sz="2600" dirty="0" err="1">
                <a:latin typeface="Times New Roman" panose="02020603050405020304" pitchFamily="18" charset="0"/>
                <a:cs typeface="Times New Roman" panose="02020603050405020304" pitchFamily="18" charset="0"/>
              </a:rPr>
              <a:t>tiết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Luật</a:t>
            </a:r>
            <a:r>
              <a:rPr lang="en-US" sz="2600" dirty="0">
                <a:latin typeface="Times New Roman" panose="02020603050405020304" pitchFamily="18" charset="0"/>
                <a:cs typeface="Times New Roman" panose="02020603050405020304" pitchFamily="18" charset="0"/>
              </a:rPr>
              <a:t> NSNN;</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[7] Thông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26/2026/TT-BTC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25/3/2026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chi </a:t>
            </a:r>
            <a:r>
              <a:rPr lang="en-US" sz="2600" dirty="0" err="1">
                <a:latin typeface="Times New Roman" panose="02020603050405020304" pitchFamily="18" charset="0"/>
                <a:cs typeface="Times New Roman" panose="02020603050405020304" pitchFamily="18" charset="0"/>
              </a:rPr>
              <a:t>tiết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Nghị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73/2026/NĐ-CP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10/3/2026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phủ</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chi </a:t>
            </a:r>
            <a:r>
              <a:rPr lang="en-US" sz="2600" dirty="0" err="1">
                <a:latin typeface="Times New Roman" panose="02020603050405020304" pitchFamily="18" charset="0"/>
                <a:cs typeface="Times New Roman" panose="02020603050405020304" pitchFamily="18" charset="0"/>
              </a:rPr>
              <a:t>tiết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Luật</a:t>
            </a:r>
            <a:r>
              <a:rPr lang="en-US" sz="2600" dirty="0">
                <a:latin typeface="Times New Roman" panose="02020603050405020304" pitchFamily="18" charset="0"/>
                <a:cs typeface="Times New Roman" panose="02020603050405020304" pitchFamily="18" charset="0"/>
              </a:rPr>
              <a:t> NSNN;</a:t>
            </a: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8</a:t>
            </a:r>
            <a:r>
              <a:rPr lang="vi-V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Thông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344/2016/TT-BTC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hoạt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phường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trấn</a:t>
            </a:r>
            <a:r>
              <a:rPr lang="en-US" sz="2600" dirty="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a:t>
            </a:r>
            <a:r>
              <a:rPr lang="en-US" sz="2600" dirty="0" err="1">
                <a:solidFill>
                  <a:srgbClr val="FF0000"/>
                </a:solidFill>
                <a:latin typeface="Times New Roman" panose="02020603050405020304" pitchFamily="18" charset="0"/>
                <a:cs typeface="Times New Roman" panose="02020603050405020304" pitchFamily="18" charset="0"/>
              </a:rPr>
              <a:t>Hết</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hiệu</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lực</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từ</a:t>
            </a:r>
            <a:r>
              <a:rPr lang="en-US" sz="2600" dirty="0">
                <a:solidFill>
                  <a:srgbClr val="FF0000"/>
                </a:solidFill>
                <a:latin typeface="Times New Roman" panose="02020603050405020304" pitchFamily="18" charset="0"/>
                <a:cs typeface="Times New Roman" panose="02020603050405020304" pitchFamily="18" charset="0"/>
              </a:rPr>
              <a:t> 25/3/2026, </a:t>
            </a:r>
            <a:r>
              <a:rPr lang="en-US" sz="2600" dirty="0" err="1">
                <a:solidFill>
                  <a:srgbClr val="FF0000"/>
                </a:solidFill>
                <a:latin typeface="Times New Roman" panose="02020603050405020304" pitchFamily="18" charset="0"/>
                <a:cs typeface="Times New Roman" panose="02020603050405020304" pitchFamily="18" charset="0"/>
              </a:rPr>
              <a:t>Một</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số</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nội</a:t>
            </a:r>
            <a:r>
              <a:rPr lang="en-US" sz="2600" dirty="0">
                <a:solidFill>
                  <a:srgbClr val="FF0000"/>
                </a:solidFill>
                <a:latin typeface="Times New Roman" panose="02020603050405020304" pitchFamily="18" charset="0"/>
                <a:cs typeface="Times New Roman" panose="02020603050405020304" pitchFamily="18" charset="0"/>
              </a:rPr>
              <a:t> dung </a:t>
            </a:r>
            <a:r>
              <a:rPr lang="en-US" sz="2600" dirty="0" err="1">
                <a:solidFill>
                  <a:srgbClr val="FF0000"/>
                </a:solidFill>
                <a:latin typeface="Times New Roman" panose="02020603050405020304" pitchFamily="18" charset="0"/>
                <a:cs typeface="Times New Roman" panose="02020603050405020304" pitchFamily="18" charset="0"/>
              </a:rPr>
              <a:t>trong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tài</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liệu</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có</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giá</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trị</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tham</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khảo</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mang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tính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lịch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sử</a:t>
            </a:r>
            <a:r>
              <a:rPr lang="en-US" sz="2600" dirty="0">
                <a:solidFill>
                  <a:srgbClr val="FF0000"/>
                </a:solidFill>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[9] </a:t>
            </a:r>
            <a:r>
              <a:rPr lang="en-US" sz="2600" dirty="0" err="1">
                <a:latin typeface="Times New Roman" panose="02020603050405020304" pitchFamily="18" charset="0"/>
                <a:cs typeface="Times New Roman" panose="02020603050405020304" pitchFamily="18" charset="0"/>
              </a:rPr>
              <a:t>Luật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tổ</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quyền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phương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năm</a:t>
            </a:r>
            <a:r>
              <a:rPr lang="en-US" sz="2600" dirty="0">
                <a:latin typeface="Times New Roman" panose="02020603050405020304" pitchFamily="18" charset="0"/>
                <a:cs typeface="Times New Roman" panose="02020603050405020304" pitchFamily="18" charset="0"/>
              </a:rPr>
              <a:t> 2025</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[10] Các </a:t>
            </a:r>
            <a:r>
              <a:rPr lang="en-US" sz="2600" dirty="0" err="1">
                <a:latin typeface="Times New Roman" panose="02020603050405020304" pitchFamily="18" charset="0"/>
                <a:cs typeface="Times New Roman" panose="02020603050405020304" pitchFamily="18" charset="0"/>
              </a:rPr>
              <a:t>văn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liên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về</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nội</a:t>
            </a:r>
            <a:r>
              <a:rPr lang="en-US" sz="2600" dirty="0">
                <a:latin typeface="Times New Roman" panose="02020603050405020304" pitchFamily="18" charset="0"/>
                <a:cs typeface="Times New Roman" panose="02020603050405020304" pitchFamily="18" charset="0"/>
              </a:rPr>
              <a:t> dung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cấp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sau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vận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mô</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hình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quyền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phương</a:t>
            </a:r>
            <a:r>
              <a:rPr lang="en-US" sz="2600" dirty="0">
                <a:latin typeface="Times New Roman" panose="02020603050405020304" pitchFamily="18" charset="0"/>
                <a:cs typeface="Times New Roman" panose="02020603050405020304" pitchFamily="18" charset="0"/>
              </a:rPr>
              <a:t> 2 </a:t>
            </a:r>
            <a:r>
              <a:rPr lang="en-US" sz="2600" dirty="0" err="1">
                <a:latin typeface="Times New Roman" panose="02020603050405020304" pitchFamily="18" charset="0"/>
                <a:cs typeface="Times New Roman" panose="02020603050405020304" pitchFamily="18" charset="0"/>
              </a:rPr>
              <a:t>cấp</a:t>
            </a:r>
            <a:r>
              <a:rPr lang="en-US" sz="2600" dirty="0">
                <a:latin typeface="Times New Roman" panose="02020603050405020304" pitchFamily="18" charset="0"/>
                <a:cs typeface="Times New Roman" panose="02020603050405020304" pitchFamily="18" charset="0"/>
              </a:rPr>
              <a:t>.</a:t>
            </a:r>
          </a:p>
        </p:txBody>
      </p:sp>
      <p:sp>
        <p:nvSpPr>
          <p:cNvPr id="4" name="Rectangle 3">
            <a:extLst>
              <a:ext uri="{FF2B5EF4-FFF2-40B4-BE49-F238E27FC236}">
                <a16:creationId xmlns:a16="http://schemas.microsoft.com/office/drawing/2014/main" id="{9351D084-ABA2-515C-97F5-3B4937A14330}"/>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B5DF6AE0-3627-D7C5-23E3-8C4BC8BC7486}"/>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Tree>
    <p:extLst>
      <p:ext uri="{BB962C8B-B14F-4D97-AF65-F5344CB8AC3E}">
        <p14:creationId xmlns:p14="http://schemas.microsoft.com/office/powerpoint/2010/main" val="2846320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44E3-5411-0986-A775-8B26A3DD73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49B116-64A2-30A1-C60E-C200C6BEB837}"/>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6E2714-7C28-9497-A799-C5F77F367612}"/>
              </a:ext>
            </a:extLst>
          </p:cNvPr>
          <p:cNvSpPr>
            <a:spLocks noGrp="1"/>
          </p:cNvSpPr>
          <p:nvPr>
            <p:ph idx="1"/>
          </p:nvPr>
        </p:nvSpPr>
        <p:spPr>
          <a:xfrm>
            <a:off x="294968" y="1135117"/>
            <a:ext cx="11497639" cy="4835374"/>
          </a:xfrm>
        </p:spPr>
        <p:txBody>
          <a:bodyPr>
            <a:normAutofit/>
          </a:bodyPr>
          <a:lstStyle/>
          <a:p>
            <a:pPr marL="457200" lvl="1" indent="0" algn="just">
              <a:lnSpc>
                <a:spcPct val="150000"/>
              </a:lnSpc>
              <a:buNone/>
            </a:pPr>
            <a:r>
              <a:rPr lang="en-US" sz="2600" b="1" dirty="0">
                <a:latin typeface="Times New Roman" panose="02020603050405020304" pitchFamily="18" charset="0"/>
                <a:cs typeface="Times New Roman" panose="02020603050405020304" pitchFamily="18" charset="0"/>
              </a:rPr>
              <a:t>Các website:</a:t>
            </a: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hlinkClick r:id="rId2"/>
              </a:rPr>
              <a:t>https://chinhphu.vn/</a:t>
            </a: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hlinkClick r:id="rId3"/>
              </a:rPr>
              <a:t>https://www.mof.gov.vn/</a:t>
            </a: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a:t>
            </a:r>
          </a:p>
          <a:p>
            <a:pPr marL="457200" lvl="1" indent="0" algn="just">
              <a:lnSpc>
                <a:spcPct val="150000"/>
              </a:lnSpc>
              <a:buNone/>
            </a:pPr>
            <a:endParaRPr lang="en-US" sz="2600" b="1"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US" sz="26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C55C0059-A252-DD42-658E-D6E782414D14}"/>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
        <p:nvSpPr>
          <p:cNvPr id="7" name="Rectangle 6">
            <a:extLst>
              <a:ext uri="{FF2B5EF4-FFF2-40B4-BE49-F238E27FC236}">
                <a16:creationId xmlns:a16="http://schemas.microsoft.com/office/drawing/2014/main" id="{ED568D5A-E7FF-2A6F-25B8-A87C13F67FAD}"/>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466A2EF3-0164-5571-50BB-BAF6721A10B4}"/>
              </a:ext>
            </a:extLst>
          </p:cNvPr>
          <p:cNvSpPr txBox="1">
            <a:spLocks/>
          </p:cNvSpPr>
          <p:nvPr/>
        </p:nvSpPr>
        <p:spPr>
          <a:xfrm>
            <a:off x="990600" y="78660"/>
            <a:ext cx="10515600" cy="8875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Tree>
    <p:extLst>
      <p:ext uri="{BB962C8B-B14F-4D97-AF65-F5344CB8AC3E}">
        <p14:creationId xmlns:p14="http://schemas.microsoft.com/office/powerpoint/2010/main" val="118270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8555CAA1-716E-8173-625D-56B185A34C58}"/>
              </a:ext>
            </a:extLst>
          </p:cNvPr>
          <p:cNvGraphicFramePr>
            <a:graphicFrameLocks/>
          </p:cNvGraphicFramePr>
          <p:nvPr>
            <p:extLst>
              <p:ext uri="{D42A27DB-BD31-4B8C-83A1-F6EECF244321}">
                <p14:modId xmlns:p14="http://schemas.microsoft.com/office/powerpoint/2010/main" val="1231332389"/>
              </p:ext>
            </p:extLst>
          </p:nvPr>
        </p:nvGraphicFramePr>
        <p:xfrm>
          <a:off x="308106" y="1577191"/>
          <a:ext cx="11710220" cy="5481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6AE95A0B-0260-7CB1-24BA-86B01D314897}"/>
              </a:ext>
            </a:extLst>
          </p:cNvPr>
          <p:cNvSpPr/>
          <p:nvPr/>
        </p:nvSpPr>
        <p:spPr>
          <a:xfrm>
            <a:off x="0" y="0"/>
            <a:ext cx="12192000" cy="1533832"/>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CHƯƠNG 3: QUẢN LÝ NGÂN SÁCH XÃ</a:t>
            </a:r>
          </a:p>
        </p:txBody>
      </p:sp>
    </p:spTree>
    <p:extLst>
      <p:ext uri="{BB962C8B-B14F-4D97-AF65-F5344CB8AC3E}">
        <p14:creationId xmlns:p14="http://schemas.microsoft.com/office/powerpoint/2010/main" val="113177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FBEFBF75-64EB-4F7E-A926-A4E66F89C7B0}"/>
                                            </p:graphicEl>
                                          </p:spTgt>
                                        </p:tgtEl>
                                        <p:attrNameLst>
                                          <p:attrName>style.visibility</p:attrName>
                                        </p:attrNameLst>
                                      </p:cBhvr>
                                      <p:to>
                                        <p:strVal val="visible"/>
                                      </p:to>
                                    </p:set>
                                    <p:anim calcmode="lin" valueType="num">
                                      <p:cBhvr additive="base">
                                        <p:cTn id="7" dur="500" fill="hold"/>
                                        <p:tgtEl>
                                          <p:spTgt spid="4">
                                            <p:graphicEl>
                                              <a:dgm id="{FBEFBF75-64EB-4F7E-A926-A4E66F89C7B0}"/>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FBEFBF75-64EB-4F7E-A926-A4E66F89C7B0}"/>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graphicEl>
                                              <a:dgm id="{666DCB58-F458-4F2E-B413-E6EC71986A16}"/>
                                            </p:graphicEl>
                                          </p:spTgt>
                                        </p:tgtEl>
                                        <p:attrNameLst>
                                          <p:attrName>style.visibility</p:attrName>
                                        </p:attrNameLst>
                                      </p:cBhvr>
                                      <p:to>
                                        <p:strVal val="visible"/>
                                      </p:to>
                                    </p:set>
                                    <p:anim calcmode="lin" valueType="num">
                                      <p:cBhvr additive="base">
                                        <p:cTn id="11" dur="500" fill="hold"/>
                                        <p:tgtEl>
                                          <p:spTgt spid="4">
                                            <p:graphicEl>
                                              <a:dgm id="{666DCB58-F458-4F2E-B413-E6EC71986A16}"/>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graphicEl>
                                              <a:dgm id="{666DCB58-F458-4F2E-B413-E6EC71986A16}"/>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graphicEl>
                                              <a:dgm id="{903D4C07-2F7B-4768-B940-9EC734D124AC}"/>
                                            </p:graphicEl>
                                          </p:spTgt>
                                        </p:tgtEl>
                                        <p:attrNameLst>
                                          <p:attrName>style.visibility</p:attrName>
                                        </p:attrNameLst>
                                      </p:cBhvr>
                                      <p:to>
                                        <p:strVal val="visible"/>
                                      </p:to>
                                    </p:set>
                                    <p:anim calcmode="lin" valueType="num">
                                      <p:cBhvr additive="base">
                                        <p:cTn id="15" dur="500" fill="hold"/>
                                        <p:tgtEl>
                                          <p:spTgt spid="4">
                                            <p:graphicEl>
                                              <a:dgm id="{903D4C07-2F7B-4768-B940-9EC734D124AC}"/>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graphicEl>
                                              <a:dgm id="{903D4C07-2F7B-4768-B940-9EC734D124AC}"/>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
                                            <p:graphicEl>
                                              <a:dgm id="{03B14AF4-B5B8-4120-A94F-C42F3ACBD4C0}"/>
                                            </p:graphicEl>
                                          </p:spTgt>
                                        </p:tgtEl>
                                        <p:attrNameLst>
                                          <p:attrName>style.visibility</p:attrName>
                                        </p:attrNameLst>
                                      </p:cBhvr>
                                      <p:to>
                                        <p:strVal val="visible"/>
                                      </p:to>
                                    </p:set>
                                    <p:anim calcmode="lin" valueType="num">
                                      <p:cBhvr additive="base">
                                        <p:cTn id="21" dur="500" fill="hold"/>
                                        <p:tgtEl>
                                          <p:spTgt spid="4">
                                            <p:graphicEl>
                                              <a:dgm id="{03B14AF4-B5B8-4120-A94F-C42F3ACBD4C0}"/>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
                                            <p:graphicEl>
                                              <a:dgm id="{03B14AF4-B5B8-4120-A94F-C42F3ACBD4C0}"/>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
                                            <p:graphicEl>
                                              <a:dgm id="{A5EF71E6-87C1-4DA1-AFF7-D586E2B69EAC}"/>
                                            </p:graphicEl>
                                          </p:spTgt>
                                        </p:tgtEl>
                                        <p:attrNameLst>
                                          <p:attrName>style.visibility</p:attrName>
                                        </p:attrNameLst>
                                      </p:cBhvr>
                                      <p:to>
                                        <p:strVal val="visible"/>
                                      </p:to>
                                    </p:set>
                                    <p:anim calcmode="lin" valueType="num">
                                      <p:cBhvr additive="base">
                                        <p:cTn id="25" dur="500" fill="hold"/>
                                        <p:tgtEl>
                                          <p:spTgt spid="4">
                                            <p:graphicEl>
                                              <a:dgm id="{A5EF71E6-87C1-4DA1-AFF7-D586E2B69EAC}"/>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A5EF71E6-87C1-4DA1-AFF7-D586E2B69EAC}"/>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7E79FFA8-5D9C-4C34-BC10-348E5B7963B1}"/>
                                            </p:graphicEl>
                                          </p:spTgt>
                                        </p:tgtEl>
                                        <p:attrNameLst>
                                          <p:attrName>style.visibility</p:attrName>
                                        </p:attrNameLst>
                                      </p:cBhvr>
                                      <p:to>
                                        <p:strVal val="visible"/>
                                      </p:to>
                                    </p:set>
                                    <p:anim calcmode="lin" valueType="num">
                                      <p:cBhvr additive="base">
                                        <p:cTn id="31" dur="500" fill="hold"/>
                                        <p:tgtEl>
                                          <p:spTgt spid="4">
                                            <p:graphicEl>
                                              <a:dgm id="{7E79FFA8-5D9C-4C34-BC10-348E5B7963B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7E79FFA8-5D9C-4C34-BC10-348E5B7963B1}"/>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
                                            <p:graphicEl>
                                              <a:dgm id="{F24AED53-8AE0-4CB9-A674-944D01F5AFA7}"/>
                                            </p:graphicEl>
                                          </p:spTgt>
                                        </p:tgtEl>
                                        <p:attrNameLst>
                                          <p:attrName>style.visibility</p:attrName>
                                        </p:attrNameLst>
                                      </p:cBhvr>
                                      <p:to>
                                        <p:strVal val="visible"/>
                                      </p:to>
                                    </p:set>
                                    <p:anim calcmode="lin" valueType="num">
                                      <p:cBhvr additive="base">
                                        <p:cTn id="35" dur="500" fill="hold"/>
                                        <p:tgtEl>
                                          <p:spTgt spid="4">
                                            <p:graphicEl>
                                              <a:dgm id="{F24AED53-8AE0-4CB9-A674-944D01F5AFA7}"/>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
                                            <p:graphicEl>
                                              <a:dgm id="{F24AED53-8AE0-4CB9-A674-944D01F5AFA7}"/>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
                                            <p:graphicEl>
                                              <a:dgm id="{6E402C4B-EDFD-42F0-AB38-9FE8CE6F595A}"/>
                                            </p:graphicEl>
                                          </p:spTgt>
                                        </p:tgtEl>
                                        <p:attrNameLst>
                                          <p:attrName>style.visibility</p:attrName>
                                        </p:attrNameLst>
                                      </p:cBhvr>
                                      <p:to>
                                        <p:strVal val="visible"/>
                                      </p:to>
                                    </p:set>
                                    <p:anim calcmode="lin" valueType="num">
                                      <p:cBhvr additive="base">
                                        <p:cTn id="41" dur="500" fill="hold"/>
                                        <p:tgtEl>
                                          <p:spTgt spid="4">
                                            <p:graphicEl>
                                              <a:dgm id="{6E402C4B-EDFD-42F0-AB38-9FE8CE6F595A}"/>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4">
                                            <p:graphicEl>
                                              <a:dgm id="{6E402C4B-EDFD-42F0-AB38-9FE8CE6F595A}"/>
                                            </p:graphic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4">
                                            <p:graphicEl>
                                              <a:dgm id="{6217FA50-8478-467B-ACA9-B6E1B62BD4D6}"/>
                                            </p:graphicEl>
                                          </p:spTgt>
                                        </p:tgtEl>
                                        <p:attrNameLst>
                                          <p:attrName>style.visibility</p:attrName>
                                        </p:attrNameLst>
                                      </p:cBhvr>
                                      <p:to>
                                        <p:strVal val="visible"/>
                                      </p:to>
                                    </p:set>
                                    <p:anim calcmode="lin" valueType="num">
                                      <p:cBhvr additive="base">
                                        <p:cTn id="45" dur="500" fill="hold"/>
                                        <p:tgtEl>
                                          <p:spTgt spid="4">
                                            <p:graphicEl>
                                              <a:dgm id="{6217FA50-8478-467B-ACA9-B6E1B62BD4D6}"/>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4">
                                            <p:graphicEl>
                                              <a:dgm id="{6217FA50-8478-467B-ACA9-B6E1B62BD4D6}"/>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0338F-3C2B-DB62-487A-D402271B1D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406854-407A-3CCE-A301-BE8ECBAC88A5}"/>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 PHẠM VI THU, CHI</a:t>
            </a:r>
          </a:p>
          <a:p>
            <a:pPr algn="ctr"/>
            <a:r>
              <a:rPr lang="en-US" sz="4400" b="1" dirty="0">
                <a:latin typeface="Times New Roman" panose="02020603050405020304" pitchFamily="18" charset="0"/>
                <a:cs typeface="Times New Roman" panose="02020603050405020304" pitchFamily="18" charset="0"/>
              </a:rPr>
              <a:t> VÀ ĐẶC ĐIỂM NGÂN SÁCH XÃ</a:t>
            </a:r>
          </a:p>
        </p:txBody>
      </p:sp>
      <p:sp>
        <p:nvSpPr>
          <p:cNvPr id="5" name="Rectangle: Rounded Corners 4">
            <a:extLst>
              <a:ext uri="{FF2B5EF4-FFF2-40B4-BE49-F238E27FC236}">
                <a16:creationId xmlns:a16="http://schemas.microsoft.com/office/drawing/2014/main" id="{702BD8B1-DEFF-BFB6-1C39-D224379FCB99}"/>
              </a:ext>
            </a:extLst>
          </p:cNvPr>
          <p:cNvSpPr/>
          <p:nvPr/>
        </p:nvSpPr>
        <p:spPr>
          <a:xfrm>
            <a:off x="2154859" y="166446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ĐẶC ĐIỂM</a:t>
            </a:r>
          </a:p>
        </p:txBody>
      </p:sp>
      <p:sp>
        <p:nvSpPr>
          <p:cNvPr id="3" name="Rectangle: Rounded Corners 2">
            <a:extLst>
              <a:ext uri="{FF2B5EF4-FFF2-40B4-BE49-F238E27FC236}">
                <a16:creationId xmlns:a16="http://schemas.microsoft.com/office/drawing/2014/main" id="{2F9C1B63-EC56-E2DD-0C0E-BD88A62F9187}"/>
              </a:ext>
            </a:extLst>
          </p:cNvPr>
          <p:cNvSpPr/>
          <p:nvPr/>
        </p:nvSpPr>
        <p:spPr>
          <a:xfrm>
            <a:off x="6855019" y="164541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PHẠM </a:t>
            </a:r>
          </a:p>
          <a:p>
            <a:pPr algn="ctr"/>
            <a:r>
              <a:rPr lang="en-US" sz="4400" b="1" dirty="0">
                <a:solidFill>
                  <a:schemeClr val="tx1"/>
                </a:solidFill>
                <a:latin typeface="Times New Roman" panose="02020603050405020304" pitchFamily="18" charset="0"/>
                <a:cs typeface="Times New Roman" panose="02020603050405020304" pitchFamily="18" charset="0"/>
              </a:rPr>
              <a:t>VI</a:t>
            </a:r>
          </a:p>
        </p:txBody>
      </p:sp>
    </p:spTree>
    <p:extLst>
      <p:ext uri="{BB962C8B-B14F-4D97-AF65-F5344CB8AC3E}">
        <p14:creationId xmlns:p14="http://schemas.microsoft.com/office/powerpoint/2010/main" val="382898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7BFE55-5806-F8EA-1734-298C9D6E00BB}"/>
              </a:ext>
            </a:extLst>
          </p:cNvPr>
          <p:cNvSpPr txBox="1"/>
          <p:nvPr/>
        </p:nvSpPr>
        <p:spPr>
          <a:xfrm>
            <a:off x="1277007" y="630625"/>
            <a:ext cx="9695793" cy="369332"/>
          </a:xfrm>
          <a:prstGeom prst="rect">
            <a:avLst/>
          </a:prstGeom>
          <a:noFill/>
        </p:spPr>
        <p:txBody>
          <a:bodyPr wrap="square" rtlCol="0">
            <a:spAutoFit/>
          </a:bodyPr>
          <a:lstStyle/>
          <a:p>
            <a:r>
              <a:rPr lang="en-US" dirty="0" err="1"/>
              <a:t>Sắp</a:t>
            </a:r>
            <a:r>
              <a:rPr lang="en-US" dirty="0"/>
              <a:t> </a:t>
            </a:r>
            <a:r>
              <a:rPr lang="en-US" dirty="0" err="1"/>
              <a:t>xếp</a:t>
            </a:r>
            <a:r>
              <a:rPr lang="en-US" dirty="0"/>
              <a:t> </a:t>
            </a:r>
            <a:r>
              <a:rPr lang="en-US" dirty="0" err="1"/>
              <a:t>lại</a:t>
            </a:r>
            <a:r>
              <a:rPr lang="en-US" dirty="0"/>
              <a:t> </a:t>
            </a:r>
            <a:r>
              <a:rPr lang="en-US" dirty="0" err="1"/>
              <a:t>giang</a:t>
            </a:r>
            <a:r>
              <a:rPr lang="en-US" dirty="0"/>
              <a:t> </a:t>
            </a:r>
            <a:r>
              <a:rPr lang="en-US" dirty="0" err="1"/>
              <a:t>sơn</a:t>
            </a:r>
            <a:r>
              <a:rPr lang="en-US" dirty="0"/>
              <a:t>:</a:t>
            </a:r>
          </a:p>
        </p:txBody>
      </p:sp>
      <p:sp>
        <p:nvSpPr>
          <p:cNvPr id="4" name="TextBox 3">
            <a:extLst>
              <a:ext uri="{FF2B5EF4-FFF2-40B4-BE49-F238E27FC236}">
                <a16:creationId xmlns:a16="http://schemas.microsoft.com/office/drawing/2014/main" id="{F0CA1345-BC7E-14DF-7076-03D5E95CC6EB}"/>
              </a:ext>
            </a:extLst>
          </p:cNvPr>
          <p:cNvSpPr txBox="1"/>
          <p:nvPr/>
        </p:nvSpPr>
        <p:spPr>
          <a:xfrm>
            <a:off x="662152" y="2175645"/>
            <a:ext cx="5139558" cy="2308324"/>
          </a:xfrm>
          <a:prstGeom prst="rect">
            <a:avLst/>
          </a:prstGeom>
          <a:noFill/>
        </p:spPr>
        <p:txBody>
          <a:bodyPr wrap="square" rtlCol="0">
            <a:spAutoFit/>
          </a:bodyPr>
          <a:lstStyle/>
          <a:p>
            <a:r>
              <a:rPr lang="en-US" dirty="0" err="1"/>
              <a:t>Trước</a:t>
            </a:r>
            <a:r>
              <a:rPr lang="en-US" dirty="0"/>
              <a:t> </a:t>
            </a:r>
            <a:r>
              <a:rPr lang="en-US" dirty="0" err="1"/>
              <a:t>ngày</a:t>
            </a:r>
            <a:r>
              <a:rPr lang="en-US" dirty="0"/>
              <a:t> 1/7/2025:</a:t>
            </a:r>
          </a:p>
          <a:p>
            <a:r>
              <a:rPr lang="en-US" dirty="0"/>
              <a:t>63  </a:t>
            </a:r>
            <a:r>
              <a:rPr lang="en-US" dirty="0" err="1"/>
              <a:t>tỉnh</a:t>
            </a:r>
            <a:r>
              <a:rPr lang="en-US" dirty="0"/>
              <a:t>, </a:t>
            </a:r>
            <a:r>
              <a:rPr lang="en-US" dirty="0" err="1"/>
              <a:t>thành</a:t>
            </a:r>
            <a:r>
              <a:rPr lang="en-US" dirty="0"/>
              <a:t> </a:t>
            </a:r>
            <a:r>
              <a:rPr lang="en-US" dirty="0" err="1"/>
              <a:t>phố</a:t>
            </a:r>
            <a:r>
              <a:rPr lang="en-US" dirty="0"/>
              <a:t> </a:t>
            </a:r>
            <a:r>
              <a:rPr lang="en-US" dirty="0" err="1"/>
              <a:t>trực</a:t>
            </a:r>
            <a:r>
              <a:rPr lang="en-US" dirty="0"/>
              <a:t> </a:t>
            </a:r>
            <a:r>
              <a:rPr lang="en-US" dirty="0" err="1"/>
              <a:t>thuộc</a:t>
            </a:r>
            <a:r>
              <a:rPr lang="en-US" dirty="0"/>
              <a:t> </a:t>
            </a:r>
            <a:r>
              <a:rPr lang="en-US" dirty="0" err="1"/>
              <a:t>trung</a:t>
            </a:r>
            <a:r>
              <a:rPr lang="en-US" dirty="0"/>
              <a:t> </a:t>
            </a:r>
            <a:r>
              <a:rPr lang="en-US" dirty="0" err="1"/>
              <a:t>ương</a:t>
            </a:r>
            <a:endParaRPr lang="en-US" dirty="0"/>
          </a:p>
          <a:p>
            <a:r>
              <a:rPr lang="en-US" dirty="0"/>
              <a:t>696 </a:t>
            </a:r>
            <a:r>
              <a:rPr lang="en-US" dirty="0" err="1"/>
              <a:t>huyện</a:t>
            </a:r>
            <a:r>
              <a:rPr lang="en-US" dirty="0"/>
              <a:t>, </a:t>
            </a:r>
            <a:r>
              <a:rPr lang="en-US" dirty="0" err="1"/>
              <a:t>quận</a:t>
            </a:r>
            <a:r>
              <a:rPr lang="en-US" dirty="0"/>
              <a:t>, </a:t>
            </a:r>
            <a:r>
              <a:rPr lang="en-US" dirty="0" err="1"/>
              <a:t>thị</a:t>
            </a:r>
            <a:r>
              <a:rPr lang="en-US" dirty="0"/>
              <a:t> </a:t>
            </a:r>
            <a:r>
              <a:rPr lang="en-US" dirty="0" err="1"/>
              <a:t>xã</a:t>
            </a:r>
            <a:r>
              <a:rPr lang="en-US" dirty="0"/>
              <a:t>, </a:t>
            </a:r>
            <a:r>
              <a:rPr lang="en-US" dirty="0" err="1"/>
              <a:t>thành</a:t>
            </a:r>
            <a:r>
              <a:rPr lang="en-US" dirty="0"/>
              <a:t> </a:t>
            </a:r>
            <a:r>
              <a:rPr lang="en-US" dirty="0" err="1"/>
              <a:t>phố</a:t>
            </a:r>
            <a:r>
              <a:rPr lang="en-US" dirty="0"/>
              <a:t> </a:t>
            </a:r>
            <a:r>
              <a:rPr lang="en-US" dirty="0" err="1"/>
              <a:t>thuộc</a:t>
            </a:r>
            <a:r>
              <a:rPr lang="en-US" dirty="0"/>
              <a:t> </a:t>
            </a:r>
            <a:r>
              <a:rPr lang="en-US" dirty="0" err="1"/>
              <a:t>tỉnh</a:t>
            </a:r>
            <a:r>
              <a:rPr lang="en-US" dirty="0"/>
              <a:t>;</a:t>
            </a:r>
          </a:p>
          <a:p>
            <a:r>
              <a:rPr lang="en-US" dirty="0"/>
              <a:t>10.035 </a:t>
            </a:r>
            <a:r>
              <a:rPr lang="en-US" dirty="0" err="1"/>
              <a:t>xã</a:t>
            </a:r>
            <a:r>
              <a:rPr lang="en-US" dirty="0"/>
              <a:t>, </a:t>
            </a:r>
            <a:r>
              <a:rPr lang="en-US" dirty="0" err="1"/>
              <a:t>phường</a:t>
            </a:r>
            <a:r>
              <a:rPr lang="en-US" dirty="0"/>
              <a:t>, </a:t>
            </a:r>
            <a:r>
              <a:rPr lang="en-US" dirty="0" err="1"/>
              <a:t>thị</a:t>
            </a:r>
            <a:r>
              <a:rPr lang="en-US" dirty="0"/>
              <a:t> </a:t>
            </a:r>
            <a:r>
              <a:rPr lang="en-US" dirty="0" err="1"/>
              <a:t>trấn</a:t>
            </a:r>
            <a:endParaRPr lang="en-US" dirty="0"/>
          </a:p>
          <a:p>
            <a:r>
              <a:rPr lang="vi-VN" dirty="0">
                <a:hlinkClick r:id="rId2"/>
              </a:rPr>
              <a:t>Tổ chức và hoạt động chính quyền địa phương ở Việt Nam – thực trạng và yêu cầu đổi mới  | Tạp chí Quản lý nhà nước</a:t>
            </a:r>
            <a:endParaRPr lang="en-US" dirty="0"/>
          </a:p>
          <a:p>
            <a:endParaRPr lang="en-US" dirty="0"/>
          </a:p>
        </p:txBody>
      </p:sp>
      <p:sp>
        <p:nvSpPr>
          <p:cNvPr id="5" name="TextBox 4">
            <a:extLst>
              <a:ext uri="{FF2B5EF4-FFF2-40B4-BE49-F238E27FC236}">
                <a16:creationId xmlns:a16="http://schemas.microsoft.com/office/drawing/2014/main" id="{EBD8142E-6AC9-BB1D-D6BA-143A6B97B10B}"/>
              </a:ext>
            </a:extLst>
          </p:cNvPr>
          <p:cNvSpPr txBox="1"/>
          <p:nvPr/>
        </p:nvSpPr>
        <p:spPr>
          <a:xfrm>
            <a:off x="6390291" y="2175654"/>
            <a:ext cx="4803225" cy="2031325"/>
          </a:xfrm>
          <a:prstGeom prst="rect">
            <a:avLst/>
          </a:prstGeom>
          <a:noFill/>
        </p:spPr>
        <p:txBody>
          <a:bodyPr wrap="square" rtlCol="0">
            <a:spAutoFit/>
          </a:bodyPr>
          <a:lstStyle/>
          <a:p>
            <a:r>
              <a:rPr lang="en-US" dirty="0"/>
              <a:t>Sau </a:t>
            </a:r>
            <a:r>
              <a:rPr lang="en-US" dirty="0" err="1"/>
              <a:t>ngày</a:t>
            </a:r>
            <a:r>
              <a:rPr lang="en-US" dirty="0"/>
              <a:t> 1/7/2025:</a:t>
            </a:r>
          </a:p>
          <a:p>
            <a:r>
              <a:rPr lang="en-US" dirty="0"/>
              <a:t>34  </a:t>
            </a:r>
            <a:r>
              <a:rPr lang="en-US" dirty="0" err="1"/>
              <a:t>tỉnh</a:t>
            </a:r>
            <a:r>
              <a:rPr lang="en-US" dirty="0"/>
              <a:t>, </a:t>
            </a:r>
            <a:r>
              <a:rPr lang="en-US" dirty="0" err="1"/>
              <a:t>thành</a:t>
            </a:r>
            <a:r>
              <a:rPr lang="en-US" dirty="0"/>
              <a:t> </a:t>
            </a:r>
            <a:r>
              <a:rPr lang="en-US" dirty="0" err="1"/>
              <a:t>phố</a:t>
            </a:r>
            <a:r>
              <a:rPr lang="en-US" dirty="0"/>
              <a:t> </a:t>
            </a:r>
            <a:r>
              <a:rPr lang="en-US" dirty="0" err="1"/>
              <a:t>trực</a:t>
            </a:r>
            <a:r>
              <a:rPr lang="en-US" dirty="0"/>
              <a:t> </a:t>
            </a:r>
            <a:r>
              <a:rPr lang="en-US" dirty="0" err="1"/>
              <a:t>thuộc</a:t>
            </a:r>
            <a:r>
              <a:rPr lang="en-US" dirty="0"/>
              <a:t> </a:t>
            </a:r>
            <a:r>
              <a:rPr lang="en-US" dirty="0" err="1"/>
              <a:t>trung</a:t>
            </a:r>
            <a:r>
              <a:rPr lang="en-US" dirty="0"/>
              <a:t> </a:t>
            </a:r>
            <a:r>
              <a:rPr lang="en-US" dirty="0" err="1"/>
              <a:t>ương</a:t>
            </a:r>
            <a:endParaRPr lang="en-US" dirty="0"/>
          </a:p>
          <a:p>
            <a:r>
              <a:rPr lang="en-US" dirty="0"/>
              <a:t>3.321 </a:t>
            </a:r>
            <a:r>
              <a:rPr lang="en-US" dirty="0" err="1"/>
              <a:t>xã</a:t>
            </a:r>
            <a:r>
              <a:rPr lang="en-US" dirty="0"/>
              <a:t>, </a:t>
            </a:r>
            <a:r>
              <a:rPr lang="en-US" dirty="0" err="1"/>
              <a:t>phường</a:t>
            </a:r>
            <a:r>
              <a:rPr lang="en-US" dirty="0"/>
              <a:t>, </a:t>
            </a:r>
            <a:r>
              <a:rPr lang="en-US" dirty="0" err="1"/>
              <a:t>đặc</a:t>
            </a:r>
            <a:r>
              <a:rPr lang="en-US" dirty="0"/>
              <a:t> </a:t>
            </a:r>
            <a:r>
              <a:rPr lang="en-US" dirty="0" err="1"/>
              <a:t>khu</a:t>
            </a:r>
            <a:endParaRPr lang="en-US" dirty="0"/>
          </a:p>
          <a:p>
            <a:r>
              <a:rPr lang="en-US" dirty="0"/>
              <a:t>https://dangcongsan.org.vn/laocai/tin-tuc-hoat-dong/nhung-doi-hoi-tu-thuc-te-trong-van-hanh-mo-hinh-chinh-quyen-dia-phuong-2-cap.html</a:t>
            </a:r>
          </a:p>
        </p:txBody>
      </p:sp>
    </p:spTree>
    <p:extLst>
      <p:ext uri="{BB962C8B-B14F-4D97-AF65-F5344CB8AC3E}">
        <p14:creationId xmlns:p14="http://schemas.microsoft.com/office/powerpoint/2010/main" val="2276940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BBEEE6-78DE-92D3-6B0A-D1A0C9134C00}"/>
              </a:ext>
            </a:extLst>
          </p:cNvPr>
          <p:cNvPicPr>
            <a:picLocks noChangeAspect="1"/>
          </p:cNvPicPr>
          <p:nvPr/>
        </p:nvPicPr>
        <p:blipFill>
          <a:blip r:embed="rId2"/>
          <a:stretch>
            <a:fillRect/>
          </a:stretch>
        </p:blipFill>
        <p:spPr>
          <a:xfrm>
            <a:off x="6583679" y="0"/>
            <a:ext cx="5608321" cy="6858000"/>
          </a:xfrm>
          <a:prstGeom prst="rect">
            <a:avLst/>
          </a:prstGeom>
        </p:spPr>
      </p:pic>
      <p:sp>
        <p:nvSpPr>
          <p:cNvPr id="6" name="TextBox 5">
            <a:extLst>
              <a:ext uri="{FF2B5EF4-FFF2-40B4-BE49-F238E27FC236}">
                <a16:creationId xmlns:a16="http://schemas.microsoft.com/office/drawing/2014/main" id="{A1C81D03-027A-F1B3-BBE2-7BFDB079A1E3}"/>
              </a:ext>
            </a:extLst>
          </p:cNvPr>
          <p:cNvSpPr txBox="1"/>
          <p:nvPr/>
        </p:nvSpPr>
        <p:spPr>
          <a:xfrm>
            <a:off x="512719" y="1828800"/>
            <a:ext cx="5339442" cy="923330"/>
          </a:xfrm>
          <a:prstGeom prst="rect">
            <a:avLst/>
          </a:prstGeom>
          <a:noFill/>
        </p:spPr>
        <p:txBody>
          <a:bodyPr wrap="square">
            <a:spAutoFit/>
          </a:bodyPr>
          <a:lstStyle/>
          <a:p>
            <a:r>
              <a:rPr lang="en-US" dirty="0"/>
              <a:t>https://dangcongsan.org.vn/laocai/tin-tuc-hoat-dong/nhung-doi-hoi-tu-thuc-te-trong-van-hanh-mo-hinh-chinh-quyen-dia-phuong-2-cap.html</a:t>
            </a:r>
          </a:p>
        </p:txBody>
      </p:sp>
    </p:spTree>
    <p:extLst>
      <p:ext uri="{BB962C8B-B14F-4D97-AF65-F5344CB8AC3E}">
        <p14:creationId xmlns:p14="http://schemas.microsoft.com/office/powerpoint/2010/main" val="1857020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EFA9-4EB3-F940-5B6F-7BA0B43A6A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A732FED-0E0F-9447-F292-4D4191750A54}"/>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graphicFrame>
        <p:nvGraphicFramePr>
          <p:cNvPr id="6" name="Table 5">
            <a:extLst>
              <a:ext uri="{FF2B5EF4-FFF2-40B4-BE49-F238E27FC236}">
                <a16:creationId xmlns:a16="http://schemas.microsoft.com/office/drawing/2014/main" id="{D3E30954-C863-74D5-60D4-2F2613A07839}"/>
              </a:ext>
            </a:extLst>
          </p:cNvPr>
          <p:cNvGraphicFramePr>
            <a:graphicFrameLocks noGrp="1"/>
          </p:cNvGraphicFramePr>
          <p:nvPr>
            <p:extLst>
              <p:ext uri="{D42A27DB-BD31-4B8C-83A1-F6EECF244321}">
                <p14:modId xmlns:p14="http://schemas.microsoft.com/office/powerpoint/2010/main" val="1889426215"/>
              </p:ext>
            </p:extLst>
          </p:nvPr>
        </p:nvGraphicFramePr>
        <p:xfrm>
          <a:off x="548640" y="1496312"/>
          <a:ext cx="11220994" cy="356616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1829813235"/>
                    </a:ext>
                  </a:extLst>
                </a:gridCol>
                <a:gridCol w="4945246">
                  <a:extLst>
                    <a:ext uri="{9D8B030D-6E8A-4147-A177-3AD203B41FA5}">
                      <a16:colId xmlns:a16="http://schemas.microsoft.com/office/drawing/2014/main" val="549970060"/>
                    </a:ext>
                  </a:extLst>
                </a:gridCol>
                <a:gridCol w="4629828">
                  <a:extLst>
                    <a:ext uri="{9D8B030D-6E8A-4147-A177-3AD203B41FA5}">
                      <a16:colId xmlns:a16="http://schemas.microsoft.com/office/drawing/2014/main" val="853928272"/>
                    </a:ext>
                  </a:extLst>
                </a:gridCol>
              </a:tblGrid>
              <a:tr h="370840">
                <a:tc>
                  <a:txBody>
                    <a:bodyPr/>
                    <a:lstStyle/>
                    <a:p>
                      <a:pPr algn="ctr"/>
                      <a:r>
                        <a:rPr lang="en-US" sz="2400" b="1" dirty="0" err="1">
                          <a:latin typeface="Arial" panose="020B0604020202020204" pitchFamily="34" charset="0"/>
                          <a:cs typeface="Arial" panose="020B0604020202020204" pitchFamily="34" charset="0"/>
                        </a:rPr>
                        <a:t>Tiêu</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chí</a:t>
                      </a:r>
                      <a:endParaRPr lang="en-US" sz="2400" b="1" dirty="0">
                        <a:latin typeface="Arial" panose="020B0604020202020204" pitchFamily="34" charset="0"/>
                        <a:cs typeface="Arial" panose="020B0604020202020204" pitchFamily="34" charset="0"/>
                      </a:endParaRPr>
                    </a:p>
                  </a:txBody>
                  <a:tcPr/>
                </a:tc>
                <a:tc>
                  <a:txBody>
                    <a:bodyPr/>
                    <a:lstStyle/>
                    <a:p>
                      <a:pPr algn="ctr"/>
                      <a:r>
                        <a:rPr lang="en-US" sz="2400" b="1" dirty="0" err="1">
                          <a:latin typeface="Arial" panose="020B0604020202020204" pitchFamily="34" charset="0"/>
                          <a:cs typeface="Arial" panose="020B0604020202020204" pitchFamily="34" charset="0"/>
                        </a:rPr>
                        <a:t>Mô</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hình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xã</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chính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quyền</a:t>
                      </a:r>
                      <a:r>
                        <a:rPr lang="en-US" sz="2400" b="1" dirty="0">
                          <a:latin typeface="Arial" panose="020B0604020202020204" pitchFamily="34" charset="0"/>
                          <a:cs typeface="Arial" panose="020B0604020202020204" pitchFamily="34" charset="0"/>
                        </a:rPr>
                        <a:t> 3 </a:t>
                      </a:r>
                      <a:r>
                        <a:rPr lang="en-US" sz="2400" b="1" dirty="0" err="1">
                          <a:latin typeface="Arial" panose="020B0604020202020204" pitchFamily="34" charset="0"/>
                          <a:cs typeface="Arial" panose="020B0604020202020204" pitchFamily="34" charset="0"/>
                        </a:rPr>
                        <a:t>cấp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cũ</a:t>
                      </a:r>
                      <a:r>
                        <a:rPr lang="en-US" sz="2400" b="1" dirty="0">
                          <a:latin typeface="Arial" panose="020B0604020202020204" pitchFamily="34" charset="0"/>
                          <a:cs typeface="Arial" panose="020B0604020202020204" pitchFamily="34" charset="0"/>
                        </a:rPr>
                        <a:t>)</a:t>
                      </a:r>
                    </a:p>
                    <a:p>
                      <a:pPr algn="ctr"/>
                      <a:endParaRPr lang="en-US" sz="2400" b="1" dirty="0">
                        <a:latin typeface="Arial" panose="020B0604020202020204" pitchFamily="34" charset="0"/>
                        <a:cs typeface="Arial" panose="020B0604020202020204" pitchFamily="34" charset="0"/>
                      </a:endParaRPr>
                    </a:p>
                  </a:txBody>
                  <a:tcPr/>
                </a:tc>
                <a:tc>
                  <a:txBody>
                    <a:bodyPr/>
                    <a:lstStyle/>
                    <a:p>
                      <a:pPr algn="ctr"/>
                      <a:r>
                        <a:rPr lang="en-US" sz="2400" b="1" dirty="0" err="1">
                          <a:latin typeface="Arial" panose="020B0604020202020204" pitchFamily="34" charset="0"/>
                          <a:cs typeface="Arial" panose="020B0604020202020204" pitchFamily="34" charset="0"/>
                        </a:rPr>
                        <a:t>Mô</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hình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xã</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chính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quyền</a:t>
                      </a:r>
                      <a:r>
                        <a:rPr lang="en-US" sz="2400" b="1" dirty="0">
                          <a:latin typeface="Arial" panose="020B0604020202020204" pitchFamily="34" charset="0"/>
                          <a:cs typeface="Arial" panose="020B0604020202020204" pitchFamily="34" charset="0"/>
                        </a:rPr>
                        <a:t> </a:t>
                      </a:r>
                    </a:p>
                    <a:p>
                      <a:pPr algn="ctr"/>
                      <a:r>
                        <a:rPr lang="en-US" sz="2400" b="1" dirty="0">
                          <a:latin typeface="Arial" panose="020B0604020202020204" pitchFamily="34" charset="0"/>
                          <a:cs typeface="Arial" panose="020B0604020202020204" pitchFamily="34" charset="0"/>
                        </a:rPr>
                        <a:t>2 </a:t>
                      </a:r>
                      <a:r>
                        <a:rPr lang="en-US" sz="2400" b="1" dirty="0" err="1">
                          <a:latin typeface="Arial" panose="020B0604020202020204" pitchFamily="34" charset="0"/>
                          <a:cs typeface="Arial" panose="020B0604020202020204" pitchFamily="34" charset="0"/>
                        </a:rPr>
                        <a:t>cấp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mới</a:t>
                      </a:r>
                      <a:r>
                        <a:rPr lang="en-US" sz="2400" b="1"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010360666"/>
                  </a:ext>
                </a:extLst>
              </a:tr>
              <a:tr h="370840">
                <a:tc>
                  <a:txBody>
                    <a:bodyPr/>
                    <a:lstStyle/>
                    <a:p>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quản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lý</a:t>
                      </a:r>
                      <a:endParaRPr lang="en-US" sz="2400" dirty="0">
                        <a:latin typeface="Arial" panose="020B0604020202020204" pitchFamily="34" charset="0"/>
                        <a:cs typeface="Arial" panose="020B0604020202020204" pitchFamily="34" charset="0"/>
                      </a:endParaRPr>
                    </a:p>
                  </a:txBody>
                  <a:tcPr/>
                </a:tc>
                <a:tc>
                  <a:txBody>
                    <a:bodyPr/>
                    <a:lstStyle/>
                    <a:p>
                      <a:r>
                        <a:rPr lang="en-US" sz="2400" dirty="0">
                          <a:latin typeface="Arial" panose="020B0604020202020204" pitchFamily="34" charset="0"/>
                          <a:cs typeface="Arial" panose="020B0604020202020204" pitchFamily="34" charset="0"/>
                        </a:rPr>
                        <a:t>UBND</a:t>
                      </a:r>
                      <a:r>
                        <a:rPr lang="vi-VN" sz="2400" dirty="0">
                          <a:latin typeface="Arial" panose="020B0604020202020204" pitchFamily="34" charset="0"/>
                          <a:cs typeface="Arial" panose="020B0604020202020204" pitchFamily="34" charset="0"/>
                        </a:rPr>
                        <a:t> cấp xã dưới sự chỉ đạo trực tiếp của </a:t>
                      </a:r>
                      <a:r>
                        <a:rPr lang="en-US" sz="2400" dirty="0">
                          <a:latin typeface="Arial" panose="020B0604020202020204" pitchFamily="34" charset="0"/>
                          <a:cs typeface="Arial" panose="020B0604020202020204" pitchFamily="34" charset="0"/>
                        </a:rPr>
                        <a:t>UBND</a:t>
                      </a:r>
                      <a:r>
                        <a:rPr lang="vi-VN" sz="2400" dirty="0">
                          <a:latin typeface="Arial" panose="020B0604020202020204" pitchFamily="34" charset="0"/>
                          <a:cs typeface="Arial" panose="020B0604020202020204" pitchFamily="34" charset="0"/>
                        </a:rPr>
                        <a:t> cấp huyện </a:t>
                      </a:r>
                      <a:endParaRPr lang="en-US" sz="2400" dirty="0">
                        <a:latin typeface="Arial" panose="020B0604020202020204" pitchFamily="34" charset="0"/>
                        <a:cs typeface="Arial" panose="020B0604020202020204" pitchFamily="34" charset="0"/>
                      </a:endParaRPr>
                    </a:p>
                  </a:txBody>
                  <a:tcPr/>
                </a:tc>
                <a:tc>
                  <a:txBody>
                    <a:bodyPr/>
                    <a:lstStyle/>
                    <a:p>
                      <a:r>
                        <a:rPr lang="vi-VN" sz="2400" dirty="0">
                          <a:latin typeface="Arial" panose="020B0604020202020204" pitchFamily="34" charset="0"/>
                          <a:cs typeface="Arial" panose="020B0604020202020204" pitchFamily="34" charset="0"/>
                        </a:rPr>
                        <a:t>UBND cấp xã dưới sự chỉ đạo trực tiếp của UBND cấp tỉnh, thông qua sở ngành </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31609734"/>
                  </a:ext>
                </a:extLst>
              </a:tr>
              <a:tr h="370840">
                <a:tc>
                  <a:txBody>
                    <a:bodyPr/>
                    <a:lstStyle/>
                    <a:p>
                      <a:r>
                        <a:rPr lang="en-US" sz="2400" dirty="0">
                          <a:latin typeface="Arial" panose="020B0604020202020204" pitchFamily="34" charset="0"/>
                          <a:cs typeface="Arial" panose="020B0604020202020204" pitchFamily="34" charset="0"/>
                        </a:rPr>
                        <a:t>Phạm vi </a:t>
                      </a:r>
                      <a:r>
                        <a:rPr lang="en-US" sz="2400" dirty="0" err="1">
                          <a:latin typeface="Arial" panose="020B0604020202020204" pitchFamily="34" charset="0"/>
                          <a:cs typeface="Arial" panose="020B0604020202020204" pitchFamily="34" charset="0"/>
                        </a:rPr>
                        <a:t>quyền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hạn</a:t>
                      </a:r>
                      <a:r>
                        <a:rPr lang="en-US" sz="2400" dirty="0">
                          <a:latin typeface="Arial" panose="020B0604020202020204" pitchFamily="34" charset="0"/>
                          <a:cs typeface="Arial" panose="020B0604020202020204" pitchFamily="34" charset="0"/>
                        </a:rPr>
                        <a:t> </a:t>
                      </a:r>
                    </a:p>
                  </a:txBody>
                  <a:tcPr/>
                </a:tc>
                <a:tc>
                  <a:txBody>
                    <a:bodyPr/>
                    <a:lstStyle/>
                    <a:p>
                      <a:r>
                        <a:rPr lang="vi-VN" sz="2400" dirty="0">
                          <a:latin typeface="Arial" panose="020B0604020202020204" pitchFamily="34" charset="0"/>
                          <a:cs typeface="Arial" panose="020B0604020202020204" pitchFamily="34" charset="0"/>
                        </a:rPr>
                        <a:t>Hạn chế, chủ yếu thực hiện nhiệm vụ đã được huyện phê duyệt</a:t>
                      </a:r>
                      <a:endParaRPr lang="en-US" sz="2400" dirty="0">
                        <a:latin typeface="Arial" panose="020B0604020202020204" pitchFamily="34" charset="0"/>
                        <a:cs typeface="Arial" panose="020B0604020202020204" pitchFamily="34" charset="0"/>
                      </a:endParaRPr>
                    </a:p>
                  </a:txBody>
                  <a:tcPr/>
                </a:tc>
                <a:tc>
                  <a:txBody>
                    <a:bodyPr/>
                    <a:lstStyle/>
                    <a:p>
                      <a:r>
                        <a:rPr lang="vi-VN" sz="2400" dirty="0">
                          <a:latin typeface="Arial" panose="020B0604020202020204" pitchFamily="34" charset="0"/>
                          <a:cs typeface="Arial" panose="020B0604020202020204" pitchFamily="34" charset="0"/>
                        </a:rPr>
                        <a:t>Mở rộng, nhiều quyết định đầu tư nhỏ – trung bình được xã tự quyết hoặc tỉnh ủy quyền </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97906489"/>
                  </a:ext>
                </a:extLst>
              </a:tr>
            </a:tbl>
          </a:graphicData>
        </a:graphic>
      </p:graphicFrame>
    </p:spTree>
    <p:extLst>
      <p:ext uri="{BB962C8B-B14F-4D97-AF65-F5344CB8AC3E}">
        <p14:creationId xmlns:p14="http://schemas.microsoft.com/office/powerpoint/2010/main" val="1574429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D4044-7F68-01FE-EA26-53007CF11DE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D6E897-D91E-45FB-CD1B-900FE3EBA7E6}"/>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graphicFrame>
        <p:nvGraphicFramePr>
          <p:cNvPr id="6" name="Table 5">
            <a:extLst>
              <a:ext uri="{FF2B5EF4-FFF2-40B4-BE49-F238E27FC236}">
                <a16:creationId xmlns:a16="http://schemas.microsoft.com/office/drawing/2014/main" id="{C7D45242-4CAC-A54B-5D15-9AF0D705F16A}"/>
              </a:ext>
            </a:extLst>
          </p:cNvPr>
          <p:cNvGraphicFramePr>
            <a:graphicFrameLocks noGrp="1"/>
          </p:cNvGraphicFramePr>
          <p:nvPr>
            <p:extLst>
              <p:ext uri="{D42A27DB-BD31-4B8C-83A1-F6EECF244321}">
                <p14:modId xmlns:p14="http://schemas.microsoft.com/office/powerpoint/2010/main" val="4178849216"/>
              </p:ext>
            </p:extLst>
          </p:nvPr>
        </p:nvGraphicFramePr>
        <p:xfrm>
          <a:off x="744583" y="1509375"/>
          <a:ext cx="10802984" cy="4754880"/>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1829813235"/>
                    </a:ext>
                  </a:extLst>
                </a:gridCol>
                <a:gridCol w="4140926">
                  <a:extLst>
                    <a:ext uri="{9D8B030D-6E8A-4147-A177-3AD203B41FA5}">
                      <a16:colId xmlns:a16="http://schemas.microsoft.com/office/drawing/2014/main" val="549970060"/>
                    </a:ext>
                  </a:extLst>
                </a:gridCol>
                <a:gridCol w="4558938">
                  <a:extLst>
                    <a:ext uri="{9D8B030D-6E8A-4147-A177-3AD203B41FA5}">
                      <a16:colId xmlns:a16="http://schemas.microsoft.com/office/drawing/2014/main" val="853928272"/>
                    </a:ext>
                  </a:extLst>
                </a:gridCol>
              </a:tblGrid>
              <a:tr h="370840">
                <a:tc>
                  <a:txBody>
                    <a:bodyPr/>
                    <a:lstStyle/>
                    <a:p>
                      <a:pPr algn="ctr"/>
                      <a:r>
                        <a:rPr lang="en-US" sz="2400" b="1" dirty="0" err="1">
                          <a:latin typeface="Arial" panose="020B0604020202020204" pitchFamily="34" charset="0"/>
                          <a:cs typeface="Arial" panose="020B0604020202020204" pitchFamily="34" charset="0"/>
                        </a:rPr>
                        <a:t>Tiêu</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chí</a:t>
                      </a:r>
                      <a:endParaRPr lang="en-US" sz="2400" b="1" dirty="0">
                        <a:latin typeface="Arial" panose="020B0604020202020204" pitchFamily="34" charset="0"/>
                        <a:cs typeface="Arial" panose="020B0604020202020204" pitchFamily="34" charset="0"/>
                      </a:endParaRPr>
                    </a:p>
                  </a:txBody>
                  <a:tcPr/>
                </a:tc>
                <a:tc>
                  <a:txBody>
                    <a:bodyPr/>
                    <a:lstStyle/>
                    <a:p>
                      <a:pPr algn="ctr"/>
                      <a:r>
                        <a:rPr lang="en-US" sz="2400" b="1" dirty="0" err="1">
                          <a:latin typeface="Arial" panose="020B0604020202020204" pitchFamily="34" charset="0"/>
                          <a:cs typeface="Arial" panose="020B0604020202020204" pitchFamily="34" charset="0"/>
                        </a:rPr>
                        <a:t>Mô</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hình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xã</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chính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quyền</a:t>
                      </a:r>
                      <a:r>
                        <a:rPr lang="en-US" sz="2400" b="1" dirty="0">
                          <a:latin typeface="Arial" panose="020B0604020202020204" pitchFamily="34" charset="0"/>
                          <a:cs typeface="Arial" panose="020B0604020202020204" pitchFamily="34" charset="0"/>
                        </a:rPr>
                        <a:t> 3 </a:t>
                      </a:r>
                      <a:r>
                        <a:rPr lang="en-US" sz="2400" b="1" dirty="0" err="1">
                          <a:latin typeface="Arial" panose="020B0604020202020204" pitchFamily="34" charset="0"/>
                          <a:cs typeface="Arial" panose="020B0604020202020204" pitchFamily="34" charset="0"/>
                        </a:rPr>
                        <a:t>cấp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cũ</a:t>
                      </a:r>
                      <a:r>
                        <a:rPr lang="en-US" sz="2400" b="1" dirty="0">
                          <a:latin typeface="Arial" panose="020B0604020202020204" pitchFamily="34" charset="0"/>
                          <a:cs typeface="Arial" panose="020B0604020202020204" pitchFamily="34" charset="0"/>
                        </a:rPr>
                        <a:t>)</a:t>
                      </a:r>
                    </a:p>
                  </a:txBody>
                  <a:tcPr/>
                </a:tc>
                <a:tc>
                  <a:txBody>
                    <a:bodyPr/>
                    <a:lstStyle/>
                    <a:p>
                      <a:pPr algn="ctr"/>
                      <a:r>
                        <a:rPr lang="en-US" sz="2400" b="1" dirty="0" err="1">
                          <a:latin typeface="Arial" panose="020B0604020202020204" pitchFamily="34" charset="0"/>
                          <a:cs typeface="Arial" panose="020B0604020202020204" pitchFamily="34" charset="0"/>
                        </a:rPr>
                        <a:t>Mô</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hình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xã</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a:t>
                      </a:r>
                    </a:p>
                    <a:p>
                      <a:pPr algn="ctr"/>
                      <a:r>
                        <a:rPr lang="en-US" sz="2400" b="1" dirty="0" err="1">
                          <a:latin typeface="Arial" panose="020B0604020202020204" pitchFamily="34" charset="0"/>
                          <a:cs typeface="Arial" panose="020B0604020202020204" pitchFamily="34" charset="0"/>
                        </a:rPr>
                        <a:t>chính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quyền</a:t>
                      </a:r>
                      <a:r>
                        <a:rPr lang="en-US" sz="2400" b="1" dirty="0">
                          <a:latin typeface="Arial" panose="020B0604020202020204" pitchFamily="34" charset="0"/>
                          <a:cs typeface="Arial" panose="020B0604020202020204" pitchFamily="34" charset="0"/>
                        </a:rPr>
                        <a:t> 2 </a:t>
                      </a:r>
                      <a:r>
                        <a:rPr lang="en-US" sz="2400" b="1" dirty="0" err="1">
                          <a:latin typeface="Arial" panose="020B0604020202020204" pitchFamily="34" charset="0"/>
                          <a:cs typeface="Arial" panose="020B0604020202020204" pitchFamily="34" charset="0"/>
                        </a:rPr>
                        <a:t>cấp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mới</a:t>
                      </a:r>
                      <a:r>
                        <a:rPr lang="en-US" sz="2400" b="1"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010360666"/>
                  </a:ext>
                </a:extLst>
              </a:tr>
              <a:tr h="370840">
                <a:tc>
                  <a:txBody>
                    <a:bodyPr/>
                    <a:lstStyle/>
                    <a:p>
                      <a:r>
                        <a:rPr lang="en-US" sz="2400" dirty="0">
                          <a:latin typeface="Arial" panose="020B0604020202020204" pitchFamily="34" charset="0"/>
                          <a:cs typeface="Arial" panose="020B0604020202020204" pitchFamily="34" charset="0"/>
                        </a:rPr>
                        <a:t>Quản </a:t>
                      </a:r>
                      <a:r>
                        <a:rPr lang="en-US" sz="2400" dirty="0" err="1">
                          <a:latin typeface="Arial" panose="020B0604020202020204" pitchFamily="34" charset="0"/>
                          <a:cs typeface="Arial" panose="020B0604020202020204" pitchFamily="34" charset="0"/>
                        </a:rPr>
                        <a:t>lý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sách</a:t>
                      </a:r>
                      <a:r>
                        <a:rPr lang="en-US" sz="2400" dirty="0">
                          <a:latin typeface="Arial" panose="020B0604020202020204" pitchFamily="34" charset="0"/>
                          <a:cs typeface="Arial" panose="020B0604020202020204" pitchFamily="34" charset="0"/>
                        </a:rPr>
                        <a:t> </a:t>
                      </a:r>
                    </a:p>
                  </a:txBody>
                  <a:tcPr/>
                </a:tc>
                <a:tc>
                  <a:txBody>
                    <a:bodyPr/>
                    <a:lstStyle/>
                    <a:p>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phải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huyện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phê</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duyệt</a:t>
                      </a:r>
                      <a:r>
                        <a:rPr lang="en-US" sz="2400" dirty="0">
                          <a:latin typeface="Arial" panose="020B0604020202020204" pitchFamily="34" charset="0"/>
                          <a:cs typeface="Arial" panose="020B0604020202020204" pitchFamily="34" charset="0"/>
                        </a:rPr>
                        <a:t>.</a:t>
                      </a:r>
                    </a:p>
                  </a:txBody>
                  <a:tcPr/>
                </a:tc>
                <a:tc>
                  <a:txBody>
                    <a:bodyPr/>
                    <a:lstStyle/>
                    <a:p>
                      <a:r>
                        <a:rPr lang="vi-VN" sz="2400" dirty="0">
                          <a:latin typeface="Arial" panose="020B0604020202020204" pitchFamily="34" charset="0"/>
                          <a:cs typeface="Arial" panose="020B0604020202020204" pitchFamily="34" charset="0"/>
                        </a:rPr>
                        <a:t>Lập và trình trực tiếp tỉnh (qua Sở Tài chính), được tự chủ hơn trong phân bổ</a:t>
                      </a:r>
                      <a:r>
                        <a:rPr lang="en-US" sz="24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018518183"/>
                  </a:ext>
                </a:extLst>
              </a:tr>
              <a:tr h="370840">
                <a:tc>
                  <a:txBody>
                    <a:bodyPr/>
                    <a:lstStyle/>
                    <a:p>
                      <a:r>
                        <a:rPr lang="vi-VN" sz="2400" dirty="0">
                          <a:latin typeface="Arial" panose="020B0604020202020204" pitchFamily="34" charset="0"/>
                          <a:cs typeface="Arial" panose="020B0604020202020204" pitchFamily="34" charset="0"/>
                        </a:rPr>
                        <a:t>Đầu tư công </a:t>
                      </a:r>
                      <a:endParaRPr lang="en-US" sz="2400" dirty="0">
                        <a:latin typeface="Arial" panose="020B0604020202020204" pitchFamily="34" charset="0"/>
                        <a:cs typeface="Arial" panose="020B0604020202020204" pitchFamily="34" charset="0"/>
                      </a:endParaRPr>
                    </a:p>
                  </a:txBody>
                  <a:tcPr/>
                </a:tc>
                <a:tc>
                  <a:txBody>
                    <a:bodyPr/>
                    <a:lstStyle/>
                    <a:p>
                      <a:r>
                        <a:rPr lang="vi-VN" sz="2400" dirty="0">
                          <a:latin typeface="Arial" panose="020B0604020202020204" pitchFamily="34" charset="0"/>
                          <a:cs typeface="Arial" panose="020B0604020202020204" pitchFamily="34" charset="0"/>
                        </a:rPr>
                        <a:t>Chủ yếu thực hiện các dự án quy mô nhỏ (đường liên thôn, nhà văn hóa...)</a:t>
                      </a:r>
                      <a:r>
                        <a:rPr lang="en-US" sz="2400" dirty="0">
                          <a:latin typeface="Arial" panose="020B0604020202020204" pitchFamily="34" charset="0"/>
                          <a:cs typeface="Arial" panose="020B0604020202020204" pitchFamily="34" charset="0"/>
                        </a:rPr>
                        <a:t>.</a:t>
                      </a:r>
                    </a:p>
                  </a:txBody>
                  <a:tcPr/>
                </a:tc>
                <a:tc>
                  <a:txBody>
                    <a:bodyPr/>
                    <a:lstStyle/>
                    <a:p>
                      <a:r>
                        <a:rPr lang="vi-VN" sz="2400" dirty="0"/>
                        <a:t>Thực hiện cả dự án hạ tầng quy mô lớn hơn (đường trục xã, trường học, y tế...) mà trước đây huyện làm</a:t>
                      </a:r>
                      <a:r>
                        <a:rPr lang="en-US" sz="2400" dirty="0"/>
                        <a:t>.</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85631400"/>
                  </a:ext>
                </a:extLst>
              </a:tr>
              <a:tr h="370840">
                <a:tc>
                  <a:txBody>
                    <a:bodyPr/>
                    <a:lstStyle/>
                    <a:p>
                      <a:r>
                        <a:rPr lang="en-US" sz="2400" dirty="0" err="1">
                          <a:latin typeface="Arial" panose="020B0604020202020204" pitchFamily="34" charset="0"/>
                          <a:cs typeface="Arial" panose="020B0604020202020204" pitchFamily="34" charset="0"/>
                        </a:rPr>
                        <a:t>Giám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sát</a:t>
                      </a:r>
                      <a:endParaRPr lang="en-US" sz="2400" dirty="0">
                        <a:latin typeface="Arial" panose="020B0604020202020204" pitchFamily="34" charset="0"/>
                        <a:cs typeface="Arial" panose="020B0604020202020204" pitchFamily="34" charset="0"/>
                      </a:endParaRPr>
                    </a:p>
                  </a:txBody>
                  <a:tcPr/>
                </a:tc>
                <a:tc>
                  <a:txBody>
                    <a:bodyPr/>
                    <a:lstStyle/>
                    <a:p>
                      <a:r>
                        <a:rPr lang="vi-VN" sz="2400" dirty="0"/>
                        <a:t>Huyện giám sát thường xuyên</a:t>
                      </a:r>
                      <a:r>
                        <a:rPr lang="en-US" sz="2400" dirty="0"/>
                        <a:t>.</a:t>
                      </a:r>
                      <a:endParaRPr lang="en-US" sz="2400" dirty="0">
                        <a:latin typeface="Arial" panose="020B0604020202020204" pitchFamily="34" charset="0"/>
                        <a:cs typeface="Arial" panose="020B0604020202020204" pitchFamily="34" charset="0"/>
                      </a:endParaRPr>
                    </a:p>
                  </a:txBody>
                  <a:tcPr/>
                </a:tc>
                <a:tc>
                  <a:txBody>
                    <a:bodyPr/>
                    <a:lstStyle/>
                    <a:p>
                      <a:r>
                        <a:rPr lang="vi-VN" sz="2400" dirty="0"/>
                        <a:t>Giám sát từ tỉnh và cộng đồng dân cư, yêu cầu minh bạch cao hơn</a:t>
                      </a:r>
                      <a:r>
                        <a:rPr lang="en-US" sz="2400" dirty="0"/>
                        <a:t>.</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74601394"/>
                  </a:ext>
                </a:extLst>
              </a:tr>
            </a:tbl>
          </a:graphicData>
        </a:graphic>
      </p:graphicFrame>
    </p:spTree>
    <p:extLst>
      <p:ext uri="{BB962C8B-B14F-4D97-AF65-F5344CB8AC3E}">
        <p14:creationId xmlns:p14="http://schemas.microsoft.com/office/powerpoint/2010/main" val="2866261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B6F13-A8EC-564B-F860-A12CB20503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E052C5-51CD-A818-E2D9-8AB51255EFCC}"/>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sp>
        <p:nvSpPr>
          <p:cNvPr id="3" name="TextBox 2">
            <a:extLst>
              <a:ext uri="{FF2B5EF4-FFF2-40B4-BE49-F238E27FC236}">
                <a16:creationId xmlns:a16="http://schemas.microsoft.com/office/drawing/2014/main" id="{7BBE3498-A528-56F1-8E01-C9E1ABDE4231}"/>
              </a:ext>
            </a:extLst>
          </p:cNvPr>
          <p:cNvSpPr txBox="1"/>
          <p:nvPr/>
        </p:nvSpPr>
        <p:spPr>
          <a:xfrm>
            <a:off x="228600" y="1517073"/>
            <a:ext cx="11963399" cy="2800767"/>
          </a:xfrm>
          <a:prstGeom prst="rect">
            <a:avLst/>
          </a:prstGeom>
          <a:noFill/>
        </p:spPr>
        <p:txBody>
          <a:bodyPr wrap="square" rtlCol="0">
            <a:spAutoFit/>
          </a:bodyPr>
          <a:lstStyle/>
          <a:p>
            <a:r>
              <a:rPr lang="en-US" sz="2800" b="1" dirty="0" err="1">
                <a:solidFill>
                  <a:srgbClr val="FF0000"/>
                </a:solidFill>
                <a:latin typeface="Arial" panose="020B0604020202020204" pitchFamily="34" charset="0"/>
                <a:cs typeface="Arial" panose="020B0604020202020204" pitchFamily="34" charset="0"/>
              </a:rPr>
              <a:t>Nhận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diện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những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đặc</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điểm</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quản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lý</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tài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đầu</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tư</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trong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bối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cảnh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quyền</a:t>
            </a:r>
            <a:r>
              <a:rPr lang="en-US" sz="2800" b="1" dirty="0">
                <a:solidFill>
                  <a:srgbClr val="FF0000"/>
                </a:solidFill>
                <a:latin typeface="Arial" panose="020B0604020202020204" pitchFamily="34" charset="0"/>
                <a:cs typeface="Arial" panose="020B0604020202020204" pitchFamily="34" charset="0"/>
              </a:rPr>
              <a:t> 2 </a:t>
            </a:r>
            <a:r>
              <a:rPr lang="en-US" sz="2800" b="1" dirty="0" err="1">
                <a:solidFill>
                  <a:srgbClr val="FF0000"/>
                </a:solidFill>
                <a:latin typeface="Arial" panose="020B0604020202020204" pitchFamily="34" charset="0"/>
                <a:cs typeface="Arial" panose="020B0604020202020204" pitchFamily="34" charset="0"/>
              </a:rPr>
              <a:t>cấp</a:t>
            </a:r>
            <a:r>
              <a:rPr lang="en-US" sz="2800" b="1" dirty="0">
                <a:solidFill>
                  <a:srgbClr val="FF0000"/>
                </a:solidFill>
                <a:latin typeface="Arial" panose="020B0604020202020204" pitchFamily="34" charset="0"/>
                <a:cs typeface="Arial" panose="020B0604020202020204" pitchFamily="34" charset="0"/>
              </a:rPr>
              <a:t>:</a:t>
            </a:r>
          </a:p>
          <a:p>
            <a:pPr marL="457200" indent="-457200">
              <a:buFontTx/>
              <a:buChar char="-"/>
            </a:pPr>
            <a:r>
              <a:rPr lang="en-US" sz="2400" dirty="0">
                <a:latin typeface="Arial" panose="020B0604020202020204" pitchFamily="34" charset="0"/>
                <a:cs typeface="Arial" panose="020B0604020202020204" pitchFamily="34" charset="0"/>
              </a:rPr>
              <a:t>P</a:t>
            </a:r>
            <a:r>
              <a:rPr lang="vi-VN" sz="2400" dirty="0">
                <a:latin typeface="Arial" panose="020B0604020202020204" pitchFamily="34" charset="0"/>
                <a:cs typeface="Arial" panose="020B0604020202020204" pitchFamily="34" charset="0"/>
              </a:rPr>
              <a:t>hân quyền và ủy quyền mạnh hơn cho cấp xã </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Tăng quy mô ngân sách và vốn đầu tư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Trực tiếp chịu trách nhiệm giải trình với cấp tỉnh và cộng đồng dân cư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Yêu cầu chuyên môn cao hơn</a:t>
            </a:r>
            <a:endParaRPr lang="en-US" sz="2400" b="1"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584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BCB41-4924-88E5-271B-D730878CF3F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359620-9984-F825-971C-5059D3EB7946}"/>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sp>
        <p:nvSpPr>
          <p:cNvPr id="3" name="TextBox 2">
            <a:extLst>
              <a:ext uri="{FF2B5EF4-FFF2-40B4-BE49-F238E27FC236}">
                <a16:creationId xmlns:a16="http://schemas.microsoft.com/office/drawing/2014/main" id="{407804F3-FE6E-9436-7C1B-A4A11F6740A1}"/>
              </a:ext>
            </a:extLst>
          </p:cNvPr>
          <p:cNvSpPr txBox="1"/>
          <p:nvPr/>
        </p:nvSpPr>
        <p:spPr>
          <a:xfrm>
            <a:off x="228600" y="1517073"/>
            <a:ext cx="11963399" cy="2800767"/>
          </a:xfrm>
          <a:prstGeom prst="rect">
            <a:avLst/>
          </a:prstGeom>
          <a:noFill/>
        </p:spPr>
        <p:txBody>
          <a:bodyPr wrap="square" rtlCol="0">
            <a:spAutoFit/>
          </a:bodyPr>
          <a:lstStyle/>
          <a:p>
            <a:r>
              <a:rPr lang="en-US" sz="2800" b="1" dirty="0" err="1">
                <a:solidFill>
                  <a:srgbClr val="FF0000"/>
                </a:solidFill>
                <a:latin typeface="Arial" panose="020B0604020202020204" pitchFamily="34" charset="0"/>
                <a:cs typeface="Arial" panose="020B0604020202020204" pitchFamily="34" charset="0"/>
              </a:rPr>
              <a:t>Nhận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diện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những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đặc</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điểm</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quản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lý</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tài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đầu</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tư</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trong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bối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cảnh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quyền</a:t>
            </a:r>
            <a:r>
              <a:rPr lang="en-US" sz="2800" b="1" dirty="0">
                <a:solidFill>
                  <a:srgbClr val="FF0000"/>
                </a:solidFill>
                <a:latin typeface="Arial" panose="020B0604020202020204" pitchFamily="34" charset="0"/>
                <a:cs typeface="Arial" panose="020B0604020202020204" pitchFamily="34" charset="0"/>
              </a:rPr>
              <a:t> 2 </a:t>
            </a:r>
            <a:r>
              <a:rPr lang="en-US" sz="2800" b="1" dirty="0" err="1">
                <a:solidFill>
                  <a:srgbClr val="FF0000"/>
                </a:solidFill>
                <a:latin typeface="Arial" panose="020B0604020202020204" pitchFamily="34" charset="0"/>
                <a:cs typeface="Arial" panose="020B0604020202020204" pitchFamily="34" charset="0"/>
              </a:rPr>
              <a:t>cấp</a:t>
            </a:r>
            <a:r>
              <a:rPr lang="en-US" sz="2800" b="1" dirty="0">
                <a:solidFill>
                  <a:srgbClr val="FF0000"/>
                </a:solidFill>
                <a:latin typeface="Arial" panose="020B0604020202020204" pitchFamily="34" charset="0"/>
                <a:cs typeface="Arial" panose="020B0604020202020204" pitchFamily="34" charset="0"/>
              </a:rPr>
              <a:t>:</a:t>
            </a:r>
          </a:p>
          <a:p>
            <a:pPr marL="457200" indent="-457200">
              <a:buFontTx/>
              <a:buChar char="-"/>
            </a:pPr>
            <a:r>
              <a:rPr lang="en-US" sz="2400" dirty="0">
                <a:latin typeface="Arial" panose="020B0604020202020204" pitchFamily="34" charset="0"/>
                <a:cs typeface="Arial" panose="020B0604020202020204" pitchFamily="34" charset="0"/>
              </a:rPr>
              <a:t>P</a:t>
            </a:r>
            <a:r>
              <a:rPr lang="vi-VN" sz="2400" dirty="0">
                <a:latin typeface="Arial" panose="020B0604020202020204" pitchFamily="34" charset="0"/>
                <a:cs typeface="Arial" panose="020B0604020202020204" pitchFamily="34" charset="0"/>
              </a:rPr>
              <a:t>hân quyền và ủy quyền mạnh hơn cho cấp xã </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Tăng quy mô ngân sách và vốn đầu tư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Trực tiếp chịu trách nhiệm giải trình với cấp tỉnh và cộng đồng dân cư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Yêu cầu chuyên môn cao hơn</a:t>
            </a:r>
            <a:endParaRPr lang="en-US" sz="2400" b="1"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9295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1E4C5-0BBD-0B59-58AB-0B2799399A7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1C162E5-B952-9975-A551-E8236FE9D084}"/>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sp>
        <p:nvSpPr>
          <p:cNvPr id="3" name="TextBox 2">
            <a:extLst>
              <a:ext uri="{FF2B5EF4-FFF2-40B4-BE49-F238E27FC236}">
                <a16:creationId xmlns:a16="http://schemas.microsoft.com/office/drawing/2014/main" id="{B6A17707-6617-6910-976B-1326A536C064}"/>
              </a:ext>
            </a:extLst>
          </p:cNvPr>
          <p:cNvSpPr txBox="1"/>
          <p:nvPr/>
        </p:nvSpPr>
        <p:spPr>
          <a:xfrm>
            <a:off x="228600" y="1517073"/>
            <a:ext cx="11963399" cy="2800767"/>
          </a:xfrm>
          <a:prstGeom prst="rect">
            <a:avLst/>
          </a:prstGeom>
          <a:noFill/>
        </p:spPr>
        <p:txBody>
          <a:bodyPr wrap="square" rtlCol="0">
            <a:spAutoFit/>
          </a:bodyPr>
          <a:lstStyle/>
          <a:p>
            <a:r>
              <a:rPr lang="en-US" sz="2800" b="1" dirty="0" err="1">
                <a:solidFill>
                  <a:srgbClr val="FF0000"/>
                </a:solidFill>
                <a:latin typeface="Arial" panose="020B0604020202020204" pitchFamily="34" charset="0"/>
                <a:cs typeface="Arial" panose="020B0604020202020204" pitchFamily="34" charset="0"/>
              </a:rPr>
              <a:t>Nhận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diện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những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đặc</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điểm</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quản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lý</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tài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đầu</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tư</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trong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bối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cảnh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quyền</a:t>
            </a:r>
            <a:r>
              <a:rPr lang="en-US" sz="2800" b="1" dirty="0">
                <a:solidFill>
                  <a:srgbClr val="FF0000"/>
                </a:solidFill>
                <a:latin typeface="Arial" panose="020B0604020202020204" pitchFamily="34" charset="0"/>
                <a:cs typeface="Arial" panose="020B0604020202020204" pitchFamily="34" charset="0"/>
              </a:rPr>
              <a:t> 2 </a:t>
            </a:r>
            <a:r>
              <a:rPr lang="en-US" sz="2800" b="1" dirty="0" err="1">
                <a:solidFill>
                  <a:srgbClr val="FF0000"/>
                </a:solidFill>
                <a:latin typeface="Arial" panose="020B0604020202020204" pitchFamily="34" charset="0"/>
                <a:cs typeface="Arial" panose="020B0604020202020204" pitchFamily="34" charset="0"/>
              </a:rPr>
              <a:t>cấp</a:t>
            </a:r>
            <a:r>
              <a:rPr lang="en-US" sz="2800" b="1" dirty="0">
                <a:solidFill>
                  <a:srgbClr val="FF0000"/>
                </a:solidFill>
                <a:latin typeface="Arial" panose="020B0604020202020204" pitchFamily="34" charset="0"/>
                <a:cs typeface="Arial" panose="020B0604020202020204" pitchFamily="34" charset="0"/>
              </a:rPr>
              <a:t>:</a:t>
            </a:r>
          </a:p>
          <a:p>
            <a:pPr marL="457200" indent="-457200">
              <a:buFontTx/>
              <a:buChar char="-"/>
            </a:pPr>
            <a:r>
              <a:rPr lang="en-US" sz="2400" dirty="0">
                <a:latin typeface="Arial" panose="020B0604020202020204" pitchFamily="34" charset="0"/>
                <a:cs typeface="Arial" panose="020B0604020202020204" pitchFamily="34" charset="0"/>
              </a:rPr>
              <a:t>P</a:t>
            </a:r>
            <a:r>
              <a:rPr lang="vi-VN" sz="2400" dirty="0">
                <a:latin typeface="Arial" panose="020B0604020202020204" pitchFamily="34" charset="0"/>
                <a:cs typeface="Arial" panose="020B0604020202020204" pitchFamily="34" charset="0"/>
              </a:rPr>
              <a:t>hân quyền và ủy quyền mạnh hơn cho cấp xã </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Tăng quy mô ngân sách và vốn đầu tư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Trực tiếp chịu trách nhiệm giải trình với cấp tỉnh và cộng đồng dân cư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Yêu cầu chuyên môn cao hơn</a:t>
            </a:r>
            <a:endParaRPr lang="en-US" sz="2400" b="1"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1662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8DE14-D7A6-FA5A-1670-76BED3F219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C709F2-828F-583A-3BA8-8C03F7B70238}"/>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sp>
        <p:nvSpPr>
          <p:cNvPr id="3" name="TextBox 2">
            <a:extLst>
              <a:ext uri="{FF2B5EF4-FFF2-40B4-BE49-F238E27FC236}">
                <a16:creationId xmlns:a16="http://schemas.microsoft.com/office/drawing/2014/main" id="{5B4D436B-A58D-FA10-62B2-599578ADD4C4}"/>
              </a:ext>
            </a:extLst>
          </p:cNvPr>
          <p:cNvSpPr txBox="1"/>
          <p:nvPr/>
        </p:nvSpPr>
        <p:spPr>
          <a:xfrm>
            <a:off x="228600" y="1517073"/>
            <a:ext cx="11963399" cy="2800767"/>
          </a:xfrm>
          <a:prstGeom prst="rect">
            <a:avLst/>
          </a:prstGeom>
          <a:noFill/>
        </p:spPr>
        <p:txBody>
          <a:bodyPr wrap="square" rtlCol="0">
            <a:spAutoFit/>
          </a:bodyPr>
          <a:lstStyle/>
          <a:p>
            <a:r>
              <a:rPr lang="en-US" sz="2800" b="1" dirty="0" err="1">
                <a:solidFill>
                  <a:srgbClr val="FF0000"/>
                </a:solidFill>
                <a:latin typeface="Arial" panose="020B0604020202020204" pitchFamily="34" charset="0"/>
                <a:cs typeface="Arial" panose="020B0604020202020204" pitchFamily="34" charset="0"/>
              </a:rPr>
              <a:t>Nhận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diện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những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đặc</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điểm</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quản</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lý</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tài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đầu</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tư</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trong</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bối</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cảnh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chính</a:t>
            </a:r>
            <a:r>
              <a:rPr lang="en-US" sz="2800" b="1" dirty="0">
                <a:solidFill>
                  <a:srgbClr val="FF0000"/>
                </a:solidFill>
                <a:latin typeface="Arial" panose="020B0604020202020204" pitchFamily="34" charset="0"/>
                <a:cs typeface="Arial" panose="020B0604020202020204" pitchFamily="34" charset="0"/>
              </a:rPr>
              <a:t> </a:t>
            </a:r>
            <a:r>
              <a:rPr lang="en-US" sz="2800" b="1" dirty="0" err="1">
                <a:solidFill>
                  <a:srgbClr val="FF0000"/>
                </a:solidFill>
                <a:latin typeface="Arial" panose="020B0604020202020204" pitchFamily="34" charset="0"/>
                <a:cs typeface="Arial" panose="020B0604020202020204" pitchFamily="34" charset="0"/>
              </a:rPr>
              <a:t>quyền</a:t>
            </a:r>
            <a:r>
              <a:rPr lang="en-US" sz="2800" b="1" dirty="0">
                <a:solidFill>
                  <a:srgbClr val="FF0000"/>
                </a:solidFill>
                <a:latin typeface="Arial" panose="020B0604020202020204" pitchFamily="34" charset="0"/>
                <a:cs typeface="Arial" panose="020B0604020202020204" pitchFamily="34" charset="0"/>
              </a:rPr>
              <a:t> 2 </a:t>
            </a:r>
            <a:r>
              <a:rPr lang="en-US" sz="2800" b="1" dirty="0" err="1">
                <a:solidFill>
                  <a:srgbClr val="FF0000"/>
                </a:solidFill>
                <a:latin typeface="Arial" panose="020B0604020202020204" pitchFamily="34" charset="0"/>
                <a:cs typeface="Arial" panose="020B0604020202020204" pitchFamily="34" charset="0"/>
              </a:rPr>
              <a:t>cấp</a:t>
            </a:r>
            <a:r>
              <a:rPr lang="en-US" sz="2800" b="1" dirty="0">
                <a:solidFill>
                  <a:srgbClr val="FF0000"/>
                </a:solidFill>
                <a:latin typeface="Arial" panose="020B0604020202020204" pitchFamily="34" charset="0"/>
                <a:cs typeface="Arial" panose="020B0604020202020204" pitchFamily="34" charset="0"/>
              </a:rPr>
              <a:t>:</a:t>
            </a:r>
          </a:p>
          <a:p>
            <a:pPr marL="457200" indent="-457200">
              <a:buFontTx/>
              <a:buChar char="-"/>
            </a:pPr>
            <a:r>
              <a:rPr lang="en-US" sz="2400" dirty="0">
                <a:latin typeface="Arial" panose="020B0604020202020204" pitchFamily="34" charset="0"/>
                <a:cs typeface="Arial" panose="020B0604020202020204" pitchFamily="34" charset="0"/>
              </a:rPr>
              <a:t>P</a:t>
            </a:r>
            <a:r>
              <a:rPr lang="vi-VN" sz="2400" dirty="0">
                <a:latin typeface="Arial" panose="020B0604020202020204" pitchFamily="34" charset="0"/>
                <a:cs typeface="Arial" panose="020B0604020202020204" pitchFamily="34" charset="0"/>
              </a:rPr>
              <a:t>hân quyền và ủy quyền mạnh hơn cho cấp xã </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Tăng quy mô ngân sách và vốn đầu tư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Trực tiếp chịu trách nhiệm giải trình với cấp tỉnh và cộng đồng dân cư</a:t>
            </a:r>
            <a:endParaRPr lang="en-US" sz="2400" dirty="0">
              <a:latin typeface="Arial" panose="020B0604020202020204" pitchFamily="34" charset="0"/>
              <a:cs typeface="Arial" panose="020B0604020202020204" pitchFamily="34" charset="0"/>
            </a:endParaRPr>
          </a:p>
          <a:p>
            <a:pPr marL="457200" indent="-457200">
              <a:buFontTx/>
              <a:buChar char="-"/>
            </a:pPr>
            <a:r>
              <a:rPr lang="vi-VN" sz="2400" dirty="0">
                <a:latin typeface="Arial" panose="020B0604020202020204" pitchFamily="34" charset="0"/>
                <a:cs typeface="Arial" panose="020B0604020202020204" pitchFamily="34" charset="0"/>
              </a:rPr>
              <a:t>Yêu cầu chuyên môn cao hơn</a:t>
            </a:r>
            <a:endParaRPr lang="en-US" sz="2400" b="1"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6614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65367-2629-4FB4-9F69-B5BD97A8FE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D501C0-F412-B51A-5700-CD83B000E6EE}"/>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pic>
        <p:nvPicPr>
          <p:cNvPr id="2" name="Picture 1">
            <a:extLst>
              <a:ext uri="{FF2B5EF4-FFF2-40B4-BE49-F238E27FC236}">
                <a16:creationId xmlns:a16="http://schemas.microsoft.com/office/drawing/2014/main" id="{22A23A50-8DE6-249E-3285-FEAE9BAAD60A}"/>
              </a:ext>
            </a:extLst>
          </p:cNvPr>
          <p:cNvPicPr>
            <a:picLocks noChangeAspect="1"/>
          </p:cNvPicPr>
          <p:nvPr/>
        </p:nvPicPr>
        <p:blipFill>
          <a:blip r:embed="rId3"/>
          <a:stretch>
            <a:fillRect/>
          </a:stretch>
        </p:blipFill>
        <p:spPr>
          <a:xfrm>
            <a:off x="0" y="1205345"/>
            <a:ext cx="12191999" cy="5652655"/>
          </a:xfrm>
          <a:prstGeom prst="rect">
            <a:avLst/>
          </a:prstGeom>
        </p:spPr>
      </p:pic>
    </p:spTree>
    <p:extLst>
      <p:ext uri="{BB962C8B-B14F-4D97-AF65-F5344CB8AC3E}">
        <p14:creationId xmlns:p14="http://schemas.microsoft.com/office/powerpoint/2010/main" val="2474591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C347-9B54-529E-8E9F-B3F5DB18AB4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EFDAF1D-F49F-0303-8426-EF5AFFAF219A}"/>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sp>
        <p:nvSpPr>
          <p:cNvPr id="5" name="TextBox 4">
            <a:extLst>
              <a:ext uri="{FF2B5EF4-FFF2-40B4-BE49-F238E27FC236}">
                <a16:creationId xmlns:a16="http://schemas.microsoft.com/office/drawing/2014/main" id="{35269079-24C0-F419-0BE6-29F1EED83B4B}"/>
              </a:ext>
            </a:extLst>
          </p:cNvPr>
          <p:cNvSpPr txBox="1"/>
          <p:nvPr/>
        </p:nvSpPr>
        <p:spPr>
          <a:xfrm>
            <a:off x="133350" y="1248550"/>
            <a:ext cx="12058650" cy="4040337"/>
          </a:xfrm>
          <a:prstGeom prst="rect">
            <a:avLst/>
          </a:prstGeom>
          <a:noFill/>
        </p:spPr>
        <p:txBody>
          <a:bodyPr wrap="square">
            <a:spAutoFit/>
          </a:bodyPr>
          <a:lstStyle/>
          <a:p>
            <a:pPr algn="just">
              <a:lnSpc>
                <a:spcPct val="120000"/>
              </a:lnSpc>
              <a:buFontTx/>
              <a:buChar char="-"/>
            </a:pPr>
            <a:r>
              <a:rPr lang="en-US" sz="2400" b="1" dirty="0">
                <a:latin typeface="Arial" panose="020B0604020202020204" pitchFamily="34" charset="0"/>
                <a:cs typeface="Arial" panose="020B0604020202020204" pitchFamily="34" charset="0"/>
              </a:rPr>
              <a:t> </a:t>
            </a:r>
            <a:r>
              <a:rPr lang="vi-VN" sz="2400" b="1" dirty="0">
                <a:latin typeface="Arial" panose="020B0604020202020204" pitchFamily="34" charset="0"/>
                <a:cs typeface="Arial" panose="020B0604020202020204" pitchFamily="34" charset="0"/>
              </a:rPr>
              <a:t>NSX là một cấp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của</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hệ</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thống</a:t>
            </a:r>
            <a:r>
              <a:rPr lang="vi-VN" sz="2400" b="1" dirty="0">
                <a:latin typeface="Arial" panose="020B0604020202020204" pitchFamily="34" charset="0"/>
                <a:cs typeface="Arial" panose="020B0604020202020204" pitchFamily="34" charset="0"/>
              </a:rPr>
              <a:t> NSNN nên nó mang đầy đủ những đặc điểm chung của NSNN, cụ thể: </a:t>
            </a:r>
          </a:p>
          <a:p>
            <a:pPr marL="0" indent="0" algn="just">
              <a:lnSpc>
                <a:spcPct val="120000"/>
              </a:lnSpc>
              <a:buNone/>
            </a:pPr>
            <a:r>
              <a:rPr lang="vi-VN" sz="2400" dirty="0"/>
              <a:t>+ Các khoản thu, chi ngân sách xã được dự toán và thực hiện trong một khoảng thời gian nhất định,</a:t>
            </a:r>
            <a:r>
              <a:rPr lang="en-US" sz="2400" dirty="0"/>
              <a:t> </a:t>
            </a:r>
            <a:r>
              <a:rPr lang="vi-VN" sz="2400" dirty="0"/>
              <a:t>theo một quy trình: lập dự toán, chấp hành và quyết toán ngân sách.</a:t>
            </a:r>
          </a:p>
          <a:p>
            <a:pPr marL="0" indent="0" algn="just">
              <a:lnSpc>
                <a:spcPct val="120000"/>
              </a:lnSpc>
              <a:buNone/>
            </a:pPr>
            <a:r>
              <a:rPr lang="vi-VN" sz="2400" dirty="0"/>
              <a:t>+ Thu NSX bao gồm các khoản thu NSNN phân cấp cho </a:t>
            </a:r>
            <a:r>
              <a:rPr lang="en-US" sz="2400" dirty="0" err="1"/>
              <a:t>cấp</a:t>
            </a:r>
            <a:r>
              <a:rPr lang="en-US" sz="2400" dirty="0"/>
              <a:t> </a:t>
            </a:r>
            <a:r>
              <a:rPr lang="en-US" sz="2400" dirty="0" err="1"/>
              <a:t>xã</a:t>
            </a:r>
            <a:r>
              <a:rPr lang="en-US" sz="2400" dirty="0"/>
              <a:t> </a:t>
            </a:r>
            <a:r>
              <a:rPr lang="en-US" sz="2400" dirty="0" err="1"/>
              <a:t>hưởng</a:t>
            </a:r>
            <a:r>
              <a:rPr lang="en-US" sz="2400" dirty="0"/>
              <a:t>, </a:t>
            </a:r>
            <a:r>
              <a:rPr lang="en-US" sz="2400" dirty="0" err="1"/>
              <a:t>thu</a:t>
            </a:r>
            <a:r>
              <a:rPr lang="en-US" sz="2400" dirty="0"/>
              <a:t> </a:t>
            </a:r>
            <a:r>
              <a:rPr lang="en-US" sz="2400" dirty="0" err="1"/>
              <a:t>bổ</a:t>
            </a:r>
            <a:r>
              <a:rPr lang="en-US" sz="2400" dirty="0"/>
              <a:t> sung </a:t>
            </a:r>
            <a:r>
              <a:rPr lang="en-US" sz="2400" dirty="0" err="1"/>
              <a:t>từ</a:t>
            </a:r>
            <a:r>
              <a:rPr lang="en-US" sz="2400" dirty="0"/>
              <a:t> </a:t>
            </a:r>
            <a:r>
              <a:rPr lang="en-US" sz="2400" dirty="0" err="1"/>
              <a:t>ngân</a:t>
            </a:r>
            <a:r>
              <a:rPr lang="en-US" sz="2400" dirty="0"/>
              <a:t> </a:t>
            </a:r>
            <a:r>
              <a:rPr lang="en-US" sz="2400" dirty="0" err="1"/>
              <a:t>sách</a:t>
            </a:r>
            <a:r>
              <a:rPr lang="en-US" sz="2400" dirty="0"/>
              <a:t> </a:t>
            </a:r>
            <a:r>
              <a:rPr lang="en-US" sz="2400" dirty="0" err="1"/>
              <a:t>cấp</a:t>
            </a:r>
            <a:r>
              <a:rPr lang="en-US" sz="2400" dirty="0"/>
              <a:t> </a:t>
            </a:r>
            <a:r>
              <a:rPr lang="en-US" sz="2400" dirty="0" err="1"/>
              <a:t>trên</a:t>
            </a:r>
            <a:r>
              <a:rPr lang="en-US" sz="2400" dirty="0"/>
              <a:t> </a:t>
            </a:r>
            <a:r>
              <a:rPr lang="en-US" sz="2400" dirty="0" err="1"/>
              <a:t>cho</a:t>
            </a:r>
            <a:r>
              <a:rPr lang="en-US" sz="2400" dirty="0"/>
              <a:t> NS </a:t>
            </a:r>
            <a:r>
              <a:rPr lang="en-US" sz="2400" dirty="0" err="1"/>
              <a:t>cấp</a:t>
            </a:r>
            <a:r>
              <a:rPr lang="en-US" sz="2400" dirty="0"/>
              <a:t> </a:t>
            </a:r>
            <a:r>
              <a:rPr lang="en-US" sz="2400" dirty="0" err="1"/>
              <a:t>xã</a:t>
            </a:r>
            <a:r>
              <a:rPr lang="en-US" sz="2400" dirty="0"/>
              <a:t> </a:t>
            </a:r>
            <a:r>
              <a:rPr lang="en-US" sz="2400" dirty="0" err="1"/>
              <a:t>và</a:t>
            </a:r>
            <a:r>
              <a:rPr lang="en-US" sz="2400" dirty="0"/>
              <a:t> </a:t>
            </a:r>
            <a:r>
              <a:rPr lang="en-US" sz="2400" dirty="0" err="1"/>
              <a:t>các</a:t>
            </a:r>
            <a:r>
              <a:rPr lang="en-US" sz="2400" dirty="0"/>
              <a:t> </a:t>
            </a:r>
            <a:r>
              <a:rPr lang="en-US" sz="2400" dirty="0" err="1"/>
              <a:t>khoản</a:t>
            </a:r>
            <a:r>
              <a:rPr lang="en-US" sz="2400" dirty="0"/>
              <a:t> </a:t>
            </a:r>
            <a:r>
              <a:rPr lang="en-US" sz="2400" dirty="0" err="1"/>
              <a:t>thu</a:t>
            </a:r>
            <a:r>
              <a:rPr lang="en-US" sz="2400" dirty="0"/>
              <a:t> </a:t>
            </a:r>
            <a:r>
              <a:rPr lang="en-US" sz="2400" dirty="0" err="1"/>
              <a:t>khác</a:t>
            </a:r>
            <a:r>
              <a:rPr lang="en-US" sz="2400" dirty="0"/>
              <a:t> </a:t>
            </a:r>
            <a:r>
              <a:rPr lang="en-US" sz="2400" dirty="0" err="1"/>
              <a:t>theo</a:t>
            </a:r>
            <a:r>
              <a:rPr lang="en-US" sz="2400" dirty="0"/>
              <a:t> </a:t>
            </a:r>
            <a:r>
              <a:rPr lang="en-US" sz="2400" dirty="0" err="1"/>
              <a:t>quy</a:t>
            </a:r>
            <a:r>
              <a:rPr lang="en-US" sz="2400" dirty="0"/>
              <a:t> </a:t>
            </a:r>
            <a:r>
              <a:rPr lang="en-US" sz="2400" dirty="0" err="1"/>
              <a:t>định</a:t>
            </a:r>
            <a:r>
              <a:rPr lang="en-US" sz="2400" dirty="0"/>
              <a:t> </a:t>
            </a:r>
            <a:r>
              <a:rPr lang="en-US" sz="2400" dirty="0" err="1"/>
              <a:t>của</a:t>
            </a:r>
            <a:r>
              <a:rPr lang="en-US" sz="2400" dirty="0"/>
              <a:t> PL;</a:t>
            </a:r>
            <a:endParaRPr lang="vi-VN" sz="2400" dirty="0"/>
          </a:p>
          <a:p>
            <a:pPr marL="0" indent="0" algn="just">
              <a:lnSpc>
                <a:spcPct val="120000"/>
              </a:lnSpc>
              <a:buNone/>
            </a:pPr>
            <a:r>
              <a:rPr lang="vi-VN" sz="2400" dirty="0"/>
              <a:t>+ Chi NSX gồm chi ĐTPT và chi thường xuyên theo phân cấp quản lý NN cho xã</a:t>
            </a:r>
          </a:p>
          <a:p>
            <a:pPr marL="0" indent="0" algn="just">
              <a:lnSpc>
                <a:spcPct val="120000"/>
              </a:lnSpc>
              <a:buNone/>
            </a:pPr>
            <a:r>
              <a:rPr lang="vi-VN" sz="2400" dirty="0"/>
              <a:t>+ Được quản lý và điều hành theo dự toán và theo chế độ, tiêu chuẩn, định mức do cơ quan có thẩm quyền quy định. </a:t>
            </a:r>
          </a:p>
        </p:txBody>
      </p:sp>
    </p:spTree>
    <p:extLst>
      <p:ext uri="{BB962C8B-B14F-4D97-AF65-F5344CB8AC3E}">
        <p14:creationId xmlns:p14="http://schemas.microsoft.com/office/powerpoint/2010/main" val="921866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8862C-BAFA-B3AE-B5DF-E28F71071A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26C1BD-7E0E-088F-3836-849F3BE484B2}"/>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sp>
        <p:nvSpPr>
          <p:cNvPr id="5" name="TextBox 4">
            <a:extLst>
              <a:ext uri="{FF2B5EF4-FFF2-40B4-BE49-F238E27FC236}">
                <a16:creationId xmlns:a16="http://schemas.microsoft.com/office/drawing/2014/main" id="{09B133E2-2CC6-79E4-926B-68E000ED36F7}"/>
              </a:ext>
            </a:extLst>
          </p:cNvPr>
          <p:cNvSpPr txBox="1"/>
          <p:nvPr/>
        </p:nvSpPr>
        <p:spPr>
          <a:xfrm>
            <a:off x="133350" y="1579633"/>
            <a:ext cx="12058650" cy="2282741"/>
          </a:xfrm>
          <a:prstGeom prst="rect">
            <a:avLst/>
          </a:prstGeom>
          <a:noFill/>
        </p:spPr>
        <p:txBody>
          <a:bodyPr wrap="square">
            <a:spAutoFit/>
          </a:bodyPr>
          <a:lstStyle/>
          <a:p>
            <a:pPr algn="just">
              <a:lnSpc>
                <a:spcPct val="120000"/>
              </a:lnSpc>
              <a:buFontTx/>
              <a:buChar char="-"/>
            </a:pPr>
            <a:r>
              <a:rPr lang="vi-VN" sz="2400" b="1" dirty="0"/>
              <a:t>NSX </a:t>
            </a:r>
            <a:r>
              <a:rPr lang="en-US" sz="2400" b="1" dirty="0" err="1"/>
              <a:t>có</a:t>
            </a:r>
            <a:r>
              <a:rPr lang="en-US" sz="2400" b="1" dirty="0"/>
              <a:t> </a:t>
            </a:r>
            <a:r>
              <a:rPr lang="en-US" sz="2400" b="1" dirty="0" err="1"/>
              <a:t>một</a:t>
            </a:r>
            <a:r>
              <a:rPr lang="en-US" sz="2400" b="1" dirty="0"/>
              <a:t> </a:t>
            </a:r>
            <a:r>
              <a:rPr lang="en-US" sz="2400" b="1" dirty="0" err="1"/>
              <a:t>số</a:t>
            </a:r>
            <a:r>
              <a:rPr lang="en-US" sz="2400" b="1" dirty="0"/>
              <a:t> </a:t>
            </a:r>
            <a:r>
              <a:rPr lang="en-US" sz="2400" b="1" dirty="0" err="1"/>
              <a:t>đặc</a:t>
            </a:r>
            <a:r>
              <a:rPr lang="en-US" sz="2400" b="1" dirty="0"/>
              <a:t> </a:t>
            </a:r>
            <a:r>
              <a:rPr lang="en-US" sz="2400" b="1" dirty="0" err="1"/>
              <a:t>điểm</a:t>
            </a:r>
            <a:r>
              <a:rPr lang="en-US" sz="2400" b="1" dirty="0"/>
              <a:t> </a:t>
            </a:r>
            <a:r>
              <a:rPr lang="en-US" sz="2400" b="1" dirty="0" err="1"/>
              <a:t>riêng</a:t>
            </a:r>
            <a:r>
              <a:rPr lang="en-US" sz="2400" b="1" dirty="0"/>
              <a:t> so </a:t>
            </a:r>
            <a:r>
              <a:rPr lang="en-US" sz="2400" b="1" dirty="0" err="1"/>
              <a:t>với</a:t>
            </a:r>
            <a:r>
              <a:rPr lang="en-US" sz="2400" b="1" dirty="0"/>
              <a:t> NS </a:t>
            </a:r>
            <a:r>
              <a:rPr lang="en-US" sz="2400" b="1" dirty="0" err="1"/>
              <a:t>trung</a:t>
            </a:r>
            <a:r>
              <a:rPr lang="en-US" sz="2400" b="1" dirty="0"/>
              <a:t> </a:t>
            </a:r>
            <a:r>
              <a:rPr lang="en-US" sz="2400" b="1" dirty="0" err="1"/>
              <a:t>ương</a:t>
            </a:r>
            <a:r>
              <a:rPr lang="en-US" sz="2400" b="1" dirty="0"/>
              <a:t> </a:t>
            </a:r>
            <a:r>
              <a:rPr lang="en-US" sz="2400" b="1" dirty="0" err="1"/>
              <a:t>và</a:t>
            </a:r>
            <a:r>
              <a:rPr lang="en-US" sz="2400" b="1" dirty="0"/>
              <a:t> NS </a:t>
            </a:r>
            <a:r>
              <a:rPr lang="en-US" sz="2400" b="1" dirty="0" err="1"/>
              <a:t>cấp</a:t>
            </a:r>
            <a:r>
              <a:rPr lang="en-US" sz="2400" b="1" dirty="0"/>
              <a:t> </a:t>
            </a:r>
            <a:r>
              <a:rPr lang="en-US" sz="2400" b="1" dirty="0" err="1"/>
              <a:t>tỉnh</a:t>
            </a:r>
            <a:r>
              <a:rPr lang="en-US" sz="2400" b="1" dirty="0"/>
              <a:t>:</a:t>
            </a:r>
          </a:p>
          <a:p>
            <a:pPr algn="just">
              <a:lnSpc>
                <a:spcPct val="120000"/>
              </a:lnSpc>
            </a:pPr>
            <a:r>
              <a:rPr lang="en-US" sz="2400" b="1" dirty="0"/>
              <a:t>+ </a:t>
            </a:r>
            <a:r>
              <a:rPr lang="en-US" sz="2400" dirty="0" err="1"/>
              <a:t>Dự</a:t>
            </a:r>
            <a:r>
              <a:rPr lang="en-US" sz="2400" dirty="0"/>
              <a:t> </a:t>
            </a:r>
            <a:r>
              <a:rPr lang="en-US" sz="2400" dirty="0" err="1"/>
              <a:t>toán</a:t>
            </a:r>
            <a:r>
              <a:rPr lang="en-US" sz="2400" dirty="0"/>
              <a:t>, </a:t>
            </a:r>
            <a:r>
              <a:rPr lang="en-US" sz="2400" dirty="0" err="1"/>
              <a:t>quyết</a:t>
            </a:r>
            <a:r>
              <a:rPr lang="en-US" sz="2400" dirty="0"/>
              <a:t> </a:t>
            </a:r>
            <a:r>
              <a:rPr lang="en-US" sz="2400" dirty="0" err="1"/>
              <a:t>toán</a:t>
            </a:r>
            <a:r>
              <a:rPr lang="en-US" sz="2400" dirty="0"/>
              <a:t> NS </a:t>
            </a:r>
            <a:r>
              <a:rPr lang="en-US" sz="2400" dirty="0" err="1"/>
              <a:t>cấp</a:t>
            </a:r>
            <a:r>
              <a:rPr lang="en-US" sz="2400" dirty="0"/>
              <a:t> </a:t>
            </a:r>
            <a:r>
              <a:rPr lang="en-US" sz="2400" dirty="0" err="1"/>
              <a:t>xã</a:t>
            </a:r>
            <a:r>
              <a:rPr lang="en-US" sz="2400" dirty="0"/>
              <a:t> do HĐND </a:t>
            </a:r>
            <a:r>
              <a:rPr lang="en-US" sz="2400" dirty="0" err="1"/>
              <a:t>cấp</a:t>
            </a:r>
            <a:r>
              <a:rPr lang="en-US" sz="2400" dirty="0"/>
              <a:t> </a:t>
            </a:r>
            <a:r>
              <a:rPr lang="en-US" sz="2400" dirty="0" err="1"/>
              <a:t>xã</a:t>
            </a:r>
            <a:r>
              <a:rPr lang="en-US" sz="2400" dirty="0"/>
              <a:t> </a:t>
            </a:r>
            <a:r>
              <a:rPr lang="en-US" sz="2400" dirty="0" err="1"/>
              <a:t>quyết</a:t>
            </a:r>
            <a:r>
              <a:rPr lang="en-US" sz="2400" dirty="0"/>
              <a:t> </a:t>
            </a:r>
            <a:r>
              <a:rPr lang="en-US" sz="2400" dirty="0" err="1"/>
              <a:t>định</a:t>
            </a:r>
            <a:r>
              <a:rPr lang="en-US" sz="2400" dirty="0"/>
              <a:t>;</a:t>
            </a:r>
          </a:p>
          <a:p>
            <a:pPr algn="just">
              <a:lnSpc>
                <a:spcPct val="120000"/>
              </a:lnSpc>
            </a:pPr>
            <a:r>
              <a:rPr lang="en-US" sz="2400" dirty="0"/>
              <a:t>+ NS </a:t>
            </a:r>
            <a:r>
              <a:rPr lang="en-US" sz="2400" dirty="0" err="1"/>
              <a:t>cấp</a:t>
            </a:r>
            <a:r>
              <a:rPr lang="en-US" sz="2400" dirty="0"/>
              <a:t> </a:t>
            </a:r>
            <a:r>
              <a:rPr lang="en-US" sz="2400" dirty="0" err="1"/>
              <a:t>xã</a:t>
            </a:r>
            <a:r>
              <a:rPr lang="en-US" sz="2400" dirty="0"/>
              <a:t> </a:t>
            </a:r>
            <a:r>
              <a:rPr lang="en-US" sz="2400" dirty="0" err="1"/>
              <a:t>không</a:t>
            </a:r>
            <a:r>
              <a:rPr lang="en-US" sz="2400" dirty="0"/>
              <a:t> </a:t>
            </a:r>
            <a:r>
              <a:rPr lang="en-US" sz="2400" dirty="0" err="1"/>
              <a:t>được</a:t>
            </a:r>
            <a:r>
              <a:rPr lang="en-US" sz="2400" dirty="0"/>
              <a:t> </a:t>
            </a:r>
            <a:r>
              <a:rPr lang="en-US" sz="2400" dirty="0" err="1"/>
              <a:t>vay</a:t>
            </a:r>
            <a:r>
              <a:rPr lang="en-US" sz="2400" dirty="0"/>
              <a:t> </a:t>
            </a:r>
            <a:r>
              <a:rPr lang="en-US" sz="2400" dirty="0" err="1"/>
              <a:t>nợ</a:t>
            </a:r>
            <a:r>
              <a:rPr lang="en-US" sz="2400" dirty="0"/>
              <a:t>; </a:t>
            </a:r>
            <a:r>
              <a:rPr lang="en-US" sz="2400" dirty="0" err="1"/>
              <a:t>không</a:t>
            </a:r>
            <a:r>
              <a:rPr lang="en-US" sz="2400" dirty="0"/>
              <a:t> </a:t>
            </a:r>
            <a:r>
              <a:rPr lang="en-US" sz="2400" dirty="0" err="1"/>
              <a:t>có</a:t>
            </a:r>
            <a:r>
              <a:rPr lang="en-US" sz="2400" dirty="0"/>
              <a:t> </a:t>
            </a:r>
            <a:r>
              <a:rPr lang="en-US" sz="2400" dirty="0" err="1"/>
              <a:t>bội</a:t>
            </a:r>
            <a:r>
              <a:rPr lang="en-US" sz="2400" dirty="0"/>
              <a:t> chi NS </a:t>
            </a:r>
            <a:r>
              <a:rPr lang="en-US" sz="2400" dirty="0" err="1"/>
              <a:t>cấp</a:t>
            </a:r>
            <a:r>
              <a:rPr lang="en-US" sz="2400" dirty="0"/>
              <a:t> </a:t>
            </a:r>
            <a:r>
              <a:rPr lang="en-US" sz="2400" dirty="0" err="1"/>
              <a:t>xã</a:t>
            </a:r>
            <a:r>
              <a:rPr lang="en-US" sz="2400" dirty="0"/>
              <a:t>;</a:t>
            </a:r>
          </a:p>
          <a:p>
            <a:pPr algn="just">
              <a:lnSpc>
                <a:spcPct val="120000"/>
              </a:lnSpc>
            </a:pPr>
            <a:r>
              <a:rPr lang="en-US" sz="2400" dirty="0"/>
              <a:t>+ </a:t>
            </a:r>
            <a:r>
              <a:rPr lang="en-US" sz="2400" dirty="0" err="1"/>
              <a:t>Kết</a:t>
            </a:r>
            <a:r>
              <a:rPr lang="en-US" sz="2400" dirty="0"/>
              <a:t> </a:t>
            </a:r>
            <a:r>
              <a:rPr lang="en-US" sz="2400" dirty="0" err="1"/>
              <a:t>dư</a:t>
            </a:r>
            <a:r>
              <a:rPr lang="en-US" sz="2400" dirty="0"/>
              <a:t> NS </a:t>
            </a:r>
            <a:r>
              <a:rPr lang="en-US" sz="2400" dirty="0" err="1"/>
              <a:t>cấp</a:t>
            </a:r>
            <a:r>
              <a:rPr lang="en-US" sz="2400" dirty="0"/>
              <a:t> </a:t>
            </a:r>
            <a:r>
              <a:rPr lang="en-US" sz="2400" dirty="0" err="1"/>
              <a:t>xã</a:t>
            </a:r>
            <a:r>
              <a:rPr lang="en-US" sz="2400" dirty="0"/>
              <a:t> </a:t>
            </a:r>
            <a:r>
              <a:rPr lang="en-US" sz="2400" dirty="0" err="1"/>
              <a:t>được</a:t>
            </a:r>
            <a:r>
              <a:rPr lang="en-US" sz="2400" dirty="0"/>
              <a:t> </a:t>
            </a:r>
            <a:r>
              <a:rPr lang="en-US" sz="2400" dirty="0" err="1"/>
              <a:t>chuyển</a:t>
            </a:r>
            <a:r>
              <a:rPr lang="en-US" sz="2400" dirty="0"/>
              <a:t> 100% sang </a:t>
            </a:r>
            <a:r>
              <a:rPr lang="en-US" sz="2400" dirty="0" err="1"/>
              <a:t>năm</a:t>
            </a:r>
            <a:r>
              <a:rPr lang="en-US" sz="2400" dirty="0"/>
              <a:t> </a:t>
            </a:r>
            <a:r>
              <a:rPr lang="en-US" sz="2400" dirty="0" err="1"/>
              <a:t>sau</a:t>
            </a:r>
            <a:r>
              <a:rPr lang="en-US" sz="2400" dirty="0"/>
              <a:t>.</a:t>
            </a:r>
          </a:p>
          <a:p>
            <a:pPr algn="just">
              <a:lnSpc>
                <a:spcPct val="120000"/>
              </a:lnSpc>
            </a:pPr>
            <a:r>
              <a:rPr lang="en-US" sz="2400" dirty="0"/>
              <a:t>+….</a:t>
            </a:r>
          </a:p>
        </p:txBody>
      </p:sp>
    </p:spTree>
    <p:extLst>
      <p:ext uri="{BB962C8B-B14F-4D97-AF65-F5344CB8AC3E}">
        <p14:creationId xmlns:p14="http://schemas.microsoft.com/office/powerpoint/2010/main" val="682096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97784-FF15-44FB-8B35-15DED7F33F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D78397-A31B-8D16-1351-694D57283360}"/>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 PHẠM VI THU, CHI NGÂN SÁCH XÃ</a:t>
            </a:r>
          </a:p>
        </p:txBody>
      </p:sp>
      <p:sp>
        <p:nvSpPr>
          <p:cNvPr id="2" name="Content Placeholder 3">
            <a:extLst>
              <a:ext uri="{FF2B5EF4-FFF2-40B4-BE49-F238E27FC236}">
                <a16:creationId xmlns:a16="http://schemas.microsoft.com/office/drawing/2014/main" id="{EBA5243F-1795-4484-2E59-9BF5DC993159}"/>
              </a:ext>
            </a:extLst>
          </p:cNvPr>
          <p:cNvSpPr txBox="1">
            <a:spLocks/>
          </p:cNvSpPr>
          <p:nvPr/>
        </p:nvSpPr>
        <p:spPr>
          <a:xfrm>
            <a:off x="343878" y="1242646"/>
            <a:ext cx="11566768" cy="54160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pPr>
            <a:r>
              <a:rPr lang="vi-VN" sz="2000" b="1"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Phân</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cấp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nguồn</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thu</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nhiệm</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vụ</a:t>
            </a:r>
            <a:r>
              <a:rPr lang="en-US" sz="2400" b="1" dirty="0">
                <a:solidFill>
                  <a:srgbClr val="FF0000"/>
                </a:solidFill>
                <a:latin typeface="Times New Roman" panose="02020603050405020304" pitchFamily="18" charset="0"/>
                <a:cs typeface="Times New Roman" panose="02020603050405020304" pitchFamily="18" charset="0"/>
              </a:rPr>
              <a:t> chi </a:t>
            </a:r>
            <a:r>
              <a:rPr lang="en-US" sz="2400" b="1" dirty="0" err="1">
                <a:solidFill>
                  <a:srgbClr val="FF0000"/>
                </a:solidFill>
                <a:latin typeface="Times New Roman" panose="02020603050405020304" pitchFamily="18" charset="0"/>
                <a:cs typeface="Times New Roman" panose="02020603050405020304" pitchFamily="18" charset="0"/>
              </a:rPr>
              <a:t>cho</a:t>
            </a:r>
            <a:r>
              <a:rPr lang="en-US" sz="2400" b="1" dirty="0">
                <a:solidFill>
                  <a:srgbClr val="FF0000"/>
                </a:solidFill>
                <a:latin typeface="Times New Roman" panose="02020603050405020304" pitchFamily="18" charset="0"/>
                <a:cs typeface="Times New Roman" panose="02020603050405020304" pitchFamily="18" charset="0"/>
              </a:rPr>
              <a:t> NS </a:t>
            </a:r>
            <a:r>
              <a:rPr lang="en-US" sz="2400" b="1" dirty="0" err="1">
                <a:solidFill>
                  <a:srgbClr val="FF0000"/>
                </a:solidFill>
                <a:latin typeface="Times New Roman" panose="02020603050405020304" pitchFamily="18" charset="0"/>
                <a:cs typeface="Times New Roman" panose="02020603050405020304" pitchFamily="18" charset="0"/>
              </a:rPr>
              <a:t>cấp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xã</a:t>
            </a:r>
            <a:endParaRPr lang="en-US" sz="2400" b="1"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r>
              <a:rPr lang="en-US" sz="2400" dirty="0">
                <a:highlight>
                  <a:srgbClr val="FFFFFF"/>
                </a:highlight>
                <a:latin typeface="Times New Roman" panose="02020603050405020304" pitchFamily="18" charset="0"/>
                <a:cs typeface="Times New Roman" panose="02020603050405020304" pitchFamily="18" charset="0"/>
              </a:rPr>
              <a:t>	</a:t>
            </a:r>
            <a:r>
              <a:rPr lang="vi-VN" sz="2400" dirty="0">
                <a:highlight>
                  <a:srgbClr val="FFFFFF"/>
                </a:highlight>
                <a:latin typeface="Times New Roman" panose="02020603050405020304" pitchFamily="18" charset="0"/>
                <a:cs typeface="Times New Roman" panose="02020603050405020304" pitchFamily="18" charset="0"/>
              </a:rPr>
              <a:t>Ngân sách cấp 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được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nhiệm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vụ</a:t>
            </a:r>
            <a:r>
              <a:rPr lang="en-US" sz="2400" dirty="0">
                <a:highlight>
                  <a:srgbClr val="FFFFFF"/>
                </a:highlight>
                <a:latin typeface="Times New Roman" panose="02020603050405020304" pitchFamily="18" charset="0"/>
                <a:cs typeface="Times New Roman" panose="02020603050405020304" pitchFamily="18" charset="0"/>
              </a:rPr>
              <a:t> chi </a:t>
            </a:r>
            <a:r>
              <a:rPr lang="en-US" sz="2400" dirty="0" err="1">
                <a:highlight>
                  <a:srgbClr val="FFFFFF"/>
                </a:highlight>
                <a:latin typeface="Times New Roman" panose="02020603050405020304" pitchFamily="18" charset="0"/>
                <a:cs typeface="Times New Roman" panose="02020603050405020304" pitchFamily="18" charset="0"/>
              </a:rPr>
              <a:t>cụ</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thể</a:t>
            </a:r>
            <a:r>
              <a:rPr lang="en-US" sz="2400" dirty="0">
                <a:highlight>
                  <a:srgbClr val="FFFFFF"/>
                </a:highlight>
                <a:latin typeface="Times New Roman" panose="02020603050405020304" pitchFamily="18" charset="0"/>
                <a:cs typeface="Times New Roman" panose="02020603050405020304" pitchFamily="18" charset="0"/>
              </a:rPr>
              <a:t>. </a:t>
            </a:r>
          </a:p>
          <a:p>
            <a:pPr marL="0" indent="0">
              <a:lnSpc>
                <a:spcPct val="100000"/>
              </a:lnSpc>
              <a:buNone/>
            </a:pP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Hội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đồng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dân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tỉnh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quyết</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dịnh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việc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tỷ</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lệ</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phần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trăm</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các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nhiệm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vụ</a:t>
            </a:r>
            <a:r>
              <a:rPr lang="en-US" sz="2400" dirty="0">
                <a:highlight>
                  <a:srgbClr val="FFFFFF"/>
                </a:highlight>
                <a:latin typeface="Times New Roman" panose="02020603050405020304" pitchFamily="18" charset="0"/>
                <a:cs typeface="Times New Roman" panose="02020603050405020304" pitchFamily="18" charset="0"/>
              </a:rPr>
              <a:t> chi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sách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tỉnh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sách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phù</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hợp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kinh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tế</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hội</a:t>
            </a:r>
            <a:r>
              <a:rPr lang="en-US" sz="2400" dirty="0">
                <a:highlight>
                  <a:srgbClr val="FFFFFF"/>
                </a:highlight>
                <a:latin typeface="Times New Roman" panose="02020603050405020304" pitchFamily="18" charset="0"/>
                <a:cs typeface="Times New Roman" panose="02020603050405020304" pitchFamily="18" charset="0"/>
              </a:rPr>
              <a:t>, an </a:t>
            </a:r>
            <a:r>
              <a:rPr lang="en-US" sz="2400" dirty="0" err="1">
                <a:highlight>
                  <a:srgbClr val="FFFFFF"/>
                </a:highlight>
                <a:latin typeface="Times New Roman" panose="02020603050405020304" pitchFamily="18" charset="0"/>
                <a:cs typeface="Times New Roman" panose="02020603050405020304" pitchFamily="18" charset="0"/>
              </a:rPr>
              <a:t>ninh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năng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của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mỗi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trên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bàn</a:t>
            </a:r>
            <a:r>
              <a:rPr lang="en-US" sz="2400" dirty="0">
                <a:highlight>
                  <a:srgbClr val="FFFFFF"/>
                </a:highlight>
                <a:latin typeface="Times New Roman" panose="02020603050405020304" pitchFamily="18" charset="0"/>
                <a:cs typeface="Times New Roman" panose="02020603050405020304" pitchFamily="18" charset="0"/>
              </a:rPr>
              <a:t>.</a:t>
            </a:r>
            <a:endParaRPr lang="vi-VN" sz="2400" b="1" dirty="0">
              <a:solidFill>
                <a:srgbClr val="FF0000"/>
              </a:solidFill>
              <a:latin typeface="Times New Roman" panose="02020603050405020304" pitchFamily="18" charset="0"/>
              <a:cs typeface="Times New Roman" panose="02020603050405020304" pitchFamily="18" charset="0"/>
            </a:endParaRPr>
          </a:p>
          <a:p>
            <a:pPr marL="0" indent="0" algn="just">
              <a:lnSpc>
                <a:spcPct val="100000"/>
              </a:lnSpc>
              <a:buNone/>
            </a:pPr>
            <a:r>
              <a:rPr lang="vi-VN" sz="2400" b="1" dirty="0">
                <a:solidFill>
                  <a:srgbClr val="000000"/>
                </a:solidFill>
                <a:highlight>
                  <a:srgbClr val="FFFFFF"/>
                </a:highlight>
                <a:latin typeface="Times New Roman" panose="02020603050405020304" pitchFamily="18" charset="0"/>
                <a:cs typeface="Times New Roman" panose="02020603050405020304" pitchFamily="18" charset="0"/>
              </a:rPr>
              <a:t>	</a:t>
            </a:r>
            <a:r>
              <a:rPr lang="vi-VN" sz="2400" dirty="0">
                <a:highlight>
                  <a:srgbClr val="FFFFFF"/>
                </a:highlight>
                <a:latin typeface="Times New Roman" panose="02020603050405020304" pitchFamily="18" charset="0"/>
                <a:cs typeface="Times New Roman" panose="02020603050405020304" pitchFamily="18" charset="0"/>
              </a:rPr>
              <a:t>Ngân sách cấp xã được phân cấp nguồn thu bảo đảm chủ động thực hiện nhiệm vụ chi được giao; khuyến khích tăng cường quản lý thu, chống thất thu. </a:t>
            </a:r>
            <a:endParaRPr lang="en-US" sz="2400" dirty="0">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buNone/>
            </a:pPr>
            <a:r>
              <a:rPr lang="en-US" sz="2400" dirty="0">
                <a:highlight>
                  <a:srgbClr val="FFFFFF"/>
                </a:highlight>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Bảo đảm tỷ lệ phần trăm (%) phân chia các khoản thu cho ngân sách cấp tinh và ngân sách cấp xã bằng tỷ lệ phần trăm (%) phân chia của từng khoản thu ngân sách địa phương được hưởng (bao gồm các khoản thu ngân sách địa phương hưởng 100% và các khoản thu phân chia giữa ngân sách trung ương và ngân sách địa phương).</a:t>
            </a:r>
            <a:endParaRPr lang="en-US" sz="24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Nhiệm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vụ</a:t>
            </a:r>
            <a:r>
              <a:rPr lang="en-US" sz="2400" dirty="0">
                <a:highlight>
                  <a:srgbClr val="FFFFFF"/>
                </a:highlight>
                <a:latin typeface="Times New Roman" panose="02020603050405020304" pitchFamily="18" charset="0"/>
                <a:cs typeface="Times New Roman" panose="02020603050405020304" pitchFamily="18" charset="0"/>
              </a:rPr>
              <a:t> chi </a:t>
            </a:r>
            <a:r>
              <a:rPr lang="en-US" sz="2400" dirty="0" err="1">
                <a:highlight>
                  <a:srgbClr val="FFFFFF"/>
                </a:highlight>
                <a:latin typeface="Times New Roman" panose="02020603050405020304" pitchFamily="18" charset="0"/>
                <a:cs typeface="Times New Roman" panose="02020603050405020304" pitchFamily="18" charset="0"/>
              </a:rPr>
              <a:t>gắn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liền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với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vai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trò</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của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chính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quyền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thì</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cho</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sách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đó</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thực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hiện</a:t>
            </a:r>
            <a:r>
              <a:rPr lang="en-US" sz="2400" dirty="0">
                <a:highlight>
                  <a:srgbClr val="FFFFFF"/>
                </a:highlight>
                <a:latin typeface="Times New Roman" panose="02020603050405020304" pitchFamily="18" charset="0"/>
                <a:cs typeface="Times New Roman" panose="02020603050405020304" pitchFamily="18" charset="0"/>
              </a:rPr>
              <a:t>.</a:t>
            </a:r>
          </a:p>
          <a:p>
            <a:pPr marL="0" indent="0" algn="just">
              <a:lnSpc>
                <a:spcPct val="100000"/>
              </a:lnSpc>
              <a:buNone/>
            </a:pPr>
            <a:endParaRPr lang="vi-VN" sz="2400" b="1" dirty="0">
              <a:solidFill>
                <a:srgbClr val="000000"/>
              </a:solidFill>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buNone/>
            </a:pPr>
            <a:r>
              <a:rPr lang="vi-VN" sz="2400" b="1" dirty="0">
                <a:solidFill>
                  <a:srgbClr val="000000"/>
                </a:solidFill>
                <a:highlight>
                  <a:srgbClr val="FFFFFF"/>
                </a:highlight>
                <a:latin typeface="Times New Roman" panose="02020603050405020304" pitchFamily="18" charset="0"/>
                <a:cs typeface="Times New Roman" panose="02020603050405020304" pitchFamily="18" charset="0"/>
              </a:rPr>
              <a:t>	</a:t>
            </a:r>
            <a:endParaRPr lang="vi-VN" sz="2400" dirty="0">
              <a:solidFill>
                <a:srgbClr val="00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298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anim calcmode="lin" valueType="num">
                                      <p:cBhvr additive="base">
                                        <p:cTn id="43"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ED164-1625-71D4-353C-AF4631B5BD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512AAF-E99E-5772-ECA9-5DC8883DBC5D}"/>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 PHẠM VI THU, CHI NGÂN SÁCH XÃ</a:t>
            </a:r>
          </a:p>
        </p:txBody>
      </p:sp>
      <p:sp>
        <p:nvSpPr>
          <p:cNvPr id="9" name="Rectangle: Rounded Corners 8">
            <a:extLst>
              <a:ext uri="{FF2B5EF4-FFF2-40B4-BE49-F238E27FC236}">
                <a16:creationId xmlns:a16="http://schemas.microsoft.com/office/drawing/2014/main" id="{E275A2E6-7C6B-46A4-6A0E-EA4AFC5914B0}"/>
              </a:ext>
            </a:extLst>
          </p:cNvPr>
          <p:cNvSpPr/>
          <p:nvPr/>
        </p:nvSpPr>
        <p:spPr>
          <a:xfrm>
            <a:off x="1983409" y="166446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THU NGÂN SÁCH </a:t>
            </a:r>
          </a:p>
          <a:p>
            <a:pPr algn="ctr"/>
            <a:r>
              <a:rPr lang="en-US" sz="4400" b="1" dirty="0">
                <a:solidFill>
                  <a:schemeClr val="tx1"/>
                </a:solidFill>
                <a:latin typeface="Times New Roman" panose="02020603050405020304" pitchFamily="18" charset="0"/>
                <a:cs typeface="Times New Roman" panose="02020603050405020304" pitchFamily="18" charset="0"/>
              </a:rPr>
              <a:t>XÃ</a:t>
            </a:r>
          </a:p>
        </p:txBody>
      </p:sp>
      <p:sp>
        <p:nvSpPr>
          <p:cNvPr id="10" name="Rectangle: Rounded Corners 9">
            <a:extLst>
              <a:ext uri="{FF2B5EF4-FFF2-40B4-BE49-F238E27FC236}">
                <a16:creationId xmlns:a16="http://schemas.microsoft.com/office/drawing/2014/main" id="{9BD03166-BBED-6EA1-5216-2C881A34D850}"/>
              </a:ext>
            </a:extLst>
          </p:cNvPr>
          <p:cNvSpPr/>
          <p:nvPr/>
        </p:nvSpPr>
        <p:spPr>
          <a:xfrm>
            <a:off x="6378769" y="164541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CHI NGÂN SÁCH </a:t>
            </a:r>
          </a:p>
          <a:p>
            <a:pPr algn="ctr"/>
            <a:r>
              <a:rPr lang="en-US" sz="4400" b="1" dirty="0">
                <a:solidFill>
                  <a:schemeClr val="tx1"/>
                </a:solidFill>
                <a:latin typeface="Times New Roman" panose="02020603050405020304" pitchFamily="18" charset="0"/>
                <a:cs typeface="Times New Roman" panose="02020603050405020304" pitchFamily="18" charset="0"/>
              </a:rPr>
              <a:t>XÃ</a:t>
            </a:r>
          </a:p>
        </p:txBody>
      </p:sp>
    </p:spTree>
    <p:extLst>
      <p:ext uri="{BB962C8B-B14F-4D97-AF65-F5344CB8AC3E}">
        <p14:creationId xmlns:p14="http://schemas.microsoft.com/office/powerpoint/2010/main" val="1808242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011F-337A-A615-C572-88DECD98D0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51F686-1418-904A-ACA4-1F7F8609066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B23F94AE-0117-2EDE-3780-9667768D5DA9}"/>
              </a:ext>
            </a:extLst>
          </p:cNvPr>
          <p:cNvSpPr txBox="1">
            <a:spLocks/>
          </p:cNvSpPr>
          <p:nvPr/>
        </p:nvSpPr>
        <p:spPr>
          <a:xfrm>
            <a:off x="242277" y="1205344"/>
            <a:ext cx="11785601"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v"/>
            </a:pP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vi-VN" sz="3200" b="1" dirty="0">
                <a:solidFill>
                  <a:srgbClr val="FF0000"/>
                </a:solidFill>
                <a:highlight>
                  <a:srgbClr val="FFFFFF"/>
                </a:highlight>
                <a:latin typeface="Times New Roman" panose="02020603050405020304" pitchFamily="18" charset="0"/>
                <a:cs typeface="Times New Roman" panose="02020603050405020304" pitchFamily="18" charset="0"/>
              </a:rPr>
              <a:t>Thu ngân sách xã được hưởng bao gồ</a:t>
            </a:r>
            <a:r>
              <a:rPr lang="en-US" sz="3200" b="1" dirty="0">
                <a:solidFill>
                  <a:srgbClr val="FF0000"/>
                </a:solidFill>
                <a:highlight>
                  <a:srgbClr val="FFFFFF"/>
                </a:highlight>
                <a:latin typeface="Times New Roman" panose="02020603050405020304" pitchFamily="18" charset="0"/>
                <a:cs typeface="Times New Roman" panose="02020603050405020304" pitchFamily="18" charset="0"/>
              </a:rPr>
              <a:t>m:</a:t>
            </a:r>
            <a:endParaRPr lang="vi-VN" sz="3200"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r>
              <a:rPr lang="vi-VN" b="1" dirty="0">
                <a:solidFill>
                  <a:srgbClr val="000000"/>
                </a:solidFill>
                <a:highlight>
                  <a:srgbClr val="FFFFFF"/>
                </a:highlight>
                <a:latin typeface="+mj-lt"/>
              </a:rPr>
              <a:t>	</a:t>
            </a:r>
            <a:r>
              <a:rPr lang="vi-VN" sz="2400" b="1" dirty="0">
                <a:solidFill>
                  <a:srgbClr val="000000"/>
                </a:solidFill>
                <a:highlight>
                  <a:srgbClr val="FFFFFF"/>
                </a:highlight>
                <a:latin typeface="Times New Roman" panose="02020603050405020304" pitchFamily="18" charset="0"/>
                <a:cs typeface="Times New Roman" panose="02020603050405020304" pitchFamily="18" charset="0"/>
              </a:rPr>
              <a:t>-</a:t>
            </a:r>
            <a:r>
              <a:rPr lang="vi-VN" sz="2400" b="1" i="1" dirty="0">
                <a:solidFill>
                  <a:srgbClr val="000000"/>
                </a:solidFill>
                <a:highlight>
                  <a:srgbClr val="FFFFFF"/>
                </a:highlight>
                <a:latin typeface="Times New Roman" panose="02020603050405020304" pitchFamily="18" charset="0"/>
                <a:cs typeface="Times New Roman" panose="02020603050405020304" pitchFamily="18" charset="0"/>
              </a:rPr>
              <a:t> Các khoản thu NSX hưởng theo phân cấp</a:t>
            </a:r>
          </a:p>
          <a:p>
            <a:pPr marL="0" indent="0">
              <a:lnSpc>
                <a:spcPct val="100000"/>
              </a:lnSpc>
              <a:spcBef>
                <a:spcPts val="600"/>
              </a:spcBef>
              <a:spcAft>
                <a:spcPts val="600"/>
              </a:spcAft>
              <a:buFont typeface="Arial" panose="020B0604020202020204" pitchFamily="34" charset="0"/>
              <a:buNone/>
            </a:pPr>
            <a:r>
              <a:rPr lang="vi-VN" sz="2400" dirty="0">
                <a:solidFill>
                  <a:srgbClr val="000000"/>
                </a:solidFill>
                <a:highlight>
                  <a:srgbClr val="FFFFFF"/>
                </a:highlight>
                <a:latin typeface="Times New Roman" panose="02020603050405020304" pitchFamily="18" charset="0"/>
                <a:cs typeface="Times New Roman" panose="02020603050405020304" pitchFamily="18" charset="0"/>
              </a:rPr>
              <a:t>		+ Thu hưởng 100%</a:t>
            </a:r>
          </a:p>
          <a:p>
            <a:pPr marL="0" indent="0">
              <a:lnSpc>
                <a:spcPct val="100000"/>
              </a:lnSpc>
              <a:spcBef>
                <a:spcPts val="600"/>
              </a:spcBef>
              <a:spcAft>
                <a:spcPts val="600"/>
              </a:spcAft>
              <a:buFont typeface="Arial" panose="020B0604020202020204" pitchFamily="34" charset="0"/>
              <a:buNone/>
            </a:pPr>
            <a:r>
              <a:rPr lang="vi-VN" sz="2400" dirty="0">
                <a:solidFill>
                  <a:srgbClr val="000000"/>
                </a:solidFill>
                <a:highlight>
                  <a:srgbClr val="FFFFFF"/>
                </a:highlight>
                <a:latin typeface="Times New Roman" panose="02020603050405020304" pitchFamily="18" charset="0"/>
                <a:cs typeface="Times New Roman" panose="02020603050405020304" pitchFamily="18" charset="0"/>
              </a:rPr>
              <a:t>		+ Các khoản thu phân chia theo tỷ lệ % giữa NSX với NS cấp trên</a:t>
            </a:r>
          </a:p>
          <a:p>
            <a:pPr marL="0" indent="0">
              <a:lnSpc>
                <a:spcPct val="100000"/>
              </a:lnSpc>
              <a:spcBef>
                <a:spcPts val="600"/>
              </a:spcBef>
              <a:spcAft>
                <a:spcPts val="600"/>
              </a:spcAft>
              <a:buFont typeface="Arial" panose="020B0604020202020204" pitchFamily="34" charset="0"/>
              <a:buNone/>
            </a:pPr>
            <a:r>
              <a:rPr lang="vi-VN"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vi-VN" sz="2400" b="1" i="1" dirty="0">
                <a:solidFill>
                  <a:srgbClr val="000000"/>
                </a:solidFill>
                <a:highlight>
                  <a:srgbClr val="FFFFFF"/>
                </a:highlight>
                <a:latin typeface="Times New Roman" panose="02020603050405020304" pitchFamily="18" charset="0"/>
                <a:cs typeface="Times New Roman" panose="02020603050405020304" pitchFamily="18" charset="0"/>
              </a:rPr>
              <a:t>Thu bổ sung từ ngân sách cấp trên</a:t>
            </a:r>
            <a:endParaRPr lang="en-US" sz="2400" b="1" i="1" dirty="0">
              <a:solidFill>
                <a:srgbClr val="00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Font typeface="Arial" panose="020B0604020202020204" pitchFamily="34" charset="0"/>
              <a:buNone/>
            </a:pP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vi-VN" dirty="0">
                <a:solidFill>
                  <a:srgbClr val="000000"/>
                </a:solidFill>
                <a:highlight>
                  <a:srgbClr val="FFFFFF"/>
                </a:highlight>
                <a:latin typeface="+mj-lt"/>
              </a:rPr>
              <a:t>	</a:t>
            </a:r>
            <a:endParaRPr lang="vi-VN" dirty="0">
              <a:solidFill>
                <a:srgbClr val="C00000"/>
              </a:solidFill>
              <a:highlight>
                <a:srgbClr val="FFFFFF"/>
              </a:highlight>
              <a:latin typeface="+mj-lt"/>
            </a:endParaRPr>
          </a:p>
        </p:txBody>
      </p:sp>
    </p:spTree>
    <p:extLst>
      <p:ext uri="{BB962C8B-B14F-4D97-AF65-F5344CB8AC3E}">
        <p14:creationId xmlns:p14="http://schemas.microsoft.com/office/powerpoint/2010/main" val="294177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4065-961D-4C6D-3A59-B004CAB685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341F86-53C4-F90B-222D-34A3B0A9551C}"/>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THU NGÂN SÁCH XÃ</a:t>
            </a:r>
          </a:p>
        </p:txBody>
      </p:sp>
      <p:sp>
        <p:nvSpPr>
          <p:cNvPr id="2" name="Content Placeholder 3">
            <a:extLst>
              <a:ext uri="{FF2B5EF4-FFF2-40B4-BE49-F238E27FC236}">
                <a16:creationId xmlns:a16="http://schemas.microsoft.com/office/drawing/2014/main" id="{509EB779-7967-C807-032C-D44D9D78D8F8}"/>
              </a:ext>
            </a:extLst>
          </p:cNvPr>
          <p:cNvSpPr txBox="1">
            <a:spLocks/>
          </p:cNvSpPr>
          <p:nvPr/>
        </p:nvSpPr>
        <p:spPr>
          <a:xfrm>
            <a:off x="133350" y="1205345"/>
            <a:ext cx="11849100" cy="55549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v"/>
            </a:pPr>
            <a:r>
              <a:rPr lang="vi-VN" b="1" dirty="0">
                <a:solidFill>
                  <a:srgbClr val="FF0000"/>
                </a:solidFill>
                <a:latin typeface="Times New Roman" panose="02020603050405020304" pitchFamily="18" charset="0"/>
                <a:cs typeface="Times New Roman" panose="02020603050405020304" pitchFamily="18" charset="0"/>
              </a:rPr>
              <a:t> Thu NSX hưởng 100% </a:t>
            </a:r>
            <a:endParaRPr lang="en-US" b="1" dirty="0">
              <a:solidFill>
                <a:srgbClr val="FF0000"/>
              </a:solidFill>
              <a:latin typeface="Times New Roman" panose="02020603050405020304" pitchFamily="18" charset="0"/>
              <a:cs typeface="Times New Roman" panose="02020603050405020304" pitchFamily="18" charset="0"/>
            </a:endParaRPr>
          </a:p>
          <a:p>
            <a:pPr marL="0" indent="0" algn="just">
              <a:lnSpc>
                <a:spcPct val="120000"/>
              </a:lnSpc>
              <a:buNone/>
            </a:pPr>
            <a:r>
              <a:rPr lang="vi-VN" b="1" dirty="0">
                <a:solidFill>
                  <a:srgbClr val="FF0000"/>
                </a:solidFill>
                <a:highlight>
                  <a:srgbClr val="FFFFFF"/>
                </a:highlight>
                <a:latin typeface="Times New Roman" panose="02020603050405020304" pitchFamily="18" charset="0"/>
                <a:cs typeface="Times New Roman" panose="02020603050405020304" pitchFamily="18" charset="0"/>
              </a:rPr>
              <a:t>	</a:t>
            </a:r>
            <a:endParaRPr lang="vi-VN" b="1" dirty="0">
              <a:solidFill>
                <a:srgbClr val="00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25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74FF8-0057-9395-E26F-7EAB0E01A4A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7684BF-CC5B-BF39-CAD3-987E4FF5633E}"/>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3.1.1.THU NGÂN SÁCH XÃ</a:t>
            </a:r>
          </a:p>
        </p:txBody>
      </p:sp>
      <p:sp>
        <p:nvSpPr>
          <p:cNvPr id="5" name="TextBox 4">
            <a:extLst>
              <a:ext uri="{FF2B5EF4-FFF2-40B4-BE49-F238E27FC236}">
                <a16:creationId xmlns:a16="http://schemas.microsoft.com/office/drawing/2014/main" id="{9ADE2701-10D9-DA72-ABCF-2B3AFB24DEEF}"/>
              </a:ext>
            </a:extLst>
          </p:cNvPr>
          <p:cNvSpPr txBox="1"/>
          <p:nvPr/>
        </p:nvSpPr>
        <p:spPr>
          <a:xfrm>
            <a:off x="800100" y="2533650"/>
            <a:ext cx="10820400" cy="1200329"/>
          </a:xfrm>
          <a:prstGeom prst="rect">
            <a:avLst/>
          </a:prstGeom>
          <a:noFill/>
        </p:spPr>
        <p:txBody>
          <a:bodyPr wrap="square" rtlCol="0">
            <a:spAutoFit/>
          </a:bodyPr>
          <a:lstStyle/>
          <a:p>
            <a:r>
              <a:rPr lang="en-US" sz="3600" b="1" u="sng" dirty="0" err="1">
                <a:latin typeface="Times New Roman" panose="02020603050405020304" pitchFamily="18" charset="0"/>
                <a:cs typeface="Times New Roman" panose="02020603050405020304" pitchFamily="18" charset="0"/>
              </a:rPr>
              <a:t>Hỏi</a:t>
            </a:r>
            <a:r>
              <a:rPr lang="en-US" sz="3600" b="1" u="sng"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biệt</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sự</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khác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nhau</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giữa</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chuyển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nguồn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và</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kết</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dư</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sách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xã</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846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AC9A7-E7FC-764E-825A-02A512B53A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58C12F-3C37-8729-8DCD-4A18EB41C5FF}"/>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3.1.1.THU NGÂN SÁCH XÃ</a:t>
            </a:r>
          </a:p>
        </p:txBody>
      </p:sp>
      <p:sp>
        <p:nvSpPr>
          <p:cNvPr id="5" name="TextBox 4">
            <a:extLst>
              <a:ext uri="{FF2B5EF4-FFF2-40B4-BE49-F238E27FC236}">
                <a16:creationId xmlns:a16="http://schemas.microsoft.com/office/drawing/2014/main" id="{7F7189CC-1997-F90E-AE9B-F1DB7ABD4FED}"/>
              </a:ext>
            </a:extLst>
          </p:cNvPr>
          <p:cNvSpPr txBox="1"/>
          <p:nvPr/>
        </p:nvSpPr>
        <p:spPr>
          <a:xfrm>
            <a:off x="266700" y="1333500"/>
            <a:ext cx="11734800" cy="1200329"/>
          </a:xfrm>
          <a:prstGeom prst="rect">
            <a:avLst/>
          </a:prstGeom>
          <a:noFill/>
        </p:spPr>
        <p:txBody>
          <a:bodyPr wrap="square" rtlCol="0">
            <a:spAutoFit/>
          </a:bodyPr>
          <a:lstStyle/>
          <a:p>
            <a:r>
              <a:rPr lang="en-US" sz="3600" b="1" u="sng" dirty="0" err="1">
                <a:latin typeface="Times New Roman" panose="02020603050405020304" pitchFamily="18" charset="0"/>
                <a:cs typeface="Times New Roman" panose="02020603050405020304" pitchFamily="18" charset="0"/>
              </a:rPr>
              <a:t>Hỏi</a:t>
            </a:r>
            <a:r>
              <a:rPr lang="en-US" sz="3600" b="1" u="sng"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biệt</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sự</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khác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nhau</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giữa</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chuyển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nguồn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và</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kết</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dư</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sách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xã</a:t>
            </a:r>
            <a:endParaRPr lang="en-US" sz="36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A919887-4A72-F350-018B-1D884DE8EA9F}"/>
              </a:ext>
            </a:extLst>
          </p:cNvPr>
          <p:cNvGraphicFramePr>
            <a:graphicFrameLocks noGrp="1"/>
          </p:cNvGraphicFramePr>
          <p:nvPr>
            <p:extLst>
              <p:ext uri="{D42A27DB-BD31-4B8C-83A1-F6EECF244321}">
                <p14:modId xmlns:p14="http://schemas.microsoft.com/office/powerpoint/2010/main" val="2183797669"/>
              </p:ext>
            </p:extLst>
          </p:nvPr>
        </p:nvGraphicFramePr>
        <p:xfrm>
          <a:off x="266700" y="2681816"/>
          <a:ext cx="11601450" cy="3608832"/>
        </p:xfrm>
        <a:graphic>
          <a:graphicData uri="http://schemas.openxmlformats.org/drawingml/2006/table">
            <a:tbl>
              <a:tblPr firstRow="1" bandRow="1">
                <a:tableStyleId>{5940675A-B579-460E-94D1-54222C63F5DA}</a:tableStyleId>
              </a:tblPr>
              <a:tblGrid>
                <a:gridCol w="5800725">
                  <a:extLst>
                    <a:ext uri="{9D8B030D-6E8A-4147-A177-3AD203B41FA5}">
                      <a16:colId xmlns:a16="http://schemas.microsoft.com/office/drawing/2014/main" val="184280325"/>
                    </a:ext>
                  </a:extLst>
                </a:gridCol>
                <a:gridCol w="5800725">
                  <a:extLst>
                    <a:ext uri="{9D8B030D-6E8A-4147-A177-3AD203B41FA5}">
                      <a16:colId xmlns:a16="http://schemas.microsoft.com/office/drawing/2014/main" val="3085242186"/>
                    </a:ext>
                  </a:extLst>
                </a:gridCol>
              </a:tblGrid>
              <a:tr h="370840">
                <a:tc>
                  <a:txBody>
                    <a:bodyPr/>
                    <a:lstStyle/>
                    <a:p>
                      <a:pPr algn="ctr"/>
                      <a:r>
                        <a:rPr lang="en-US" sz="2800" b="1" dirty="0" err="1">
                          <a:latin typeface="Times New Roman" panose="02020603050405020304" pitchFamily="18" charset="0"/>
                          <a:cs typeface="Times New Roman" panose="02020603050405020304" pitchFamily="18" charset="0"/>
                        </a:rPr>
                        <a:t>Chuyển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nguồn</a:t>
                      </a:r>
                      <a:endParaRPr lang="en-US" sz="2800" b="1" dirty="0">
                        <a:latin typeface="Times New Roman" panose="02020603050405020304" pitchFamily="18" charset="0"/>
                        <a:cs typeface="Times New Roman" panose="02020603050405020304" pitchFamily="18" charset="0"/>
                      </a:endParaRPr>
                    </a:p>
                  </a:txBody>
                  <a:tcPr/>
                </a:tc>
                <a:tc>
                  <a:txBody>
                    <a:bodyPr/>
                    <a:lstStyle/>
                    <a:p>
                      <a:pPr algn="ctr"/>
                      <a:r>
                        <a:rPr lang="en-US" sz="2800" b="1" dirty="0" err="1">
                          <a:latin typeface="Times New Roman" panose="02020603050405020304" pitchFamily="18" charset="0"/>
                          <a:cs typeface="Times New Roman" panose="02020603050405020304" pitchFamily="18" charset="0"/>
                        </a:rPr>
                        <a:t>Kết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dư</a:t>
                      </a:r>
                      <a:endParaRPr lang="en-US" sz="2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435792"/>
                  </a:ext>
                </a:extLst>
              </a:tr>
              <a:tr h="3763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400" b="0" i="0" kern="1200" dirty="0">
                          <a:solidFill>
                            <a:srgbClr val="343434"/>
                          </a:solidFill>
                          <a:effectLst/>
                          <a:latin typeface="Times New Roman" panose="02020603050405020304" pitchFamily="18" charset="0"/>
                          <a:ea typeface="+mn-ea"/>
                          <a:cs typeface="Times New Roman" panose="02020603050405020304" pitchFamily="18" charset="0"/>
                        </a:rPr>
                        <a:t>Chuyển nguồn kinh phí NS năm trước sang năm sau là thực hiện các khoản chi đã được bố trí trong dự toán năm trước hoặc dự toán bổ sung, nhưng đến hết thời gian chỉnh lý chưa thực hiện hoặc thực hiện chưa đáp ứng các điều kiện nhất định và </a:t>
                      </a:r>
                      <a:r>
                        <a:rPr lang="vi-VN" sz="2400" b="1" i="0" kern="1200" dirty="0">
                          <a:solidFill>
                            <a:srgbClr val="343434"/>
                          </a:solidFill>
                          <a:effectLst/>
                          <a:latin typeface="Times New Roman" panose="02020603050405020304" pitchFamily="18" charset="0"/>
                          <a:ea typeface="+mn-ea"/>
                          <a:cs typeface="Times New Roman" panose="02020603050405020304" pitchFamily="18" charset="0"/>
                        </a:rPr>
                        <a:t>được cơ quan có thẩm quyền cho tiếp tục thực hiện </a:t>
                      </a:r>
                      <a:r>
                        <a:rPr lang="vi-VN" sz="2400" b="0" i="0" kern="1200" dirty="0">
                          <a:solidFill>
                            <a:srgbClr val="343434"/>
                          </a:solidFill>
                          <a:effectLst/>
                          <a:latin typeface="Times New Roman" panose="02020603050405020304" pitchFamily="18" charset="0"/>
                          <a:ea typeface="+mn-ea"/>
                          <a:cs typeface="Times New Roman" panose="02020603050405020304" pitchFamily="18" charset="0"/>
                        </a:rPr>
                        <a:t>chi vào NS năm sau. </a:t>
                      </a:r>
                    </a:p>
                  </a:txBody>
                  <a:tcPr/>
                </a:tc>
                <a:tc>
                  <a:txBody>
                    <a:bodyPr/>
                    <a:lstStyle/>
                    <a:p>
                      <a:pPr algn="just">
                        <a:lnSpc>
                          <a:spcPct val="120000"/>
                        </a:lnSpc>
                      </a:pPr>
                      <a:r>
                        <a:rPr lang="vi-VN" sz="2400" b="0" i="0" kern="1200" dirty="0">
                          <a:solidFill>
                            <a:srgbClr val="1F1F1F"/>
                          </a:solidFill>
                          <a:effectLst/>
                          <a:latin typeface="Times New Roman" panose="02020603050405020304" pitchFamily="18" charset="0"/>
                          <a:ea typeface="+mn-ea"/>
                          <a:cs typeface="Times New Roman" panose="02020603050405020304" pitchFamily="18" charset="0"/>
                        </a:rPr>
                        <a:t>Kết dư ngân sách là </a:t>
                      </a:r>
                      <a:r>
                        <a:rPr lang="vi-VN" sz="2400" b="0" i="0" kern="1200" dirty="0">
                          <a:solidFill>
                            <a:srgbClr val="040C28"/>
                          </a:solidFill>
                          <a:effectLst/>
                          <a:latin typeface="Times New Roman" panose="02020603050405020304" pitchFamily="18" charset="0"/>
                          <a:ea typeface="+mn-ea"/>
                          <a:cs typeface="Times New Roman" panose="02020603050405020304" pitchFamily="18" charset="0"/>
                        </a:rPr>
                        <a:t>chênh lệch lớn hơn giữa tổng số thu ngân sách so với tổng số chi ngân sách</a:t>
                      </a:r>
                      <a:r>
                        <a:rPr lang="en-US" sz="2400" b="0" i="0" kern="1200" dirty="0">
                          <a:solidFill>
                            <a:srgbClr val="040C28"/>
                          </a:solidFill>
                          <a:effectLst/>
                          <a:latin typeface="Times New Roman" panose="02020603050405020304" pitchFamily="18" charset="0"/>
                          <a:ea typeface="+mn-ea"/>
                          <a:cs typeface="Times New Roman" panose="02020603050405020304" pitchFamily="18" charset="0"/>
                        </a:rPr>
                        <a:t> </a:t>
                      </a:r>
                      <a:r>
                        <a:rPr lang="vi-VN" sz="2400" b="1" i="0" kern="1200" dirty="0">
                          <a:solidFill>
                            <a:srgbClr val="FF0000"/>
                          </a:solidFill>
                          <a:effectLst/>
                          <a:latin typeface="Times New Roman" panose="02020603050405020304" pitchFamily="18" charset="0"/>
                          <a:ea typeface="+mn-ea"/>
                          <a:cs typeface="Times New Roman" panose="02020603050405020304" pitchFamily="18" charset="0"/>
                        </a:rPr>
                        <a:t>của từng cấp ngân sách</a:t>
                      </a:r>
                      <a:r>
                        <a:rPr lang="vi-VN" sz="2400" b="0" i="0" kern="1200" dirty="0">
                          <a:solidFill>
                            <a:srgbClr val="040C28"/>
                          </a:solidFill>
                          <a:effectLst/>
                          <a:latin typeface="Times New Roman" panose="02020603050405020304" pitchFamily="18" charset="0"/>
                          <a:ea typeface="+mn-ea"/>
                          <a:cs typeface="Times New Roman" panose="02020603050405020304" pitchFamily="18" charset="0"/>
                        </a:rPr>
                        <a:t> sau khi kết thúc năm ngân sách</a:t>
                      </a:r>
                      <a:r>
                        <a:rPr lang="vi-VN" sz="2400" b="0" i="0" kern="1200" dirty="0">
                          <a:solidFill>
                            <a:srgbClr val="1F1F1F"/>
                          </a:solidFill>
                          <a:effectLst/>
                          <a:latin typeface="Times New Roman" panose="02020603050405020304" pitchFamily="18" charset="0"/>
                          <a:ea typeface="+mn-ea"/>
                          <a:cs typeface="Times New Roman" panose="02020603050405020304" pitchFamily="18" charset="0"/>
                        </a:rPr>
                        <a:t>. </a:t>
                      </a:r>
                    </a:p>
                    <a:p>
                      <a:pPr algn="just">
                        <a:lnSpc>
                          <a:spcPct val="120000"/>
                        </a:lnSpc>
                      </a:pPr>
                      <a:r>
                        <a:rPr lang="vi-VN" sz="2400" kern="1200" dirty="0">
                          <a:solidFill>
                            <a:schemeClr val="tx1"/>
                          </a:solidFill>
                          <a:latin typeface="Times New Roman" panose="02020603050405020304" pitchFamily="18" charset="0"/>
                          <a:ea typeface="+mn-ea"/>
                          <a:cs typeface="Times New Roman" panose="02020603050405020304" pitchFamily="18" charset="0"/>
                        </a:rPr>
                        <a:t>Kết dư ngân sách xã là số chênh lệch lớn hơn giữa số thực thu và số thực chi ngân sách xã.</a:t>
                      </a:r>
                      <a:endParaRPr lang="en-US" sz="2400" kern="0" dirty="0">
                        <a:solidFill>
                          <a:schemeClr val="tx1"/>
                        </a:solidFill>
                        <a:latin typeface="Times New Roman" panose="02020603050405020304" pitchFamily="18" charset="0"/>
                        <a:ea typeface="+mn-ea"/>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8215297"/>
                  </a:ext>
                </a:extLst>
              </a:tr>
            </a:tbl>
          </a:graphicData>
        </a:graphic>
      </p:graphicFrame>
    </p:spTree>
    <p:extLst>
      <p:ext uri="{BB962C8B-B14F-4D97-AF65-F5344CB8AC3E}">
        <p14:creationId xmlns:p14="http://schemas.microsoft.com/office/powerpoint/2010/main" val="1779076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719DD-1C95-A166-AC5D-AF976FFB64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67F3005-94DA-B23B-9F4B-17BBE4228A3D}"/>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3.1.1.THU NGÂN SÁCH XÃ</a:t>
            </a:r>
          </a:p>
        </p:txBody>
      </p:sp>
      <p:sp>
        <p:nvSpPr>
          <p:cNvPr id="3" name="Content Placeholder 3">
            <a:extLst>
              <a:ext uri="{FF2B5EF4-FFF2-40B4-BE49-F238E27FC236}">
                <a16:creationId xmlns:a16="http://schemas.microsoft.com/office/drawing/2014/main" id="{91649A30-AF84-D6CD-29A9-3747210F26B1}"/>
              </a:ext>
            </a:extLst>
          </p:cNvPr>
          <p:cNvSpPr txBox="1">
            <a:spLocks/>
          </p:cNvSpPr>
          <p:nvPr/>
        </p:nvSpPr>
        <p:spPr>
          <a:xfrm>
            <a:off x="406401" y="1165587"/>
            <a:ext cx="11574584" cy="5508071"/>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sz="12800" b="1" i="1">
                <a:solidFill>
                  <a:srgbClr val="FF0000"/>
                </a:solidFill>
                <a:latin typeface="+mj-lt"/>
                <a:cs typeface="Times" panose="02020603050405020304" pitchFamily="18" charset="0"/>
              </a:rPr>
              <a:t> </a:t>
            </a:r>
            <a:r>
              <a:rPr lang="vi-VN" sz="12800" b="1">
                <a:solidFill>
                  <a:srgbClr val="FF0000"/>
                </a:solidFill>
                <a:latin typeface="+mj-lt"/>
              </a:rPr>
              <a:t>Thu NSX hưởng theo tỉ lệ phần trăm (%) phân chia </a:t>
            </a:r>
          </a:p>
          <a:p>
            <a:pPr marL="0" indent="0">
              <a:lnSpc>
                <a:spcPct val="170000"/>
              </a:lnSpc>
              <a:buFont typeface="Arial" panose="020B0604020202020204" pitchFamily="34" charset="0"/>
              <a:buNone/>
            </a:pPr>
            <a:r>
              <a:rPr lang="vi-VN" sz="12800" b="1" i="1">
                <a:solidFill>
                  <a:srgbClr val="FF0000"/>
                </a:solidFill>
                <a:latin typeface="+mj-lt"/>
              </a:rPr>
              <a:t>	</a:t>
            </a:r>
            <a:r>
              <a:rPr lang="vi-VN" sz="12800" b="1" i="1">
                <a:latin typeface="+mj-lt"/>
              </a:rPr>
              <a:t>Là các khoản thu NSX hưởng theo tỷ lệ phần trăm phân chia (%) giữa NSX và NS cấp trên</a:t>
            </a:r>
            <a:endParaRPr lang="vi-VN" sz="12800" b="1" i="1">
              <a:solidFill>
                <a:srgbClr val="FF0000"/>
              </a:solidFill>
              <a:latin typeface="+mj-lt"/>
            </a:endParaRPr>
          </a:p>
          <a:p>
            <a:pPr marL="0" indent="0">
              <a:lnSpc>
                <a:spcPct val="170000"/>
              </a:lnSpc>
              <a:buFont typeface="Arial" panose="020B0604020202020204" pitchFamily="34" charset="0"/>
              <a:buNone/>
            </a:pPr>
            <a:r>
              <a:rPr lang="vi-VN" altLang="zh-CN" sz="12800" b="1" i="1">
                <a:latin typeface="Times New Roman" panose="02020603050405020304" pitchFamily="18" charset="0"/>
                <a:ea typeface="SimSun" panose="02010600030101010101" pitchFamily="2" charset="-122"/>
                <a:cs typeface="Times New Roman" panose="02020603050405020304" pitchFamily="18" charset="0"/>
              </a:rPr>
              <a:t>	</a:t>
            </a:r>
            <a:r>
              <a:rPr lang="vi-VN" sz="12800" b="1" i="1">
                <a:solidFill>
                  <a:srgbClr val="FF0000"/>
                </a:solidFill>
                <a:latin typeface="+mj-lt"/>
              </a:rPr>
              <a:t>Câu hỏi?</a:t>
            </a:r>
          </a:p>
          <a:p>
            <a:pPr marL="0" indent="0" algn="just">
              <a:lnSpc>
                <a:spcPct val="170000"/>
              </a:lnSpc>
              <a:buFont typeface="Arial" panose="020B0604020202020204" pitchFamily="34" charset="0"/>
              <a:buNone/>
            </a:pPr>
            <a:r>
              <a:rPr lang="vi-VN" altLang="zh-CN" sz="12800" b="1" i="1">
                <a:latin typeface="Times New Roman" panose="02020603050405020304" pitchFamily="18" charset="0"/>
                <a:ea typeface="SimSun" panose="02010600030101010101" pitchFamily="2" charset="-122"/>
                <a:cs typeface="Times New Roman" panose="02020603050405020304" pitchFamily="18" charset="0"/>
              </a:rPr>
              <a:t>	</a:t>
            </a:r>
            <a:r>
              <a:rPr lang="vi-VN" altLang="zh-CN" sz="12800">
                <a:latin typeface="Times New Roman" panose="02020603050405020304" pitchFamily="18" charset="0"/>
                <a:ea typeface="SimSun" panose="02010600030101010101" pitchFamily="2" charset="-122"/>
                <a:cs typeface="Times New Roman" panose="02020603050405020304" pitchFamily="18" charset="0"/>
              </a:rPr>
              <a:t>Theo các bạn </a:t>
            </a:r>
            <a:r>
              <a:rPr lang="it-IT" altLang="zh-CN" sz="12800">
                <a:latin typeface="Times New Roman" panose="02020603050405020304" pitchFamily="18" charset="0"/>
                <a:ea typeface="SimSun" panose="02010600030101010101" pitchFamily="2" charset="-122"/>
                <a:cs typeface="Times New Roman" panose="02020603050405020304" pitchFamily="18" charset="0"/>
              </a:rPr>
              <a:t>NSX được phân chia nguồn thu từ các khoản</a:t>
            </a:r>
            <a:r>
              <a:rPr lang="vi-VN" altLang="zh-CN" sz="12800">
                <a:latin typeface="Times New Roman" panose="02020603050405020304" pitchFamily="18" charset="0"/>
                <a:ea typeface="SimSun" panose="02010600030101010101" pitchFamily="2" charset="-122"/>
                <a:cs typeface="Times New Roman" panose="02020603050405020304" pitchFamily="18" charset="0"/>
              </a:rPr>
              <a:t> thu nào và Cơ quan nào có quyền quyết định tỉ lệ % các khoản thu phân chia giữa </a:t>
            </a:r>
            <a:r>
              <a:rPr lang="it-IT" altLang="zh-CN" sz="12800">
                <a:latin typeface="Times New Roman" panose="02020603050405020304" pitchFamily="18" charset="0"/>
                <a:ea typeface="SimSun" panose="02010600030101010101" pitchFamily="2" charset="-122"/>
                <a:cs typeface="Times New Roman" panose="02020603050405020304" pitchFamily="18" charset="0"/>
              </a:rPr>
              <a:t>NSX </a:t>
            </a:r>
            <a:r>
              <a:rPr lang="vi-VN" altLang="zh-CN" sz="12800">
                <a:latin typeface="Times New Roman" panose="02020603050405020304" pitchFamily="18" charset="0"/>
                <a:ea typeface="SimSun" panose="02010600030101010101" pitchFamily="2" charset="-122"/>
                <a:cs typeface="Times New Roman" panose="02020603050405020304" pitchFamily="18" charset="0"/>
              </a:rPr>
              <a:t>và ngân sách cấp trên?	</a:t>
            </a:r>
            <a:endParaRPr lang="en-US" sz="12800">
              <a:latin typeface="+mj-lt"/>
            </a:endParaRPr>
          </a:p>
          <a:p>
            <a:pPr>
              <a:lnSpc>
                <a:spcPct val="120000"/>
              </a:lnSpc>
              <a:buFontTx/>
              <a:buNone/>
            </a:pPr>
            <a:r>
              <a:rPr lang="vi-VN" sz="11200">
                <a:latin typeface="+mj-lt"/>
              </a:rPr>
              <a:t>		</a:t>
            </a:r>
            <a:endParaRPr lang="en-US" sz="11200" dirty="0">
              <a:latin typeface="+mj-lt"/>
            </a:endParaRPr>
          </a:p>
        </p:txBody>
      </p:sp>
    </p:spTree>
    <p:extLst>
      <p:ext uri="{BB962C8B-B14F-4D97-AF65-F5344CB8AC3E}">
        <p14:creationId xmlns:p14="http://schemas.microsoft.com/office/powerpoint/2010/main" val="1788614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C8FBB-0526-6DFF-F00A-2688FD60B4F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A94EA0B-9030-E53C-14F2-C8C2E76CAE73}"/>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29E0D159-25DF-74FA-72D0-8346004090F3}"/>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600"/>
              </a:spcAft>
              <a:buNone/>
            </a:pPr>
            <a:r>
              <a:rPr lang="vi-VN" sz="2400" b="1" dirty="0">
                <a:solidFill>
                  <a:srgbClr val="FF0000"/>
                </a:solidFill>
                <a:highlight>
                  <a:srgbClr val="FFFFFF"/>
                </a:highlight>
                <a:latin typeface="Arial" panose="020B0604020202020204" pitchFamily="34" charset="0"/>
                <a:cs typeface="Arial" panose="020B0604020202020204" pitchFamily="34" charset="0"/>
              </a:rPr>
              <a:t>Xác định tỷ lệ phần trăm (%) phân chia các khoản thu giữa ngân sách cấp tỉnh và ngân sách cấp </a:t>
            </a:r>
            <a:r>
              <a:rPr lang="az-Cyrl-AZ" sz="2400" b="1" dirty="0">
                <a:solidFill>
                  <a:srgbClr val="FF0000"/>
                </a:solidFill>
                <a:highlight>
                  <a:srgbClr val="FFFFFF"/>
                </a:highlight>
                <a:latin typeface="Arial" panose="020B0604020202020204" pitchFamily="34" charset="0"/>
                <a:cs typeface="Arial" panose="020B0604020202020204" pitchFamily="34" charset="0"/>
              </a:rPr>
              <a:t>х</a:t>
            </a:r>
            <a:r>
              <a:rPr lang="vi-VN" sz="2400" b="1" dirty="0">
                <a:solidFill>
                  <a:srgbClr val="FF0000"/>
                </a:solidFill>
                <a:highlight>
                  <a:srgbClr val="FFFFFF"/>
                </a:highlight>
                <a:latin typeface="Arial" panose="020B0604020202020204" pitchFamily="34" charset="0"/>
                <a:cs typeface="Arial" panose="020B0604020202020204" pitchFamily="34" charset="0"/>
              </a:rPr>
              <a:t>ã: </a:t>
            </a:r>
            <a:endParaRPr lang="en-US" sz="2400" b="1" dirty="0">
              <a:solidFill>
                <a:srgbClr val="FF0000"/>
              </a:solidFill>
              <a:highlight>
                <a:srgbClr val="FFFFFF"/>
              </a:highlight>
              <a:latin typeface="Arial" panose="020B0604020202020204" pitchFamily="34" charset="0"/>
              <a:cs typeface="Arial" panose="020B0604020202020204" pitchFamily="34" charset="0"/>
            </a:endParaRPr>
          </a:p>
          <a:p>
            <a:pPr marL="0" indent="0" algn="just">
              <a:lnSpc>
                <a:spcPct val="100000"/>
              </a:lnSpc>
              <a:spcBef>
                <a:spcPts val="600"/>
              </a:spcBef>
              <a:spcAft>
                <a:spcPts val="600"/>
              </a:spcAft>
              <a:buNone/>
            </a:pPr>
            <a:r>
              <a:rPr lang="en-US" sz="2000" dirty="0">
                <a:highlight>
                  <a:srgbClr val="FFFFFF"/>
                </a:highlight>
                <a:latin typeface="Arial" panose="020B0604020202020204" pitchFamily="34" charset="0"/>
                <a:cs typeface="Arial" panose="020B0604020202020204" pitchFamily="34" charset="0"/>
              </a:rPr>
              <a:t>a) </a:t>
            </a:r>
            <a:r>
              <a:rPr lang="vi-VN" sz="2000" dirty="0">
                <a:highlight>
                  <a:srgbClr val="FFFFFF"/>
                </a:highlight>
                <a:latin typeface="Arial" panose="020B0604020202020204" pitchFamily="34" charset="0"/>
                <a:cs typeface="Arial" panose="020B0604020202020204" pitchFamily="34" charset="0"/>
              </a:rPr>
              <a:t>Các khoản thu phân chia giữa ngân sách cấp tỉnh và ngân sách cấp xã gồm: Các khoản thu về thuế, phí, lệ phí và các khoản thu khác ngân sách địa phương hưởng 100% theo quy định tại khoản 1 Điều 5 của Thông tư này và phần ngân sách địa phương được hưởng từ các khoản thu phân chia giữa ngân sách trung ương và ngân sách địa phương theo quy định tại khoản 2 Điều 3 của Thông tư này; </a:t>
            </a:r>
            <a:endParaRPr lang="en-US" sz="2000" dirty="0">
              <a:highlight>
                <a:srgbClr val="FFFFFF"/>
              </a:highlight>
              <a:latin typeface="Arial" panose="020B0604020202020204" pitchFamily="34" charset="0"/>
              <a:cs typeface="Arial" panose="020B0604020202020204" pitchFamily="34" charset="0"/>
            </a:endParaRPr>
          </a:p>
          <a:p>
            <a:pPr marL="0" indent="0" algn="just">
              <a:lnSpc>
                <a:spcPct val="100000"/>
              </a:lnSpc>
              <a:spcBef>
                <a:spcPts val="600"/>
              </a:spcBef>
              <a:spcAft>
                <a:spcPts val="600"/>
              </a:spcAft>
              <a:buNone/>
            </a:pPr>
            <a:r>
              <a:rPr lang="vi-VN" sz="2000" dirty="0">
                <a:highlight>
                  <a:srgbClr val="FFFFFF"/>
                </a:highlight>
                <a:latin typeface="Arial" panose="020B0604020202020204" pitchFamily="34" charset="0"/>
                <a:cs typeface="Arial" panose="020B0604020202020204" pitchFamily="34" charset="0"/>
              </a:rPr>
              <a:t>b) Ủy ban nhân dân cấp tỉnh trình Hội đồng nhân dân cùng cấp quyết định phân cấp nguồn thu và tỷ lệ phần trăm (%) phân chia các khoản thu giữa ngân sách cấp tinh với ngân sách từng xã. Việc quyết định tỷ lệ phần trăm (%) phân chia các khoản thu giữa ngân sách cấp tinh và ngân sách từng xã có thể áp dụng cho từng khoản thu, bảo đảm vai trò chủ đạo của ngân sách cấp tỉnh, tỷ lệ được ồn định lâu dài để chủ động ngân sách cấp xã; c) Trong trường hợp Trung ương quyết định điều chỉnh tỷ lệ phân chia khoản thu giữa ngân sách trung ương và ngân sách địa phương hoặc có biến động lớn về thu, chi ngân sách địa phương hoặc có chênh lệch lớn về số thu, chi ngân sách giữa cấp tỉnh và cấp xã hoặc giữa các địa phương cấp xã cần phải điều chỉnh tỷ lệ phân chia các khoản thu cho phù hợp, Uy ban nhân dân cấp tỉnh trình Hội đồng nhân dân cùng cấp điều chỉnh tỷ lệ phần trăm (%) phân chia các khoàn thu giữa ngân sách cấp tỉnh và ngân sách cấp xã. </a:t>
            </a:r>
            <a:endParaRPr lang="vi-VN" sz="2000" dirty="0">
              <a:solidFill>
                <a:srgbClr val="C00000"/>
              </a:solidFill>
              <a:highlight>
                <a:srgbClr val="FFFFFF"/>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093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778DF-3DBC-3A7A-7D35-B6FEA60A9F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1BA5C6-BCF7-399F-1C8B-101E5800F877}"/>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3.1.1.THU NGÂN SÁCH XÃ</a:t>
            </a:r>
          </a:p>
        </p:txBody>
      </p:sp>
      <p:sp>
        <p:nvSpPr>
          <p:cNvPr id="2" name="Content Placeholder 3">
            <a:extLst>
              <a:ext uri="{FF2B5EF4-FFF2-40B4-BE49-F238E27FC236}">
                <a16:creationId xmlns:a16="http://schemas.microsoft.com/office/drawing/2014/main" id="{18EFBF43-1731-CC1C-6487-05D2B3EEB23F}"/>
              </a:ext>
            </a:extLst>
          </p:cNvPr>
          <p:cNvSpPr txBox="1">
            <a:spLocks/>
          </p:cNvSpPr>
          <p:nvPr/>
        </p:nvSpPr>
        <p:spPr>
          <a:xfrm>
            <a:off x="406401" y="1155942"/>
            <a:ext cx="11574584" cy="579901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sz="2400" b="1" i="1" dirty="0">
                <a:solidFill>
                  <a:srgbClr val="FF0000"/>
                </a:solidFill>
                <a:latin typeface="Times New Roman" panose="02020603050405020304" pitchFamily="18" charset="0"/>
                <a:cs typeface="Times New Roman" panose="02020603050405020304" pitchFamily="18" charset="0"/>
              </a:rPr>
              <a:t> </a:t>
            </a:r>
            <a:r>
              <a:rPr lang="vi-VN" sz="2400" b="1" dirty="0">
                <a:solidFill>
                  <a:srgbClr val="FF0000"/>
                </a:solidFill>
                <a:latin typeface="Times New Roman" panose="02020603050405020304" pitchFamily="18" charset="0"/>
                <a:cs typeface="Times New Roman" panose="02020603050405020304" pitchFamily="18" charset="0"/>
              </a:rPr>
              <a:t>Thu NSX hưởng theo tỉ lệ phần trăm (%) phân chia </a:t>
            </a:r>
          </a:p>
          <a:p>
            <a:pPr>
              <a:lnSpc>
                <a:spcPct val="170000"/>
              </a:lnSpc>
              <a:buFont typeface="Arial" panose="020B0604020202020204" pitchFamily="34" charset="0"/>
              <a:buNone/>
            </a:pPr>
            <a:r>
              <a:rPr lang="vi-VN" altLang="zh-CN" sz="2400" b="1" i="1" dirty="0">
                <a:latin typeface="Times New Roman" panose="02020603050405020304" pitchFamily="18" charset="0"/>
                <a:ea typeface="SimSun" panose="02010600030101010101" pitchFamily="2" charset="-122"/>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23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C51A6-8C55-E008-EB8A-0780D9D317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46DD43-4731-29E6-473F-6786A1423DAD}"/>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3.1.1.THU NGÂN SÁCH XÃ</a:t>
            </a:r>
          </a:p>
        </p:txBody>
      </p:sp>
      <p:sp>
        <p:nvSpPr>
          <p:cNvPr id="3" name="Content Placeholder 3">
            <a:extLst>
              <a:ext uri="{FF2B5EF4-FFF2-40B4-BE49-F238E27FC236}">
                <a16:creationId xmlns:a16="http://schemas.microsoft.com/office/drawing/2014/main" id="{FEB974D7-63FC-9EF1-A19C-D315A9E44B4C}"/>
              </a:ext>
            </a:extLst>
          </p:cNvPr>
          <p:cNvSpPr txBox="1">
            <a:spLocks/>
          </p:cNvSpPr>
          <p:nvPr/>
        </p:nvSpPr>
        <p:spPr>
          <a:xfrm>
            <a:off x="406401" y="1158142"/>
            <a:ext cx="11574584" cy="5650523"/>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sz="12800" b="1" i="1" dirty="0">
                <a:solidFill>
                  <a:srgbClr val="FF0000"/>
                </a:solidFill>
                <a:latin typeface="+mj-lt"/>
              </a:rPr>
              <a:t> </a:t>
            </a:r>
            <a:r>
              <a:rPr lang="vi-VN" sz="12800" b="1" dirty="0">
                <a:solidFill>
                  <a:srgbClr val="FF0000"/>
                </a:solidFill>
                <a:latin typeface="+mj-lt"/>
              </a:rPr>
              <a:t>Thu bổ sung từ ngân sách cấp </a:t>
            </a:r>
            <a:r>
              <a:rPr lang="en-US" sz="12800" b="1" dirty="0" err="1">
                <a:solidFill>
                  <a:srgbClr val="FF0000"/>
                </a:solidFill>
                <a:latin typeface="+mj-lt"/>
              </a:rPr>
              <a:t>tỉnh</a:t>
            </a:r>
            <a:r>
              <a:rPr lang="vi-VN" sz="12800" b="1" dirty="0">
                <a:solidFill>
                  <a:srgbClr val="FF0000"/>
                </a:solidFill>
                <a:latin typeface="+mj-lt"/>
              </a:rPr>
              <a:t> cho NSX</a:t>
            </a:r>
          </a:p>
          <a:p>
            <a:pPr marL="0" indent="0" algn="just">
              <a:lnSpc>
                <a:spcPct val="170000"/>
              </a:lnSpc>
              <a:buFont typeface="Arial" panose="020B0604020202020204" pitchFamily="34" charset="0"/>
              <a:buNone/>
            </a:pPr>
            <a:r>
              <a:rPr lang="vi-VN" sz="12800" b="1" i="1" dirty="0">
                <a:solidFill>
                  <a:srgbClr val="FF0000"/>
                </a:solidFill>
                <a:latin typeface="+mj-lt"/>
              </a:rPr>
              <a:t>	</a:t>
            </a:r>
            <a:r>
              <a:rPr lang="vi-VN" sz="12800" dirty="0">
                <a:solidFill>
                  <a:srgbClr val="000000"/>
                </a:solidFill>
                <a:latin typeface="Arial" panose="020B0604020202020204" pitchFamily="34" charset="0"/>
              </a:rPr>
              <a:t> </a:t>
            </a:r>
            <a:r>
              <a:rPr lang="vi-VN" sz="12800" b="1" i="1" dirty="0">
                <a:solidFill>
                  <a:srgbClr val="FF0000"/>
                </a:solidFill>
                <a:latin typeface="Arial" panose="020B0604020202020204" pitchFamily="34" charset="0"/>
              </a:rPr>
              <a:t>- </a:t>
            </a:r>
            <a:r>
              <a:rPr lang="vi-VN" sz="12800" b="1" i="1" dirty="0">
                <a:solidFill>
                  <a:srgbClr val="FF0000"/>
                </a:solidFill>
                <a:latin typeface="+mj-lt"/>
              </a:rPr>
              <a:t>Thu bổ sung cân đối ngân sách</a:t>
            </a:r>
          </a:p>
          <a:p>
            <a:pPr marL="0" indent="0" algn="just">
              <a:lnSpc>
                <a:spcPct val="170000"/>
              </a:lnSpc>
              <a:buNone/>
            </a:pPr>
            <a:r>
              <a:rPr lang="vi-VN" sz="12800" b="1" dirty="0">
                <a:solidFill>
                  <a:srgbClr val="000000"/>
                </a:solidFill>
                <a:latin typeface="+mj-lt"/>
              </a:rPr>
              <a:t>	+ </a:t>
            </a:r>
            <a:r>
              <a:rPr lang="vi-VN" sz="9600" dirty="0"/>
              <a:t>Đối với số bổ sung cân đối từ ngân sách cấp tỉnh cho ngân sách cấp xã được xác định căn cứ vào số chênh lệch giữa số c</a:t>
            </a:r>
            <a:r>
              <a:rPr lang="en-US" sz="9600" dirty="0"/>
              <a:t>hi</a:t>
            </a:r>
            <a:r>
              <a:rPr lang="vi-VN" sz="9600" dirty="0"/>
              <a:t> và số thu của ngân sách cấp xã (không bao gồm các khoản thu do Hội đồng nhân dân cấp tỉnh quyết định không dùng để xác định số bổ sung cân đối cho ngân sách cấp xã).</a:t>
            </a:r>
            <a:endParaRPr lang="vi-VN" sz="12800" i="1" dirty="0">
              <a:solidFill>
                <a:srgbClr val="000000"/>
              </a:solidFill>
              <a:latin typeface="+mj-lt"/>
            </a:endParaRPr>
          </a:p>
          <a:p>
            <a:pPr marL="0" indent="0" algn="just">
              <a:lnSpc>
                <a:spcPct val="170000"/>
              </a:lnSpc>
              <a:buFont typeface="Arial" panose="020B0604020202020204" pitchFamily="34" charset="0"/>
              <a:buNone/>
            </a:pPr>
            <a:r>
              <a:rPr lang="vi-VN" sz="12800" dirty="0">
                <a:solidFill>
                  <a:srgbClr val="000000"/>
                </a:solidFill>
                <a:latin typeface="+mj-lt"/>
              </a:rPr>
              <a:t>	</a:t>
            </a:r>
          </a:p>
          <a:p>
            <a:pPr marL="0" indent="0" algn="just">
              <a:lnSpc>
                <a:spcPct val="120000"/>
              </a:lnSpc>
              <a:buFont typeface="Arial" panose="020B0604020202020204" pitchFamily="34" charset="0"/>
              <a:buNone/>
            </a:pPr>
            <a:r>
              <a:rPr lang="vi-VN" sz="12800" dirty="0">
                <a:solidFill>
                  <a:srgbClr val="000000"/>
                </a:solidFill>
                <a:latin typeface="+mj-lt"/>
              </a:rPr>
              <a:t>	</a:t>
            </a:r>
            <a:endParaRPr lang="en-US" sz="11200" dirty="0">
              <a:latin typeface="+mj-lt"/>
            </a:endParaRPr>
          </a:p>
        </p:txBody>
      </p:sp>
    </p:spTree>
    <p:extLst>
      <p:ext uri="{BB962C8B-B14F-4D97-AF65-F5344CB8AC3E}">
        <p14:creationId xmlns:p14="http://schemas.microsoft.com/office/powerpoint/2010/main" val="2848201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4B4C2-328D-4FE4-2064-13E8AE9703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A2B0119-1419-FBD2-F697-BA692F371B21}"/>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3.1.1.THU NGÂN SÁCH XÃ</a:t>
            </a:r>
          </a:p>
        </p:txBody>
      </p:sp>
      <p:sp>
        <p:nvSpPr>
          <p:cNvPr id="3" name="Content Placeholder 3">
            <a:extLst>
              <a:ext uri="{FF2B5EF4-FFF2-40B4-BE49-F238E27FC236}">
                <a16:creationId xmlns:a16="http://schemas.microsoft.com/office/drawing/2014/main" id="{F6776772-6611-53C5-8A2A-04CA6E10B078}"/>
              </a:ext>
            </a:extLst>
          </p:cNvPr>
          <p:cNvSpPr txBox="1">
            <a:spLocks/>
          </p:cNvSpPr>
          <p:nvPr/>
        </p:nvSpPr>
        <p:spPr>
          <a:xfrm>
            <a:off x="406401" y="1158142"/>
            <a:ext cx="11574584" cy="56505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b="1" i="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Thu bổ sung từ ngân sách cấp </a:t>
            </a:r>
            <a:r>
              <a:rPr lang="en-US" b="1" dirty="0" err="1">
                <a:solidFill>
                  <a:srgbClr val="FF0000"/>
                </a:solidFill>
                <a:latin typeface="Times New Roman" panose="02020603050405020304" pitchFamily="18" charset="0"/>
                <a:cs typeface="Times New Roman" panose="02020603050405020304" pitchFamily="18" charset="0"/>
              </a:rPr>
              <a:t>tỉnh</a:t>
            </a:r>
            <a:r>
              <a:rPr lang="vi-VN"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7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r>
              <a:rPr lang="vi-VN" b="1" i="1" dirty="0">
                <a:solidFill>
                  <a:srgbClr val="FF0000"/>
                </a:solidFill>
                <a:latin typeface="Times New Roman" panose="02020603050405020304" pitchFamily="18" charset="0"/>
                <a:cs typeface="Times New Roman" panose="02020603050405020304" pitchFamily="18" charset="0"/>
              </a:rPr>
              <a:t>- Thu bổ sung </a:t>
            </a:r>
            <a:r>
              <a:rPr lang="en-US" b="1" i="1" dirty="0" err="1">
                <a:solidFill>
                  <a:srgbClr val="FF0000"/>
                </a:solidFill>
                <a:latin typeface="Times New Roman" panose="02020603050405020304" pitchFamily="18" charset="0"/>
                <a:cs typeface="Times New Roman" panose="02020603050405020304" pitchFamily="18" charset="0"/>
              </a:rPr>
              <a:t>có</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mục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tiêu</a:t>
            </a:r>
            <a:endParaRPr lang="vi-VN" b="1" i="1" dirty="0">
              <a:solidFill>
                <a:srgbClr val="FF0000"/>
              </a:solidFill>
              <a:latin typeface="Times New Roman" panose="02020603050405020304" pitchFamily="18" charset="0"/>
              <a:cs typeface="Times New Roman" panose="02020603050405020304" pitchFamily="18" charset="0"/>
            </a:endParaRPr>
          </a:p>
          <a:p>
            <a:pPr marL="0" indent="0" algn="just">
              <a:lnSpc>
                <a:spcPct val="170000"/>
              </a:lnSpc>
              <a:buNone/>
            </a:pPr>
            <a:r>
              <a:rPr lang="vi-VN" b="1"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Bổ sung ngân sách cấp dưới có mục tiêu là một phần của ngân sách được cấp trên cung cấp để hỗ trợ </a:t>
            </a:r>
            <a:r>
              <a:rPr lang="vi-VN" dirty="0">
                <a:solidFill>
                  <a:srgbClr val="FF0000"/>
                </a:solidFill>
                <a:latin typeface="Times New Roman" panose="02020603050405020304" pitchFamily="18" charset="0"/>
                <a:cs typeface="Times New Roman" panose="02020603050405020304" pitchFamily="18" charset="0"/>
              </a:rPr>
              <a:t>các mục tiêu</a:t>
            </a:r>
            <a:r>
              <a:rPr lang="vi-VN" dirty="0">
                <a:solidFill>
                  <a:srgbClr val="000000"/>
                </a:solidFill>
                <a:latin typeface="Times New Roman" panose="02020603050405020304" pitchFamily="18" charset="0"/>
                <a:cs typeface="Times New Roman" panose="02020603050405020304" pitchFamily="18" charset="0"/>
              </a:rPr>
              <a:t>, </a:t>
            </a:r>
            <a:r>
              <a:rPr lang="vi-VN" dirty="0">
                <a:solidFill>
                  <a:srgbClr val="FF0000"/>
                </a:solidFill>
                <a:latin typeface="Times New Roman" panose="02020603050405020304" pitchFamily="18" charset="0"/>
                <a:cs typeface="Times New Roman" panose="02020603050405020304" pitchFamily="18" charset="0"/>
              </a:rPr>
              <a:t>chương trình, dự án</a:t>
            </a:r>
            <a:r>
              <a:rPr lang="vi-VN" dirty="0">
                <a:solidFill>
                  <a:srgbClr val="000000"/>
                </a:solidFill>
                <a:latin typeface="Times New Roman" panose="02020603050405020304" pitchFamily="18" charset="0"/>
                <a:cs typeface="Times New Roman" panose="02020603050405020304" pitchFamily="18" charset="0"/>
              </a:rPr>
              <a:t>, hoặc </a:t>
            </a:r>
            <a:r>
              <a:rPr lang="vi-VN" dirty="0">
                <a:solidFill>
                  <a:srgbClr val="FF0000"/>
                </a:solidFill>
                <a:latin typeface="Times New Roman" panose="02020603050405020304" pitchFamily="18" charset="0"/>
                <a:cs typeface="Times New Roman" panose="02020603050405020304" pitchFamily="18" charset="0"/>
              </a:rPr>
              <a:t>nhiệm vụ cụ thể </a:t>
            </a:r>
            <a:r>
              <a:rPr lang="vi-VN" dirty="0">
                <a:solidFill>
                  <a:srgbClr val="000000"/>
                </a:solidFill>
                <a:latin typeface="Times New Roman" panose="02020603050405020304" pitchFamily="18" charset="0"/>
                <a:cs typeface="Times New Roman" panose="02020603050405020304" pitchFamily="18" charset="0"/>
              </a:rPr>
              <a:t>của các đơn vị cấp dưới.</a:t>
            </a:r>
          </a:p>
          <a:p>
            <a:pPr marL="0" indent="0" algn="just">
              <a:lnSpc>
                <a:spcPct val="170000"/>
              </a:lnSpc>
              <a:buNone/>
            </a:pPr>
            <a:endParaRPr lang="vi-VN" i="1" dirty="0">
              <a:solidFill>
                <a:srgbClr val="000000"/>
              </a:solidFill>
              <a:latin typeface="Times New Roman" panose="02020603050405020304" pitchFamily="18" charset="0"/>
              <a:cs typeface="Times New Roman" panose="02020603050405020304" pitchFamily="18" charset="0"/>
            </a:endParaRPr>
          </a:p>
          <a:p>
            <a:pPr marL="0" indent="0" algn="just">
              <a:lnSpc>
                <a:spcPct val="17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9334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309B0-0142-4AC9-B080-C612BB0E1D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0D20415-0AB9-0545-F5BA-048BFF6FEC0C}"/>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 CHI NGÂN SÁCH XÃ</a:t>
            </a:r>
          </a:p>
        </p:txBody>
      </p:sp>
    </p:spTree>
    <p:extLst>
      <p:ext uri="{BB962C8B-B14F-4D97-AF65-F5344CB8AC3E}">
        <p14:creationId xmlns:p14="http://schemas.microsoft.com/office/powerpoint/2010/main" val="1867568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5276</TotalTime>
  <Words>4690</Words>
  <Application>Microsoft Office PowerPoint</Application>
  <PresentationFormat>Widescreen</PresentationFormat>
  <Paragraphs>258</Paragraphs>
  <Slides>33</Slides>
  <Notes>22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33</vt:i4>
      </vt:variant>
    </vt:vector>
  </HeadingPairs>
  <TitlesOfParts>
    <vt:vector size="43" baseType="lpstr">
      <vt:lpstr>Aptos</vt:lpstr>
      <vt:lpstr>Aptos Display</vt:lpstr>
      <vt:lpstr>Arial</vt:lpstr>
      <vt:lpstr>Chivo</vt:lpstr>
      <vt:lpstr>Chivo Medium</vt:lpstr>
      <vt:lpstr>Gill Sans MT</vt:lpstr>
      <vt:lpstr>Times New Roman</vt:lpstr>
      <vt:lpstr>Wingdings</vt:lpstr>
      <vt:lpstr>Office Theme</vt:lpstr>
      <vt:lpstr>Gallery</vt:lpstr>
      <vt:lpstr>PowerPoint Presentation</vt:lpstr>
      <vt:lpstr>NỘI DUNG</vt:lpstr>
      <vt:lpstr>PowerPoint Presentation</vt:lpstr>
      <vt:lpstr>MỤC TIÊU CHƯƠNG 3</vt:lpstr>
      <vt:lpstr>TÀI LIỆU HỌC TẬP</vt:lpstr>
      <vt:lpstr>TÀI LIỆU HỌC TẬP</vt:lpstr>
      <vt:lpstr>TÀI LIỆU HỌC TẬP</vt:lpstr>
      <vt:lpstr>TÀI LIỆU HỌC TẬP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595</dc:creator>
  <cp:lastModifiedBy>Thang Tran Thanh</cp:lastModifiedBy>
  <cp:revision>38</cp:revision>
  <dcterms:created xsi:type="dcterms:W3CDTF">2025-05-08T12:26:13Z</dcterms:created>
  <dcterms:modified xsi:type="dcterms:W3CDTF">2026-04-13T15:44:30Z</dcterms:modified>
</cp:coreProperties>
</file>