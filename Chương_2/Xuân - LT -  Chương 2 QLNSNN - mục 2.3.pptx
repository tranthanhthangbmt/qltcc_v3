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48" r:id="rId1"/>
  </p:sldMasterIdLst>
  <p:notesMasterIdLst>
    <p:notesMasterId r:id="rId28"/>
  </p:notesMasterIdLst>
  <p:sldIdLst>
    <p:sldId id="3709" r:id="rId2"/>
    <p:sldId id="3711" r:id="rId3"/>
    <p:sldId id="3712" r:id="rId4"/>
    <p:sldId id="3713" r:id="rId5"/>
    <p:sldId id="3714" r:id="rId6"/>
    <p:sldId id="3715" r:id="rId7"/>
    <p:sldId id="3720" r:id="rId8"/>
    <p:sldId id="3716" r:id="rId9"/>
    <p:sldId id="3717" r:id="rId10"/>
    <p:sldId id="3721" r:id="rId11"/>
    <p:sldId id="3722" r:id="rId12"/>
    <p:sldId id="3723" r:id="rId13"/>
    <p:sldId id="3724" r:id="rId14"/>
    <p:sldId id="3719" r:id="rId15"/>
    <p:sldId id="3725" r:id="rId16"/>
    <p:sldId id="3718" r:id="rId17"/>
    <p:sldId id="3726" r:id="rId18"/>
    <p:sldId id="3727" r:id="rId19"/>
    <p:sldId id="3728" r:id="rId20"/>
    <p:sldId id="3729" r:id="rId21"/>
    <p:sldId id="3730" r:id="rId22"/>
    <p:sldId id="3731" r:id="rId23"/>
    <p:sldId id="3732" r:id="rId24"/>
    <p:sldId id="3733" r:id="rId25"/>
    <p:sldId id="3734" r:id="rId26"/>
    <p:sldId id="3492" r:id="rId27"/>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2B7D"/>
    <a:srgbClr val="E8E9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618" autoAdjust="0"/>
    <p:restoredTop sz="94061" autoAdjust="0"/>
  </p:normalViewPr>
  <p:slideViewPr>
    <p:cSldViewPr snapToGrid="0">
      <p:cViewPr varScale="1">
        <p:scale>
          <a:sx n="61" d="100"/>
          <a:sy n="61" d="100"/>
        </p:scale>
        <p:origin x="82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F8C07B6-2451-4D6C-9629-8791FF24AAD3}" type="doc">
      <dgm:prSet loTypeId="urn:microsoft.com/office/officeart/2008/layout/VerticalCurvedList" loCatId="list" qsTypeId="urn:microsoft.com/office/officeart/2005/8/quickstyle/3d3" qsCatId="3D" csTypeId="urn:microsoft.com/office/officeart/2005/8/colors/colorful1" csCatId="colorful" phldr="1"/>
      <dgm:spPr/>
      <dgm:t>
        <a:bodyPr/>
        <a:lstStyle/>
        <a:p>
          <a:endParaRPr lang="en-US"/>
        </a:p>
      </dgm:t>
    </dgm:pt>
    <dgm:pt modelId="{792DA5A3-6A82-4742-91F3-40BB5B5B2C0E}">
      <dgm:prSet custT="1"/>
      <dgm:spPr/>
      <dgm:t>
        <a:bodyPr/>
        <a:lstStyle/>
        <a:p>
          <a:pPr rtl="0"/>
          <a:r>
            <a:rPr lang="en-US" sz="3200" b="1">
              <a:latin typeface="Times New Roman" panose="02020603050405020304" pitchFamily="18" charset="0"/>
              <a:cs typeface="Times New Roman" panose="02020603050405020304" pitchFamily="18" charset="0"/>
            </a:rPr>
            <a:t>2.1. Khái niệm, phạm vi NSNN</a:t>
          </a:r>
          <a:endParaRPr lang="en-US" sz="3200" b="1" dirty="0">
            <a:latin typeface="Times New Roman" panose="02020603050405020304" pitchFamily="18" charset="0"/>
            <a:cs typeface="Times New Roman" panose="02020603050405020304" pitchFamily="18" charset="0"/>
          </a:endParaRPr>
        </a:p>
      </dgm:t>
    </dgm:pt>
    <dgm:pt modelId="{5F2147CC-BE4E-46A9-9B1B-C298902C2DD0}" type="parTrans" cxnId="{F24B02F3-7FA5-40E2-BD50-A284406546B7}">
      <dgm:prSet/>
      <dgm:spPr/>
      <dgm:t>
        <a:bodyPr/>
        <a:lstStyle/>
        <a:p>
          <a:endParaRPr lang="en-US"/>
        </a:p>
      </dgm:t>
    </dgm:pt>
    <dgm:pt modelId="{7894BB4F-5D6F-4C97-9953-BA046C48D141}" type="sibTrans" cxnId="{F24B02F3-7FA5-40E2-BD50-A284406546B7}">
      <dgm:prSet/>
      <dgm:spPr/>
      <dgm:t>
        <a:bodyPr/>
        <a:lstStyle/>
        <a:p>
          <a:endParaRPr lang="en-US"/>
        </a:p>
      </dgm:t>
    </dgm:pt>
    <dgm:pt modelId="{B722C70B-ED1D-4434-8C27-A18E327A1477}">
      <dgm:prSet custT="1"/>
      <dgm:spPr/>
      <dgm:t>
        <a:bodyPr/>
        <a:lstStyle/>
        <a:p>
          <a:pPr rtl="0"/>
          <a:r>
            <a:rPr lang="en-US" sz="3200" b="1">
              <a:latin typeface="Times New Roman" panose="02020603050405020304" pitchFamily="18" charset="0"/>
              <a:cs typeface="Times New Roman" panose="02020603050405020304" pitchFamily="18" charset="0"/>
            </a:rPr>
            <a:t>2.2. Phân cấp quản lý NSNN</a:t>
          </a:r>
          <a:endParaRPr lang="en-US" sz="3200" b="1" dirty="0">
            <a:latin typeface="Times New Roman" panose="02020603050405020304" pitchFamily="18" charset="0"/>
            <a:cs typeface="Times New Roman" panose="02020603050405020304" pitchFamily="18" charset="0"/>
          </a:endParaRPr>
        </a:p>
      </dgm:t>
    </dgm:pt>
    <dgm:pt modelId="{5AF53FBE-6F89-40DF-8ABC-19865F0811D2}" type="parTrans" cxnId="{82FD3E0E-89ED-4F96-A76E-F0D0A1F3E9FB}">
      <dgm:prSet/>
      <dgm:spPr/>
      <dgm:t>
        <a:bodyPr/>
        <a:lstStyle/>
        <a:p>
          <a:endParaRPr lang="en-US"/>
        </a:p>
      </dgm:t>
    </dgm:pt>
    <dgm:pt modelId="{7F4A9CD1-CB98-455E-9F74-A6A22A7EB265}" type="sibTrans" cxnId="{82FD3E0E-89ED-4F96-A76E-F0D0A1F3E9FB}">
      <dgm:prSet/>
      <dgm:spPr/>
      <dgm:t>
        <a:bodyPr/>
        <a:lstStyle/>
        <a:p>
          <a:endParaRPr lang="en-US"/>
        </a:p>
      </dgm:t>
    </dgm:pt>
    <dgm:pt modelId="{953ADA59-D3E1-40A1-8D4F-9A765A34DAF7}">
      <dgm:prSet custT="1"/>
      <dgm:spPr/>
      <dgm:t>
        <a:bodyPr/>
        <a:lstStyle/>
        <a:p>
          <a:pPr rtl="0"/>
          <a:r>
            <a:rPr lang="en-US" sz="3200" b="1">
              <a:latin typeface="Times New Roman" panose="02020603050405020304" pitchFamily="18" charset="0"/>
              <a:cs typeface="Times New Roman" panose="02020603050405020304" pitchFamily="18" charset="0"/>
            </a:rPr>
            <a:t>2.3. Chu trình quản lý NSNN</a:t>
          </a:r>
          <a:endParaRPr lang="en-US" sz="3200" b="1" dirty="0">
            <a:latin typeface="Times New Roman" panose="02020603050405020304" pitchFamily="18" charset="0"/>
            <a:cs typeface="Times New Roman" panose="02020603050405020304" pitchFamily="18" charset="0"/>
          </a:endParaRPr>
        </a:p>
      </dgm:t>
    </dgm:pt>
    <dgm:pt modelId="{3CA46FB3-6DD7-4AF9-90B0-25665D0BA84A}" type="parTrans" cxnId="{8AFC9255-09A1-4CBE-A6A4-02662B50AC0A}">
      <dgm:prSet/>
      <dgm:spPr/>
      <dgm:t>
        <a:bodyPr/>
        <a:lstStyle/>
        <a:p>
          <a:endParaRPr lang="en-US"/>
        </a:p>
      </dgm:t>
    </dgm:pt>
    <dgm:pt modelId="{8AC9B02A-2770-4CD3-AB0B-CF65885F17BF}" type="sibTrans" cxnId="{8AFC9255-09A1-4CBE-A6A4-02662B50AC0A}">
      <dgm:prSet/>
      <dgm:spPr/>
      <dgm:t>
        <a:bodyPr/>
        <a:lstStyle/>
        <a:p>
          <a:endParaRPr lang="en-US"/>
        </a:p>
      </dgm:t>
    </dgm:pt>
    <dgm:pt modelId="{2FD66D11-D4A9-4AF9-9814-3B1A70BF8713}">
      <dgm:prSet custT="1"/>
      <dgm:spPr/>
      <dgm:t>
        <a:bodyPr/>
        <a:lstStyle/>
        <a:p>
          <a:pPr rtl="0"/>
          <a:r>
            <a:rPr lang="en-US" sz="3200" b="1">
              <a:latin typeface="Times New Roman" panose="02020603050405020304" pitchFamily="18" charset="0"/>
              <a:cs typeface="Times New Roman" panose="02020603050405020304" pitchFamily="18" charset="0"/>
            </a:rPr>
            <a:t>2.4. Cân đối NSNN</a:t>
          </a:r>
          <a:endParaRPr lang="en-US" sz="3200" b="1" dirty="0">
            <a:latin typeface="Times New Roman" panose="02020603050405020304" pitchFamily="18" charset="0"/>
            <a:cs typeface="Times New Roman" panose="02020603050405020304" pitchFamily="18" charset="0"/>
          </a:endParaRPr>
        </a:p>
      </dgm:t>
    </dgm:pt>
    <dgm:pt modelId="{1DA4E948-1673-4AB0-9ADB-CCBD259F374D}" type="parTrans" cxnId="{C5220F29-079F-4D60-839B-844D29187AA5}">
      <dgm:prSet/>
      <dgm:spPr/>
      <dgm:t>
        <a:bodyPr/>
        <a:lstStyle/>
        <a:p>
          <a:endParaRPr lang="en-US"/>
        </a:p>
      </dgm:t>
    </dgm:pt>
    <dgm:pt modelId="{D9A9E89B-4428-4152-8AC4-45A620EAFC22}" type="sibTrans" cxnId="{C5220F29-079F-4D60-839B-844D29187AA5}">
      <dgm:prSet/>
      <dgm:spPr/>
      <dgm:t>
        <a:bodyPr/>
        <a:lstStyle/>
        <a:p>
          <a:endParaRPr lang="en-US"/>
        </a:p>
      </dgm:t>
    </dgm:pt>
    <dgm:pt modelId="{489BEF3D-90E3-45DD-89C3-AF664E0E5092}" type="pres">
      <dgm:prSet presAssocID="{EF8C07B6-2451-4D6C-9629-8791FF24AAD3}" presName="Name0" presStyleCnt="0">
        <dgm:presLayoutVars>
          <dgm:chMax val="7"/>
          <dgm:chPref val="7"/>
          <dgm:dir/>
        </dgm:presLayoutVars>
      </dgm:prSet>
      <dgm:spPr/>
    </dgm:pt>
    <dgm:pt modelId="{24624BDD-CFC4-4DBC-B564-CB39527E8CB3}" type="pres">
      <dgm:prSet presAssocID="{EF8C07B6-2451-4D6C-9629-8791FF24AAD3}" presName="Name1" presStyleCnt="0"/>
      <dgm:spPr/>
    </dgm:pt>
    <dgm:pt modelId="{6755D732-F83B-4459-8314-7BFAF651B430}" type="pres">
      <dgm:prSet presAssocID="{EF8C07B6-2451-4D6C-9629-8791FF24AAD3}" presName="cycle" presStyleCnt="0"/>
      <dgm:spPr/>
    </dgm:pt>
    <dgm:pt modelId="{D72F9A06-19AE-4322-8943-13F5A62FAA1B}" type="pres">
      <dgm:prSet presAssocID="{EF8C07B6-2451-4D6C-9629-8791FF24AAD3}" presName="srcNode" presStyleLbl="node1" presStyleIdx="0" presStyleCnt="4"/>
      <dgm:spPr/>
    </dgm:pt>
    <dgm:pt modelId="{FBEFBF75-64EB-4F7E-A926-A4E66F89C7B0}" type="pres">
      <dgm:prSet presAssocID="{EF8C07B6-2451-4D6C-9629-8791FF24AAD3}" presName="conn" presStyleLbl="parChTrans1D2" presStyleIdx="0" presStyleCnt="1"/>
      <dgm:spPr/>
    </dgm:pt>
    <dgm:pt modelId="{173AB7EC-8BFC-42E7-8C32-A6569A06A0BE}" type="pres">
      <dgm:prSet presAssocID="{EF8C07B6-2451-4D6C-9629-8791FF24AAD3}" presName="extraNode" presStyleLbl="node1" presStyleIdx="0" presStyleCnt="4"/>
      <dgm:spPr/>
    </dgm:pt>
    <dgm:pt modelId="{BFDD0280-CA4B-48C5-A027-9A0A8AD512AF}" type="pres">
      <dgm:prSet presAssocID="{EF8C07B6-2451-4D6C-9629-8791FF24AAD3}" presName="dstNode" presStyleLbl="node1" presStyleIdx="0" presStyleCnt="4"/>
      <dgm:spPr/>
    </dgm:pt>
    <dgm:pt modelId="{903D4C07-2F7B-4768-B940-9EC734D124AC}" type="pres">
      <dgm:prSet presAssocID="{792DA5A3-6A82-4742-91F3-40BB5B5B2C0E}" presName="text_1" presStyleLbl="node1" presStyleIdx="0" presStyleCnt="4">
        <dgm:presLayoutVars>
          <dgm:bulletEnabled val="1"/>
        </dgm:presLayoutVars>
      </dgm:prSet>
      <dgm:spPr/>
    </dgm:pt>
    <dgm:pt modelId="{88DED3E1-FEA1-4672-AE97-A4E37130614E}" type="pres">
      <dgm:prSet presAssocID="{792DA5A3-6A82-4742-91F3-40BB5B5B2C0E}" presName="accent_1" presStyleCnt="0"/>
      <dgm:spPr/>
    </dgm:pt>
    <dgm:pt modelId="{666DCB58-F458-4F2E-B413-E6EC71986A16}" type="pres">
      <dgm:prSet presAssocID="{792DA5A3-6A82-4742-91F3-40BB5B5B2C0E}" presName="accentRepeatNode" presStyleLbl="solidFgAcc1" presStyleIdx="0" presStyleCnt="4" custLinFactNeighborX="5596"/>
      <dgm:spPr/>
    </dgm:pt>
    <dgm:pt modelId="{A5EF71E6-87C1-4DA1-AFF7-D586E2B69EAC}" type="pres">
      <dgm:prSet presAssocID="{B722C70B-ED1D-4434-8C27-A18E327A1477}" presName="text_2" presStyleLbl="node1" presStyleIdx="1" presStyleCnt="4">
        <dgm:presLayoutVars>
          <dgm:bulletEnabled val="1"/>
        </dgm:presLayoutVars>
      </dgm:prSet>
      <dgm:spPr/>
    </dgm:pt>
    <dgm:pt modelId="{4D7DA0B5-4BD6-473B-9D94-709A90D5813E}" type="pres">
      <dgm:prSet presAssocID="{B722C70B-ED1D-4434-8C27-A18E327A1477}" presName="accent_2" presStyleCnt="0"/>
      <dgm:spPr/>
    </dgm:pt>
    <dgm:pt modelId="{03B14AF4-B5B8-4120-A94F-C42F3ACBD4C0}" type="pres">
      <dgm:prSet presAssocID="{B722C70B-ED1D-4434-8C27-A18E327A1477}" presName="accentRepeatNode" presStyleLbl="solidFgAcc1" presStyleIdx="1" presStyleCnt="4"/>
      <dgm:spPr/>
    </dgm:pt>
    <dgm:pt modelId="{F24AED53-8AE0-4CB9-A674-944D01F5AFA7}" type="pres">
      <dgm:prSet presAssocID="{953ADA59-D3E1-40A1-8D4F-9A765A34DAF7}" presName="text_3" presStyleLbl="node1" presStyleIdx="2" presStyleCnt="4">
        <dgm:presLayoutVars>
          <dgm:bulletEnabled val="1"/>
        </dgm:presLayoutVars>
      </dgm:prSet>
      <dgm:spPr/>
    </dgm:pt>
    <dgm:pt modelId="{CBA4C8A9-B062-4206-9D5F-771AF8547386}" type="pres">
      <dgm:prSet presAssocID="{953ADA59-D3E1-40A1-8D4F-9A765A34DAF7}" presName="accent_3" presStyleCnt="0"/>
      <dgm:spPr/>
    </dgm:pt>
    <dgm:pt modelId="{7E79FFA8-5D9C-4C34-BC10-348E5B7963B1}" type="pres">
      <dgm:prSet presAssocID="{953ADA59-D3E1-40A1-8D4F-9A765A34DAF7}" presName="accentRepeatNode" presStyleLbl="solidFgAcc1" presStyleIdx="2" presStyleCnt="4"/>
      <dgm:spPr/>
    </dgm:pt>
    <dgm:pt modelId="{6217FA50-8478-467B-ACA9-B6E1B62BD4D6}" type="pres">
      <dgm:prSet presAssocID="{2FD66D11-D4A9-4AF9-9814-3B1A70BF8713}" presName="text_4" presStyleLbl="node1" presStyleIdx="3" presStyleCnt="4" custScaleY="126380">
        <dgm:presLayoutVars>
          <dgm:bulletEnabled val="1"/>
        </dgm:presLayoutVars>
      </dgm:prSet>
      <dgm:spPr/>
    </dgm:pt>
    <dgm:pt modelId="{6E463F9C-C7C9-42A5-9C60-157BE3B22711}" type="pres">
      <dgm:prSet presAssocID="{2FD66D11-D4A9-4AF9-9814-3B1A70BF8713}" presName="accent_4" presStyleCnt="0"/>
      <dgm:spPr/>
    </dgm:pt>
    <dgm:pt modelId="{6E402C4B-EDFD-42F0-AB38-9FE8CE6F595A}" type="pres">
      <dgm:prSet presAssocID="{2FD66D11-D4A9-4AF9-9814-3B1A70BF8713}" presName="accentRepeatNode" presStyleLbl="solidFgAcc1" presStyleIdx="3" presStyleCnt="4"/>
      <dgm:spPr/>
    </dgm:pt>
  </dgm:ptLst>
  <dgm:cxnLst>
    <dgm:cxn modelId="{82FD3E0E-89ED-4F96-A76E-F0D0A1F3E9FB}" srcId="{EF8C07B6-2451-4D6C-9629-8791FF24AAD3}" destId="{B722C70B-ED1D-4434-8C27-A18E327A1477}" srcOrd="1" destOrd="0" parTransId="{5AF53FBE-6F89-40DF-8ABC-19865F0811D2}" sibTransId="{7F4A9CD1-CB98-455E-9F74-A6A22A7EB265}"/>
    <dgm:cxn modelId="{C5220F29-079F-4D60-839B-844D29187AA5}" srcId="{EF8C07B6-2451-4D6C-9629-8791FF24AAD3}" destId="{2FD66D11-D4A9-4AF9-9814-3B1A70BF8713}" srcOrd="3" destOrd="0" parTransId="{1DA4E948-1673-4AB0-9ADB-CCBD259F374D}" sibTransId="{D9A9E89B-4428-4152-8AC4-45A620EAFC22}"/>
    <dgm:cxn modelId="{57A2642E-7D51-4BFD-9D22-06A2214D0863}" type="presOf" srcId="{953ADA59-D3E1-40A1-8D4F-9A765A34DAF7}" destId="{F24AED53-8AE0-4CB9-A674-944D01F5AFA7}" srcOrd="0" destOrd="0" presId="urn:microsoft.com/office/officeart/2008/layout/VerticalCurvedList"/>
    <dgm:cxn modelId="{4B2E0F46-2820-42DB-ADE2-5C8AC73BAEB7}" type="presOf" srcId="{792DA5A3-6A82-4742-91F3-40BB5B5B2C0E}" destId="{903D4C07-2F7B-4768-B940-9EC734D124AC}" srcOrd="0" destOrd="0" presId="urn:microsoft.com/office/officeart/2008/layout/VerticalCurvedList"/>
    <dgm:cxn modelId="{10CC0C68-8D54-4858-9AEF-BC024304BE0F}" type="presOf" srcId="{B722C70B-ED1D-4434-8C27-A18E327A1477}" destId="{A5EF71E6-87C1-4DA1-AFF7-D586E2B69EAC}" srcOrd="0" destOrd="0" presId="urn:microsoft.com/office/officeart/2008/layout/VerticalCurvedList"/>
    <dgm:cxn modelId="{8AFC9255-09A1-4CBE-A6A4-02662B50AC0A}" srcId="{EF8C07B6-2451-4D6C-9629-8791FF24AAD3}" destId="{953ADA59-D3E1-40A1-8D4F-9A765A34DAF7}" srcOrd="2" destOrd="0" parTransId="{3CA46FB3-6DD7-4AF9-90B0-25665D0BA84A}" sibTransId="{8AC9B02A-2770-4CD3-AB0B-CF65885F17BF}"/>
    <dgm:cxn modelId="{C4D74F7D-9691-4E29-B2B5-ACBB4DFB61B5}" type="presOf" srcId="{EF8C07B6-2451-4D6C-9629-8791FF24AAD3}" destId="{489BEF3D-90E3-45DD-89C3-AF664E0E5092}" srcOrd="0" destOrd="0" presId="urn:microsoft.com/office/officeart/2008/layout/VerticalCurvedList"/>
    <dgm:cxn modelId="{035338A8-4D56-42BE-9811-6E7E08888E57}" type="presOf" srcId="{2FD66D11-D4A9-4AF9-9814-3B1A70BF8713}" destId="{6217FA50-8478-467B-ACA9-B6E1B62BD4D6}" srcOrd="0" destOrd="0" presId="urn:microsoft.com/office/officeart/2008/layout/VerticalCurvedList"/>
    <dgm:cxn modelId="{2B7C5DB2-9D29-4820-A252-ACE8193F4838}" type="presOf" srcId="{7894BB4F-5D6F-4C97-9953-BA046C48D141}" destId="{FBEFBF75-64EB-4F7E-A926-A4E66F89C7B0}" srcOrd="0" destOrd="0" presId="urn:microsoft.com/office/officeart/2008/layout/VerticalCurvedList"/>
    <dgm:cxn modelId="{F24B02F3-7FA5-40E2-BD50-A284406546B7}" srcId="{EF8C07B6-2451-4D6C-9629-8791FF24AAD3}" destId="{792DA5A3-6A82-4742-91F3-40BB5B5B2C0E}" srcOrd="0" destOrd="0" parTransId="{5F2147CC-BE4E-46A9-9B1B-C298902C2DD0}" sibTransId="{7894BB4F-5D6F-4C97-9953-BA046C48D141}"/>
    <dgm:cxn modelId="{FD4A724E-3AD6-49B1-B2A7-BAEE683AC3DB}" type="presParOf" srcId="{489BEF3D-90E3-45DD-89C3-AF664E0E5092}" destId="{24624BDD-CFC4-4DBC-B564-CB39527E8CB3}" srcOrd="0" destOrd="0" presId="urn:microsoft.com/office/officeart/2008/layout/VerticalCurvedList"/>
    <dgm:cxn modelId="{8AD4A9CE-4928-4273-ACFB-9571A35E7FDC}" type="presParOf" srcId="{24624BDD-CFC4-4DBC-B564-CB39527E8CB3}" destId="{6755D732-F83B-4459-8314-7BFAF651B430}" srcOrd="0" destOrd="0" presId="urn:microsoft.com/office/officeart/2008/layout/VerticalCurvedList"/>
    <dgm:cxn modelId="{C29FC153-B511-4EFB-B5F3-27DB3036BF54}" type="presParOf" srcId="{6755D732-F83B-4459-8314-7BFAF651B430}" destId="{D72F9A06-19AE-4322-8943-13F5A62FAA1B}" srcOrd="0" destOrd="0" presId="urn:microsoft.com/office/officeart/2008/layout/VerticalCurvedList"/>
    <dgm:cxn modelId="{99CEED9E-2EC1-47E8-9056-D945B77B2EED}" type="presParOf" srcId="{6755D732-F83B-4459-8314-7BFAF651B430}" destId="{FBEFBF75-64EB-4F7E-A926-A4E66F89C7B0}" srcOrd="1" destOrd="0" presId="urn:microsoft.com/office/officeart/2008/layout/VerticalCurvedList"/>
    <dgm:cxn modelId="{8515289F-3C6F-44BC-A9D6-0F681AAB1565}" type="presParOf" srcId="{6755D732-F83B-4459-8314-7BFAF651B430}" destId="{173AB7EC-8BFC-42E7-8C32-A6569A06A0BE}" srcOrd="2" destOrd="0" presId="urn:microsoft.com/office/officeart/2008/layout/VerticalCurvedList"/>
    <dgm:cxn modelId="{977ED362-1B7D-4902-B81F-4D07E951619A}" type="presParOf" srcId="{6755D732-F83B-4459-8314-7BFAF651B430}" destId="{BFDD0280-CA4B-48C5-A027-9A0A8AD512AF}" srcOrd="3" destOrd="0" presId="urn:microsoft.com/office/officeart/2008/layout/VerticalCurvedList"/>
    <dgm:cxn modelId="{C09BC704-A8B5-48BA-9B6C-97F6BEFF2232}" type="presParOf" srcId="{24624BDD-CFC4-4DBC-B564-CB39527E8CB3}" destId="{903D4C07-2F7B-4768-B940-9EC734D124AC}" srcOrd="1" destOrd="0" presId="urn:microsoft.com/office/officeart/2008/layout/VerticalCurvedList"/>
    <dgm:cxn modelId="{79DADFE1-1ABC-454E-B58A-ED71E9AD03A8}" type="presParOf" srcId="{24624BDD-CFC4-4DBC-B564-CB39527E8CB3}" destId="{88DED3E1-FEA1-4672-AE97-A4E37130614E}" srcOrd="2" destOrd="0" presId="urn:microsoft.com/office/officeart/2008/layout/VerticalCurvedList"/>
    <dgm:cxn modelId="{306118C0-37F7-4D2C-8C64-3D2E8646F512}" type="presParOf" srcId="{88DED3E1-FEA1-4672-AE97-A4E37130614E}" destId="{666DCB58-F458-4F2E-B413-E6EC71986A16}" srcOrd="0" destOrd="0" presId="urn:microsoft.com/office/officeart/2008/layout/VerticalCurvedList"/>
    <dgm:cxn modelId="{B3AF2C3F-17D4-4B2B-A619-CC85E9B923F4}" type="presParOf" srcId="{24624BDD-CFC4-4DBC-B564-CB39527E8CB3}" destId="{A5EF71E6-87C1-4DA1-AFF7-D586E2B69EAC}" srcOrd="3" destOrd="0" presId="urn:microsoft.com/office/officeart/2008/layout/VerticalCurvedList"/>
    <dgm:cxn modelId="{14042423-2D22-4D71-AEA0-F9EA291C39B3}" type="presParOf" srcId="{24624BDD-CFC4-4DBC-B564-CB39527E8CB3}" destId="{4D7DA0B5-4BD6-473B-9D94-709A90D5813E}" srcOrd="4" destOrd="0" presId="urn:microsoft.com/office/officeart/2008/layout/VerticalCurvedList"/>
    <dgm:cxn modelId="{F1D44F73-D35A-45CB-AC98-BD4457C555B1}" type="presParOf" srcId="{4D7DA0B5-4BD6-473B-9D94-709A90D5813E}" destId="{03B14AF4-B5B8-4120-A94F-C42F3ACBD4C0}" srcOrd="0" destOrd="0" presId="urn:microsoft.com/office/officeart/2008/layout/VerticalCurvedList"/>
    <dgm:cxn modelId="{7D99780B-900E-41B9-8ADA-7457F7E6B72C}" type="presParOf" srcId="{24624BDD-CFC4-4DBC-B564-CB39527E8CB3}" destId="{F24AED53-8AE0-4CB9-A674-944D01F5AFA7}" srcOrd="5" destOrd="0" presId="urn:microsoft.com/office/officeart/2008/layout/VerticalCurvedList"/>
    <dgm:cxn modelId="{6F0D4F8A-D762-494C-9334-7BA8FE22D6C2}" type="presParOf" srcId="{24624BDD-CFC4-4DBC-B564-CB39527E8CB3}" destId="{CBA4C8A9-B062-4206-9D5F-771AF8547386}" srcOrd="6" destOrd="0" presId="urn:microsoft.com/office/officeart/2008/layout/VerticalCurvedList"/>
    <dgm:cxn modelId="{1E22DC35-9D61-4A29-B92B-1FB40C35FDD9}" type="presParOf" srcId="{CBA4C8A9-B062-4206-9D5F-771AF8547386}" destId="{7E79FFA8-5D9C-4C34-BC10-348E5B7963B1}" srcOrd="0" destOrd="0" presId="urn:microsoft.com/office/officeart/2008/layout/VerticalCurvedList"/>
    <dgm:cxn modelId="{76173AD1-E87C-41B4-88EC-F8BD95EF3413}" type="presParOf" srcId="{24624BDD-CFC4-4DBC-B564-CB39527E8CB3}" destId="{6217FA50-8478-467B-ACA9-B6E1B62BD4D6}" srcOrd="7" destOrd="0" presId="urn:microsoft.com/office/officeart/2008/layout/VerticalCurvedList"/>
    <dgm:cxn modelId="{89F9B745-228A-412A-AEE9-C6D289F3B085}" type="presParOf" srcId="{24624BDD-CFC4-4DBC-B564-CB39527E8CB3}" destId="{6E463F9C-C7C9-42A5-9C60-157BE3B22711}" srcOrd="8" destOrd="0" presId="urn:microsoft.com/office/officeart/2008/layout/VerticalCurvedList"/>
    <dgm:cxn modelId="{76A8424A-D066-4466-BA96-2C1D4662DBEB}" type="presParOf" srcId="{6E463F9C-C7C9-42A5-9C60-157BE3B22711}" destId="{6E402C4B-EDFD-42F0-AB38-9FE8CE6F595A}"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412BE1E-E3DA-4774-96A7-36A3AB0832D9}" type="doc">
      <dgm:prSet loTypeId="urn:microsoft.com/office/officeart/2005/8/layout/cycle2" loCatId="cycle" qsTypeId="urn:microsoft.com/office/officeart/2005/8/quickstyle/simple1" qsCatId="simple" csTypeId="urn:microsoft.com/office/officeart/2005/8/colors/colorful4" csCatId="colorful" phldr="1"/>
      <dgm:spPr/>
      <dgm:t>
        <a:bodyPr/>
        <a:lstStyle/>
        <a:p>
          <a:endParaRPr lang="en-US"/>
        </a:p>
      </dgm:t>
    </dgm:pt>
    <dgm:pt modelId="{4D581CB1-1A50-45DF-B584-31E2CBDEB2E0}">
      <dgm:prSet custT="1"/>
      <dgm:spPr/>
      <dgm:t>
        <a:bodyPr/>
        <a:lstStyle/>
        <a:p>
          <a:pPr rtl="0"/>
          <a:r>
            <a:rPr lang="en-US" sz="4000" dirty="0">
              <a:solidFill>
                <a:schemeClr val="tx1"/>
              </a:solidFill>
              <a:latin typeface="Times New Roman" panose="02020603050405020304" pitchFamily="18" charset="0"/>
              <a:cs typeface="Times New Roman" panose="02020603050405020304" pitchFamily="18" charset="0"/>
            </a:rPr>
            <a:t> </a:t>
          </a:r>
          <a:r>
            <a:rPr lang="en-US" sz="3600" b="1" dirty="0" err="1">
              <a:solidFill>
                <a:schemeClr val="bg1"/>
              </a:solidFill>
              <a:latin typeface="Times New Roman" panose="02020603050405020304" pitchFamily="18" charset="0"/>
              <a:cs typeface="Times New Roman" panose="02020603050405020304" pitchFamily="18" charset="0"/>
            </a:rPr>
            <a:t>Lập</a:t>
          </a:r>
          <a:r>
            <a:rPr lang="en-US" sz="3600" b="1" dirty="0">
              <a:solidFill>
                <a:schemeClr val="bg1"/>
              </a:solidFill>
              <a:latin typeface="Times New Roman" panose="02020603050405020304" pitchFamily="18" charset="0"/>
              <a:cs typeface="Times New Roman" panose="02020603050405020304" pitchFamily="18" charset="0"/>
            </a:rPr>
            <a:t> </a:t>
          </a:r>
          <a:r>
            <a:rPr lang="en-US" sz="3600" b="1" dirty="0" err="1">
              <a:solidFill>
                <a:schemeClr val="bg1"/>
              </a:solidFill>
              <a:latin typeface="Times New Roman" panose="02020603050405020304" pitchFamily="18" charset="0"/>
              <a:cs typeface="Times New Roman" panose="02020603050405020304" pitchFamily="18" charset="0"/>
            </a:rPr>
            <a:t>dự</a:t>
          </a:r>
          <a:r>
            <a:rPr lang="en-US" sz="3600" b="1" dirty="0">
              <a:solidFill>
                <a:schemeClr val="bg1"/>
              </a:solidFill>
              <a:latin typeface="Times New Roman" panose="02020603050405020304" pitchFamily="18" charset="0"/>
              <a:cs typeface="Times New Roman" panose="02020603050405020304" pitchFamily="18" charset="0"/>
            </a:rPr>
            <a:t> </a:t>
          </a:r>
          <a:r>
            <a:rPr lang="en-US" sz="3600" b="1" dirty="0" err="1">
              <a:solidFill>
                <a:schemeClr val="bg1"/>
              </a:solidFill>
              <a:latin typeface="Times New Roman" panose="02020603050405020304" pitchFamily="18" charset="0"/>
              <a:cs typeface="Times New Roman" panose="02020603050405020304" pitchFamily="18" charset="0"/>
            </a:rPr>
            <a:t>toán</a:t>
          </a:r>
          <a:r>
            <a:rPr lang="en-US" sz="3600" b="1" dirty="0">
              <a:solidFill>
                <a:schemeClr val="bg1"/>
              </a:solidFill>
              <a:latin typeface="Times New Roman" panose="02020603050405020304" pitchFamily="18" charset="0"/>
              <a:cs typeface="Times New Roman" panose="02020603050405020304" pitchFamily="18" charset="0"/>
            </a:rPr>
            <a:t> </a:t>
          </a:r>
        </a:p>
      </dgm:t>
    </dgm:pt>
    <dgm:pt modelId="{962818E4-5060-407C-B3C0-4063DCD3DA44}" type="parTrans" cxnId="{8D16EF44-7FE3-4E31-B4E6-D7B933BB843A}">
      <dgm:prSet/>
      <dgm:spPr/>
      <dgm:t>
        <a:bodyPr/>
        <a:lstStyle/>
        <a:p>
          <a:endParaRPr lang="en-US"/>
        </a:p>
      </dgm:t>
    </dgm:pt>
    <dgm:pt modelId="{67FCECB1-1C3E-43FB-A3B2-242A50956A77}" type="sibTrans" cxnId="{8D16EF44-7FE3-4E31-B4E6-D7B933BB843A}">
      <dgm:prSet/>
      <dgm:spPr/>
      <dgm:t>
        <a:bodyPr/>
        <a:lstStyle/>
        <a:p>
          <a:endParaRPr lang="en-US"/>
        </a:p>
      </dgm:t>
    </dgm:pt>
    <dgm:pt modelId="{69B8CB5F-74C6-4518-B2A2-9812878E128C}">
      <dgm:prSet custT="1"/>
      <dgm:spPr/>
      <dgm:t>
        <a:bodyPr/>
        <a:lstStyle/>
        <a:p>
          <a:pPr rtl="0"/>
          <a:r>
            <a:rPr lang="en-US" sz="3600" b="1" dirty="0" err="1">
              <a:solidFill>
                <a:schemeClr val="bg1"/>
              </a:solidFill>
              <a:latin typeface="Times New Roman" panose="02020603050405020304" pitchFamily="18" charset="0"/>
              <a:cs typeface="Times New Roman" panose="02020603050405020304" pitchFamily="18" charset="0"/>
            </a:rPr>
            <a:t>Chấp</a:t>
          </a:r>
          <a:r>
            <a:rPr lang="en-US" sz="3600" b="1" dirty="0">
              <a:solidFill>
                <a:schemeClr val="bg1"/>
              </a:solidFill>
              <a:latin typeface="Times New Roman" panose="02020603050405020304" pitchFamily="18" charset="0"/>
              <a:cs typeface="Times New Roman" panose="02020603050405020304" pitchFamily="18" charset="0"/>
            </a:rPr>
            <a:t> </a:t>
          </a:r>
          <a:r>
            <a:rPr lang="en-US" sz="3600" b="1" dirty="0" err="1">
              <a:solidFill>
                <a:schemeClr val="bg1"/>
              </a:solidFill>
              <a:latin typeface="Times New Roman" panose="02020603050405020304" pitchFamily="18" charset="0"/>
              <a:cs typeface="Times New Roman" panose="02020603050405020304" pitchFamily="18" charset="0"/>
            </a:rPr>
            <a:t>hành</a:t>
          </a:r>
          <a:endParaRPr lang="en-US" sz="3600" b="1" dirty="0">
            <a:solidFill>
              <a:schemeClr val="bg1"/>
            </a:solidFill>
            <a:latin typeface="Times New Roman" panose="02020603050405020304" pitchFamily="18" charset="0"/>
            <a:cs typeface="Times New Roman" panose="02020603050405020304" pitchFamily="18" charset="0"/>
          </a:endParaRPr>
        </a:p>
      </dgm:t>
    </dgm:pt>
    <dgm:pt modelId="{3072DFDD-5D0E-4D39-846D-7EABC796F2A4}" type="parTrans" cxnId="{A8267C47-4496-453A-A441-8C9F2C760B63}">
      <dgm:prSet/>
      <dgm:spPr/>
      <dgm:t>
        <a:bodyPr/>
        <a:lstStyle/>
        <a:p>
          <a:endParaRPr lang="en-US"/>
        </a:p>
      </dgm:t>
    </dgm:pt>
    <dgm:pt modelId="{AC564AF1-C226-4C24-AE70-576780A3ADFD}" type="sibTrans" cxnId="{A8267C47-4496-453A-A441-8C9F2C760B63}">
      <dgm:prSet/>
      <dgm:spPr/>
      <dgm:t>
        <a:bodyPr/>
        <a:lstStyle/>
        <a:p>
          <a:endParaRPr lang="en-US"/>
        </a:p>
      </dgm:t>
    </dgm:pt>
    <dgm:pt modelId="{8804D60A-0852-40BE-9352-DA7544F68389}">
      <dgm:prSet custT="1"/>
      <dgm:spPr/>
      <dgm:t>
        <a:bodyPr/>
        <a:lstStyle/>
        <a:p>
          <a:pPr rtl="0"/>
          <a:r>
            <a:rPr lang="en-US" sz="3600" b="1" dirty="0" err="1">
              <a:solidFill>
                <a:schemeClr val="bg1"/>
              </a:solidFill>
              <a:latin typeface="Times New Roman" panose="02020603050405020304" pitchFamily="18" charset="0"/>
              <a:cs typeface="Times New Roman" panose="02020603050405020304" pitchFamily="18" charset="0"/>
            </a:rPr>
            <a:t>Quyết</a:t>
          </a:r>
          <a:r>
            <a:rPr lang="en-US" sz="3600" b="1" dirty="0">
              <a:solidFill>
                <a:schemeClr val="bg1"/>
              </a:solidFill>
              <a:latin typeface="Times New Roman" panose="02020603050405020304" pitchFamily="18" charset="0"/>
              <a:cs typeface="Times New Roman" panose="02020603050405020304" pitchFamily="18" charset="0"/>
            </a:rPr>
            <a:t> </a:t>
          </a:r>
          <a:r>
            <a:rPr lang="en-US" sz="3600" b="1" dirty="0" err="1">
              <a:solidFill>
                <a:schemeClr val="bg1"/>
              </a:solidFill>
              <a:latin typeface="Times New Roman" panose="02020603050405020304" pitchFamily="18" charset="0"/>
              <a:cs typeface="Times New Roman" panose="02020603050405020304" pitchFamily="18" charset="0"/>
            </a:rPr>
            <a:t>toán</a:t>
          </a:r>
          <a:r>
            <a:rPr lang="en-US" sz="3600" b="1" dirty="0">
              <a:solidFill>
                <a:schemeClr val="bg1"/>
              </a:solidFill>
              <a:latin typeface="Times New Roman" panose="02020603050405020304" pitchFamily="18" charset="0"/>
              <a:cs typeface="Times New Roman" panose="02020603050405020304" pitchFamily="18" charset="0"/>
            </a:rPr>
            <a:t> </a:t>
          </a:r>
        </a:p>
      </dgm:t>
    </dgm:pt>
    <dgm:pt modelId="{23B8E42F-7A04-428E-A188-BFFBD1C8D1D2}" type="parTrans" cxnId="{7259869B-9900-491A-9527-291AAD3143C9}">
      <dgm:prSet/>
      <dgm:spPr/>
      <dgm:t>
        <a:bodyPr/>
        <a:lstStyle/>
        <a:p>
          <a:endParaRPr lang="en-US"/>
        </a:p>
      </dgm:t>
    </dgm:pt>
    <dgm:pt modelId="{A8E205A4-56D8-4B07-92DA-BE4C4691A56C}" type="sibTrans" cxnId="{7259869B-9900-491A-9527-291AAD3143C9}">
      <dgm:prSet/>
      <dgm:spPr/>
      <dgm:t>
        <a:bodyPr/>
        <a:lstStyle/>
        <a:p>
          <a:endParaRPr lang="en-US"/>
        </a:p>
      </dgm:t>
    </dgm:pt>
    <dgm:pt modelId="{A21BB6E5-E4C7-4AF1-896B-D95B991B07FC}" type="pres">
      <dgm:prSet presAssocID="{F412BE1E-E3DA-4774-96A7-36A3AB0832D9}" presName="cycle" presStyleCnt="0">
        <dgm:presLayoutVars>
          <dgm:dir/>
          <dgm:resizeHandles val="exact"/>
        </dgm:presLayoutVars>
      </dgm:prSet>
      <dgm:spPr/>
    </dgm:pt>
    <dgm:pt modelId="{E9DFD7D4-D618-4009-82B6-6D3DA5303071}" type="pres">
      <dgm:prSet presAssocID="{4D581CB1-1A50-45DF-B584-31E2CBDEB2E0}" presName="node" presStyleLbl="node1" presStyleIdx="0" presStyleCnt="3" custScaleX="140711" custScaleY="82756">
        <dgm:presLayoutVars>
          <dgm:bulletEnabled val="1"/>
        </dgm:presLayoutVars>
      </dgm:prSet>
      <dgm:spPr/>
    </dgm:pt>
    <dgm:pt modelId="{316B21D6-64B6-44B2-BAF4-D35B06D56BCE}" type="pres">
      <dgm:prSet presAssocID="{67FCECB1-1C3E-43FB-A3B2-242A50956A77}" presName="sibTrans" presStyleLbl="sibTrans2D1" presStyleIdx="0" presStyleCnt="3"/>
      <dgm:spPr/>
    </dgm:pt>
    <dgm:pt modelId="{7BA65CA6-E631-4E44-ADCA-BF77175404B8}" type="pres">
      <dgm:prSet presAssocID="{67FCECB1-1C3E-43FB-A3B2-242A50956A77}" presName="connectorText" presStyleLbl="sibTrans2D1" presStyleIdx="0" presStyleCnt="3"/>
      <dgm:spPr/>
    </dgm:pt>
    <dgm:pt modelId="{D708C30A-1305-42BB-8260-9117688E856F}" type="pres">
      <dgm:prSet presAssocID="{69B8CB5F-74C6-4518-B2A2-9812878E128C}" presName="node" presStyleLbl="node1" presStyleIdx="1" presStyleCnt="3" custScaleX="142542" custScaleY="82756" custRadScaleRad="117403" custRadScaleInc="-6846">
        <dgm:presLayoutVars>
          <dgm:bulletEnabled val="1"/>
        </dgm:presLayoutVars>
      </dgm:prSet>
      <dgm:spPr/>
    </dgm:pt>
    <dgm:pt modelId="{2CE133A1-3FE2-4670-ABD2-88C50EB66F06}" type="pres">
      <dgm:prSet presAssocID="{AC564AF1-C226-4C24-AE70-576780A3ADFD}" presName="sibTrans" presStyleLbl="sibTrans2D1" presStyleIdx="1" presStyleCnt="3"/>
      <dgm:spPr/>
    </dgm:pt>
    <dgm:pt modelId="{6DB631F2-0327-4BD3-9D68-DCEC682CFAB9}" type="pres">
      <dgm:prSet presAssocID="{AC564AF1-C226-4C24-AE70-576780A3ADFD}" presName="connectorText" presStyleLbl="sibTrans2D1" presStyleIdx="1" presStyleCnt="3"/>
      <dgm:spPr/>
    </dgm:pt>
    <dgm:pt modelId="{AE9E1E9F-A6B3-4E09-A413-A1EA239F19D6}" type="pres">
      <dgm:prSet presAssocID="{8804D60A-0852-40BE-9352-DA7544F68389}" presName="node" presStyleLbl="node1" presStyleIdx="2" presStyleCnt="3" custScaleX="141111" custScaleY="82756" custRadScaleRad="121238" custRadScaleInc="9406">
        <dgm:presLayoutVars>
          <dgm:bulletEnabled val="1"/>
        </dgm:presLayoutVars>
      </dgm:prSet>
      <dgm:spPr/>
    </dgm:pt>
    <dgm:pt modelId="{CA8FE6E3-D370-4D83-A32B-58EF5FA4015C}" type="pres">
      <dgm:prSet presAssocID="{A8E205A4-56D8-4B07-92DA-BE4C4691A56C}" presName="sibTrans" presStyleLbl="sibTrans2D1" presStyleIdx="2" presStyleCnt="3"/>
      <dgm:spPr/>
    </dgm:pt>
    <dgm:pt modelId="{16DE6A33-6626-49DB-A472-538FF679EF4D}" type="pres">
      <dgm:prSet presAssocID="{A8E205A4-56D8-4B07-92DA-BE4C4691A56C}" presName="connectorText" presStyleLbl="sibTrans2D1" presStyleIdx="2" presStyleCnt="3"/>
      <dgm:spPr/>
    </dgm:pt>
  </dgm:ptLst>
  <dgm:cxnLst>
    <dgm:cxn modelId="{B09E0003-C46D-411F-A054-28E74C875574}" type="presOf" srcId="{67FCECB1-1C3E-43FB-A3B2-242A50956A77}" destId="{7BA65CA6-E631-4E44-ADCA-BF77175404B8}" srcOrd="1" destOrd="0" presId="urn:microsoft.com/office/officeart/2005/8/layout/cycle2"/>
    <dgm:cxn modelId="{759FE619-CE7F-4A2A-B276-7128D61E1A76}" type="presOf" srcId="{AC564AF1-C226-4C24-AE70-576780A3ADFD}" destId="{6DB631F2-0327-4BD3-9D68-DCEC682CFAB9}" srcOrd="1" destOrd="0" presId="urn:microsoft.com/office/officeart/2005/8/layout/cycle2"/>
    <dgm:cxn modelId="{9EA99862-AB94-49FC-A983-7B746308949C}" type="presOf" srcId="{F412BE1E-E3DA-4774-96A7-36A3AB0832D9}" destId="{A21BB6E5-E4C7-4AF1-896B-D95B991B07FC}" srcOrd="0" destOrd="0" presId="urn:microsoft.com/office/officeart/2005/8/layout/cycle2"/>
    <dgm:cxn modelId="{8D16EF44-7FE3-4E31-B4E6-D7B933BB843A}" srcId="{F412BE1E-E3DA-4774-96A7-36A3AB0832D9}" destId="{4D581CB1-1A50-45DF-B584-31E2CBDEB2E0}" srcOrd="0" destOrd="0" parTransId="{962818E4-5060-407C-B3C0-4063DCD3DA44}" sibTransId="{67FCECB1-1C3E-43FB-A3B2-242A50956A77}"/>
    <dgm:cxn modelId="{A8267C47-4496-453A-A441-8C9F2C760B63}" srcId="{F412BE1E-E3DA-4774-96A7-36A3AB0832D9}" destId="{69B8CB5F-74C6-4518-B2A2-9812878E128C}" srcOrd="1" destOrd="0" parTransId="{3072DFDD-5D0E-4D39-846D-7EABC796F2A4}" sibTransId="{AC564AF1-C226-4C24-AE70-576780A3ADFD}"/>
    <dgm:cxn modelId="{834E9C9A-639D-4842-80FB-8AFE2D003689}" type="presOf" srcId="{AC564AF1-C226-4C24-AE70-576780A3ADFD}" destId="{2CE133A1-3FE2-4670-ABD2-88C50EB66F06}" srcOrd="0" destOrd="0" presId="urn:microsoft.com/office/officeart/2005/8/layout/cycle2"/>
    <dgm:cxn modelId="{7259869B-9900-491A-9527-291AAD3143C9}" srcId="{F412BE1E-E3DA-4774-96A7-36A3AB0832D9}" destId="{8804D60A-0852-40BE-9352-DA7544F68389}" srcOrd="2" destOrd="0" parTransId="{23B8E42F-7A04-428E-A188-BFFBD1C8D1D2}" sibTransId="{A8E205A4-56D8-4B07-92DA-BE4C4691A56C}"/>
    <dgm:cxn modelId="{4C3BABBC-EC36-4CFD-B35F-021ED6370652}" type="presOf" srcId="{A8E205A4-56D8-4B07-92DA-BE4C4691A56C}" destId="{CA8FE6E3-D370-4D83-A32B-58EF5FA4015C}" srcOrd="0" destOrd="0" presId="urn:microsoft.com/office/officeart/2005/8/layout/cycle2"/>
    <dgm:cxn modelId="{8EEA6CCE-1D55-4F0F-88C8-0BA33F7A025E}" type="presOf" srcId="{4D581CB1-1A50-45DF-B584-31E2CBDEB2E0}" destId="{E9DFD7D4-D618-4009-82B6-6D3DA5303071}" srcOrd="0" destOrd="0" presId="urn:microsoft.com/office/officeart/2005/8/layout/cycle2"/>
    <dgm:cxn modelId="{E841CCD4-6550-4A1C-B04A-97B1A82C165F}" type="presOf" srcId="{8804D60A-0852-40BE-9352-DA7544F68389}" destId="{AE9E1E9F-A6B3-4E09-A413-A1EA239F19D6}" srcOrd="0" destOrd="0" presId="urn:microsoft.com/office/officeart/2005/8/layout/cycle2"/>
    <dgm:cxn modelId="{55664EE8-4316-4224-AD59-DB602FD69508}" type="presOf" srcId="{67FCECB1-1C3E-43FB-A3B2-242A50956A77}" destId="{316B21D6-64B6-44B2-BAF4-D35B06D56BCE}" srcOrd="0" destOrd="0" presId="urn:microsoft.com/office/officeart/2005/8/layout/cycle2"/>
    <dgm:cxn modelId="{E82E79EE-7D0D-4D2C-A6D7-AC17E89CD1F1}" type="presOf" srcId="{A8E205A4-56D8-4B07-92DA-BE4C4691A56C}" destId="{16DE6A33-6626-49DB-A472-538FF679EF4D}" srcOrd="1" destOrd="0" presId="urn:microsoft.com/office/officeart/2005/8/layout/cycle2"/>
    <dgm:cxn modelId="{CBD764F5-B498-4846-871F-0863E0189782}" type="presOf" srcId="{69B8CB5F-74C6-4518-B2A2-9812878E128C}" destId="{D708C30A-1305-42BB-8260-9117688E856F}" srcOrd="0" destOrd="0" presId="urn:microsoft.com/office/officeart/2005/8/layout/cycle2"/>
    <dgm:cxn modelId="{EC94B4F9-3DA9-4F46-B184-1687649560DA}" type="presParOf" srcId="{A21BB6E5-E4C7-4AF1-896B-D95B991B07FC}" destId="{E9DFD7D4-D618-4009-82B6-6D3DA5303071}" srcOrd="0" destOrd="0" presId="urn:microsoft.com/office/officeart/2005/8/layout/cycle2"/>
    <dgm:cxn modelId="{2C37E0A6-BC22-4797-91D4-10C6ECE8C0B1}" type="presParOf" srcId="{A21BB6E5-E4C7-4AF1-896B-D95B991B07FC}" destId="{316B21D6-64B6-44B2-BAF4-D35B06D56BCE}" srcOrd="1" destOrd="0" presId="urn:microsoft.com/office/officeart/2005/8/layout/cycle2"/>
    <dgm:cxn modelId="{20CC75BE-B282-4A2E-8C64-904F3F2DCD69}" type="presParOf" srcId="{316B21D6-64B6-44B2-BAF4-D35B06D56BCE}" destId="{7BA65CA6-E631-4E44-ADCA-BF77175404B8}" srcOrd="0" destOrd="0" presId="urn:microsoft.com/office/officeart/2005/8/layout/cycle2"/>
    <dgm:cxn modelId="{569265DC-1098-47F0-BFEA-E27CFB117740}" type="presParOf" srcId="{A21BB6E5-E4C7-4AF1-896B-D95B991B07FC}" destId="{D708C30A-1305-42BB-8260-9117688E856F}" srcOrd="2" destOrd="0" presId="urn:microsoft.com/office/officeart/2005/8/layout/cycle2"/>
    <dgm:cxn modelId="{3B0B8386-C85B-493E-A09D-6A35640D13A2}" type="presParOf" srcId="{A21BB6E5-E4C7-4AF1-896B-D95B991B07FC}" destId="{2CE133A1-3FE2-4670-ABD2-88C50EB66F06}" srcOrd="3" destOrd="0" presId="urn:microsoft.com/office/officeart/2005/8/layout/cycle2"/>
    <dgm:cxn modelId="{9F6F6B5B-3CF9-46AC-A57D-7218AD0C18E0}" type="presParOf" srcId="{2CE133A1-3FE2-4670-ABD2-88C50EB66F06}" destId="{6DB631F2-0327-4BD3-9D68-DCEC682CFAB9}" srcOrd="0" destOrd="0" presId="urn:microsoft.com/office/officeart/2005/8/layout/cycle2"/>
    <dgm:cxn modelId="{9A3E919D-9C20-4E74-A4B2-D83E4B32BA80}" type="presParOf" srcId="{A21BB6E5-E4C7-4AF1-896B-D95B991B07FC}" destId="{AE9E1E9F-A6B3-4E09-A413-A1EA239F19D6}" srcOrd="4" destOrd="0" presId="urn:microsoft.com/office/officeart/2005/8/layout/cycle2"/>
    <dgm:cxn modelId="{EAF44DCC-502E-4A4D-8700-E02773C16CB7}" type="presParOf" srcId="{A21BB6E5-E4C7-4AF1-896B-D95B991B07FC}" destId="{CA8FE6E3-D370-4D83-A32B-58EF5FA4015C}" srcOrd="5" destOrd="0" presId="urn:microsoft.com/office/officeart/2005/8/layout/cycle2"/>
    <dgm:cxn modelId="{C1933247-A496-4FC3-BF8B-B690548106D5}" type="presParOf" srcId="{CA8FE6E3-D370-4D83-A32B-58EF5FA4015C}" destId="{16DE6A33-6626-49DB-A472-538FF679EF4D}"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EFBF75-64EB-4F7E-A926-A4E66F89C7B0}">
      <dsp:nvSpPr>
        <dsp:cNvPr id="0" name=""/>
        <dsp:cNvSpPr/>
      </dsp:nvSpPr>
      <dsp:spPr>
        <a:xfrm>
          <a:off x="-6198465" y="-948278"/>
          <a:ext cx="7378406" cy="7378406"/>
        </a:xfrm>
        <a:prstGeom prst="blockArc">
          <a:avLst>
            <a:gd name="adj1" fmla="val 18900000"/>
            <a:gd name="adj2" fmla="val 2700000"/>
            <a:gd name="adj3" fmla="val 293"/>
          </a:avLst>
        </a:prstGeom>
        <a:noFill/>
        <a:ln w="19050" cap="flat" cmpd="sng" algn="ctr">
          <a:solidFill>
            <a:schemeClr val="accent2">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903D4C07-2F7B-4768-B940-9EC734D124AC}">
      <dsp:nvSpPr>
        <dsp:cNvPr id="0" name=""/>
        <dsp:cNvSpPr/>
      </dsp:nvSpPr>
      <dsp:spPr>
        <a:xfrm>
          <a:off x="617518" y="421444"/>
          <a:ext cx="11015121" cy="843327"/>
        </a:xfrm>
        <a:prstGeom prst="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69391" tIns="81280" rIns="81280" bIns="81280" numCol="1" spcCol="1270" anchor="ctr" anchorCtr="0">
          <a:noAutofit/>
        </a:bodyPr>
        <a:lstStyle/>
        <a:p>
          <a:pPr marL="0" lvl="0" indent="0" algn="l" defTabSz="1422400" rtl="0">
            <a:lnSpc>
              <a:spcPct val="90000"/>
            </a:lnSpc>
            <a:spcBef>
              <a:spcPct val="0"/>
            </a:spcBef>
            <a:spcAft>
              <a:spcPct val="35000"/>
            </a:spcAft>
            <a:buNone/>
          </a:pPr>
          <a:r>
            <a:rPr lang="en-US" sz="3200" b="1" kern="1200">
              <a:latin typeface="Times New Roman" panose="02020603050405020304" pitchFamily="18" charset="0"/>
              <a:cs typeface="Times New Roman" panose="02020603050405020304" pitchFamily="18" charset="0"/>
            </a:rPr>
            <a:t>2.1. Khái niệm, phạm vi NSNN</a:t>
          </a:r>
          <a:endParaRPr lang="en-US" sz="3200" b="1" kern="1200" dirty="0">
            <a:latin typeface="Times New Roman" panose="02020603050405020304" pitchFamily="18" charset="0"/>
            <a:cs typeface="Times New Roman" panose="02020603050405020304" pitchFamily="18" charset="0"/>
          </a:endParaRPr>
        </a:p>
      </dsp:txBody>
      <dsp:txXfrm>
        <a:off x="617518" y="421444"/>
        <a:ext cx="11015121" cy="843327"/>
      </dsp:txXfrm>
    </dsp:sp>
    <dsp:sp modelId="{666DCB58-F458-4F2E-B413-E6EC71986A16}">
      <dsp:nvSpPr>
        <dsp:cNvPr id="0" name=""/>
        <dsp:cNvSpPr/>
      </dsp:nvSpPr>
      <dsp:spPr>
        <a:xfrm>
          <a:off x="149429" y="316028"/>
          <a:ext cx="1054159" cy="1054159"/>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A5EF71E6-87C1-4DA1-AFF7-D586E2B69EAC}">
      <dsp:nvSpPr>
        <dsp:cNvPr id="0" name=""/>
        <dsp:cNvSpPr/>
      </dsp:nvSpPr>
      <dsp:spPr>
        <a:xfrm>
          <a:off x="1101017" y="1686655"/>
          <a:ext cx="10531622" cy="843327"/>
        </a:xfrm>
        <a:prstGeom prst="rect">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69391" tIns="81280" rIns="81280" bIns="81280" numCol="1" spcCol="1270" anchor="ctr" anchorCtr="0">
          <a:noAutofit/>
        </a:bodyPr>
        <a:lstStyle/>
        <a:p>
          <a:pPr marL="0" lvl="0" indent="0" algn="l" defTabSz="1422400" rtl="0">
            <a:lnSpc>
              <a:spcPct val="90000"/>
            </a:lnSpc>
            <a:spcBef>
              <a:spcPct val="0"/>
            </a:spcBef>
            <a:spcAft>
              <a:spcPct val="35000"/>
            </a:spcAft>
            <a:buNone/>
          </a:pPr>
          <a:r>
            <a:rPr lang="en-US" sz="3200" b="1" kern="1200">
              <a:latin typeface="Times New Roman" panose="02020603050405020304" pitchFamily="18" charset="0"/>
              <a:cs typeface="Times New Roman" panose="02020603050405020304" pitchFamily="18" charset="0"/>
            </a:rPr>
            <a:t>2.2. Phân cấp quản lý NSNN</a:t>
          </a:r>
          <a:endParaRPr lang="en-US" sz="3200" b="1" kern="1200" dirty="0">
            <a:latin typeface="Times New Roman" panose="02020603050405020304" pitchFamily="18" charset="0"/>
            <a:cs typeface="Times New Roman" panose="02020603050405020304" pitchFamily="18" charset="0"/>
          </a:endParaRPr>
        </a:p>
      </dsp:txBody>
      <dsp:txXfrm>
        <a:off x="1101017" y="1686655"/>
        <a:ext cx="10531622" cy="843327"/>
      </dsp:txXfrm>
    </dsp:sp>
    <dsp:sp modelId="{03B14AF4-B5B8-4120-A94F-C42F3ACBD4C0}">
      <dsp:nvSpPr>
        <dsp:cNvPr id="0" name=""/>
        <dsp:cNvSpPr/>
      </dsp:nvSpPr>
      <dsp:spPr>
        <a:xfrm>
          <a:off x="573937" y="1581239"/>
          <a:ext cx="1054159" cy="1054159"/>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F24AED53-8AE0-4CB9-A674-944D01F5AFA7}">
      <dsp:nvSpPr>
        <dsp:cNvPr id="0" name=""/>
        <dsp:cNvSpPr/>
      </dsp:nvSpPr>
      <dsp:spPr>
        <a:xfrm>
          <a:off x="1101017" y="2951866"/>
          <a:ext cx="10531622" cy="843327"/>
        </a:xfrm>
        <a:prstGeom prst="rect">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69391" tIns="81280" rIns="81280" bIns="81280" numCol="1" spcCol="1270" anchor="ctr" anchorCtr="0">
          <a:noAutofit/>
        </a:bodyPr>
        <a:lstStyle/>
        <a:p>
          <a:pPr marL="0" lvl="0" indent="0" algn="l" defTabSz="1422400" rtl="0">
            <a:lnSpc>
              <a:spcPct val="90000"/>
            </a:lnSpc>
            <a:spcBef>
              <a:spcPct val="0"/>
            </a:spcBef>
            <a:spcAft>
              <a:spcPct val="35000"/>
            </a:spcAft>
            <a:buNone/>
          </a:pPr>
          <a:r>
            <a:rPr lang="en-US" sz="3200" b="1" kern="1200">
              <a:latin typeface="Times New Roman" panose="02020603050405020304" pitchFamily="18" charset="0"/>
              <a:cs typeface="Times New Roman" panose="02020603050405020304" pitchFamily="18" charset="0"/>
            </a:rPr>
            <a:t>2.3. Chu trình quản lý NSNN</a:t>
          </a:r>
          <a:endParaRPr lang="en-US" sz="3200" b="1" kern="1200" dirty="0">
            <a:latin typeface="Times New Roman" panose="02020603050405020304" pitchFamily="18" charset="0"/>
            <a:cs typeface="Times New Roman" panose="02020603050405020304" pitchFamily="18" charset="0"/>
          </a:endParaRPr>
        </a:p>
      </dsp:txBody>
      <dsp:txXfrm>
        <a:off x="1101017" y="2951866"/>
        <a:ext cx="10531622" cy="843327"/>
      </dsp:txXfrm>
    </dsp:sp>
    <dsp:sp modelId="{7E79FFA8-5D9C-4C34-BC10-348E5B7963B1}">
      <dsp:nvSpPr>
        <dsp:cNvPr id="0" name=""/>
        <dsp:cNvSpPr/>
      </dsp:nvSpPr>
      <dsp:spPr>
        <a:xfrm>
          <a:off x="573937" y="2846450"/>
          <a:ext cx="1054159" cy="1054159"/>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6217FA50-8478-467B-ACA9-B6E1B62BD4D6}">
      <dsp:nvSpPr>
        <dsp:cNvPr id="0" name=""/>
        <dsp:cNvSpPr/>
      </dsp:nvSpPr>
      <dsp:spPr>
        <a:xfrm>
          <a:off x="617518" y="4105842"/>
          <a:ext cx="11015121" cy="1065797"/>
        </a:xfrm>
        <a:prstGeom prst="rect">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69391" tIns="81280" rIns="81280" bIns="81280" numCol="1" spcCol="1270" anchor="ctr" anchorCtr="0">
          <a:noAutofit/>
        </a:bodyPr>
        <a:lstStyle/>
        <a:p>
          <a:pPr marL="0" lvl="0" indent="0" algn="l" defTabSz="1422400" rtl="0">
            <a:lnSpc>
              <a:spcPct val="90000"/>
            </a:lnSpc>
            <a:spcBef>
              <a:spcPct val="0"/>
            </a:spcBef>
            <a:spcAft>
              <a:spcPct val="35000"/>
            </a:spcAft>
            <a:buNone/>
          </a:pPr>
          <a:r>
            <a:rPr lang="en-US" sz="3200" b="1" kern="1200">
              <a:latin typeface="Times New Roman" panose="02020603050405020304" pitchFamily="18" charset="0"/>
              <a:cs typeface="Times New Roman" panose="02020603050405020304" pitchFamily="18" charset="0"/>
            </a:rPr>
            <a:t>2.4. Cân đối NSNN</a:t>
          </a:r>
          <a:endParaRPr lang="en-US" sz="3200" b="1" kern="1200" dirty="0">
            <a:latin typeface="Times New Roman" panose="02020603050405020304" pitchFamily="18" charset="0"/>
            <a:cs typeface="Times New Roman" panose="02020603050405020304" pitchFamily="18" charset="0"/>
          </a:endParaRPr>
        </a:p>
      </dsp:txBody>
      <dsp:txXfrm>
        <a:off x="617518" y="4105842"/>
        <a:ext cx="11015121" cy="1065797"/>
      </dsp:txXfrm>
    </dsp:sp>
    <dsp:sp modelId="{6E402C4B-EDFD-42F0-AB38-9FE8CE6F595A}">
      <dsp:nvSpPr>
        <dsp:cNvPr id="0" name=""/>
        <dsp:cNvSpPr/>
      </dsp:nvSpPr>
      <dsp:spPr>
        <a:xfrm>
          <a:off x="90438" y="4111661"/>
          <a:ext cx="1054159" cy="1054159"/>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DFD7D4-D618-4009-82B6-6D3DA5303071}">
      <dsp:nvSpPr>
        <dsp:cNvPr id="0" name=""/>
        <dsp:cNvSpPr/>
      </dsp:nvSpPr>
      <dsp:spPr>
        <a:xfrm>
          <a:off x="4238586" y="246313"/>
          <a:ext cx="2673102" cy="1572124"/>
        </a:xfrm>
        <a:prstGeom prst="ellipse">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1778000" rtl="0">
            <a:lnSpc>
              <a:spcPct val="90000"/>
            </a:lnSpc>
            <a:spcBef>
              <a:spcPct val="0"/>
            </a:spcBef>
            <a:spcAft>
              <a:spcPct val="35000"/>
            </a:spcAft>
            <a:buNone/>
          </a:pPr>
          <a:r>
            <a:rPr lang="en-US" sz="4000" kern="1200" dirty="0">
              <a:solidFill>
                <a:schemeClr val="tx1"/>
              </a:solidFill>
              <a:latin typeface="Times New Roman" panose="02020603050405020304" pitchFamily="18" charset="0"/>
              <a:cs typeface="Times New Roman" panose="02020603050405020304" pitchFamily="18" charset="0"/>
            </a:rPr>
            <a:t> </a:t>
          </a:r>
          <a:r>
            <a:rPr lang="en-US" sz="3600" b="1" kern="1200" dirty="0" err="1">
              <a:solidFill>
                <a:schemeClr val="bg1"/>
              </a:solidFill>
              <a:latin typeface="Times New Roman" panose="02020603050405020304" pitchFamily="18" charset="0"/>
              <a:cs typeface="Times New Roman" panose="02020603050405020304" pitchFamily="18" charset="0"/>
            </a:rPr>
            <a:t>Lập</a:t>
          </a:r>
          <a:r>
            <a:rPr lang="en-US" sz="3600" b="1" kern="1200" dirty="0">
              <a:solidFill>
                <a:schemeClr val="bg1"/>
              </a:solidFill>
              <a:latin typeface="Times New Roman" panose="02020603050405020304" pitchFamily="18" charset="0"/>
              <a:cs typeface="Times New Roman" panose="02020603050405020304" pitchFamily="18" charset="0"/>
            </a:rPr>
            <a:t> </a:t>
          </a:r>
          <a:r>
            <a:rPr lang="en-US" sz="3600" b="1" kern="1200" dirty="0" err="1">
              <a:solidFill>
                <a:schemeClr val="bg1"/>
              </a:solidFill>
              <a:latin typeface="Times New Roman" panose="02020603050405020304" pitchFamily="18" charset="0"/>
              <a:cs typeface="Times New Roman" panose="02020603050405020304" pitchFamily="18" charset="0"/>
            </a:rPr>
            <a:t>dự</a:t>
          </a:r>
          <a:r>
            <a:rPr lang="en-US" sz="3600" b="1" kern="1200" dirty="0">
              <a:solidFill>
                <a:schemeClr val="bg1"/>
              </a:solidFill>
              <a:latin typeface="Times New Roman" panose="02020603050405020304" pitchFamily="18" charset="0"/>
              <a:cs typeface="Times New Roman" panose="02020603050405020304" pitchFamily="18" charset="0"/>
            </a:rPr>
            <a:t> </a:t>
          </a:r>
          <a:r>
            <a:rPr lang="en-US" sz="3600" b="1" kern="1200" dirty="0" err="1">
              <a:solidFill>
                <a:schemeClr val="bg1"/>
              </a:solidFill>
              <a:latin typeface="Times New Roman" panose="02020603050405020304" pitchFamily="18" charset="0"/>
              <a:cs typeface="Times New Roman" panose="02020603050405020304" pitchFamily="18" charset="0"/>
            </a:rPr>
            <a:t>toán</a:t>
          </a:r>
          <a:r>
            <a:rPr lang="en-US" sz="3600" b="1" kern="1200" dirty="0">
              <a:solidFill>
                <a:schemeClr val="bg1"/>
              </a:solidFill>
              <a:latin typeface="Times New Roman" panose="02020603050405020304" pitchFamily="18" charset="0"/>
              <a:cs typeface="Times New Roman" panose="02020603050405020304" pitchFamily="18" charset="0"/>
            </a:rPr>
            <a:t> </a:t>
          </a:r>
        </a:p>
      </dsp:txBody>
      <dsp:txXfrm>
        <a:off x="4630053" y="476545"/>
        <a:ext cx="1890168" cy="1111660"/>
      </dsp:txXfrm>
    </dsp:sp>
    <dsp:sp modelId="{316B21D6-64B6-44B2-BAF4-D35B06D56BCE}">
      <dsp:nvSpPr>
        <dsp:cNvPr id="0" name=""/>
        <dsp:cNvSpPr/>
      </dsp:nvSpPr>
      <dsp:spPr>
        <a:xfrm rot="3304599">
          <a:off x="6098795" y="1940400"/>
          <a:ext cx="668341" cy="641152"/>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6139911" y="1989776"/>
        <a:ext cx="475995" cy="384692"/>
      </dsp:txXfrm>
    </dsp:sp>
    <dsp:sp modelId="{D708C30A-1305-42BB-8260-9117688E856F}">
      <dsp:nvSpPr>
        <dsp:cNvPr id="0" name=""/>
        <dsp:cNvSpPr/>
      </dsp:nvSpPr>
      <dsp:spPr>
        <a:xfrm>
          <a:off x="5959446" y="2735876"/>
          <a:ext cx="2707885" cy="1572124"/>
        </a:xfrm>
        <a:prstGeom prst="ellipse">
          <a:avLst/>
        </a:prstGeom>
        <a:solidFill>
          <a:schemeClr val="accent4">
            <a:hueOff val="3299968"/>
            <a:satOff val="-14601"/>
            <a:lumOff val="-245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600200" rtl="0">
            <a:lnSpc>
              <a:spcPct val="90000"/>
            </a:lnSpc>
            <a:spcBef>
              <a:spcPct val="0"/>
            </a:spcBef>
            <a:spcAft>
              <a:spcPct val="35000"/>
            </a:spcAft>
            <a:buNone/>
          </a:pPr>
          <a:r>
            <a:rPr lang="en-US" sz="3600" b="1" kern="1200" dirty="0" err="1">
              <a:solidFill>
                <a:schemeClr val="bg1"/>
              </a:solidFill>
              <a:latin typeface="Times New Roman" panose="02020603050405020304" pitchFamily="18" charset="0"/>
              <a:cs typeface="Times New Roman" panose="02020603050405020304" pitchFamily="18" charset="0"/>
            </a:rPr>
            <a:t>Chấp</a:t>
          </a:r>
          <a:r>
            <a:rPr lang="en-US" sz="3600" b="1" kern="1200" dirty="0">
              <a:solidFill>
                <a:schemeClr val="bg1"/>
              </a:solidFill>
              <a:latin typeface="Times New Roman" panose="02020603050405020304" pitchFamily="18" charset="0"/>
              <a:cs typeface="Times New Roman" panose="02020603050405020304" pitchFamily="18" charset="0"/>
            </a:rPr>
            <a:t> </a:t>
          </a:r>
          <a:r>
            <a:rPr lang="en-US" sz="3600" b="1" kern="1200" dirty="0" err="1">
              <a:solidFill>
                <a:schemeClr val="bg1"/>
              </a:solidFill>
              <a:latin typeface="Times New Roman" panose="02020603050405020304" pitchFamily="18" charset="0"/>
              <a:cs typeface="Times New Roman" panose="02020603050405020304" pitchFamily="18" charset="0"/>
            </a:rPr>
            <a:t>hành</a:t>
          </a:r>
          <a:endParaRPr lang="en-US" sz="3600" b="1" kern="1200" dirty="0">
            <a:solidFill>
              <a:schemeClr val="bg1"/>
            </a:solidFill>
            <a:latin typeface="Times New Roman" panose="02020603050405020304" pitchFamily="18" charset="0"/>
            <a:cs typeface="Times New Roman" panose="02020603050405020304" pitchFamily="18" charset="0"/>
          </a:endParaRPr>
        </a:p>
      </dsp:txBody>
      <dsp:txXfrm>
        <a:off x="6356007" y="2966108"/>
        <a:ext cx="1914763" cy="1111660"/>
      </dsp:txXfrm>
    </dsp:sp>
    <dsp:sp modelId="{2CE133A1-3FE2-4670-ABD2-88C50EB66F06}">
      <dsp:nvSpPr>
        <dsp:cNvPr id="0" name=""/>
        <dsp:cNvSpPr/>
      </dsp:nvSpPr>
      <dsp:spPr>
        <a:xfrm rot="10820173">
          <a:off x="5313133" y="3190965"/>
          <a:ext cx="456782" cy="641152"/>
        </a:xfrm>
        <a:prstGeom prst="rightArrow">
          <a:avLst>
            <a:gd name="adj1" fmla="val 60000"/>
            <a:gd name="adj2" fmla="val 50000"/>
          </a:avLst>
        </a:prstGeom>
        <a:solidFill>
          <a:schemeClr val="accent4">
            <a:hueOff val="3299968"/>
            <a:satOff val="-14601"/>
            <a:lumOff val="-2452"/>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rot="10800000">
        <a:off x="5450167" y="3319597"/>
        <a:ext cx="319747" cy="384692"/>
      </dsp:txXfrm>
    </dsp:sp>
    <dsp:sp modelId="{AE9E1E9F-A6B3-4E09-A413-A1EA239F19D6}">
      <dsp:nvSpPr>
        <dsp:cNvPr id="0" name=""/>
        <dsp:cNvSpPr/>
      </dsp:nvSpPr>
      <dsp:spPr>
        <a:xfrm>
          <a:off x="2417043" y="2715009"/>
          <a:ext cx="2680701" cy="1572124"/>
        </a:xfrm>
        <a:prstGeom prst="ellipse">
          <a:avLst/>
        </a:prstGeom>
        <a:solidFill>
          <a:schemeClr val="accent4">
            <a:hueOff val="6599937"/>
            <a:satOff val="-29202"/>
            <a:lumOff val="-490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600200" rtl="0">
            <a:lnSpc>
              <a:spcPct val="90000"/>
            </a:lnSpc>
            <a:spcBef>
              <a:spcPct val="0"/>
            </a:spcBef>
            <a:spcAft>
              <a:spcPct val="35000"/>
            </a:spcAft>
            <a:buNone/>
          </a:pPr>
          <a:r>
            <a:rPr lang="en-US" sz="3600" b="1" kern="1200" dirty="0" err="1">
              <a:solidFill>
                <a:schemeClr val="bg1"/>
              </a:solidFill>
              <a:latin typeface="Times New Roman" panose="02020603050405020304" pitchFamily="18" charset="0"/>
              <a:cs typeface="Times New Roman" panose="02020603050405020304" pitchFamily="18" charset="0"/>
            </a:rPr>
            <a:t>Quyết</a:t>
          </a:r>
          <a:r>
            <a:rPr lang="en-US" sz="3600" b="1" kern="1200" dirty="0">
              <a:solidFill>
                <a:schemeClr val="bg1"/>
              </a:solidFill>
              <a:latin typeface="Times New Roman" panose="02020603050405020304" pitchFamily="18" charset="0"/>
              <a:cs typeface="Times New Roman" panose="02020603050405020304" pitchFamily="18" charset="0"/>
            </a:rPr>
            <a:t> </a:t>
          </a:r>
          <a:r>
            <a:rPr lang="en-US" sz="3600" b="1" kern="1200" dirty="0" err="1">
              <a:solidFill>
                <a:schemeClr val="bg1"/>
              </a:solidFill>
              <a:latin typeface="Times New Roman" panose="02020603050405020304" pitchFamily="18" charset="0"/>
              <a:cs typeface="Times New Roman" panose="02020603050405020304" pitchFamily="18" charset="0"/>
            </a:rPr>
            <a:t>toán</a:t>
          </a:r>
          <a:r>
            <a:rPr lang="en-US" sz="3600" b="1" kern="1200" dirty="0">
              <a:solidFill>
                <a:schemeClr val="bg1"/>
              </a:solidFill>
              <a:latin typeface="Times New Roman" panose="02020603050405020304" pitchFamily="18" charset="0"/>
              <a:cs typeface="Times New Roman" panose="02020603050405020304" pitchFamily="18" charset="0"/>
            </a:rPr>
            <a:t> </a:t>
          </a:r>
        </a:p>
      </dsp:txBody>
      <dsp:txXfrm>
        <a:off x="2809623" y="2945241"/>
        <a:ext cx="1895541" cy="1111660"/>
      </dsp:txXfrm>
    </dsp:sp>
    <dsp:sp modelId="{CA8FE6E3-D370-4D83-A32B-58EF5FA4015C}">
      <dsp:nvSpPr>
        <dsp:cNvPr id="0" name=""/>
        <dsp:cNvSpPr/>
      </dsp:nvSpPr>
      <dsp:spPr>
        <a:xfrm rot="18381892">
          <a:off x="4317507" y="1961372"/>
          <a:ext cx="675096" cy="641152"/>
        </a:xfrm>
        <a:prstGeom prst="rightArrow">
          <a:avLst>
            <a:gd name="adj1" fmla="val 60000"/>
            <a:gd name="adj2" fmla="val 50000"/>
          </a:avLst>
        </a:prstGeom>
        <a:solidFill>
          <a:schemeClr val="accent4">
            <a:hueOff val="6599937"/>
            <a:satOff val="-29202"/>
            <a:lumOff val="-4903"/>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4356657" y="2167046"/>
        <a:ext cx="482750" cy="384692"/>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D751A4-7C76-407E-B6D3-EF0F49618DCB}" type="datetimeFigureOut">
              <a:rPr lang="en-US" smtClean="0"/>
              <a:t>5/3/2026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D107A9-A0C7-4078-AEEF-185A00981267}" type="slidenum">
              <a:rPr lang="en-US" smtClean="0"/>
              <a:t>‹#›</a:t>
            </a:fld>
            <a:endParaRPr lang="en-US"/>
          </a:p>
        </p:txBody>
      </p:sp>
    </p:spTree>
    <p:extLst>
      <p:ext uri="{BB962C8B-B14F-4D97-AF65-F5344CB8AC3E}">
        <p14:creationId xmlns:p14="http://schemas.microsoft.com/office/powerpoint/2010/main" val="163453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C020E-AC4D-0033-B6EB-7102C12356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E92C85-28AD-F707-F4E0-6467EC0DB8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FC0366-972F-40CD-4AA2-498E2159A9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43DD96-5E1E-9AD7-990A-32352F697A93}"/>
              </a:ext>
            </a:extLst>
          </p:cNvPr>
          <p:cNvSpPr>
            <a:spLocks noGrp="1"/>
          </p:cNvSpPr>
          <p:nvPr>
            <p:ph type="sldNum" sz="quarter" idx="5"/>
          </p:nvPr>
        </p:nvSpPr>
        <p:spPr/>
        <p:txBody>
          <a:bodyPr/>
          <a:lstStyle/>
          <a:p>
            <a:fld id="{1DD107A9-A0C7-4078-AEEF-185A00981267}" type="slidenum">
              <a:rPr lang="en-US" smtClean="0"/>
              <a:t>1</a:t>
            </a:fld>
            <a:endParaRPr lang="en-US"/>
          </a:p>
        </p:txBody>
      </p:sp>
    </p:spTree>
    <p:extLst>
      <p:ext uri="{BB962C8B-B14F-4D97-AF65-F5344CB8AC3E}">
        <p14:creationId xmlns:p14="http://schemas.microsoft.com/office/powerpoint/2010/main" val="14520823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39A9A-58B7-BD12-2DAC-EC21BD02AF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A26515-58F3-9EC7-B708-E2EDD69256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1B0FC3-34A1-B882-2335-B88B9F0E96B0}"/>
              </a:ext>
            </a:extLst>
          </p:cNvPr>
          <p:cNvSpPr>
            <a:spLocks noGrp="1"/>
          </p:cNvSpPr>
          <p:nvPr>
            <p:ph type="body" idx="1"/>
          </p:nvPr>
        </p:nvSpPr>
        <p:spPr/>
        <p:txBody>
          <a:bodyPr/>
          <a:lstStyle/>
          <a:p>
            <a:pPr marL="0" indent="0" eaLnBrk="1" hangingPunct="1">
              <a:lnSpc>
                <a:spcPct val="150000"/>
              </a:lnSpc>
              <a:buNone/>
            </a:pPr>
            <a:r>
              <a:rPr lang="en-US" sz="1200" dirty="0" err="1">
                <a:solidFill>
                  <a:srgbClr val="0000CC"/>
                </a:solidFill>
                <a:latin typeface="Times New Roman" panose="02020603050405020304" pitchFamily="18" charset="0"/>
                <a:cs typeface="Times New Roman" panose="02020603050405020304" pitchFamily="18" charset="0"/>
              </a:rPr>
              <a:t>Hoạt</a:t>
            </a:r>
            <a:r>
              <a:rPr lang="en-US" sz="1200" dirty="0">
                <a:solidFill>
                  <a:srgbClr val="0000CC"/>
                </a:solidFill>
                <a:latin typeface="Times New Roman" panose="02020603050405020304" pitchFamily="18" charset="0"/>
                <a:cs typeface="Times New Roman" panose="02020603050405020304" pitchFamily="18" charset="0"/>
              </a:rPr>
              <a:t> </a:t>
            </a:r>
            <a:r>
              <a:rPr lang="en-US" sz="1200" dirty="0" err="1">
                <a:solidFill>
                  <a:srgbClr val="0000CC"/>
                </a:solidFill>
                <a:latin typeface="Times New Roman" panose="02020603050405020304" pitchFamily="18" charset="0"/>
                <a:cs typeface="Times New Roman" panose="02020603050405020304" pitchFamily="18" charset="0"/>
              </a:rPr>
              <a:t>động</a:t>
            </a:r>
            <a:r>
              <a:rPr lang="en-US" sz="1200" dirty="0">
                <a:solidFill>
                  <a:srgbClr val="0000CC"/>
                </a:solidFill>
                <a:latin typeface="Times New Roman" panose="02020603050405020304" pitchFamily="18" charset="0"/>
                <a:cs typeface="Times New Roman" panose="02020603050405020304" pitchFamily="18" charset="0"/>
              </a:rPr>
              <a:t> NSNN </a:t>
            </a:r>
            <a:r>
              <a:rPr lang="en-US" sz="1200" dirty="0" err="1">
                <a:solidFill>
                  <a:srgbClr val="0000CC"/>
                </a:solidFill>
                <a:latin typeface="Times New Roman" panose="02020603050405020304" pitchFamily="18" charset="0"/>
                <a:cs typeface="Times New Roman" panose="02020603050405020304" pitchFamily="18" charset="0"/>
              </a:rPr>
              <a:t>có</a:t>
            </a:r>
            <a:r>
              <a:rPr lang="en-US" sz="1200" dirty="0">
                <a:solidFill>
                  <a:srgbClr val="0000CC"/>
                </a:solidFill>
                <a:latin typeface="Times New Roman" panose="02020603050405020304" pitchFamily="18" charset="0"/>
                <a:cs typeface="Times New Roman" panose="02020603050405020304" pitchFamily="18" charset="0"/>
              </a:rPr>
              <a:t> </a:t>
            </a:r>
            <a:r>
              <a:rPr lang="en-US" sz="1200" dirty="0" err="1">
                <a:solidFill>
                  <a:srgbClr val="0000CC"/>
                </a:solidFill>
                <a:latin typeface="Times New Roman" panose="02020603050405020304" pitchFamily="18" charset="0"/>
                <a:cs typeface="Times New Roman" panose="02020603050405020304" pitchFamily="18" charset="0"/>
              </a:rPr>
              <a:t>tính</a:t>
            </a:r>
            <a:r>
              <a:rPr lang="en-US" sz="1200" dirty="0">
                <a:solidFill>
                  <a:srgbClr val="0000CC"/>
                </a:solidFill>
                <a:latin typeface="Times New Roman" panose="02020603050405020304" pitchFamily="18" charset="0"/>
                <a:cs typeface="Times New Roman" panose="02020603050405020304" pitchFamily="18" charset="0"/>
              </a:rPr>
              <a:t> chu </a:t>
            </a:r>
            <a:r>
              <a:rPr lang="en-US" sz="1200" dirty="0" err="1">
                <a:solidFill>
                  <a:srgbClr val="0000CC"/>
                </a:solidFill>
                <a:latin typeface="Times New Roman" panose="02020603050405020304" pitchFamily="18" charset="0"/>
                <a:cs typeface="Times New Roman" panose="02020603050405020304" pitchFamily="18" charset="0"/>
              </a:rPr>
              <a:t>kỳ</a:t>
            </a:r>
            <a:r>
              <a:rPr lang="en-US" sz="1200" dirty="0">
                <a:solidFill>
                  <a:srgbClr val="0000CC"/>
                </a:solidFill>
                <a:latin typeface="Times New Roman" panose="02020603050405020304" pitchFamily="18" charset="0"/>
                <a:cs typeface="Times New Roman" panose="02020603050405020304" pitchFamily="18" charset="0"/>
              </a:rPr>
              <a:t>, </a:t>
            </a:r>
            <a:r>
              <a:rPr lang="en-US" sz="1200" dirty="0" err="1">
                <a:solidFill>
                  <a:srgbClr val="0000CC"/>
                </a:solidFill>
                <a:latin typeface="Times New Roman" panose="02020603050405020304" pitchFamily="18" charset="0"/>
                <a:cs typeface="Times New Roman" panose="02020603050405020304" pitchFamily="18" charset="0"/>
              </a:rPr>
              <a:t>lặp</a:t>
            </a:r>
            <a:r>
              <a:rPr lang="en-US" sz="1200" dirty="0">
                <a:solidFill>
                  <a:srgbClr val="0000CC"/>
                </a:solidFill>
                <a:latin typeface="Times New Roman" panose="02020603050405020304" pitchFamily="18" charset="0"/>
                <a:cs typeface="Times New Roman" panose="02020603050405020304" pitchFamily="18" charset="0"/>
              </a:rPr>
              <a:t> </a:t>
            </a:r>
            <a:r>
              <a:rPr lang="en-US" sz="1200" dirty="0" err="1">
                <a:solidFill>
                  <a:srgbClr val="0000CC"/>
                </a:solidFill>
                <a:latin typeface="Times New Roman" panose="02020603050405020304" pitchFamily="18" charset="0"/>
                <a:cs typeface="Times New Roman" panose="02020603050405020304" pitchFamily="18" charset="0"/>
              </a:rPr>
              <a:t>đi</a:t>
            </a:r>
            <a:r>
              <a:rPr lang="en-US" sz="1200" dirty="0">
                <a:solidFill>
                  <a:srgbClr val="0000CC"/>
                </a:solidFill>
                <a:latin typeface="Times New Roman" panose="02020603050405020304" pitchFamily="18" charset="0"/>
                <a:cs typeface="Times New Roman" panose="02020603050405020304" pitchFamily="18" charset="0"/>
              </a:rPr>
              <a:t> </a:t>
            </a:r>
            <a:r>
              <a:rPr lang="en-US" sz="1200" dirty="0" err="1">
                <a:solidFill>
                  <a:srgbClr val="0000CC"/>
                </a:solidFill>
                <a:latin typeface="Times New Roman" panose="02020603050405020304" pitchFamily="18" charset="0"/>
                <a:cs typeface="Times New Roman" panose="02020603050405020304" pitchFamily="18" charset="0"/>
              </a:rPr>
              <a:t>lặp</a:t>
            </a:r>
            <a:r>
              <a:rPr lang="en-US" sz="1200" dirty="0">
                <a:solidFill>
                  <a:srgbClr val="0000CC"/>
                </a:solidFill>
                <a:latin typeface="Times New Roman" panose="02020603050405020304" pitchFamily="18" charset="0"/>
                <a:cs typeface="Times New Roman" panose="02020603050405020304" pitchFamily="18" charset="0"/>
              </a:rPr>
              <a:t> </a:t>
            </a:r>
            <a:r>
              <a:rPr lang="en-US" sz="1200" dirty="0" err="1">
                <a:solidFill>
                  <a:srgbClr val="0000CC"/>
                </a:solidFill>
                <a:latin typeface="Times New Roman" panose="02020603050405020304" pitchFamily="18" charset="0"/>
                <a:cs typeface="Times New Roman" panose="02020603050405020304" pitchFamily="18" charset="0"/>
              </a:rPr>
              <a:t>lại</a:t>
            </a:r>
            <a:r>
              <a:rPr lang="en-US" sz="1200" dirty="0">
                <a:solidFill>
                  <a:srgbClr val="0000CC"/>
                </a:solidFill>
                <a:latin typeface="Times New Roman" panose="02020603050405020304" pitchFamily="18" charset="0"/>
                <a:cs typeface="Times New Roman" panose="02020603050405020304" pitchFamily="18" charset="0"/>
              </a:rPr>
              <a:t> </a:t>
            </a:r>
            <a:r>
              <a:rPr lang="en-US" sz="1200" dirty="0" err="1">
                <a:solidFill>
                  <a:srgbClr val="0000CC"/>
                </a:solidFill>
                <a:latin typeface="Times New Roman" panose="02020603050405020304" pitchFamily="18" charset="0"/>
                <a:cs typeface="Times New Roman" panose="02020603050405020304" pitchFamily="18" charset="0"/>
              </a:rPr>
              <a:t>hình</a:t>
            </a:r>
            <a:r>
              <a:rPr lang="en-US" sz="1200" dirty="0">
                <a:solidFill>
                  <a:srgbClr val="0000CC"/>
                </a:solidFill>
                <a:latin typeface="Times New Roman" panose="02020603050405020304" pitchFamily="18" charset="0"/>
                <a:cs typeface="Times New Roman" panose="02020603050405020304" pitchFamily="18" charset="0"/>
              </a:rPr>
              <a:t> </a:t>
            </a:r>
            <a:r>
              <a:rPr lang="en-US" sz="1200" dirty="0" err="1">
                <a:solidFill>
                  <a:srgbClr val="0000CC"/>
                </a:solidFill>
                <a:latin typeface="Times New Roman" panose="02020603050405020304" pitchFamily="18" charset="0"/>
                <a:cs typeface="Times New Roman" panose="02020603050405020304" pitchFamily="18" charset="0"/>
              </a:rPr>
              <a:t>thành</a:t>
            </a:r>
            <a:r>
              <a:rPr lang="en-US" sz="1200" dirty="0">
                <a:solidFill>
                  <a:srgbClr val="0000CC"/>
                </a:solidFill>
                <a:latin typeface="Times New Roman" panose="02020603050405020304" pitchFamily="18" charset="0"/>
                <a:cs typeface="Times New Roman" panose="02020603050405020304" pitchFamily="18" charset="0"/>
              </a:rPr>
              <a:t> chu </a:t>
            </a:r>
            <a:r>
              <a:rPr lang="en-US" sz="1200" dirty="0" err="1">
                <a:solidFill>
                  <a:srgbClr val="0000CC"/>
                </a:solidFill>
                <a:latin typeface="Times New Roman" panose="02020603050405020304" pitchFamily="18" charset="0"/>
                <a:cs typeface="Times New Roman" panose="02020603050405020304" pitchFamily="18" charset="0"/>
              </a:rPr>
              <a:t>trình</a:t>
            </a:r>
            <a:r>
              <a:rPr lang="en-US" sz="1200" dirty="0">
                <a:solidFill>
                  <a:srgbClr val="0000CC"/>
                </a:solidFill>
                <a:latin typeface="Times New Roman" panose="02020603050405020304" pitchFamily="18" charset="0"/>
                <a:cs typeface="Times New Roman" panose="02020603050405020304" pitchFamily="18" charset="0"/>
              </a:rPr>
              <a:t> NS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dirty="0"/>
          </a:p>
          <a:p>
            <a:endParaRPr lang="en-US" dirty="0"/>
          </a:p>
        </p:txBody>
      </p:sp>
      <p:sp>
        <p:nvSpPr>
          <p:cNvPr id="4" name="Slide Number Placeholder 3">
            <a:extLst>
              <a:ext uri="{FF2B5EF4-FFF2-40B4-BE49-F238E27FC236}">
                <a16:creationId xmlns:a16="http://schemas.microsoft.com/office/drawing/2014/main" id="{A62CE24C-65AC-1F47-FB10-1924A0F376A6}"/>
              </a:ext>
            </a:extLst>
          </p:cNvPr>
          <p:cNvSpPr>
            <a:spLocks noGrp="1"/>
          </p:cNvSpPr>
          <p:nvPr>
            <p:ph type="sldNum" sz="quarter" idx="5"/>
          </p:nvPr>
        </p:nvSpPr>
        <p:spPr/>
        <p:txBody>
          <a:bodyPr/>
          <a:lstStyle/>
          <a:p>
            <a:fld id="{1DD107A9-A0C7-4078-AEEF-185A00981267}" type="slidenum">
              <a:rPr lang="en-US" smtClean="0"/>
              <a:t>2</a:t>
            </a:fld>
            <a:endParaRPr lang="en-US"/>
          </a:p>
        </p:txBody>
      </p:sp>
    </p:spTree>
    <p:extLst>
      <p:ext uri="{BB962C8B-B14F-4D97-AF65-F5344CB8AC3E}">
        <p14:creationId xmlns:p14="http://schemas.microsoft.com/office/powerpoint/2010/main" val="3575911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5F0E4-391E-18AF-B048-EE73A3FE68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F00BD5-445B-5824-C73D-8E9E05DAB6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F8C957-F985-3602-655A-05696B68A418}"/>
              </a:ext>
            </a:extLst>
          </p:cNvPr>
          <p:cNvSpPr>
            <a:spLocks noGrp="1"/>
          </p:cNvSpPr>
          <p:nvPr>
            <p:ph type="body" idx="1"/>
          </p:nvPr>
        </p:nvSpPr>
        <p:spPr/>
        <p:txBody>
          <a:bodyPr/>
          <a:lstStyle/>
          <a:p>
            <a:pPr>
              <a:lnSpc>
                <a:spcPct val="150000"/>
              </a:lnSpc>
              <a:buFont typeface="Wingdings" panose="05000000000000000000" pitchFamily="2" charset="2"/>
              <a:buChar char="v"/>
            </a:pPr>
            <a:r>
              <a:rPr lang="vi-VN" sz="1200" b="1" kern="1200" dirty="0">
                <a:solidFill>
                  <a:srgbClr val="C00000"/>
                </a:solidFill>
                <a:latin typeface="+mn-lt"/>
                <a:ea typeface="+mn-ea"/>
                <a:cs typeface="+mn-cs"/>
              </a:rPr>
              <a:t>Các hoạt động của chu trình ngân sách</a:t>
            </a:r>
          </a:p>
          <a:p>
            <a:pPr marL="0" indent="0">
              <a:lnSpc>
                <a:spcPct val="150000"/>
              </a:lnSpc>
              <a:buNone/>
            </a:pPr>
            <a:r>
              <a:rPr lang="vi-VN" sz="1200" dirty="0">
                <a:solidFill>
                  <a:srgbClr val="0000CC"/>
                </a:solidFill>
                <a:latin typeface="Times New Roman" panose="02020603050405020304" pitchFamily="18" charset="0"/>
                <a:cs typeface="Times New Roman" panose="02020603050405020304" pitchFamily="18" charset="0"/>
              </a:rPr>
              <a:t>	- Lập và quyết định dự toán NSNN (</a:t>
            </a:r>
            <a:r>
              <a:rPr lang="vi-VN" sz="1200" b="1" i="1" dirty="0">
                <a:solidFill>
                  <a:srgbClr val="0000CC"/>
                </a:solidFill>
                <a:latin typeface="Times New Roman" panose="02020603050405020304" pitchFamily="18" charset="0"/>
                <a:cs typeface="Times New Roman" panose="02020603050405020304" pitchFamily="18" charset="0"/>
              </a:rPr>
              <a:t>hoàn thành trước khi bắt đầu năm NS)</a:t>
            </a:r>
          </a:p>
          <a:p>
            <a:pPr marL="0" indent="0">
              <a:lnSpc>
                <a:spcPct val="150000"/>
              </a:lnSpc>
              <a:buNone/>
            </a:pPr>
            <a:r>
              <a:rPr lang="vi-VN" sz="1200" dirty="0">
                <a:solidFill>
                  <a:srgbClr val="0000CC"/>
                </a:solidFill>
                <a:latin typeface="Times New Roman" panose="02020603050405020304" pitchFamily="18" charset="0"/>
                <a:cs typeface="Times New Roman" panose="02020603050405020304" pitchFamily="18" charset="0"/>
              </a:rPr>
              <a:t>	- Chấp hành NSNN đã được quyết định (</a:t>
            </a:r>
            <a:r>
              <a:rPr lang="vi-VN" sz="1200" b="1" i="1" dirty="0">
                <a:solidFill>
                  <a:srgbClr val="0000CC"/>
                </a:solidFill>
                <a:latin typeface="Times New Roman" panose="02020603050405020304" pitchFamily="18" charset="0"/>
                <a:cs typeface="Times New Roman" panose="02020603050405020304" pitchFamily="18" charset="0"/>
              </a:rPr>
              <a:t>thực hiện trong năm NS</a:t>
            </a:r>
            <a:r>
              <a:rPr lang="vi-VN" sz="1200" dirty="0">
                <a:solidFill>
                  <a:srgbClr val="0000CC"/>
                </a:solidFill>
                <a:latin typeface="Times New Roman" panose="02020603050405020304" pitchFamily="18" charset="0"/>
                <a:cs typeface="Times New Roman" panose="02020603050405020304" pitchFamily="18" charset="0"/>
              </a:rPr>
              <a:t>)</a:t>
            </a:r>
          </a:p>
          <a:p>
            <a:pPr marL="0" indent="0">
              <a:lnSpc>
                <a:spcPct val="150000"/>
              </a:lnSpc>
              <a:buNone/>
            </a:pPr>
            <a:r>
              <a:rPr lang="vi-VN" sz="1200" dirty="0">
                <a:solidFill>
                  <a:srgbClr val="0000CC"/>
                </a:solidFill>
                <a:latin typeface="Times New Roman" panose="02020603050405020304" pitchFamily="18" charset="0"/>
                <a:cs typeface="Times New Roman" panose="02020603050405020304" pitchFamily="18" charset="0"/>
              </a:rPr>
              <a:t>	- Quyết toán NSNN (</a:t>
            </a:r>
            <a:r>
              <a:rPr lang="vi-VN" sz="1200" b="1" i="1" dirty="0">
                <a:solidFill>
                  <a:srgbClr val="0000CC"/>
                </a:solidFill>
                <a:latin typeface="Times New Roman" panose="02020603050405020304" pitchFamily="18" charset="0"/>
                <a:cs typeface="Times New Roman" panose="02020603050405020304" pitchFamily="18" charset="0"/>
              </a:rPr>
              <a:t>thực hiện sau khi năm NS kết thúc)</a:t>
            </a:r>
            <a:endParaRPr lang="en-US" sz="1200" b="1" i="1" dirty="0"/>
          </a:p>
          <a:p>
            <a:endParaRPr lang="en-US" dirty="0"/>
          </a:p>
        </p:txBody>
      </p:sp>
      <p:sp>
        <p:nvSpPr>
          <p:cNvPr id="4" name="Slide Number Placeholder 3">
            <a:extLst>
              <a:ext uri="{FF2B5EF4-FFF2-40B4-BE49-F238E27FC236}">
                <a16:creationId xmlns:a16="http://schemas.microsoft.com/office/drawing/2014/main" id="{D853E446-F99A-4888-5CAC-D70697FE2468}"/>
              </a:ext>
            </a:extLst>
          </p:cNvPr>
          <p:cNvSpPr>
            <a:spLocks noGrp="1"/>
          </p:cNvSpPr>
          <p:nvPr>
            <p:ph type="sldNum" sz="quarter" idx="5"/>
          </p:nvPr>
        </p:nvSpPr>
        <p:spPr/>
        <p:txBody>
          <a:bodyPr/>
          <a:lstStyle/>
          <a:p>
            <a:fld id="{1DD107A9-A0C7-4078-AEEF-185A00981267}" type="slidenum">
              <a:rPr lang="en-US" smtClean="0"/>
              <a:t>3</a:t>
            </a:fld>
            <a:endParaRPr lang="en-US"/>
          </a:p>
        </p:txBody>
      </p:sp>
    </p:spTree>
    <p:extLst>
      <p:ext uri="{BB962C8B-B14F-4D97-AF65-F5344CB8AC3E}">
        <p14:creationId xmlns:p14="http://schemas.microsoft.com/office/powerpoint/2010/main" val="35814142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94E89-8B30-4CB7-084B-3AEE09ADC9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65F24D-C877-15A8-8D14-B537CAE075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B7FA4A-F98B-951F-0129-EE7233953E48}"/>
              </a:ext>
            </a:extLst>
          </p:cNvPr>
          <p:cNvSpPr>
            <a:spLocks noGrp="1"/>
          </p:cNvSpPr>
          <p:nvPr>
            <p:ph type="body" idx="1"/>
          </p:nvPr>
        </p:nvSpPr>
        <p:spPr/>
        <p:txBody>
          <a:bodyPr/>
          <a:lstStyle/>
          <a:p>
            <a:r>
              <a:rPr lang="vi-VN" sz="1200" b="1" dirty="0"/>
              <a:t>Có 4 bước trong chu trình ngân sách</a:t>
            </a:r>
            <a:r>
              <a:rPr lang="en-US" sz="1200" b="1" dirty="0"/>
              <a:t>:</a:t>
            </a:r>
          </a:p>
          <a:p>
            <a:pPr algn="just">
              <a:lnSpc>
                <a:spcPct val="150000"/>
              </a:lnSpc>
            </a:pPr>
            <a:r>
              <a:rPr lang="vi-VN" sz="800" b="1" kern="1200" dirty="0">
                <a:solidFill>
                  <a:schemeClr val="tx1"/>
                </a:solidFill>
                <a:latin typeface="+mn-lt"/>
                <a:ea typeface="+mn-ea"/>
                <a:cs typeface="+mn-cs"/>
              </a:rPr>
              <a:t>Lập DT NSNN</a:t>
            </a:r>
            <a:r>
              <a:rPr lang="en-US" sz="800" b="1" kern="1200" dirty="0">
                <a:solidFill>
                  <a:schemeClr val="tx1"/>
                </a:solidFill>
                <a:latin typeface="+mn-lt"/>
                <a:ea typeface="+mn-ea"/>
                <a:cs typeface="+mn-cs"/>
              </a:rPr>
              <a:t> </a:t>
            </a:r>
            <a:r>
              <a:rPr lang="vi-VN" sz="800" kern="1200" dirty="0">
                <a:solidFill>
                  <a:schemeClr val="tx1"/>
                </a:solidFill>
                <a:latin typeface="+mn-lt"/>
                <a:ea typeface="+mn-ea"/>
                <a:cs typeface="+mn-cs"/>
              </a:rPr>
              <a:t>là quá trình xây dựng bản dự toán thu, chi là gì, ngân sách với cơ cấu chi tiết theo luật định. </a:t>
            </a:r>
            <a:r>
              <a:rPr lang="vi-VN" sz="800" b="1" kern="1200" dirty="0">
                <a:solidFill>
                  <a:schemeClr val="tx1"/>
                </a:solidFill>
                <a:latin typeface="+mn-lt"/>
                <a:ea typeface="+mn-ea"/>
                <a:cs typeface="+mn-cs"/>
              </a:rPr>
              <a:t>Dự toán </a:t>
            </a:r>
            <a:r>
              <a:rPr lang="en-US" sz="800" b="1" kern="1200" dirty="0">
                <a:solidFill>
                  <a:schemeClr val="tx1"/>
                </a:solidFill>
                <a:latin typeface="+mn-lt"/>
                <a:ea typeface="+mn-ea"/>
                <a:cs typeface="+mn-cs"/>
              </a:rPr>
              <a:t>NS </a:t>
            </a:r>
            <a:r>
              <a:rPr lang="vi-VN" sz="800" kern="1200" dirty="0">
                <a:solidFill>
                  <a:schemeClr val="tx1"/>
                </a:solidFill>
                <a:latin typeface="+mn-lt"/>
                <a:ea typeface="+mn-ea"/>
                <a:cs typeface="+mn-cs"/>
              </a:rPr>
              <a:t>bao gồm cả việc phân bố ngân sách cho các cơ quan, đơn vị trực thuộc.</a:t>
            </a:r>
          </a:p>
          <a:p>
            <a:pPr algn="just">
              <a:lnSpc>
                <a:spcPct val="150000"/>
              </a:lnSpc>
            </a:pPr>
            <a:r>
              <a:rPr lang="vi-VN" sz="800" b="1" kern="1200" dirty="0">
                <a:solidFill>
                  <a:schemeClr val="tx1"/>
                </a:solidFill>
                <a:latin typeface="+mn-lt"/>
                <a:ea typeface="+mn-ea"/>
                <a:cs typeface="+mn-cs"/>
              </a:rPr>
              <a:t>Quyết định DT NSNN</a:t>
            </a:r>
            <a:r>
              <a:rPr lang="en-US" sz="800" b="1" kern="1200" dirty="0">
                <a:solidFill>
                  <a:schemeClr val="tx1"/>
                </a:solidFill>
                <a:latin typeface="+mn-lt"/>
                <a:ea typeface="+mn-ea"/>
                <a:cs typeface="+mn-cs"/>
              </a:rPr>
              <a:t> </a:t>
            </a:r>
            <a:r>
              <a:rPr lang="vi-VN" sz="800" kern="1200" dirty="0">
                <a:solidFill>
                  <a:schemeClr val="tx1"/>
                </a:solidFill>
                <a:latin typeface="+mn-lt"/>
                <a:ea typeface="+mn-ea"/>
                <a:cs typeface="+mn-cs"/>
              </a:rPr>
              <a:t>là quá trình các cơ quan có thẩm quyền để xem xét, thẩm tra, thảo luận và đi đến quyết định phê duyệt dự toán </a:t>
            </a:r>
            <a:r>
              <a:rPr lang="en-US" sz="800" kern="1200" dirty="0">
                <a:solidFill>
                  <a:schemeClr val="tx1"/>
                </a:solidFill>
                <a:latin typeface="+mn-lt"/>
                <a:ea typeface="+mn-ea"/>
                <a:cs typeface="+mn-cs"/>
              </a:rPr>
              <a:t>NS</a:t>
            </a:r>
            <a:endParaRPr lang="vi-VN" sz="800" kern="1200" dirty="0">
              <a:solidFill>
                <a:schemeClr val="tx1"/>
              </a:solidFill>
              <a:latin typeface="+mn-lt"/>
              <a:ea typeface="+mn-ea"/>
              <a:cs typeface="+mn-cs"/>
            </a:endParaRPr>
          </a:p>
          <a:p>
            <a:pPr algn="just">
              <a:lnSpc>
                <a:spcPct val="150000"/>
              </a:lnSpc>
            </a:pPr>
            <a:r>
              <a:rPr lang="vi-VN" sz="800" b="1" kern="1200" dirty="0">
                <a:solidFill>
                  <a:schemeClr val="tx1"/>
                </a:solidFill>
                <a:latin typeface="+mn-lt"/>
                <a:ea typeface="+mn-ea"/>
                <a:cs typeface="+mn-cs"/>
              </a:rPr>
              <a:t>Chấp hành DT NSNN</a:t>
            </a:r>
            <a:r>
              <a:rPr lang="en-US" sz="800" b="1" kern="1200" dirty="0">
                <a:solidFill>
                  <a:schemeClr val="tx1"/>
                </a:solidFill>
                <a:latin typeface="+mn-lt"/>
                <a:ea typeface="+mn-ea"/>
                <a:cs typeface="+mn-cs"/>
              </a:rPr>
              <a:t> </a:t>
            </a:r>
            <a:r>
              <a:rPr lang="vi-VN" sz="800" kern="1200" dirty="0">
                <a:solidFill>
                  <a:schemeClr val="tx1"/>
                </a:solidFill>
                <a:latin typeface="+mn-lt"/>
                <a:ea typeface="+mn-ea"/>
                <a:cs typeface="+mn-cs"/>
              </a:rPr>
              <a:t>là quá trình thực hiện các nội dung đã nêu trong dự toán </a:t>
            </a:r>
            <a:r>
              <a:rPr lang="en-US" sz="800" kern="1200" dirty="0">
                <a:solidFill>
                  <a:schemeClr val="tx1"/>
                </a:solidFill>
                <a:latin typeface="+mn-lt"/>
                <a:ea typeface="+mn-ea"/>
                <a:cs typeface="+mn-cs"/>
              </a:rPr>
              <a:t>NS</a:t>
            </a:r>
            <a:endParaRPr lang="vi-VN" sz="800" kern="1200" dirty="0">
              <a:solidFill>
                <a:schemeClr val="tx1"/>
              </a:solidFill>
              <a:latin typeface="+mn-lt"/>
              <a:ea typeface="+mn-ea"/>
              <a:cs typeface="+mn-cs"/>
            </a:endParaRPr>
          </a:p>
          <a:p>
            <a:pPr algn="just">
              <a:lnSpc>
                <a:spcPct val="150000"/>
              </a:lnSpc>
            </a:pPr>
            <a:r>
              <a:rPr lang="vi-VN" sz="800" b="1" kern="1200" dirty="0">
                <a:solidFill>
                  <a:schemeClr val="tx1"/>
                </a:solidFill>
                <a:latin typeface="+mn-lt"/>
                <a:ea typeface="+mn-ea"/>
                <a:cs typeface="+mn-cs"/>
              </a:rPr>
              <a:t>Quyết toán, kiểm toán </a:t>
            </a:r>
            <a:r>
              <a:rPr lang="vi-VN" sz="800" kern="1200" dirty="0">
                <a:solidFill>
                  <a:schemeClr val="tx1"/>
                </a:solidFill>
                <a:latin typeface="+mn-lt"/>
                <a:ea typeface="+mn-ea"/>
                <a:cs typeface="+mn-cs"/>
              </a:rPr>
              <a:t>và đánh giá ngân sách là khâu cuối cùng trong chu trình </a:t>
            </a:r>
            <a:r>
              <a:rPr lang="en-US" sz="800" kern="1200" dirty="0">
                <a:solidFill>
                  <a:schemeClr val="tx1"/>
                </a:solidFill>
                <a:latin typeface="+mn-lt"/>
                <a:ea typeface="+mn-ea"/>
                <a:cs typeface="+mn-cs"/>
              </a:rPr>
              <a:t>NS</a:t>
            </a:r>
            <a:r>
              <a:rPr lang="vi-VN" sz="800" kern="1200" dirty="0">
                <a:solidFill>
                  <a:schemeClr val="tx1"/>
                </a:solidFill>
                <a:latin typeface="+mn-lt"/>
                <a:ea typeface="+mn-ea"/>
                <a:cs typeface="+mn-cs"/>
              </a:rPr>
              <a:t>, nhằm tổng kết, đánh giá việc thực hiện ngân sách cũng như các chính sách </a:t>
            </a:r>
            <a:r>
              <a:rPr lang="en-US" sz="800" kern="1200" dirty="0">
                <a:solidFill>
                  <a:schemeClr val="tx1"/>
                </a:solidFill>
                <a:latin typeface="+mn-lt"/>
                <a:ea typeface="+mn-ea"/>
                <a:cs typeface="+mn-cs"/>
              </a:rPr>
              <a:t>NS </a:t>
            </a:r>
            <a:r>
              <a:rPr lang="vi-VN" sz="800" kern="1200" dirty="0">
                <a:solidFill>
                  <a:schemeClr val="tx1"/>
                </a:solidFill>
                <a:latin typeface="+mn-lt"/>
                <a:ea typeface="+mn-ea"/>
                <a:cs typeface="+mn-cs"/>
              </a:rPr>
              <a:t>của năm </a:t>
            </a:r>
            <a:r>
              <a:rPr lang="en-US" sz="800" kern="1200" dirty="0">
                <a:solidFill>
                  <a:schemeClr val="tx1"/>
                </a:solidFill>
                <a:latin typeface="+mn-lt"/>
                <a:ea typeface="+mn-ea"/>
                <a:cs typeface="+mn-cs"/>
              </a:rPr>
              <a:t>NS </a:t>
            </a:r>
            <a:r>
              <a:rPr lang="vi-VN" sz="800" kern="1200" dirty="0">
                <a:solidFill>
                  <a:schemeClr val="tx1"/>
                </a:solidFill>
                <a:latin typeface="+mn-lt"/>
                <a:ea typeface="+mn-ea"/>
                <a:cs typeface="+mn-cs"/>
              </a:rPr>
              <a:t>đã qua.</a:t>
            </a:r>
          </a:p>
          <a:p>
            <a:endParaRPr lang="en-US" dirty="0"/>
          </a:p>
        </p:txBody>
      </p:sp>
      <p:sp>
        <p:nvSpPr>
          <p:cNvPr id="4" name="Slide Number Placeholder 3">
            <a:extLst>
              <a:ext uri="{FF2B5EF4-FFF2-40B4-BE49-F238E27FC236}">
                <a16:creationId xmlns:a16="http://schemas.microsoft.com/office/drawing/2014/main" id="{4AAB3013-DA75-E475-53BC-C8B2A6F06458}"/>
              </a:ext>
            </a:extLst>
          </p:cNvPr>
          <p:cNvSpPr>
            <a:spLocks noGrp="1"/>
          </p:cNvSpPr>
          <p:nvPr>
            <p:ph type="sldNum" sz="quarter" idx="5"/>
          </p:nvPr>
        </p:nvSpPr>
        <p:spPr/>
        <p:txBody>
          <a:bodyPr/>
          <a:lstStyle/>
          <a:p>
            <a:fld id="{1DD107A9-A0C7-4078-AEEF-185A00981267}" type="slidenum">
              <a:rPr lang="en-US" smtClean="0"/>
              <a:t>4</a:t>
            </a:fld>
            <a:endParaRPr lang="en-US"/>
          </a:p>
        </p:txBody>
      </p:sp>
    </p:spTree>
    <p:extLst>
      <p:ext uri="{BB962C8B-B14F-4D97-AF65-F5344CB8AC3E}">
        <p14:creationId xmlns:p14="http://schemas.microsoft.com/office/powerpoint/2010/main" val="36579897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7D3F9-88BF-9C44-FE74-24ED0A7458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68CF42-F97C-B241-A729-2ED709ED43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A13A4D-28AC-48C2-B2B8-F08449516991}"/>
              </a:ext>
            </a:extLst>
          </p:cNvPr>
          <p:cNvSpPr>
            <a:spLocks noGrp="1"/>
          </p:cNvSpPr>
          <p:nvPr>
            <p:ph type="body" idx="1"/>
          </p:nvPr>
        </p:nvSpPr>
        <p:spPr/>
        <p:txBody>
          <a:bodyPr/>
          <a:lstStyle/>
          <a:p>
            <a:pPr marL="0" indent="0" eaLnBrk="1" hangingPunct="1">
              <a:lnSpc>
                <a:spcPct val="150000"/>
              </a:lnSpc>
              <a:buNone/>
            </a:pPr>
            <a:r>
              <a:rPr lang="en-US" sz="1200" dirty="0" err="1">
                <a:solidFill>
                  <a:srgbClr val="0000CC"/>
                </a:solidFill>
                <a:latin typeface="Times New Roman" panose="02020603050405020304" pitchFamily="18" charset="0"/>
                <a:cs typeface="Times New Roman" panose="02020603050405020304" pitchFamily="18" charset="0"/>
              </a:rPr>
              <a:t>Hoạt</a:t>
            </a:r>
            <a:r>
              <a:rPr lang="en-US" sz="1200" dirty="0">
                <a:solidFill>
                  <a:srgbClr val="0000CC"/>
                </a:solidFill>
                <a:latin typeface="Times New Roman" panose="02020603050405020304" pitchFamily="18" charset="0"/>
                <a:cs typeface="Times New Roman" panose="02020603050405020304" pitchFamily="18" charset="0"/>
              </a:rPr>
              <a:t> </a:t>
            </a:r>
            <a:r>
              <a:rPr lang="en-US" sz="1200" dirty="0" err="1">
                <a:solidFill>
                  <a:srgbClr val="0000CC"/>
                </a:solidFill>
                <a:latin typeface="Times New Roman" panose="02020603050405020304" pitchFamily="18" charset="0"/>
                <a:cs typeface="Times New Roman" panose="02020603050405020304" pitchFamily="18" charset="0"/>
              </a:rPr>
              <a:t>động</a:t>
            </a:r>
            <a:r>
              <a:rPr lang="en-US" sz="1200" dirty="0">
                <a:solidFill>
                  <a:srgbClr val="0000CC"/>
                </a:solidFill>
                <a:latin typeface="Times New Roman" panose="02020603050405020304" pitchFamily="18" charset="0"/>
                <a:cs typeface="Times New Roman" panose="02020603050405020304" pitchFamily="18" charset="0"/>
              </a:rPr>
              <a:t> NSNN </a:t>
            </a:r>
            <a:r>
              <a:rPr lang="en-US" sz="1200" dirty="0" err="1">
                <a:solidFill>
                  <a:srgbClr val="0000CC"/>
                </a:solidFill>
                <a:latin typeface="Times New Roman" panose="02020603050405020304" pitchFamily="18" charset="0"/>
                <a:cs typeface="Times New Roman" panose="02020603050405020304" pitchFamily="18" charset="0"/>
              </a:rPr>
              <a:t>có</a:t>
            </a:r>
            <a:r>
              <a:rPr lang="en-US" sz="1200" dirty="0">
                <a:solidFill>
                  <a:srgbClr val="0000CC"/>
                </a:solidFill>
                <a:latin typeface="Times New Roman" panose="02020603050405020304" pitchFamily="18" charset="0"/>
                <a:cs typeface="Times New Roman" panose="02020603050405020304" pitchFamily="18" charset="0"/>
              </a:rPr>
              <a:t> </a:t>
            </a:r>
            <a:r>
              <a:rPr lang="en-US" sz="1200" dirty="0" err="1">
                <a:solidFill>
                  <a:srgbClr val="0000CC"/>
                </a:solidFill>
                <a:latin typeface="Times New Roman" panose="02020603050405020304" pitchFamily="18" charset="0"/>
                <a:cs typeface="Times New Roman" panose="02020603050405020304" pitchFamily="18" charset="0"/>
              </a:rPr>
              <a:t>tính</a:t>
            </a:r>
            <a:r>
              <a:rPr lang="en-US" sz="1200" dirty="0">
                <a:solidFill>
                  <a:srgbClr val="0000CC"/>
                </a:solidFill>
                <a:latin typeface="Times New Roman" panose="02020603050405020304" pitchFamily="18" charset="0"/>
                <a:cs typeface="Times New Roman" panose="02020603050405020304" pitchFamily="18" charset="0"/>
              </a:rPr>
              <a:t> chu </a:t>
            </a:r>
            <a:r>
              <a:rPr lang="en-US" sz="1200" dirty="0" err="1">
                <a:solidFill>
                  <a:srgbClr val="0000CC"/>
                </a:solidFill>
                <a:latin typeface="Times New Roman" panose="02020603050405020304" pitchFamily="18" charset="0"/>
                <a:cs typeface="Times New Roman" panose="02020603050405020304" pitchFamily="18" charset="0"/>
              </a:rPr>
              <a:t>kỳ</a:t>
            </a:r>
            <a:r>
              <a:rPr lang="en-US" sz="1200" dirty="0">
                <a:solidFill>
                  <a:srgbClr val="0000CC"/>
                </a:solidFill>
                <a:latin typeface="Times New Roman" panose="02020603050405020304" pitchFamily="18" charset="0"/>
                <a:cs typeface="Times New Roman" panose="02020603050405020304" pitchFamily="18" charset="0"/>
              </a:rPr>
              <a:t>, </a:t>
            </a:r>
            <a:r>
              <a:rPr lang="en-US" sz="1200" dirty="0" err="1">
                <a:solidFill>
                  <a:srgbClr val="0000CC"/>
                </a:solidFill>
                <a:latin typeface="Times New Roman" panose="02020603050405020304" pitchFamily="18" charset="0"/>
                <a:cs typeface="Times New Roman" panose="02020603050405020304" pitchFamily="18" charset="0"/>
              </a:rPr>
              <a:t>lặp</a:t>
            </a:r>
            <a:r>
              <a:rPr lang="en-US" sz="1200" dirty="0">
                <a:solidFill>
                  <a:srgbClr val="0000CC"/>
                </a:solidFill>
                <a:latin typeface="Times New Roman" panose="02020603050405020304" pitchFamily="18" charset="0"/>
                <a:cs typeface="Times New Roman" panose="02020603050405020304" pitchFamily="18" charset="0"/>
              </a:rPr>
              <a:t> </a:t>
            </a:r>
            <a:r>
              <a:rPr lang="en-US" sz="1200" dirty="0" err="1">
                <a:solidFill>
                  <a:srgbClr val="0000CC"/>
                </a:solidFill>
                <a:latin typeface="Times New Roman" panose="02020603050405020304" pitchFamily="18" charset="0"/>
                <a:cs typeface="Times New Roman" panose="02020603050405020304" pitchFamily="18" charset="0"/>
              </a:rPr>
              <a:t>đi</a:t>
            </a:r>
            <a:r>
              <a:rPr lang="en-US" sz="1200" dirty="0">
                <a:solidFill>
                  <a:srgbClr val="0000CC"/>
                </a:solidFill>
                <a:latin typeface="Times New Roman" panose="02020603050405020304" pitchFamily="18" charset="0"/>
                <a:cs typeface="Times New Roman" panose="02020603050405020304" pitchFamily="18" charset="0"/>
              </a:rPr>
              <a:t> </a:t>
            </a:r>
            <a:r>
              <a:rPr lang="en-US" sz="1200" dirty="0" err="1">
                <a:solidFill>
                  <a:srgbClr val="0000CC"/>
                </a:solidFill>
                <a:latin typeface="Times New Roman" panose="02020603050405020304" pitchFamily="18" charset="0"/>
                <a:cs typeface="Times New Roman" panose="02020603050405020304" pitchFamily="18" charset="0"/>
              </a:rPr>
              <a:t>lặp</a:t>
            </a:r>
            <a:r>
              <a:rPr lang="en-US" sz="1200" dirty="0">
                <a:solidFill>
                  <a:srgbClr val="0000CC"/>
                </a:solidFill>
                <a:latin typeface="Times New Roman" panose="02020603050405020304" pitchFamily="18" charset="0"/>
                <a:cs typeface="Times New Roman" panose="02020603050405020304" pitchFamily="18" charset="0"/>
              </a:rPr>
              <a:t> </a:t>
            </a:r>
            <a:r>
              <a:rPr lang="en-US" sz="1200" dirty="0" err="1">
                <a:solidFill>
                  <a:srgbClr val="0000CC"/>
                </a:solidFill>
                <a:latin typeface="Times New Roman" panose="02020603050405020304" pitchFamily="18" charset="0"/>
                <a:cs typeface="Times New Roman" panose="02020603050405020304" pitchFamily="18" charset="0"/>
              </a:rPr>
              <a:t>lại</a:t>
            </a:r>
            <a:r>
              <a:rPr lang="en-US" sz="1200" dirty="0">
                <a:solidFill>
                  <a:srgbClr val="0000CC"/>
                </a:solidFill>
                <a:latin typeface="Times New Roman" panose="02020603050405020304" pitchFamily="18" charset="0"/>
                <a:cs typeface="Times New Roman" panose="02020603050405020304" pitchFamily="18" charset="0"/>
              </a:rPr>
              <a:t> </a:t>
            </a:r>
            <a:r>
              <a:rPr lang="en-US" sz="1200" dirty="0" err="1">
                <a:solidFill>
                  <a:srgbClr val="0000CC"/>
                </a:solidFill>
                <a:latin typeface="Times New Roman" panose="02020603050405020304" pitchFamily="18" charset="0"/>
                <a:cs typeface="Times New Roman" panose="02020603050405020304" pitchFamily="18" charset="0"/>
              </a:rPr>
              <a:t>hình</a:t>
            </a:r>
            <a:r>
              <a:rPr lang="en-US" sz="1200" dirty="0">
                <a:solidFill>
                  <a:srgbClr val="0000CC"/>
                </a:solidFill>
                <a:latin typeface="Times New Roman" panose="02020603050405020304" pitchFamily="18" charset="0"/>
                <a:cs typeface="Times New Roman" panose="02020603050405020304" pitchFamily="18" charset="0"/>
              </a:rPr>
              <a:t> </a:t>
            </a:r>
            <a:r>
              <a:rPr lang="en-US" sz="1200" dirty="0" err="1">
                <a:solidFill>
                  <a:srgbClr val="0000CC"/>
                </a:solidFill>
                <a:latin typeface="Times New Roman" panose="02020603050405020304" pitchFamily="18" charset="0"/>
                <a:cs typeface="Times New Roman" panose="02020603050405020304" pitchFamily="18" charset="0"/>
              </a:rPr>
              <a:t>thành</a:t>
            </a:r>
            <a:r>
              <a:rPr lang="en-US" sz="1200" dirty="0">
                <a:solidFill>
                  <a:srgbClr val="0000CC"/>
                </a:solidFill>
                <a:latin typeface="Times New Roman" panose="02020603050405020304" pitchFamily="18" charset="0"/>
                <a:cs typeface="Times New Roman" panose="02020603050405020304" pitchFamily="18" charset="0"/>
              </a:rPr>
              <a:t> chu </a:t>
            </a:r>
            <a:r>
              <a:rPr lang="en-US" sz="1200" dirty="0" err="1">
                <a:solidFill>
                  <a:srgbClr val="0000CC"/>
                </a:solidFill>
                <a:latin typeface="Times New Roman" panose="02020603050405020304" pitchFamily="18" charset="0"/>
                <a:cs typeface="Times New Roman" panose="02020603050405020304" pitchFamily="18" charset="0"/>
              </a:rPr>
              <a:t>trình</a:t>
            </a:r>
            <a:r>
              <a:rPr lang="en-US" sz="1200" dirty="0">
                <a:solidFill>
                  <a:srgbClr val="0000CC"/>
                </a:solidFill>
                <a:latin typeface="Times New Roman" panose="02020603050405020304" pitchFamily="18" charset="0"/>
                <a:cs typeface="Times New Roman" panose="02020603050405020304" pitchFamily="18" charset="0"/>
              </a:rPr>
              <a:t> NS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dirty="0"/>
          </a:p>
          <a:p>
            <a:endParaRPr lang="en-US" dirty="0"/>
          </a:p>
        </p:txBody>
      </p:sp>
      <p:sp>
        <p:nvSpPr>
          <p:cNvPr id="4" name="Slide Number Placeholder 3">
            <a:extLst>
              <a:ext uri="{FF2B5EF4-FFF2-40B4-BE49-F238E27FC236}">
                <a16:creationId xmlns:a16="http://schemas.microsoft.com/office/drawing/2014/main" id="{77142634-8471-0D89-985F-5628C1F36B5A}"/>
              </a:ext>
            </a:extLst>
          </p:cNvPr>
          <p:cNvSpPr>
            <a:spLocks noGrp="1"/>
          </p:cNvSpPr>
          <p:nvPr>
            <p:ph type="sldNum" sz="quarter" idx="5"/>
          </p:nvPr>
        </p:nvSpPr>
        <p:spPr/>
        <p:txBody>
          <a:bodyPr/>
          <a:lstStyle/>
          <a:p>
            <a:fld id="{1DD107A9-A0C7-4078-AEEF-185A00981267}" type="slidenum">
              <a:rPr lang="en-US" smtClean="0"/>
              <a:t>5</a:t>
            </a:fld>
            <a:endParaRPr lang="en-US"/>
          </a:p>
        </p:txBody>
      </p:sp>
    </p:spTree>
    <p:extLst>
      <p:ext uri="{BB962C8B-B14F-4D97-AF65-F5344CB8AC3E}">
        <p14:creationId xmlns:p14="http://schemas.microsoft.com/office/powerpoint/2010/main" val="19402638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6B5BF-70DE-ACEF-DF6E-048BF0D9FA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DAF755-DDF5-BFE5-4A52-A363F9D898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7A7C96-6039-C224-765F-995E28061A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EFECA9-36B0-FB92-B456-590322A0A239}"/>
              </a:ext>
            </a:extLst>
          </p:cNvPr>
          <p:cNvSpPr>
            <a:spLocks noGrp="1"/>
          </p:cNvSpPr>
          <p:nvPr>
            <p:ph type="sldNum" sz="quarter" idx="5"/>
          </p:nvPr>
        </p:nvSpPr>
        <p:spPr/>
        <p:txBody>
          <a:bodyPr/>
          <a:lstStyle/>
          <a:p>
            <a:fld id="{1DD107A9-A0C7-4078-AEEF-185A00981267}" type="slidenum">
              <a:rPr lang="en-US" smtClean="0"/>
              <a:t>6</a:t>
            </a:fld>
            <a:endParaRPr lang="en-US"/>
          </a:p>
        </p:txBody>
      </p:sp>
    </p:spTree>
    <p:extLst>
      <p:ext uri="{BB962C8B-B14F-4D97-AF65-F5344CB8AC3E}">
        <p14:creationId xmlns:p14="http://schemas.microsoft.com/office/powerpoint/2010/main" val="30250369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AFFE5-89BE-E081-64F9-A468C73D59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0EC669-4219-3663-E3BA-758931C08F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4BD434-E7CF-37F4-7271-7B157C6DC4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72C8B1-D660-5D93-33B6-20290D9F7CAC}"/>
              </a:ext>
            </a:extLst>
          </p:cNvPr>
          <p:cNvSpPr>
            <a:spLocks noGrp="1"/>
          </p:cNvSpPr>
          <p:nvPr>
            <p:ph type="sldNum" sz="quarter" idx="5"/>
          </p:nvPr>
        </p:nvSpPr>
        <p:spPr/>
        <p:txBody>
          <a:bodyPr/>
          <a:lstStyle/>
          <a:p>
            <a:fld id="{1DD107A9-A0C7-4078-AEEF-185A00981267}" type="slidenum">
              <a:rPr lang="en-US" smtClean="0"/>
              <a:t>7</a:t>
            </a:fld>
            <a:endParaRPr lang="en-US"/>
          </a:p>
        </p:txBody>
      </p:sp>
    </p:spTree>
    <p:extLst>
      <p:ext uri="{BB962C8B-B14F-4D97-AF65-F5344CB8AC3E}">
        <p14:creationId xmlns:p14="http://schemas.microsoft.com/office/powerpoint/2010/main" val="40010506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9C45C-8016-4D4F-A0D8-399CE1FCB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45900-24E3-5CFF-2480-675F6AB9A2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B8DE80-D34A-8E9E-89FE-9B27443AD0E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NS  </a:t>
            </a:r>
            <a:r>
              <a:rPr lang="en-US" dirty="0" err="1"/>
              <a:t>là</a:t>
            </a:r>
            <a:r>
              <a:rPr lang="en-US" baseline="0" dirty="0"/>
              <a:t> </a:t>
            </a:r>
            <a:r>
              <a:rPr lang="en-US" baseline="0" dirty="0" err="1"/>
              <a:t>chiếc</a:t>
            </a:r>
            <a:r>
              <a:rPr lang="en-US" baseline="0" dirty="0"/>
              <a:t> </a:t>
            </a:r>
            <a:r>
              <a:rPr lang="en-US" baseline="0" dirty="0" err="1"/>
              <a:t>gương</a:t>
            </a:r>
            <a:r>
              <a:rPr lang="en-US" baseline="0" dirty="0"/>
              <a:t> </a:t>
            </a:r>
            <a:r>
              <a:rPr lang="en-US" baseline="0" dirty="0" err="1"/>
              <a:t>tài</a:t>
            </a:r>
            <a:r>
              <a:rPr lang="en-US" baseline="0" dirty="0"/>
              <a:t> </a:t>
            </a:r>
            <a:r>
              <a:rPr lang="en-US" baseline="0" dirty="0" err="1"/>
              <a:t>chính</a:t>
            </a:r>
            <a:r>
              <a:rPr lang="en-US" baseline="0" dirty="0"/>
              <a:t> </a:t>
            </a:r>
            <a:r>
              <a:rPr lang="en-US" baseline="0" dirty="0" err="1"/>
              <a:t>phản</a:t>
            </a:r>
            <a:r>
              <a:rPr lang="en-US" baseline="0" dirty="0"/>
              <a:t> </a:t>
            </a:r>
            <a:r>
              <a:rPr lang="en-US" baseline="0" dirty="0" err="1"/>
              <a:t>ánh</a:t>
            </a:r>
            <a:r>
              <a:rPr lang="en-US" baseline="0" dirty="0"/>
              <a:t> </a:t>
            </a:r>
            <a:r>
              <a:rPr lang="en-US" baseline="0" dirty="0" err="1"/>
              <a:t>sự</a:t>
            </a:r>
            <a:r>
              <a:rPr lang="en-US" baseline="0" dirty="0"/>
              <a:t> </a:t>
            </a:r>
            <a:r>
              <a:rPr lang="en-US" baseline="0" dirty="0" err="1"/>
              <a:t>lựa</a:t>
            </a:r>
            <a:r>
              <a:rPr lang="en-US" baseline="0" dirty="0"/>
              <a:t> </a:t>
            </a:r>
            <a:r>
              <a:rPr lang="en-US" baseline="0" dirty="0" err="1"/>
              <a:t>chọn</a:t>
            </a:r>
            <a:r>
              <a:rPr lang="en-US" baseline="0" dirty="0"/>
              <a:t> </a:t>
            </a:r>
            <a:r>
              <a:rPr lang="en-US" baseline="0" dirty="0" err="1"/>
              <a:t>các</a:t>
            </a:r>
            <a:r>
              <a:rPr lang="en-US" baseline="0" dirty="0"/>
              <a:t> </a:t>
            </a:r>
            <a:r>
              <a:rPr lang="en-US" baseline="0" dirty="0" err="1"/>
              <a:t>chính</a:t>
            </a:r>
            <a:r>
              <a:rPr lang="en-US" baseline="0" dirty="0"/>
              <a:t> </a:t>
            </a:r>
            <a:r>
              <a:rPr lang="en-US" baseline="0" dirty="0" err="1"/>
              <a:t>sách</a:t>
            </a:r>
            <a:r>
              <a:rPr lang="en-US" baseline="0" dirty="0"/>
              <a:t> </a:t>
            </a:r>
            <a:r>
              <a:rPr lang="en-US" baseline="0" dirty="0" err="1"/>
              <a:t>của</a:t>
            </a:r>
            <a:r>
              <a:rPr lang="en-US" baseline="0" dirty="0"/>
              <a:t> NN. </a:t>
            </a:r>
            <a:r>
              <a:rPr lang="en-US" baseline="0" dirty="0" err="1"/>
              <a:t>Vì</a:t>
            </a:r>
            <a:r>
              <a:rPr lang="en-US" baseline="0" dirty="0"/>
              <a:t> </a:t>
            </a:r>
            <a:r>
              <a:rPr lang="en-US" baseline="0" dirty="0" err="1"/>
              <a:t>vậy</a:t>
            </a:r>
            <a:r>
              <a:rPr lang="en-US" baseline="0" dirty="0"/>
              <a:t>, </a:t>
            </a:r>
            <a:r>
              <a:rPr lang="en-US" baseline="0" dirty="0" err="1"/>
              <a:t>cần</a:t>
            </a:r>
            <a:r>
              <a:rPr lang="en-US" baseline="0" dirty="0"/>
              <a:t> </a:t>
            </a:r>
            <a:r>
              <a:rPr lang="en-US" baseline="0" dirty="0" err="1"/>
              <a:t>có</a:t>
            </a:r>
            <a:r>
              <a:rPr lang="en-US" baseline="0" dirty="0"/>
              <a:t> </a:t>
            </a:r>
            <a:r>
              <a:rPr lang="en-US" baseline="0" dirty="0" err="1"/>
              <a:t>cơ</a:t>
            </a:r>
            <a:r>
              <a:rPr lang="en-US" baseline="0" dirty="0"/>
              <a:t> </a:t>
            </a:r>
            <a:r>
              <a:rPr lang="en-US" baseline="0" dirty="0" err="1"/>
              <a:t>chế</a:t>
            </a:r>
            <a:r>
              <a:rPr lang="en-US" baseline="0" dirty="0"/>
              <a:t> </a:t>
            </a:r>
            <a:r>
              <a:rPr lang="en-US" baseline="0" dirty="0" err="1"/>
              <a:t>cho</a:t>
            </a:r>
            <a:r>
              <a:rPr lang="en-US" baseline="0" dirty="0"/>
              <a:t> </a:t>
            </a:r>
            <a:r>
              <a:rPr lang="en-US" baseline="0" dirty="0" err="1"/>
              <a:t>việc</a:t>
            </a:r>
            <a:r>
              <a:rPr lang="en-US" baseline="0" dirty="0"/>
              <a:t> </a:t>
            </a:r>
            <a:r>
              <a:rPr lang="en-US" baseline="0" dirty="0" err="1"/>
              <a:t>hình</a:t>
            </a:r>
            <a:r>
              <a:rPr lang="en-US" baseline="0" dirty="0"/>
              <a:t> </a:t>
            </a:r>
            <a:r>
              <a:rPr lang="en-US" baseline="0" dirty="0" err="1"/>
              <a:t>thành</a:t>
            </a:r>
            <a:r>
              <a:rPr lang="en-US" baseline="0" dirty="0"/>
              <a:t> </a:t>
            </a:r>
            <a:r>
              <a:rPr lang="en-US" baseline="0" dirty="0" err="1"/>
              <a:t>các</a:t>
            </a:r>
            <a:r>
              <a:rPr lang="en-US" baseline="0" dirty="0"/>
              <a:t> </a:t>
            </a:r>
            <a:r>
              <a:rPr lang="en-US" baseline="0" dirty="0" err="1"/>
              <a:t>chính</a:t>
            </a:r>
            <a:r>
              <a:rPr lang="en-US" baseline="0" dirty="0"/>
              <a:t> </a:t>
            </a:r>
            <a:r>
              <a:rPr lang="en-US" baseline="0" dirty="0" err="1"/>
              <a:t>ách</a:t>
            </a:r>
            <a:r>
              <a:rPr lang="en-US" baseline="0" dirty="0"/>
              <a:t> </a:t>
            </a:r>
            <a:r>
              <a:rPr lang="en-US" baseline="0" dirty="0" err="1"/>
              <a:t>hữu</a:t>
            </a:r>
            <a:r>
              <a:rPr lang="en-US" baseline="0" dirty="0"/>
              <a:t> </a:t>
            </a:r>
            <a:r>
              <a:rPr lang="en-US" baseline="0" dirty="0" err="1"/>
              <a:t>hiệu</a:t>
            </a:r>
            <a:r>
              <a:rPr lang="en-US" baseline="0" dirty="0"/>
              <a:t> </a:t>
            </a:r>
            <a:r>
              <a:rPr lang="en-US" baseline="0" dirty="0" err="1"/>
              <a:t>và</a:t>
            </a:r>
            <a:r>
              <a:rPr lang="en-US" baseline="0" dirty="0"/>
              <a:t> </a:t>
            </a:r>
            <a:r>
              <a:rPr lang="en-US" baseline="0" dirty="0" err="1"/>
              <a:t>đảm</a:t>
            </a:r>
            <a:r>
              <a:rPr lang="en-US" baseline="0" dirty="0"/>
              <a:t> </a:t>
            </a:r>
            <a:r>
              <a:rPr lang="en-US" baseline="0" dirty="0" err="1"/>
              <a:t>bảo</a:t>
            </a:r>
            <a:r>
              <a:rPr lang="en-US" baseline="0" dirty="0"/>
              <a:t> </a:t>
            </a:r>
            <a:r>
              <a:rPr lang="en-US" baseline="0" dirty="0" err="1"/>
              <a:t>mqh</a:t>
            </a:r>
            <a:r>
              <a:rPr lang="en-US" baseline="0" dirty="0"/>
              <a:t> </a:t>
            </a:r>
            <a:r>
              <a:rPr lang="en-US" baseline="0" dirty="0" err="1"/>
              <a:t>vững</a:t>
            </a:r>
            <a:r>
              <a:rPr lang="en-US" baseline="0" dirty="0"/>
              <a:t> </a:t>
            </a:r>
            <a:r>
              <a:rPr lang="en-US" baseline="0" dirty="0" err="1"/>
              <a:t>chắc</a:t>
            </a:r>
            <a:r>
              <a:rPr lang="en-US" baseline="0" dirty="0"/>
              <a:t> </a:t>
            </a:r>
            <a:r>
              <a:rPr lang="en-US" baseline="0" dirty="0" err="1"/>
              <a:t>giữa</a:t>
            </a:r>
            <a:r>
              <a:rPr lang="en-US" baseline="0" dirty="0"/>
              <a:t> </a:t>
            </a:r>
            <a:r>
              <a:rPr lang="en-US" baseline="0" dirty="0" err="1"/>
              <a:t>chính</a:t>
            </a:r>
            <a:r>
              <a:rPr lang="en-US" baseline="0" dirty="0"/>
              <a:t> </a:t>
            </a:r>
            <a:r>
              <a:rPr lang="en-US" baseline="0" dirty="0" err="1"/>
              <a:t>sách</a:t>
            </a:r>
            <a:r>
              <a:rPr lang="en-US" baseline="0" dirty="0"/>
              <a:t> </a:t>
            </a:r>
            <a:r>
              <a:rPr lang="en-US" baseline="0" dirty="0" err="1"/>
              <a:t>và</a:t>
            </a:r>
            <a:r>
              <a:rPr lang="en-US" baseline="0" dirty="0"/>
              <a:t> NS </a:t>
            </a:r>
            <a:r>
              <a:rPr lang="en-US" baseline="0" dirty="0" err="1"/>
              <a:t>là</a:t>
            </a:r>
            <a:r>
              <a:rPr lang="en-US" baseline="0" dirty="0"/>
              <a:t> </a:t>
            </a:r>
            <a:r>
              <a:rPr lang="en-US" baseline="0" dirty="0" err="1"/>
              <a:t>rất</a:t>
            </a:r>
            <a:r>
              <a:rPr lang="en-US" baseline="0" dirty="0"/>
              <a:t> </a:t>
            </a:r>
            <a:r>
              <a:rPr lang="en-US" baseline="0" dirty="0" err="1"/>
              <a:t>quan</a:t>
            </a:r>
            <a:r>
              <a:rPr lang="en-US" baseline="0" dirty="0"/>
              <a:t> </a:t>
            </a:r>
            <a:r>
              <a:rPr lang="en-US" baseline="0" dirty="0" err="1"/>
              <a:t>trọng</a:t>
            </a:r>
            <a:r>
              <a:rPr lang="en-US" baseline="0" dirty="0"/>
              <a:t>. </a:t>
            </a:r>
            <a:r>
              <a:rPr lang="en-US" baseline="0" dirty="0" err="1"/>
              <a:t>Quá</a:t>
            </a:r>
            <a:r>
              <a:rPr lang="en-US" baseline="0" dirty="0"/>
              <a:t> </a:t>
            </a:r>
            <a:r>
              <a:rPr lang="en-US" baseline="0" dirty="0" err="1"/>
              <a:t>trình</a:t>
            </a:r>
            <a:r>
              <a:rPr lang="en-US" baseline="0" dirty="0"/>
              <a:t> </a:t>
            </a:r>
            <a:r>
              <a:rPr lang="en-US" baseline="0" dirty="0" err="1"/>
              <a:t>lập</a:t>
            </a:r>
            <a:r>
              <a:rPr lang="en-US" baseline="0" dirty="0"/>
              <a:t> DT NS </a:t>
            </a:r>
            <a:r>
              <a:rPr lang="en-US" baseline="0" dirty="0" err="1"/>
              <a:t>nhằm</a:t>
            </a:r>
            <a:r>
              <a:rPr lang="en-US" baseline="0" dirty="0"/>
              <a:t> </a:t>
            </a:r>
            <a:r>
              <a:rPr lang="en-US" baseline="0" dirty="0" err="1"/>
              <a:t>các</a:t>
            </a:r>
            <a:r>
              <a:rPr lang="en-US" baseline="0" dirty="0"/>
              <a:t> </a:t>
            </a:r>
            <a:r>
              <a:rPr lang="en-US" baseline="0" dirty="0" err="1"/>
              <a:t>mục</a:t>
            </a:r>
            <a:r>
              <a:rPr lang="en-US" baseline="0" dirty="0"/>
              <a:t> </a:t>
            </a:r>
            <a:r>
              <a:rPr lang="en-US" baseline="0" dirty="0" err="1"/>
              <a:t>tiêu</a:t>
            </a:r>
            <a:r>
              <a:rPr lang="en-US" baseline="0" dirty="0"/>
              <a:t> </a:t>
            </a:r>
            <a:r>
              <a:rPr lang="en-US" baseline="0" dirty="0" err="1"/>
              <a:t>sau</a:t>
            </a:r>
            <a:r>
              <a:rPr lang="en-US" baseline="0" dirty="0"/>
              <a:t>:</a:t>
            </a:r>
            <a:endParaRPr lang="en-US" dirty="0"/>
          </a:p>
          <a:p>
            <a:endParaRPr lang="en-US" dirty="0"/>
          </a:p>
        </p:txBody>
      </p:sp>
      <p:sp>
        <p:nvSpPr>
          <p:cNvPr id="4" name="Slide Number Placeholder 3">
            <a:extLst>
              <a:ext uri="{FF2B5EF4-FFF2-40B4-BE49-F238E27FC236}">
                <a16:creationId xmlns:a16="http://schemas.microsoft.com/office/drawing/2014/main" id="{E0C28FC2-F6F9-3934-3299-B3CAE5957CA0}"/>
              </a:ext>
            </a:extLst>
          </p:cNvPr>
          <p:cNvSpPr>
            <a:spLocks noGrp="1"/>
          </p:cNvSpPr>
          <p:nvPr>
            <p:ph type="sldNum" sz="quarter" idx="5"/>
          </p:nvPr>
        </p:nvSpPr>
        <p:spPr/>
        <p:txBody>
          <a:bodyPr/>
          <a:lstStyle/>
          <a:p>
            <a:fld id="{1DD107A9-A0C7-4078-AEEF-185A00981267}" type="slidenum">
              <a:rPr lang="en-US" smtClean="0"/>
              <a:t>8</a:t>
            </a:fld>
            <a:endParaRPr lang="en-US"/>
          </a:p>
        </p:txBody>
      </p:sp>
    </p:spTree>
    <p:extLst>
      <p:ext uri="{BB962C8B-B14F-4D97-AF65-F5344CB8AC3E}">
        <p14:creationId xmlns:p14="http://schemas.microsoft.com/office/powerpoint/2010/main" val="1107833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42C25-801E-D8FE-F021-2EE4C7799E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273CA1-B3D4-3963-3756-11FBDDC429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6AA303-DC37-E450-E804-C50BC384FD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901B23-4462-2AA8-CD2E-7A240C8F6965}"/>
              </a:ext>
            </a:extLst>
          </p:cNvPr>
          <p:cNvSpPr>
            <a:spLocks noGrp="1"/>
          </p:cNvSpPr>
          <p:nvPr>
            <p:ph type="sldNum" sz="quarter" idx="5"/>
          </p:nvPr>
        </p:nvSpPr>
        <p:spPr/>
        <p:txBody>
          <a:bodyPr/>
          <a:lstStyle/>
          <a:p>
            <a:fld id="{1DD107A9-A0C7-4078-AEEF-185A00981267}" type="slidenum">
              <a:rPr lang="en-US" smtClean="0"/>
              <a:t>9</a:t>
            </a:fld>
            <a:endParaRPr lang="en-US"/>
          </a:p>
        </p:txBody>
      </p:sp>
    </p:spTree>
    <p:extLst>
      <p:ext uri="{BB962C8B-B14F-4D97-AF65-F5344CB8AC3E}">
        <p14:creationId xmlns:p14="http://schemas.microsoft.com/office/powerpoint/2010/main" val="32410125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580F2-8FAE-4C31-6E92-77EB924B11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326A86-2C02-B856-0AE5-EC6AE4F930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DF3126-A13B-A5A5-8859-1F0BADB7EE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80A885-1107-C576-C137-360AE8780930}"/>
              </a:ext>
            </a:extLst>
          </p:cNvPr>
          <p:cNvSpPr>
            <a:spLocks noGrp="1"/>
          </p:cNvSpPr>
          <p:nvPr>
            <p:ph type="sldNum" sz="quarter" idx="5"/>
          </p:nvPr>
        </p:nvSpPr>
        <p:spPr/>
        <p:txBody>
          <a:bodyPr/>
          <a:lstStyle/>
          <a:p>
            <a:fld id="{1DD107A9-A0C7-4078-AEEF-185A00981267}" type="slidenum">
              <a:rPr lang="en-US" smtClean="0"/>
              <a:t>10</a:t>
            </a:fld>
            <a:endParaRPr lang="en-US"/>
          </a:p>
        </p:txBody>
      </p:sp>
    </p:spTree>
    <p:extLst>
      <p:ext uri="{BB962C8B-B14F-4D97-AF65-F5344CB8AC3E}">
        <p14:creationId xmlns:p14="http://schemas.microsoft.com/office/powerpoint/2010/main" val="16703885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B7822-1E3B-8844-B99F-4392C764B0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EC6F01-B83F-65E1-1767-2CBFE1DFA3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EB761D-63EB-F376-BD20-277D09C31F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2B26CE-01C2-613A-2E71-5236C62BDA61}"/>
              </a:ext>
            </a:extLst>
          </p:cNvPr>
          <p:cNvSpPr>
            <a:spLocks noGrp="1"/>
          </p:cNvSpPr>
          <p:nvPr>
            <p:ph type="sldNum" sz="quarter" idx="5"/>
          </p:nvPr>
        </p:nvSpPr>
        <p:spPr/>
        <p:txBody>
          <a:bodyPr/>
          <a:lstStyle/>
          <a:p>
            <a:fld id="{1DD107A9-A0C7-4078-AEEF-185A00981267}" type="slidenum">
              <a:rPr lang="en-US" smtClean="0"/>
              <a:t>11</a:t>
            </a:fld>
            <a:endParaRPr lang="en-US"/>
          </a:p>
        </p:txBody>
      </p:sp>
    </p:spTree>
    <p:extLst>
      <p:ext uri="{BB962C8B-B14F-4D97-AF65-F5344CB8AC3E}">
        <p14:creationId xmlns:p14="http://schemas.microsoft.com/office/powerpoint/2010/main" val="8421746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BB103-61F0-C0A5-C7A6-8616DEAC4F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0B8E2C-E6F6-2980-24AC-EF2875F81B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78526B-04F0-88F5-7A65-7681A72025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25CF1C-F4DF-73C8-1A1A-68725C70F29C}"/>
              </a:ext>
            </a:extLst>
          </p:cNvPr>
          <p:cNvSpPr>
            <a:spLocks noGrp="1"/>
          </p:cNvSpPr>
          <p:nvPr>
            <p:ph type="sldNum" sz="quarter" idx="5"/>
          </p:nvPr>
        </p:nvSpPr>
        <p:spPr/>
        <p:txBody>
          <a:bodyPr/>
          <a:lstStyle/>
          <a:p>
            <a:fld id="{1DD107A9-A0C7-4078-AEEF-185A00981267}" type="slidenum">
              <a:rPr lang="en-US" smtClean="0"/>
              <a:t>12</a:t>
            </a:fld>
            <a:endParaRPr lang="en-US"/>
          </a:p>
        </p:txBody>
      </p:sp>
    </p:spTree>
    <p:extLst>
      <p:ext uri="{BB962C8B-B14F-4D97-AF65-F5344CB8AC3E}">
        <p14:creationId xmlns:p14="http://schemas.microsoft.com/office/powerpoint/2010/main" val="41923094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C9CE6-9B9B-DDE4-1771-C0634BE6D0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F863A8-5252-3FE9-1EBE-7AFF89A5F9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191059-7D0D-F37E-8238-A9DC06CB7F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904751-1E88-15C1-8D9F-77FA327204B1}"/>
              </a:ext>
            </a:extLst>
          </p:cNvPr>
          <p:cNvSpPr>
            <a:spLocks noGrp="1"/>
          </p:cNvSpPr>
          <p:nvPr>
            <p:ph type="sldNum" sz="quarter" idx="5"/>
          </p:nvPr>
        </p:nvSpPr>
        <p:spPr/>
        <p:txBody>
          <a:bodyPr/>
          <a:lstStyle/>
          <a:p>
            <a:fld id="{1DD107A9-A0C7-4078-AEEF-185A00981267}" type="slidenum">
              <a:rPr lang="en-US" smtClean="0"/>
              <a:t>13</a:t>
            </a:fld>
            <a:endParaRPr lang="en-US"/>
          </a:p>
        </p:txBody>
      </p:sp>
    </p:spTree>
    <p:extLst>
      <p:ext uri="{BB962C8B-B14F-4D97-AF65-F5344CB8AC3E}">
        <p14:creationId xmlns:p14="http://schemas.microsoft.com/office/powerpoint/2010/main" val="16224950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EFFE6-3B1F-83E3-3E9E-398AD59626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96561D-CA27-3018-5EDF-888162D728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266D45-0C35-1290-4D01-8B3751D6B1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369651-5EB7-3E98-8FA2-1B415CF0CFD1}"/>
              </a:ext>
            </a:extLst>
          </p:cNvPr>
          <p:cNvSpPr>
            <a:spLocks noGrp="1"/>
          </p:cNvSpPr>
          <p:nvPr>
            <p:ph type="sldNum" sz="quarter" idx="5"/>
          </p:nvPr>
        </p:nvSpPr>
        <p:spPr/>
        <p:txBody>
          <a:bodyPr/>
          <a:lstStyle/>
          <a:p>
            <a:fld id="{1DD107A9-A0C7-4078-AEEF-185A00981267}" type="slidenum">
              <a:rPr lang="en-US" smtClean="0"/>
              <a:t>14</a:t>
            </a:fld>
            <a:endParaRPr lang="en-US"/>
          </a:p>
        </p:txBody>
      </p:sp>
    </p:spTree>
    <p:extLst>
      <p:ext uri="{BB962C8B-B14F-4D97-AF65-F5344CB8AC3E}">
        <p14:creationId xmlns:p14="http://schemas.microsoft.com/office/powerpoint/2010/main" val="29916204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D30AE-39A7-5D2B-0760-EF9482DC58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EA81C8-99A3-D169-584C-34A2C7150A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431C37-A02F-0111-149E-2662324AC7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708A22-F54F-7211-9906-3C96583BF112}"/>
              </a:ext>
            </a:extLst>
          </p:cNvPr>
          <p:cNvSpPr>
            <a:spLocks noGrp="1"/>
          </p:cNvSpPr>
          <p:nvPr>
            <p:ph type="sldNum" sz="quarter" idx="5"/>
          </p:nvPr>
        </p:nvSpPr>
        <p:spPr/>
        <p:txBody>
          <a:bodyPr/>
          <a:lstStyle/>
          <a:p>
            <a:fld id="{1DD107A9-A0C7-4078-AEEF-185A00981267}" type="slidenum">
              <a:rPr lang="en-US" smtClean="0"/>
              <a:t>15</a:t>
            </a:fld>
            <a:endParaRPr lang="en-US"/>
          </a:p>
        </p:txBody>
      </p:sp>
    </p:spTree>
    <p:extLst>
      <p:ext uri="{BB962C8B-B14F-4D97-AF65-F5344CB8AC3E}">
        <p14:creationId xmlns:p14="http://schemas.microsoft.com/office/powerpoint/2010/main" val="2795915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AA854-5267-B04C-1935-4F901148DC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18B0AD-A4B5-4326-B223-46BCE249B6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FFB397-E12A-3322-2225-7599AED056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C52823-2994-4CD9-B5DA-16447768143C}"/>
              </a:ext>
            </a:extLst>
          </p:cNvPr>
          <p:cNvSpPr>
            <a:spLocks noGrp="1"/>
          </p:cNvSpPr>
          <p:nvPr>
            <p:ph type="sldNum" sz="quarter" idx="5"/>
          </p:nvPr>
        </p:nvSpPr>
        <p:spPr/>
        <p:txBody>
          <a:bodyPr/>
          <a:lstStyle/>
          <a:p>
            <a:fld id="{1DD107A9-A0C7-4078-AEEF-185A00981267}" type="slidenum">
              <a:rPr lang="en-US" smtClean="0"/>
              <a:t>16</a:t>
            </a:fld>
            <a:endParaRPr lang="en-US"/>
          </a:p>
        </p:txBody>
      </p:sp>
    </p:spTree>
    <p:extLst>
      <p:ext uri="{BB962C8B-B14F-4D97-AF65-F5344CB8AC3E}">
        <p14:creationId xmlns:p14="http://schemas.microsoft.com/office/powerpoint/2010/main" val="42880912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0DFFC-BC0C-E77A-0768-8CD4DC7DF7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D3796A-9261-F559-7997-65071C2BFC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01EAA4-6403-D3EC-FF91-12F20BFE16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16F10F-3CF5-AE36-CFFD-085C08D238CF}"/>
              </a:ext>
            </a:extLst>
          </p:cNvPr>
          <p:cNvSpPr>
            <a:spLocks noGrp="1"/>
          </p:cNvSpPr>
          <p:nvPr>
            <p:ph type="sldNum" sz="quarter" idx="5"/>
          </p:nvPr>
        </p:nvSpPr>
        <p:spPr/>
        <p:txBody>
          <a:bodyPr/>
          <a:lstStyle/>
          <a:p>
            <a:fld id="{1DD107A9-A0C7-4078-AEEF-185A00981267}" type="slidenum">
              <a:rPr lang="en-US" smtClean="0"/>
              <a:t>17</a:t>
            </a:fld>
            <a:endParaRPr lang="en-US"/>
          </a:p>
        </p:txBody>
      </p:sp>
    </p:spTree>
    <p:extLst>
      <p:ext uri="{BB962C8B-B14F-4D97-AF65-F5344CB8AC3E}">
        <p14:creationId xmlns:p14="http://schemas.microsoft.com/office/powerpoint/2010/main" val="2699124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4F8AB-670D-AD0F-9D60-CCF20B6268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77EC56-ECC9-8CD3-CD1B-BA214C299B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7CF827-59F1-8600-C418-31223F12E7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FFD088-499E-00B3-2A55-EF6DB839250C}"/>
              </a:ext>
            </a:extLst>
          </p:cNvPr>
          <p:cNvSpPr>
            <a:spLocks noGrp="1"/>
          </p:cNvSpPr>
          <p:nvPr>
            <p:ph type="sldNum" sz="quarter" idx="5"/>
          </p:nvPr>
        </p:nvSpPr>
        <p:spPr/>
        <p:txBody>
          <a:bodyPr/>
          <a:lstStyle/>
          <a:p>
            <a:fld id="{1DD107A9-A0C7-4078-AEEF-185A00981267}" type="slidenum">
              <a:rPr lang="en-US" smtClean="0"/>
              <a:t>18</a:t>
            </a:fld>
            <a:endParaRPr lang="en-US"/>
          </a:p>
        </p:txBody>
      </p:sp>
    </p:spTree>
    <p:extLst>
      <p:ext uri="{BB962C8B-B14F-4D97-AF65-F5344CB8AC3E}">
        <p14:creationId xmlns:p14="http://schemas.microsoft.com/office/powerpoint/2010/main" val="17651308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16920-9DF7-F4B2-B46E-4003878BFB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291839-C542-2C8E-AD74-2E81B9A4B6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811E58-2B86-6C1C-8A09-D00A617353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740E0B-CB9F-6502-C671-47E5F6DFC12E}"/>
              </a:ext>
            </a:extLst>
          </p:cNvPr>
          <p:cNvSpPr>
            <a:spLocks noGrp="1"/>
          </p:cNvSpPr>
          <p:nvPr>
            <p:ph type="sldNum" sz="quarter" idx="5"/>
          </p:nvPr>
        </p:nvSpPr>
        <p:spPr/>
        <p:txBody>
          <a:bodyPr/>
          <a:lstStyle/>
          <a:p>
            <a:fld id="{1DD107A9-A0C7-4078-AEEF-185A00981267}" type="slidenum">
              <a:rPr lang="en-US" smtClean="0"/>
              <a:t>19</a:t>
            </a:fld>
            <a:endParaRPr lang="en-US"/>
          </a:p>
        </p:txBody>
      </p:sp>
    </p:spTree>
    <p:extLst>
      <p:ext uri="{BB962C8B-B14F-4D97-AF65-F5344CB8AC3E}">
        <p14:creationId xmlns:p14="http://schemas.microsoft.com/office/powerpoint/2010/main" val="10232649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EBFF8-9489-F29C-9D34-C368A229E2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D026EE-8EE8-B094-8A8A-ED5CDB815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961B3B-DB12-CFEF-0715-D8523BCFA4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B20EDF-B2FC-245A-FDE1-83D012921162}"/>
              </a:ext>
            </a:extLst>
          </p:cNvPr>
          <p:cNvSpPr>
            <a:spLocks noGrp="1"/>
          </p:cNvSpPr>
          <p:nvPr>
            <p:ph type="sldNum" sz="quarter" idx="5"/>
          </p:nvPr>
        </p:nvSpPr>
        <p:spPr/>
        <p:txBody>
          <a:bodyPr/>
          <a:lstStyle/>
          <a:p>
            <a:fld id="{1DD107A9-A0C7-4078-AEEF-185A00981267}" type="slidenum">
              <a:rPr lang="en-US" smtClean="0"/>
              <a:t>20</a:t>
            </a:fld>
            <a:endParaRPr lang="en-US"/>
          </a:p>
        </p:txBody>
      </p:sp>
    </p:spTree>
    <p:extLst>
      <p:ext uri="{BB962C8B-B14F-4D97-AF65-F5344CB8AC3E}">
        <p14:creationId xmlns:p14="http://schemas.microsoft.com/office/powerpoint/2010/main" val="34063442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FFF77-6206-411E-DFBD-7052175122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1DA8B5-B3DA-A864-54F9-D7ACD6756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5772A1-A394-F500-B97E-1D41B5FA2C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C4BECF-37BA-E951-1E2F-0614306EEC61}"/>
              </a:ext>
            </a:extLst>
          </p:cNvPr>
          <p:cNvSpPr>
            <a:spLocks noGrp="1"/>
          </p:cNvSpPr>
          <p:nvPr>
            <p:ph type="sldNum" sz="quarter" idx="5"/>
          </p:nvPr>
        </p:nvSpPr>
        <p:spPr/>
        <p:txBody>
          <a:bodyPr/>
          <a:lstStyle/>
          <a:p>
            <a:fld id="{1DD107A9-A0C7-4078-AEEF-185A00981267}" type="slidenum">
              <a:rPr lang="en-US" smtClean="0"/>
              <a:t>21</a:t>
            </a:fld>
            <a:endParaRPr lang="en-US"/>
          </a:p>
        </p:txBody>
      </p:sp>
    </p:spTree>
    <p:extLst>
      <p:ext uri="{BB962C8B-B14F-4D97-AF65-F5344CB8AC3E}">
        <p14:creationId xmlns:p14="http://schemas.microsoft.com/office/powerpoint/2010/main" val="11368893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18757-D623-DBFF-B27C-8FD4851431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83FA72-F660-48C0-FFE6-8C9B9F7E84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43FE53-B6CB-9651-AD46-B421345E2C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A565BF-F649-7066-F28E-CD02FD5858DC}"/>
              </a:ext>
            </a:extLst>
          </p:cNvPr>
          <p:cNvSpPr>
            <a:spLocks noGrp="1"/>
          </p:cNvSpPr>
          <p:nvPr>
            <p:ph type="sldNum" sz="quarter" idx="5"/>
          </p:nvPr>
        </p:nvSpPr>
        <p:spPr/>
        <p:txBody>
          <a:bodyPr/>
          <a:lstStyle/>
          <a:p>
            <a:fld id="{1DD107A9-A0C7-4078-AEEF-185A00981267}" type="slidenum">
              <a:rPr lang="en-US" smtClean="0"/>
              <a:t>22</a:t>
            </a:fld>
            <a:endParaRPr lang="en-US"/>
          </a:p>
        </p:txBody>
      </p:sp>
    </p:spTree>
    <p:extLst>
      <p:ext uri="{BB962C8B-B14F-4D97-AF65-F5344CB8AC3E}">
        <p14:creationId xmlns:p14="http://schemas.microsoft.com/office/powerpoint/2010/main" val="11662965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CCB63-8C8B-A94C-7795-61029C7CCE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5700B7-0B4D-3419-747D-0BE68DA777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09B635-D4DF-2ADD-4A95-205F1A24CA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4B73DB-4826-D22A-B4CD-DF21C7B2454C}"/>
              </a:ext>
            </a:extLst>
          </p:cNvPr>
          <p:cNvSpPr>
            <a:spLocks noGrp="1"/>
          </p:cNvSpPr>
          <p:nvPr>
            <p:ph type="sldNum" sz="quarter" idx="5"/>
          </p:nvPr>
        </p:nvSpPr>
        <p:spPr/>
        <p:txBody>
          <a:bodyPr/>
          <a:lstStyle/>
          <a:p>
            <a:fld id="{1DD107A9-A0C7-4078-AEEF-185A00981267}" type="slidenum">
              <a:rPr lang="en-US" smtClean="0"/>
              <a:t>23</a:t>
            </a:fld>
            <a:endParaRPr lang="en-US"/>
          </a:p>
        </p:txBody>
      </p:sp>
    </p:spTree>
    <p:extLst>
      <p:ext uri="{BB962C8B-B14F-4D97-AF65-F5344CB8AC3E}">
        <p14:creationId xmlns:p14="http://schemas.microsoft.com/office/powerpoint/2010/main" val="1473095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656B3-8BE5-3E32-412D-D4572E72C9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07F77E-E007-C4D1-A831-D2020AE967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6DD7DF-C18D-8FDD-7FFD-D35E2E91E9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841CAE-63C5-2684-43C1-873250999651}"/>
              </a:ext>
            </a:extLst>
          </p:cNvPr>
          <p:cNvSpPr>
            <a:spLocks noGrp="1"/>
          </p:cNvSpPr>
          <p:nvPr>
            <p:ph type="sldNum" sz="quarter" idx="5"/>
          </p:nvPr>
        </p:nvSpPr>
        <p:spPr/>
        <p:txBody>
          <a:bodyPr/>
          <a:lstStyle/>
          <a:p>
            <a:fld id="{1DD107A9-A0C7-4078-AEEF-185A00981267}" type="slidenum">
              <a:rPr lang="en-US" smtClean="0"/>
              <a:t>24</a:t>
            </a:fld>
            <a:endParaRPr lang="en-US"/>
          </a:p>
        </p:txBody>
      </p:sp>
    </p:spTree>
    <p:extLst>
      <p:ext uri="{BB962C8B-B14F-4D97-AF65-F5344CB8AC3E}">
        <p14:creationId xmlns:p14="http://schemas.microsoft.com/office/powerpoint/2010/main" val="1438912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68041-7589-BAD1-80E3-C441882774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D4B9A4-5037-6F1E-D372-EE01972F84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F9C65F-1BDE-1750-DF65-73360862EF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F45E52-E693-89AE-1B94-61848D70CE8C}"/>
              </a:ext>
            </a:extLst>
          </p:cNvPr>
          <p:cNvSpPr>
            <a:spLocks noGrp="1"/>
          </p:cNvSpPr>
          <p:nvPr>
            <p:ph type="sldNum" sz="quarter" idx="5"/>
          </p:nvPr>
        </p:nvSpPr>
        <p:spPr/>
        <p:txBody>
          <a:bodyPr/>
          <a:lstStyle/>
          <a:p>
            <a:fld id="{1DD107A9-A0C7-4078-AEEF-185A00981267}" type="slidenum">
              <a:rPr lang="en-US" smtClean="0"/>
              <a:t>25</a:t>
            </a:fld>
            <a:endParaRPr lang="en-US"/>
          </a:p>
        </p:txBody>
      </p:sp>
    </p:spTree>
    <p:extLst>
      <p:ext uri="{BB962C8B-B14F-4D97-AF65-F5344CB8AC3E}">
        <p14:creationId xmlns:p14="http://schemas.microsoft.com/office/powerpoint/2010/main" val="905568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eaLnBrk="1" hangingPunct="1">
              <a:lnSpc>
                <a:spcPct val="90000"/>
              </a:lnSpc>
              <a:buNone/>
            </a:pPr>
            <a:r>
              <a:rPr lang="en-US" dirty="0" err="1">
                <a:latin typeface="Times New Roman" panose="02020603050405020304" pitchFamily="18" charset="0"/>
                <a:cs typeface="Times New Roman" panose="02020603050405020304" pitchFamily="18" charset="0"/>
              </a:rPr>
              <a:t>Khuôn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khổ</a:t>
            </a:r>
            <a:r>
              <a:rPr lang="en-US" dirty="0">
                <a:latin typeface="Times New Roman" panose="02020603050405020304" pitchFamily="18" charset="0"/>
                <a:cs typeface="Times New Roman" panose="02020603050405020304" pitchFamily="18" charset="0"/>
              </a:rPr>
              <a:t> KT </a:t>
            </a:r>
            <a:r>
              <a:rPr lang="en-US" dirty="0" err="1">
                <a:latin typeface="Times New Roman" panose="02020603050405020304" pitchFamily="18" charset="0"/>
                <a:cs typeface="Times New Roman" panose="02020603050405020304" pitchFamily="18" charset="0"/>
              </a:rPr>
              <a:t>vĩ</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mô</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khởi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đầu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việc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lập</a:t>
            </a:r>
            <a:r>
              <a:rPr lang="en-US" dirty="0">
                <a:latin typeface="Times New Roman" panose="02020603050405020304" pitchFamily="18" charset="0"/>
                <a:cs typeface="Times New Roman" panose="02020603050405020304" pitchFamily="18" charset="0"/>
              </a:rPr>
              <a:t> DTNS. </a:t>
            </a:r>
            <a:r>
              <a:rPr lang="en-US" dirty="0" err="1">
                <a:latin typeface="Times New Roman" panose="02020603050405020304" pitchFamily="18" charset="0"/>
                <a:cs typeface="Times New Roman" panose="02020603050405020304" pitchFamily="18" charset="0"/>
              </a:rPr>
              <a:t>Việc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lập</a:t>
            </a:r>
            <a:r>
              <a:rPr lang="en-US" dirty="0">
                <a:latin typeface="Times New Roman" panose="02020603050405020304" pitchFamily="18" charset="0"/>
                <a:cs typeface="Times New Roman" panose="02020603050405020304" pitchFamily="18" charset="0"/>
              </a:rPr>
              <a:t> DTNS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khuôn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khổ</a:t>
            </a:r>
            <a:r>
              <a:rPr lang="en-US" dirty="0">
                <a:latin typeface="Times New Roman" panose="02020603050405020304" pitchFamily="18" charset="0"/>
                <a:cs typeface="Times New Roman" panose="02020603050405020304" pitchFamily="18" charset="0"/>
              </a:rPr>
              <a:t> KT </a:t>
            </a:r>
            <a:r>
              <a:rPr lang="en-US" dirty="0" err="1">
                <a:latin typeface="Times New Roman" panose="02020603050405020304" pitchFamily="18" charset="0"/>
                <a:cs typeface="Times New Roman" panose="02020603050405020304" pitchFamily="18" charset="0"/>
              </a:rPr>
              <a:t>vĩ</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mô</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dựa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tế</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tính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chỉ</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tiêu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về</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thu</a:t>
            </a:r>
            <a:r>
              <a:rPr lang="en-US" dirty="0">
                <a:latin typeface="Times New Roman" panose="02020603050405020304" pitchFamily="18" charset="0"/>
                <a:cs typeface="Times New Roman" panose="02020603050405020304" pitchFamily="18" charset="0"/>
              </a:rPr>
              <a:t> NS, </a:t>
            </a:r>
            <a:r>
              <a:rPr lang="en-US" dirty="0" err="1">
                <a:latin typeface="Times New Roman" panose="02020603050405020304" pitchFamily="18" charset="0"/>
                <a:cs typeface="Times New Roman" panose="02020603050405020304" pitchFamily="18" charset="0"/>
              </a:rPr>
              <a:t>ngược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lại</a:t>
            </a:r>
            <a:r>
              <a:rPr lang="en-US" dirty="0">
                <a:latin typeface="Times New Roman" panose="02020603050405020304" pitchFamily="18" charset="0"/>
                <a:cs typeface="Times New Roman" panose="02020603050405020304" pitchFamily="18" charset="0"/>
              </a:rPr>
              <a:t> k </a:t>
            </a:r>
            <a:r>
              <a:rPr lang="en-US" dirty="0" err="1">
                <a:latin typeface="Times New Roman" panose="02020603050405020304" pitchFamily="18" charset="0"/>
                <a:cs typeface="Times New Roman" panose="02020603050405020304" pitchFamily="18" charset="0"/>
              </a:rPr>
              <a:t>tính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thấp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khoản</a:t>
            </a:r>
            <a:r>
              <a:rPr lang="en-US" dirty="0">
                <a:latin typeface="Times New Roman" panose="02020603050405020304" pitchFamily="18" charset="0"/>
                <a:cs typeface="Times New Roman" panose="02020603050405020304" pitchFamily="18" charset="0"/>
              </a:rPr>
              <a:t> chi </a:t>
            </a:r>
            <a:r>
              <a:rPr lang="en-US" dirty="0" err="1">
                <a:latin typeface="Times New Roman" panose="02020603050405020304" pitchFamily="18" charset="0"/>
                <a:cs typeface="Times New Roman" panose="02020603050405020304" pitchFamily="18" charset="0"/>
              </a:rPr>
              <a:t>tiêu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bắt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buộc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trọng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đảm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tính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hoạch</a:t>
            </a:r>
            <a:r>
              <a:rPr lang="en-US" dirty="0">
                <a:latin typeface="Times New Roman" panose="02020603050405020304" pitchFamily="18" charset="0"/>
                <a:cs typeface="Times New Roman" panose="02020603050405020304" pitchFamily="18" charset="0"/>
              </a:rPr>
              <a:t> NS. </a:t>
            </a:r>
          </a:p>
          <a:p>
            <a:pPr marL="0" indent="0" algn="just" eaLnBrk="1" hangingPunct="1">
              <a:lnSpc>
                <a:spcPct val="90000"/>
              </a:lnSpc>
              <a:buNone/>
            </a:pPr>
            <a:r>
              <a:rPr lang="en-US" b="1" dirty="0" err="1">
                <a:latin typeface="Times New Roman" panose="02020603050405020304" pitchFamily="18" charset="0"/>
                <a:cs typeface="Times New Roman" panose="02020603050405020304" pitchFamily="18" charset="0"/>
              </a:rPr>
              <a:t>Lập</a:t>
            </a:r>
            <a:r>
              <a:rPr lang="en-US" b="1" dirty="0">
                <a:latin typeface="Times New Roman" panose="02020603050405020304" pitchFamily="18" charset="0"/>
                <a:cs typeface="Times New Roman" panose="02020603050405020304" pitchFamily="18" charset="0"/>
              </a:rPr>
              <a:t> NS </a:t>
            </a:r>
            <a:r>
              <a:rPr lang="en-US" b="1" dirty="0" err="1">
                <a:latin typeface="Times New Roman" panose="02020603050405020304" pitchFamily="18" charset="0"/>
                <a:cs typeface="Times New Roman" panose="02020603050405020304" pitchFamily="18" charset="0"/>
              </a:rPr>
              <a:t>hàng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năm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thường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được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tổ</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chức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thự</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hiện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như</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sau</a:t>
            </a:r>
            <a:r>
              <a:rPr lang="en-US" b="1" dirty="0">
                <a:latin typeface="Times New Roman" panose="02020603050405020304" pitchFamily="18" charset="0"/>
                <a:cs typeface="Times New Roman" panose="02020603050405020304" pitchFamily="18" charset="0"/>
              </a:rPr>
              <a:t> (Slide)</a:t>
            </a:r>
          </a:p>
          <a:p>
            <a:pPr marL="457200" indent="-457200" algn="just" eaLnBrk="1" hangingPunct="1">
              <a:lnSpc>
                <a:spcPct val="90000"/>
              </a:lnSpc>
              <a:buAutoNum type="arabicPeriod"/>
            </a:pPr>
            <a:r>
              <a:rPr lang="en-US" b="1" dirty="0" err="1">
                <a:latin typeface="Times New Roman" panose="02020603050405020304" pitchFamily="18" charset="0"/>
                <a:cs typeface="Times New Roman" panose="02020603050405020304" pitchFamily="18" charset="0"/>
              </a:rPr>
              <a:t>Cách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tiếp</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cận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từ</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trên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xuống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bào</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gồm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Xđ</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tổng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nguồn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sẵn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chi </a:t>
            </a:r>
            <a:r>
              <a:rPr lang="en-US" dirty="0" err="1">
                <a:latin typeface="Times New Roman" panose="02020603050405020304" pitchFamily="18" charset="0"/>
                <a:cs typeface="Times New Roman" panose="02020603050405020304" pitchFamily="18" charset="0"/>
              </a:rPr>
              <a:t>tiêu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khuôn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khổ</a:t>
            </a:r>
            <a:r>
              <a:rPr lang="en-US" dirty="0">
                <a:latin typeface="Times New Roman" panose="02020603050405020304" pitchFamily="18" charset="0"/>
                <a:cs typeface="Times New Roman" panose="02020603050405020304" pitchFamily="18" charset="0"/>
              </a:rPr>
              <a:t> KT </a:t>
            </a:r>
            <a:r>
              <a:rPr lang="en-US" dirty="0" err="1">
                <a:latin typeface="Times New Roman" panose="02020603050405020304" pitchFamily="18" charset="0"/>
                <a:cs typeface="Times New Roman" panose="02020603050405020304" pitchFamily="18" charset="0"/>
              </a:rPr>
              <a:t>vĩ</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mô</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Chuẩn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bị</a:t>
            </a:r>
            <a:r>
              <a:rPr lang="en-US" dirty="0">
                <a:latin typeface="Times New Roman" panose="02020603050405020304" pitchFamily="18" charset="0"/>
                <a:cs typeface="Times New Roman" panose="02020603050405020304" pitchFamily="18" charset="0"/>
              </a:rPr>
              <a:t> TT </a:t>
            </a:r>
            <a:r>
              <a:rPr lang="en-US" dirty="0" err="1">
                <a:latin typeface="Times New Roman" panose="02020603050405020304" pitchFamily="18" charset="0"/>
                <a:cs typeface="Times New Roman" panose="02020603050405020304" pitchFamily="18" charset="0"/>
              </a:rPr>
              <a:t>hướng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dẫn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lập</a:t>
            </a:r>
            <a:r>
              <a:rPr lang="en-US" dirty="0">
                <a:latin typeface="Times New Roman" panose="02020603050405020304" pitchFamily="18" charset="0"/>
                <a:cs typeface="Times New Roman" panose="02020603050405020304" pitchFamily="18" charset="0"/>
              </a:rPr>
              <a:t> NS; </a:t>
            </a:r>
            <a:r>
              <a:rPr lang="en-US" dirty="0" err="1">
                <a:latin typeface="Times New Roman" panose="02020603050405020304" pitchFamily="18" charset="0"/>
                <a:cs typeface="Times New Roman" panose="02020603050405020304" pitchFamily="18" charset="0"/>
              </a:rPr>
              <a:t>Hình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thành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số</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về</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thu</a:t>
            </a:r>
            <a:r>
              <a:rPr lang="en-US" dirty="0">
                <a:latin typeface="Times New Roman" panose="02020603050405020304" pitchFamily="18" charset="0"/>
                <a:cs typeface="Times New Roman" panose="02020603050405020304" pitchFamily="18" charset="0"/>
              </a:rPr>
              <a:t>, chi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ngành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phương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phì</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hợp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chính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sách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ưu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NN….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số</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Bộ</a:t>
            </a:r>
            <a:r>
              <a:rPr lang="en-US" dirty="0">
                <a:latin typeface="Times New Roman" panose="02020603050405020304" pitchFamily="18" charset="0"/>
                <a:cs typeface="Times New Roman" panose="02020603050405020304" pitchFamily="18" charset="0"/>
              </a:rPr>
              <a:t>, ĐP, </a:t>
            </a:r>
            <a:r>
              <a:rPr lang="en-US" dirty="0" err="1">
                <a:latin typeface="Times New Roman" panose="02020603050405020304" pitchFamily="18" charset="0"/>
                <a:cs typeface="Times New Roman" panose="02020603050405020304" pitchFamily="18" charset="0"/>
              </a:rPr>
              <a:t>đơn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vị</a:t>
            </a:r>
            <a:endParaRPr lang="en-US" dirty="0">
              <a:latin typeface="Times New Roman" panose="02020603050405020304" pitchFamily="18" charset="0"/>
              <a:cs typeface="Times New Roman" panose="02020603050405020304" pitchFamily="18" charset="0"/>
            </a:endParaRPr>
          </a:p>
          <a:p>
            <a:pPr marL="457200" indent="-457200" algn="just" eaLnBrk="1" hangingPunct="1">
              <a:lnSpc>
                <a:spcPct val="90000"/>
              </a:lnSpc>
              <a:buAutoNum type="arabicPeriod"/>
            </a:pPr>
            <a:r>
              <a:rPr lang="en-US" b="1" dirty="0" err="1">
                <a:latin typeface="Times New Roman" panose="02020603050405020304" pitchFamily="18" charset="0"/>
                <a:cs typeface="Times New Roman" panose="02020603050405020304" pitchFamily="18" charset="0"/>
              </a:rPr>
              <a:t>Cách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tiếp</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cận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từ</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dưới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lên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bao</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gồm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Bộ</a:t>
            </a:r>
            <a:r>
              <a:rPr lang="en-US" dirty="0">
                <a:latin typeface="Times New Roman" panose="02020603050405020304" pitchFamily="18" charset="0"/>
                <a:cs typeface="Times New Roman" panose="02020603050405020304" pitchFamily="18" charset="0"/>
              </a:rPr>
              <a:t>, ĐP, </a:t>
            </a:r>
            <a:r>
              <a:rPr lang="en-US" dirty="0" err="1">
                <a:latin typeface="Times New Roman" panose="02020603050405020304" pitchFamily="18" charset="0"/>
                <a:cs typeface="Times New Roman" panose="02020603050405020304" pitchFamily="18" charset="0"/>
              </a:rPr>
              <a:t>đơn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đề</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xuất</a:t>
            </a:r>
            <a:r>
              <a:rPr lang="en-US" dirty="0">
                <a:latin typeface="Times New Roman" panose="02020603050405020304" pitchFamily="18" charset="0"/>
                <a:cs typeface="Times New Roman" panose="02020603050405020304" pitchFamily="18" charset="0"/>
              </a:rPr>
              <a:t> NS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sở</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hướng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dẫn</a:t>
            </a:r>
            <a:r>
              <a:rPr lang="en-US" dirty="0">
                <a:latin typeface="Times New Roman" panose="02020603050405020304" pitchFamily="18" charset="0"/>
                <a:cs typeface="Times New Roman" panose="02020603050405020304" pitchFamily="18" charset="0"/>
              </a:rPr>
              <a:t> ở </a:t>
            </a:r>
            <a:r>
              <a:rPr lang="en-US" dirty="0" err="1">
                <a:latin typeface="Times New Roman" panose="02020603050405020304" pitchFamily="18" charset="0"/>
                <a:cs typeface="Times New Roman" panose="02020603050405020304" pitchFamily="18" charset="0"/>
              </a:rPr>
              <a:t>trên</a:t>
            </a:r>
            <a:endParaRPr lang="en-US" dirty="0">
              <a:latin typeface="Times New Roman" panose="02020603050405020304" pitchFamily="18" charset="0"/>
              <a:cs typeface="Times New Roman" panose="02020603050405020304" pitchFamily="18" charset="0"/>
            </a:endParaRPr>
          </a:p>
          <a:p>
            <a:pPr marL="457200" indent="-457200" algn="just">
              <a:buAutoNum type="arabicPeriod"/>
            </a:pPr>
            <a:r>
              <a:rPr lang="en-US" b="1" dirty="0" err="1">
                <a:latin typeface="Times New Roman" panose="02020603050405020304" pitchFamily="18" charset="0"/>
                <a:cs typeface="Times New Roman" panose="02020603050405020304" pitchFamily="18" charset="0"/>
              </a:rPr>
              <a:t>Trao</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đổi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đàm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phán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thương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lượng</a:t>
            </a:r>
            <a:r>
              <a:rPr lang="en-US" b="1"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Đàm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phán</a:t>
            </a:r>
            <a:r>
              <a:rPr lang="en-US" dirty="0">
                <a:latin typeface="Times New Roman" panose="02020603050405020304" pitchFamily="18" charset="0"/>
                <a:cs typeface="Times New Roman" panose="02020603050405020304" pitchFamily="18" charset="0"/>
              </a:rPr>
              <a:t> NS </a:t>
            </a:r>
            <a:r>
              <a:rPr lang="en-US" dirty="0" err="1">
                <a:latin typeface="Times New Roman" panose="02020603050405020304" pitchFamily="18" charset="0"/>
                <a:cs typeface="Times New Roman" panose="02020603050405020304" pitchFamily="18" charset="0"/>
              </a:rPr>
              <a:t>giữa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Bộ</a:t>
            </a:r>
            <a:r>
              <a:rPr lang="en-US" dirty="0">
                <a:latin typeface="Times New Roman" panose="02020603050405020304" pitchFamily="18" charset="0"/>
                <a:cs typeface="Times New Roman" panose="02020603050405020304" pitchFamily="18" charset="0"/>
              </a:rPr>
              <a:t>, ĐP, </a:t>
            </a:r>
            <a:r>
              <a:rPr lang="en-US" dirty="0" err="1">
                <a:latin typeface="Times New Roman" panose="02020603050405020304" pitchFamily="18" charset="0"/>
                <a:cs typeface="Times New Roman" panose="02020603050405020304" pitchFamily="18" charset="0"/>
              </a:rPr>
              <a:t>đơn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chính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trọng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DT NS </a:t>
            </a:r>
            <a:r>
              <a:rPr lang="en-US" dirty="0" err="1">
                <a:latin typeface="Times New Roman" panose="02020603050405020304" pitchFamily="18" charset="0"/>
                <a:cs typeface="Times New Roman" panose="02020603050405020304" pitchFamily="18" charset="0"/>
              </a:rPr>
              <a:t>cuối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cùng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sở</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được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giữa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mục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tiêu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nguồn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sẵn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p>
          <a:p>
            <a:pPr marL="457200" indent="-457200" eaLnBrk="1" hangingPunct="1">
              <a:lnSpc>
                <a:spcPct val="90000"/>
              </a:lnSpc>
              <a:buAutoNum type="arabicPeriod"/>
            </a:pPr>
            <a:endParaRPr lang="en-US" sz="1100"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8C9E490E-D0B5-4D6A-9764-5DCB1706CB3C}" type="slidenum">
              <a:rPr lang="en-US" smtClean="0"/>
              <a:t>26</a:t>
            </a:fld>
            <a:endParaRPr lang="en-US"/>
          </a:p>
        </p:txBody>
      </p:sp>
    </p:spTree>
    <p:extLst>
      <p:ext uri="{BB962C8B-B14F-4D97-AF65-F5344CB8AC3E}">
        <p14:creationId xmlns:p14="http://schemas.microsoft.com/office/powerpoint/2010/main" val="15614322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919E8-C866-0E85-3277-B8C6992757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VN"/>
          </a:p>
        </p:txBody>
      </p:sp>
      <p:sp>
        <p:nvSpPr>
          <p:cNvPr id="3" name="Subtitle 2">
            <a:extLst>
              <a:ext uri="{FF2B5EF4-FFF2-40B4-BE49-F238E27FC236}">
                <a16:creationId xmlns:a16="http://schemas.microsoft.com/office/drawing/2014/main" id="{308F0850-3C3A-432D-CA6D-115123B8DB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VN"/>
          </a:p>
        </p:txBody>
      </p:sp>
      <p:sp>
        <p:nvSpPr>
          <p:cNvPr id="4" name="Date Placeholder 3">
            <a:extLst>
              <a:ext uri="{FF2B5EF4-FFF2-40B4-BE49-F238E27FC236}">
                <a16:creationId xmlns:a16="http://schemas.microsoft.com/office/drawing/2014/main" id="{18F375A3-D5F6-4400-164F-792E0CB98503}"/>
              </a:ext>
            </a:extLst>
          </p:cNvPr>
          <p:cNvSpPr>
            <a:spLocks noGrp="1"/>
          </p:cNvSpPr>
          <p:nvPr>
            <p:ph type="dt" sz="half" idx="10"/>
          </p:nvPr>
        </p:nvSpPr>
        <p:spPr/>
        <p:txBody>
          <a:bodyPr/>
          <a:lstStyle/>
          <a:p>
            <a:fld id="{06E996D4-7AAD-2A44-8BE7-1727DCC42208}" type="datetimeFigureOut">
              <a:rPr lang="en-VN" smtClean="0"/>
              <a:t>03/05/2026</a:t>
            </a:fld>
            <a:endParaRPr lang="en-VN"/>
          </a:p>
        </p:txBody>
      </p:sp>
      <p:sp>
        <p:nvSpPr>
          <p:cNvPr id="5" name="Footer Placeholder 4">
            <a:extLst>
              <a:ext uri="{FF2B5EF4-FFF2-40B4-BE49-F238E27FC236}">
                <a16:creationId xmlns:a16="http://schemas.microsoft.com/office/drawing/2014/main" id="{A41D7DA0-7091-52FC-5129-B2371C2E9C9D}"/>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C52DEB31-02C1-29BF-E5A5-95FE85F7F125}"/>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1096608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7CBBD-C804-DAD2-B81F-98170CF431C5}"/>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0DC6D03D-2F04-C332-3A9D-3D3C89290C3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1997D471-379F-E81E-7D22-5DDE168A169B}"/>
              </a:ext>
            </a:extLst>
          </p:cNvPr>
          <p:cNvSpPr>
            <a:spLocks noGrp="1"/>
          </p:cNvSpPr>
          <p:nvPr>
            <p:ph type="dt" sz="half" idx="10"/>
          </p:nvPr>
        </p:nvSpPr>
        <p:spPr/>
        <p:txBody>
          <a:bodyPr/>
          <a:lstStyle/>
          <a:p>
            <a:fld id="{06E996D4-7AAD-2A44-8BE7-1727DCC42208}" type="datetimeFigureOut">
              <a:rPr lang="en-VN" smtClean="0"/>
              <a:t>03/05/2026</a:t>
            </a:fld>
            <a:endParaRPr lang="en-VN"/>
          </a:p>
        </p:txBody>
      </p:sp>
      <p:sp>
        <p:nvSpPr>
          <p:cNvPr id="5" name="Footer Placeholder 4">
            <a:extLst>
              <a:ext uri="{FF2B5EF4-FFF2-40B4-BE49-F238E27FC236}">
                <a16:creationId xmlns:a16="http://schemas.microsoft.com/office/drawing/2014/main" id="{CCEA1277-D7A7-969C-492A-DAC04E0553CD}"/>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236E63A6-1528-FD92-5062-84088251F670}"/>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4104668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90B44-73BA-45E8-B90C-FF02F828B0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VN"/>
          </a:p>
        </p:txBody>
      </p:sp>
      <p:sp>
        <p:nvSpPr>
          <p:cNvPr id="3" name="Text Placeholder 2">
            <a:extLst>
              <a:ext uri="{FF2B5EF4-FFF2-40B4-BE49-F238E27FC236}">
                <a16:creationId xmlns:a16="http://schemas.microsoft.com/office/drawing/2014/main" id="{556C897A-A7A7-7A9E-7572-921645D8144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028200-CE4A-29DD-9B08-5D59EE079539}"/>
              </a:ext>
            </a:extLst>
          </p:cNvPr>
          <p:cNvSpPr>
            <a:spLocks noGrp="1"/>
          </p:cNvSpPr>
          <p:nvPr>
            <p:ph type="dt" sz="half" idx="10"/>
          </p:nvPr>
        </p:nvSpPr>
        <p:spPr/>
        <p:txBody>
          <a:bodyPr/>
          <a:lstStyle/>
          <a:p>
            <a:fld id="{06E996D4-7AAD-2A44-8BE7-1727DCC42208}" type="datetimeFigureOut">
              <a:rPr lang="en-VN" smtClean="0"/>
              <a:t>03/05/2026</a:t>
            </a:fld>
            <a:endParaRPr lang="en-VN"/>
          </a:p>
        </p:txBody>
      </p:sp>
      <p:sp>
        <p:nvSpPr>
          <p:cNvPr id="5" name="Footer Placeholder 4">
            <a:extLst>
              <a:ext uri="{FF2B5EF4-FFF2-40B4-BE49-F238E27FC236}">
                <a16:creationId xmlns:a16="http://schemas.microsoft.com/office/drawing/2014/main" id="{2857265B-3C64-1719-FA7C-3D09926CABA3}"/>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7448DDF6-402B-3E97-9925-7ED2EB4B2D06}"/>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4177374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EC819-A214-85AB-F9E4-13E8A8988158}"/>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CA9D00F6-B668-C3E8-8F6F-47268F02A9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Content Placeholder 3">
            <a:extLst>
              <a:ext uri="{FF2B5EF4-FFF2-40B4-BE49-F238E27FC236}">
                <a16:creationId xmlns:a16="http://schemas.microsoft.com/office/drawing/2014/main" id="{7DE64A4E-11B2-ED3F-DDE3-FACD9EB5E8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Date Placeholder 4">
            <a:extLst>
              <a:ext uri="{FF2B5EF4-FFF2-40B4-BE49-F238E27FC236}">
                <a16:creationId xmlns:a16="http://schemas.microsoft.com/office/drawing/2014/main" id="{43848483-C9FB-58BE-AFB2-B2F35FF4210A}"/>
              </a:ext>
            </a:extLst>
          </p:cNvPr>
          <p:cNvSpPr>
            <a:spLocks noGrp="1"/>
          </p:cNvSpPr>
          <p:nvPr>
            <p:ph type="dt" sz="half" idx="10"/>
          </p:nvPr>
        </p:nvSpPr>
        <p:spPr/>
        <p:txBody>
          <a:bodyPr/>
          <a:lstStyle/>
          <a:p>
            <a:fld id="{06E996D4-7AAD-2A44-8BE7-1727DCC42208}" type="datetimeFigureOut">
              <a:rPr lang="en-VN" smtClean="0"/>
              <a:t>03/05/2026</a:t>
            </a:fld>
            <a:endParaRPr lang="en-VN"/>
          </a:p>
        </p:txBody>
      </p:sp>
      <p:sp>
        <p:nvSpPr>
          <p:cNvPr id="6" name="Footer Placeholder 5">
            <a:extLst>
              <a:ext uri="{FF2B5EF4-FFF2-40B4-BE49-F238E27FC236}">
                <a16:creationId xmlns:a16="http://schemas.microsoft.com/office/drawing/2014/main" id="{1B115912-C43E-0F7D-DBE9-B02BBDDD1ED0}"/>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1AFDADB5-E6F4-703C-F6F7-7EB0CFE8B2E9}"/>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3053627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3D139-474E-CCCD-2F1E-998B9D8F4370}"/>
              </a:ext>
            </a:extLst>
          </p:cNvPr>
          <p:cNvSpPr>
            <a:spLocks noGrp="1"/>
          </p:cNvSpPr>
          <p:nvPr>
            <p:ph type="title"/>
          </p:nvPr>
        </p:nvSpPr>
        <p:spPr>
          <a:xfrm>
            <a:off x="839788" y="365125"/>
            <a:ext cx="10515600" cy="1325563"/>
          </a:xfrm>
        </p:spPr>
        <p:txBody>
          <a:bodyPr/>
          <a:lstStyle/>
          <a:p>
            <a:r>
              <a:rPr lang="en-US"/>
              <a:t>Click to edit Master title style</a:t>
            </a:r>
            <a:endParaRPr lang="en-VN"/>
          </a:p>
        </p:txBody>
      </p:sp>
      <p:sp>
        <p:nvSpPr>
          <p:cNvPr id="3" name="Text Placeholder 2">
            <a:extLst>
              <a:ext uri="{FF2B5EF4-FFF2-40B4-BE49-F238E27FC236}">
                <a16:creationId xmlns:a16="http://schemas.microsoft.com/office/drawing/2014/main" id="{9CDA755E-D89F-980C-09DF-E0FD86D4FE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B4759F-465A-8984-E798-91A03E35B5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Text Placeholder 4">
            <a:extLst>
              <a:ext uri="{FF2B5EF4-FFF2-40B4-BE49-F238E27FC236}">
                <a16:creationId xmlns:a16="http://schemas.microsoft.com/office/drawing/2014/main" id="{3DD81737-1D83-27E4-C4B8-F805A70E4C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6A9810-A2E7-51B6-9DEC-0ED5F26087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7" name="Date Placeholder 6">
            <a:extLst>
              <a:ext uri="{FF2B5EF4-FFF2-40B4-BE49-F238E27FC236}">
                <a16:creationId xmlns:a16="http://schemas.microsoft.com/office/drawing/2014/main" id="{4BAF915C-B42F-F88C-26AA-DB99B374C653}"/>
              </a:ext>
            </a:extLst>
          </p:cNvPr>
          <p:cNvSpPr>
            <a:spLocks noGrp="1"/>
          </p:cNvSpPr>
          <p:nvPr>
            <p:ph type="dt" sz="half" idx="10"/>
          </p:nvPr>
        </p:nvSpPr>
        <p:spPr/>
        <p:txBody>
          <a:bodyPr/>
          <a:lstStyle/>
          <a:p>
            <a:fld id="{06E996D4-7AAD-2A44-8BE7-1727DCC42208}" type="datetimeFigureOut">
              <a:rPr lang="en-VN" smtClean="0"/>
              <a:t>03/05/2026</a:t>
            </a:fld>
            <a:endParaRPr lang="en-VN"/>
          </a:p>
        </p:txBody>
      </p:sp>
      <p:sp>
        <p:nvSpPr>
          <p:cNvPr id="8" name="Footer Placeholder 7">
            <a:extLst>
              <a:ext uri="{FF2B5EF4-FFF2-40B4-BE49-F238E27FC236}">
                <a16:creationId xmlns:a16="http://schemas.microsoft.com/office/drawing/2014/main" id="{098F6EEB-2EA5-2E0C-22B7-8CF155B9A455}"/>
              </a:ext>
            </a:extLst>
          </p:cNvPr>
          <p:cNvSpPr>
            <a:spLocks noGrp="1"/>
          </p:cNvSpPr>
          <p:nvPr>
            <p:ph type="ftr" sz="quarter" idx="11"/>
          </p:nvPr>
        </p:nvSpPr>
        <p:spPr/>
        <p:txBody>
          <a:bodyPr/>
          <a:lstStyle/>
          <a:p>
            <a:endParaRPr lang="en-VN"/>
          </a:p>
        </p:txBody>
      </p:sp>
      <p:sp>
        <p:nvSpPr>
          <p:cNvPr id="9" name="Slide Number Placeholder 8">
            <a:extLst>
              <a:ext uri="{FF2B5EF4-FFF2-40B4-BE49-F238E27FC236}">
                <a16:creationId xmlns:a16="http://schemas.microsoft.com/office/drawing/2014/main" id="{34EBDCFD-FC7C-EF07-4E83-F2D7956E1EC1}"/>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657852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C4FC3-7CA6-AB15-FFE1-54E0D8AB81AB}"/>
              </a:ext>
            </a:extLst>
          </p:cNvPr>
          <p:cNvSpPr>
            <a:spLocks noGrp="1"/>
          </p:cNvSpPr>
          <p:nvPr>
            <p:ph type="title"/>
          </p:nvPr>
        </p:nvSpPr>
        <p:spPr/>
        <p:txBody>
          <a:bodyPr/>
          <a:lstStyle/>
          <a:p>
            <a:r>
              <a:rPr lang="en-US"/>
              <a:t>Click to edit Master title style</a:t>
            </a:r>
            <a:endParaRPr lang="en-VN"/>
          </a:p>
        </p:txBody>
      </p:sp>
      <p:sp>
        <p:nvSpPr>
          <p:cNvPr id="3" name="Date Placeholder 2">
            <a:extLst>
              <a:ext uri="{FF2B5EF4-FFF2-40B4-BE49-F238E27FC236}">
                <a16:creationId xmlns:a16="http://schemas.microsoft.com/office/drawing/2014/main" id="{456300B3-3FD0-F392-7440-E3A6806D3701}"/>
              </a:ext>
            </a:extLst>
          </p:cNvPr>
          <p:cNvSpPr>
            <a:spLocks noGrp="1"/>
          </p:cNvSpPr>
          <p:nvPr>
            <p:ph type="dt" sz="half" idx="10"/>
          </p:nvPr>
        </p:nvSpPr>
        <p:spPr/>
        <p:txBody>
          <a:bodyPr/>
          <a:lstStyle/>
          <a:p>
            <a:fld id="{06E996D4-7AAD-2A44-8BE7-1727DCC42208}" type="datetimeFigureOut">
              <a:rPr lang="en-VN" smtClean="0"/>
              <a:t>03/05/2026</a:t>
            </a:fld>
            <a:endParaRPr lang="en-VN"/>
          </a:p>
        </p:txBody>
      </p:sp>
      <p:sp>
        <p:nvSpPr>
          <p:cNvPr id="4" name="Footer Placeholder 3">
            <a:extLst>
              <a:ext uri="{FF2B5EF4-FFF2-40B4-BE49-F238E27FC236}">
                <a16:creationId xmlns:a16="http://schemas.microsoft.com/office/drawing/2014/main" id="{39EE939F-DA44-2088-C19F-E747AC7E659A}"/>
              </a:ext>
            </a:extLst>
          </p:cNvPr>
          <p:cNvSpPr>
            <a:spLocks noGrp="1"/>
          </p:cNvSpPr>
          <p:nvPr>
            <p:ph type="ftr" sz="quarter" idx="11"/>
          </p:nvPr>
        </p:nvSpPr>
        <p:spPr/>
        <p:txBody>
          <a:bodyPr/>
          <a:lstStyle/>
          <a:p>
            <a:endParaRPr lang="en-VN"/>
          </a:p>
        </p:txBody>
      </p:sp>
      <p:sp>
        <p:nvSpPr>
          <p:cNvPr id="5" name="Slide Number Placeholder 4">
            <a:extLst>
              <a:ext uri="{FF2B5EF4-FFF2-40B4-BE49-F238E27FC236}">
                <a16:creationId xmlns:a16="http://schemas.microsoft.com/office/drawing/2014/main" id="{F14A2417-57C2-8FF3-AACB-E3417558F08C}"/>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9179022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6D39B6-5E89-66DA-EB19-0D2A9723AC9B}"/>
              </a:ext>
            </a:extLst>
          </p:cNvPr>
          <p:cNvSpPr>
            <a:spLocks noGrp="1"/>
          </p:cNvSpPr>
          <p:nvPr>
            <p:ph type="dt" sz="half" idx="10"/>
          </p:nvPr>
        </p:nvSpPr>
        <p:spPr/>
        <p:txBody>
          <a:bodyPr/>
          <a:lstStyle/>
          <a:p>
            <a:fld id="{06E996D4-7AAD-2A44-8BE7-1727DCC42208}" type="datetimeFigureOut">
              <a:rPr lang="en-VN" smtClean="0"/>
              <a:t>03/05/2026</a:t>
            </a:fld>
            <a:endParaRPr lang="en-VN"/>
          </a:p>
        </p:txBody>
      </p:sp>
      <p:sp>
        <p:nvSpPr>
          <p:cNvPr id="3" name="Footer Placeholder 2">
            <a:extLst>
              <a:ext uri="{FF2B5EF4-FFF2-40B4-BE49-F238E27FC236}">
                <a16:creationId xmlns:a16="http://schemas.microsoft.com/office/drawing/2014/main" id="{DAEAFB0C-6320-ECA9-3630-D6760BF2904D}"/>
              </a:ext>
            </a:extLst>
          </p:cNvPr>
          <p:cNvSpPr>
            <a:spLocks noGrp="1"/>
          </p:cNvSpPr>
          <p:nvPr>
            <p:ph type="ftr" sz="quarter" idx="11"/>
          </p:nvPr>
        </p:nvSpPr>
        <p:spPr/>
        <p:txBody>
          <a:bodyPr/>
          <a:lstStyle/>
          <a:p>
            <a:endParaRPr lang="en-VN"/>
          </a:p>
        </p:txBody>
      </p:sp>
      <p:sp>
        <p:nvSpPr>
          <p:cNvPr id="4" name="Slide Number Placeholder 3">
            <a:extLst>
              <a:ext uri="{FF2B5EF4-FFF2-40B4-BE49-F238E27FC236}">
                <a16:creationId xmlns:a16="http://schemas.microsoft.com/office/drawing/2014/main" id="{6CB9763E-3638-9284-734B-ED09A8766722}"/>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2690275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D833C-F7D5-0222-A265-8D9E830E2B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Content Placeholder 2">
            <a:extLst>
              <a:ext uri="{FF2B5EF4-FFF2-40B4-BE49-F238E27FC236}">
                <a16:creationId xmlns:a16="http://schemas.microsoft.com/office/drawing/2014/main" id="{7A30A460-9514-6B68-DC85-C682ED63C6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Text Placeholder 3">
            <a:extLst>
              <a:ext uri="{FF2B5EF4-FFF2-40B4-BE49-F238E27FC236}">
                <a16:creationId xmlns:a16="http://schemas.microsoft.com/office/drawing/2014/main" id="{7BCA776D-FB3B-D341-DC06-53DA4C6C42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BFAA7B-8D38-956A-B3C8-9189A78E6A17}"/>
              </a:ext>
            </a:extLst>
          </p:cNvPr>
          <p:cNvSpPr>
            <a:spLocks noGrp="1"/>
          </p:cNvSpPr>
          <p:nvPr>
            <p:ph type="dt" sz="half" idx="10"/>
          </p:nvPr>
        </p:nvSpPr>
        <p:spPr/>
        <p:txBody>
          <a:bodyPr/>
          <a:lstStyle/>
          <a:p>
            <a:fld id="{06E996D4-7AAD-2A44-8BE7-1727DCC42208}" type="datetimeFigureOut">
              <a:rPr lang="en-VN" smtClean="0"/>
              <a:t>03/05/2026</a:t>
            </a:fld>
            <a:endParaRPr lang="en-VN"/>
          </a:p>
        </p:txBody>
      </p:sp>
      <p:sp>
        <p:nvSpPr>
          <p:cNvPr id="6" name="Footer Placeholder 5">
            <a:extLst>
              <a:ext uri="{FF2B5EF4-FFF2-40B4-BE49-F238E27FC236}">
                <a16:creationId xmlns:a16="http://schemas.microsoft.com/office/drawing/2014/main" id="{0DCDEF49-E2C9-6F98-F66E-04968EB7CE89}"/>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23924F5D-E524-70F9-17BC-C7BB81E902F7}"/>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24750103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29236-B38C-04A4-1515-A6E70C3679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Picture Placeholder 2">
            <a:extLst>
              <a:ext uri="{FF2B5EF4-FFF2-40B4-BE49-F238E27FC236}">
                <a16:creationId xmlns:a16="http://schemas.microsoft.com/office/drawing/2014/main" id="{6B74C4FF-B914-4590-C700-2C4BA0355E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VN"/>
          </a:p>
        </p:txBody>
      </p:sp>
      <p:sp>
        <p:nvSpPr>
          <p:cNvPr id="4" name="Text Placeholder 3">
            <a:extLst>
              <a:ext uri="{FF2B5EF4-FFF2-40B4-BE49-F238E27FC236}">
                <a16:creationId xmlns:a16="http://schemas.microsoft.com/office/drawing/2014/main" id="{FFEA8981-5307-ED6B-7393-58C1FA86C7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B32F05-54D9-AC2F-BCDD-45C40D548EA2}"/>
              </a:ext>
            </a:extLst>
          </p:cNvPr>
          <p:cNvSpPr>
            <a:spLocks noGrp="1"/>
          </p:cNvSpPr>
          <p:nvPr>
            <p:ph type="dt" sz="half" idx="10"/>
          </p:nvPr>
        </p:nvSpPr>
        <p:spPr/>
        <p:txBody>
          <a:bodyPr/>
          <a:lstStyle/>
          <a:p>
            <a:fld id="{06E996D4-7AAD-2A44-8BE7-1727DCC42208}" type="datetimeFigureOut">
              <a:rPr lang="en-VN" smtClean="0"/>
              <a:t>03/05/2026</a:t>
            </a:fld>
            <a:endParaRPr lang="en-VN"/>
          </a:p>
        </p:txBody>
      </p:sp>
      <p:sp>
        <p:nvSpPr>
          <p:cNvPr id="6" name="Footer Placeholder 5">
            <a:extLst>
              <a:ext uri="{FF2B5EF4-FFF2-40B4-BE49-F238E27FC236}">
                <a16:creationId xmlns:a16="http://schemas.microsoft.com/office/drawing/2014/main" id="{1956D5E2-8FEF-F7E6-E1D3-0A00B73822A8}"/>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96957B6D-00FC-595D-8C5E-9C06B99BBF98}"/>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494880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11D75-82A0-ACE5-AEAC-67A1068E978D}"/>
              </a:ext>
            </a:extLst>
          </p:cNvPr>
          <p:cNvSpPr>
            <a:spLocks noGrp="1"/>
          </p:cNvSpPr>
          <p:nvPr>
            <p:ph type="title"/>
          </p:nvPr>
        </p:nvSpPr>
        <p:spPr/>
        <p:txBody>
          <a:bodyPr/>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54A4E0E5-677E-319F-0419-AEA14E6BD8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D7790C5C-4FA2-9494-7621-8383AC4DE79B}"/>
              </a:ext>
            </a:extLst>
          </p:cNvPr>
          <p:cNvSpPr>
            <a:spLocks noGrp="1"/>
          </p:cNvSpPr>
          <p:nvPr>
            <p:ph type="dt" sz="half" idx="10"/>
          </p:nvPr>
        </p:nvSpPr>
        <p:spPr/>
        <p:txBody>
          <a:bodyPr/>
          <a:lstStyle/>
          <a:p>
            <a:fld id="{06E996D4-7AAD-2A44-8BE7-1727DCC42208}" type="datetimeFigureOut">
              <a:rPr lang="en-VN" smtClean="0"/>
              <a:t>03/05/2026</a:t>
            </a:fld>
            <a:endParaRPr lang="en-VN"/>
          </a:p>
        </p:txBody>
      </p:sp>
      <p:sp>
        <p:nvSpPr>
          <p:cNvPr id="5" name="Footer Placeholder 4">
            <a:extLst>
              <a:ext uri="{FF2B5EF4-FFF2-40B4-BE49-F238E27FC236}">
                <a16:creationId xmlns:a16="http://schemas.microsoft.com/office/drawing/2014/main" id="{C1711235-FAEA-8718-21BB-631EAE8A91DA}"/>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E3C58324-DAF8-8E8F-8AD2-A6CF5A723ABB}"/>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453514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3A9EEE-7BB9-82A5-DDBC-EF8A30B54FF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B6CFCDB4-AEB2-4571-3BB2-DB8A3D236E9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2B9B0936-EDB1-8D52-D4D3-0EE0D7D3F4D6}"/>
              </a:ext>
            </a:extLst>
          </p:cNvPr>
          <p:cNvSpPr>
            <a:spLocks noGrp="1"/>
          </p:cNvSpPr>
          <p:nvPr>
            <p:ph type="dt" sz="half" idx="10"/>
          </p:nvPr>
        </p:nvSpPr>
        <p:spPr/>
        <p:txBody>
          <a:bodyPr/>
          <a:lstStyle/>
          <a:p>
            <a:fld id="{06E996D4-7AAD-2A44-8BE7-1727DCC42208}" type="datetimeFigureOut">
              <a:rPr lang="en-VN" smtClean="0"/>
              <a:t>03/05/2026</a:t>
            </a:fld>
            <a:endParaRPr lang="en-VN"/>
          </a:p>
        </p:txBody>
      </p:sp>
      <p:sp>
        <p:nvSpPr>
          <p:cNvPr id="5" name="Footer Placeholder 4">
            <a:extLst>
              <a:ext uri="{FF2B5EF4-FFF2-40B4-BE49-F238E27FC236}">
                <a16:creationId xmlns:a16="http://schemas.microsoft.com/office/drawing/2014/main" id="{22CFE319-5EAA-F060-29F5-842601545CA8}"/>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0202313A-C5D1-8E45-43C5-CDD5166D1287}"/>
              </a:ext>
            </a:extLst>
          </p:cNvPr>
          <p:cNvSpPr>
            <a:spLocks noGrp="1"/>
          </p:cNvSpPr>
          <p:nvPr>
            <p:ph type="sldNum" sz="quarter" idx="12"/>
          </p:nvPr>
        </p:nvSpPr>
        <p:spPr/>
        <p:txBody>
          <a:bodyPr/>
          <a:lstStyle/>
          <a:p>
            <a:fld id="{BC9FB2B2-7097-B344-B47F-CA906A8B5746}" type="slidenum">
              <a:rPr lang="en-VN" smtClean="0"/>
              <a:t>‹#›</a:t>
            </a:fld>
            <a:endParaRPr lang="en-VN"/>
          </a:p>
        </p:txBody>
      </p:sp>
    </p:spTree>
    <p:extLst>
      <p:ext uri="{BB962C8B-B14F-4D97-AF65-F5344CB8AC3E}">
        <p14:creationId xmlns:p14="http://schemas.microsoft.com/office/powerpoint/2010/main" val="3984658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8C9955-552A-CE70-F829-5F452221B1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VN"/>
          </a:p>
        </p:txBody>
      </p:sp>
      <p:sp>
        <p:nvSpPr>
          <p:cNvPr id="3" name="Text Placeholder 2">
            <a:extLst>
              <a:ext uri="{FF2B5EF4-FFF2-40B4-BE49-F238E27FC236}">
                <a16:creationId xmlns:a16="http://schemas.microsoft.com/office/drawing/2014/main" id="{57344CC6-27E5-D574-E5EE-8558C4A232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1B79254D-7687-5709-147A-2574AA31C4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E996D4-7AAD-2A44-8BE7-1727DCC42208}" type="datetimeFigureOut">
              <a:rPr lang="en-VN" smtClean="0"/>
              <a:t>03/05/2026</a:t>
            </a:fld>
            <a:endParaRPr lang="en-VN"/>
          </a:p>
        </p:txBody>
      </p:sp>
      <p:sp>
        <p:nvSpPr>
          <p:cNvPr id="5" name="Footer Placeholder 4">
            <a:extLst>
              <a:ext uri="{FF2B5EF4-FFF2-40B4-BE49-F238E27FC236}">
                <a16:creationId xmlns:a16="http://schemas.microsoft.com/office/drawing/2014/main" id="{89235861-A636-014E-4913-210DEA1DAE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VN"/>
          </a:p>
        </p:txBody>
      </p:sp>
      <p:sp>
        <p:nvSpPr>
          <p:cNvPr id="6" name="Slide Number Placeholder 5">
            <a:extLst>
              <a:ext uri="{FF2B5EF4-FFF2-40B4-BE49-F238E27FC236}">
                <a16:creationId xmlns:a16="http://schemas.microsoft.com/office/drawing/2014/main" id="{02FC3369-5A30-D5DF-D02A-852FA88D12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9FB2B2-7097-B344-B47F-CA906A8B5746}" type="slidenum">
              <a:rPr lang="en-VN" smtClean="0"/>
              <a:t>‹#›</a:t>
            </a:fld>
            <a:endParaRPr lang="en-VN"/>
          </a:p>
        </p:txBody>
      </p:sp>
    </p:spTree>
    <p:extLst>
      <p:ext uri="{BB962C8B-B14F-4D97-AF65-F5344CB8AC3E}">
        <p14:creationId xmlns:p14="http://schemas.microsoft.com/office/powerpoint/2010/main" val="22770111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DC016-801A-97C8-F810-8309D1533A14}"/>
            </a:ext>
          </a:extLst>
        </p:cNvPr>
        <p:cNvGrpSpPr/>
        <p:nvPr/>
      </p:nvGrpSpPr>
      <p:grpSpPr>
        <a:xfrm>
          <a:off x="0" y="0"/>
          <a:ext cx="0" cy="0"/>
          <a:chOff x="0" y="0"/>
          <a:chExt cx="0" cy="0"/>
        </a:xfrm>
      </p:grpSpPr>
      <p:graphicFrame>
        <p:nvGraphicFramePr>
          <p:cNvPr id="4" name="Content Placeholder 4">
            <a:extLst>
              <a:ext uri="{FF2B5EF4-FFF2-40B4-BE49-F238E27FC236}">
                <a16:creationId xmlns:a16="http://schemas.microsoft.com/office/drawing/2014/main" id="{8664B557-3BF5-A71C-390C-C79A04E4027D}"/>
              </a:ext>
            </a:extLst>
          </p:cNvPr>
          <p:cNvGraphicFramePr>
            <a:graphicFrameLocks/>
          </p:cNvGraphicFramePr>
          <p:nvPr/>
        </p:nvGraphicFramePr>
        <p:xfrm>
          <a:off x="308106" y="1577191"/>
          <a:ext cx="11710220" cy="5481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4">
            <a:extLst>
              <a:ext uri="{FF2B5EF4-FFF2-40B4-BE49-F238E27FC236}">
                <a16:creationId xmlns:a16="http://schemas.microsoft.com/office/drawing/2014/main" id="{24251E74-0C2E-9E20-F5F1-15CA893B6C89}"/>
              </a:ext>
            </a:extLst>
          </p:cNvPr>
          <p:cNvSpPr/>
          <p:nvPr/>
        </p:nvSpPr>
        <p:spPr>
          <a:xfrm>
            <a:off x="0" y="0"/>
            <a:ext cx="12192000" cy="1533832"/>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000" b="1" dirty="0">
                <a:latin typeface="Times New Roman" panose="02020603050405020304" pitchFamily="18" charset="0"/>
                <a:cs typeface="Times New Roman" panose="02020603050405020304" pitchFamily="18" charset="0"/>
              </a:rPr>
              <a:t>CHƯƠNG 2: QUẢN LÝ NGÂN SÁCH NHÀ NƯỚC</a:t>
            </a:r>
          </a:p>
        </p:txBody>
      </p:sp>
    </p:spTree>
    <p:extLst>
      <p:ext uri="{BB962C8B-B14F-4D97-AF65-F5344CB8AC3E}">
        <p14:creationId xmlns:p14="http://schemas.microsoft.com/office/powerpoint/2010/main" val="778189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graphicEl>
                                              <a:dgm id="{FBEFBF75-64EB-4F7E-A926-A4E66F89C7B0}"/>
                                            </p:graphicEl>
                                          </p:spTgt>
                                        </p:tgtEl>
                                        <p:attrNameLst>
                                          <p:attrName>style.visibility</p:attrName>
                                        </p:attrNameLst>
                                      </p:cBhvr>
                                      <p:to>
                                        <p:strVal val="visible"/>
                                      </p:to>
                                    </p:set>
                                    <p:anim calcmode="lin" valueType="num">
                                      <p:cBhvr additive="base">
                                        <p:cTn id="7" dur="500" fill="hold"/>
                                        <p:tgtEl>
                                          <p:spTgt spid="4">
                                            <p:graphicEl>
                                              <a:dgm id="{FBEFBF75-64EB-4F7E-A926-A4E66F89C7B0}"/>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
                                            <p:graphicEl>
                                              <a:dgm id="{FBEFBF75-64EB-4F7E-A926-A4E66F89C7B0}"/>
                                            </p:graphic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4">
                                            <p:graphicEl>
                                              <a:dgm id="{666DCB58-F458-4F2E-B413-E6EC71986A16}"/>
                                            </p:graphicEl>
                                          </p:spTgt>
                                        </p:tgtEl>
                                        <p:attrNameLst>
                                          <p:attrName>style.visibility</p:attrName>
                                        </p:attrNameLst>
                                      </p:cBhvr>
                                      <p:to>
                                        <p:strVal val="visible"/>
                                      </p:to>
                                    </p:set>
                                    <p:anim calcmode="lin" valueType="num">
                                      <p:cBhvr additive="base">
                                        <p:cTn id="11" dur="500" fill="hold"/>
                                        <p:tgtEl>
                                          <p:spTgt spid="4">
                                            <p:graphicEl>
                                              <a:dgm id="{666DCB58-F458-4F2E-B413-E6EC71986A16}"/>
                                            </p:graphic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4">
                                            <p:graphicEl>
                                              <a:dgm id="{666DCB58-F458-4F2E-B413-E6EC71986A16}"/>
                                            </p:graphic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4">
                                            <p:graphicEl>
                                              <a:dgm id="{903D4C07-2F7B-4768-B940-9EC734D124AC}"/>
                                            </p:graphicEl>
                                          </p:spTgt>
                                        </p:tgtEl>
                                        <p:attrNameLst>
                                          <p:attrName>style.visibility</p:attrName>
                                        </p:attrNameLst>
                                      </p:cBhvr>
                                      <p:to>
                                        <p:strVal val="visible"/>
                                      </p:to>
                                    </p:set>
                                    <p:anim calcmode="lin" valueType="num">
                                      <p:cBhvr additive="base">
                                        <p:cTn id="15" dur="500" fill="hold"/>
                                        <p:tgtEl>
                                          <p:spTgt spid="4">
                                            <p:graphicEl>
                                              <a:dgm id="{903D4C07-2F7B-4768-B940-9EC734D124AC}"/>
                                            </p:graphic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4">
                                            <p:graphicEl>
                                              <a:dgm id="{903D4C07-2F7B-4768-B940-9EC734D124AC}"/>
                                            </p:graphic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4">
                                            <p:graphicEl>
                                              <a:dgm id="{03B14AF4-B5B8-4120-A94F-C42F3ACBD4C0}"/>
                                            </p:graphicEl>
                                          </p:spTgt>
                                        </p:tgtEl>
                                        <p:attrNameLst>
                                          <p:attrName>style.visibility</p:attrName>
                                        </p:attrNameLst>
                                      </p:cBhvr>
                                      <p:to>
                                        <p:strVal val="visible"/>
                                      </p:to>
                                    </p:set>
                                    <p:anim calcmode="lin" valueType="num">
                                      <p:cBhvr additive="base">
                                        <p:cTn id="21" dur="500" fill="hold"/>
                                        <p:tgtEl>
                                          <p:spTgt spid="4">
                                            <p:graphicEl>
                                              <a:dgm id="{03B14AF4-B5B8-4120-A94F-C42F3ACBD4C0}"/>
                                            </p:graphic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4">
                                            <p:graphicEl>
                                              <a:dgm id="{03B14AF4-B5B8-4120-A94F-C42F3ACBD4C0}"/>
                                            </p:graphic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4">
                                            <p:graphicEl>
                                              <a:dgm id="{A5EF71E6-87C1-4DA1-AFF7-D586E2B69EAC}"/>
                                            </p:graphicEl>
                                          </p:spTgt>
                                        </p:tgtEl>
                                        <p:attrNameLst>
                                          <p:attrName>style.visibility</p:attrName>
                                        </p:attrNameLst>
                                      </p:cBhvr>
                                      <p:to>
                                        <p:strVal val="visible"/>
                                      </p:to>
                                    </p:set>
                                    <p:anim calcmode="lin" valueType="num">
                                      <p:cBhvr additive="base">
                                        <p:cTn id="25" dur="500" fill="hold"/>
                                        <p:tgtEl>
                                          <p:spTgt spid="4">
                                            <p:graphicEl>
                                              <a:dgm id="{A5EF71E6-87C1-4DA1-AFF7-D586E2B69EAC}"/>
                                            </p:graphic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
                                            <p:graphicEl>
                                              <a:dgm id="{A5EF71E6-87C1-4DA1-AFF7-D586E2B69EAC}"/>
                                            </p:graphic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
                                            <p:graphicEl>
                                              <a:dgm id="{7E79FFA8-5D9C-4C34-BC10-348E5B7963B1}"/>
                                            </p:graphicEl>
                                          </p:spTgt>
                                        </p:tgtEl>
                                        <p:attrNameLst>
                                          <p:attrName>style.visibility</p:attrName>
                                        </p:attrNameLst>
                                      </p:cBhvr>
                                      <p:to>
                                        <p:strVal val="visible"/>
                                      </p:to>
                                    </p:set>
                                    <p:anim calcmode="lin" valueType="num">
                                      <p:cBhvr additive="base">
                                        <p:cTn id="31" dur="500" fill="hold"/>
                                        <p:tgtEl>
                                          <p:spTgt spid="4">
                                            <p:graphicEl>
                                              <a:dgm id="{7E79FFA8-5D9C-4C34-BC10-348E5B7963B1}"/>
                                            </p:graphic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
                                            <p:graphicEl>
                                              <a:dgm id="{7E79FFA8-5D9C-4C34-BC10-348E5B7963B1}"/>
                                            </p:graphicEl>
                                          </p:spTgt>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4">
                                            <p:graphicEl>
                                              <a:dgm id="{F24AED53-8AE0-4CB9-A674-944D01F5AFA7}"/>
                                            </p:graphicEl>
                                          </p:spTgt>
                                        </p:tgtEl>
                                        <p:attrNameLst>
                                          <p:attrName>style.visibility</p:attrName>
                                        </p:attrNameLst>
                                      </p:cBhvr>
                                      <p:to>
                                        <p:strVal val="visible"/>
                                      </p:to>
                                    </p:set>
                                    <p:anim calcmode="lin" valueType="num">
                                      <p:cBhvr additive="base">
                                        <p:cTn id="35" dur="500" fill="hold"/>
                                        <p:tgtEl>
                                          <p:spTgt spid="4">
                                            <p:graphicEl>
                                              <a:dgm id="{F24AED53-8AE0-4CB9-A674-944D01F5AFA7}"/>
                                            </p:graphic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4">
                                            <p:graphicEl>
                                              <a:dgm id="{F24AED53-8AE0-4CB9-A674-944D01F5AFA7}"/>
                                            </p:graphicEl>
                                          </p:spTgt>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4">
                                            <p:graphicEl>
                                              <a:dgm id="{6E402C4B-EDFD-42F0-AB38-9FE8CE6F595A}"/>
                                            </p:graphicEl>
                                          </p:spTgt>
                                        </p:tgtEl>
                                        <p:attrNameLst>
                                          <p:attrName>style.visibility</p:attrName>
                                        </p:attrNameLst>
                                      </p:cBhvr>
                                      <p:to>
                                        <p:strVal val="visible"/>
                                      </p:to>
                                    </p:set>
                                    <p:anim calcmode="lin" valueType="num">
                                      <p:cBhvr additive="base">
                                        <p:cTn id="41" dur="500" fill="hold"/>
                                        <p:tgtEl>
                                          <p:spTgt spid="4">
                                            <p:graphicEl>
                                              <a:dgm id="{6E402C4B-EDFD-42F0-AB38-9FE8CE6F595A}"/>
                                            </p:graphic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4">
                                            <p:graphicEl>
                                              <a:dgm id="{6E402C4B-EDFD-42F0-AB38-9FE8CE6F595A}"/>
                                            </p:graphicEl>
                                          </p:spTgt>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stCondLst>
                                    <p:cond delay="0"/>
                                  </p:stCondLst>
                                  <p:childTnLst>
                                    <p:set>
                                      <p:cBhvr>
                                        <p:cTn id="44" dur="1" fill="hold">
                                          <p:stCondLst>
                                            <p:cond delay="0"/>
                                          </p:stCondLst>
                                        </p:cTn>
                                        <p:tgtEl>
                                          <p:spTgt spid="4">
                                            <p:graphicEl>
                                              <a:dgm id="{6217FA50-8478-467B-ACA9-B6E1B62BD4D6}"/>
                                            </p:graphicEl>
                                          </p:spTgt>
                                        </p:tgtEl>
                                        <p:attrNameLst>
                                          <p:attrName>style.visibility</p:attrName>
                                        </p:attrNameLst>
                                      </p:cBhvr>
                                      <p:to>
                                        <p:strVal val="visible"/>
                                      </p:to>
                                    </p:set>
                                    <p:anim calcmode="lin" valueType="num">
                                      <p:cBhvr additive="base">
                                        <p:cTn id="45" dur="500" fill="hold"/>
                                        <p:tgtEl>
                                          <p:spTgt spid="4">
                                            <p:graphicEl>
                                              <a:dgm id="{6217FA50-8478-467B-ACA9-B6E1B62BD4D6}"/>
                                            </p:graphic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4">
                                            <p:graphicEl>
                                              <a:dgm id="{6217FA50-8478-467B-ACA9-B6E1B62BD4D6}"/>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A17AC-F10B-E216-35AA-E546EEA18E8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446C512-6446-90D8-1FD7-E48C1190C54F}"/>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2.3. CHU TRÌNH QUẢN LÝ NSNN</a:t>
            </a:r>
          </a:p>
        </p:txBody>
      </p:sp>
      <p:sp>
        <p:nvSpPr>
          <p:cNvPr id="6" name="Google Shape;157;p18">
            <a:extLst>
              <a:ext uri="{FF2B5EF4-FFF2-40B4-BE49-F238E27FC236}">
                <a16:creationId xmlns:a16="http://schemas.microsoft.com/office/drawing/2014/main" id="{ED3C8D5B-E8C8-7A2E-6B3A-9D30D11111B8}"/>
              </a:ext>
            </a:extLst>
          </p:cNvPr>
          <p:cNvSpPr txBox="1">
            <a:spLocks/>
          </p:cNvSpPr>
          <p:nvPr/>
        </p:nvSpPr>
        <p:spPr>
          <a:xfrm>
            <a:off x="302811" y="1201681"/>
            <a:ext cx="11215561" cy="4454638"/>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Char char="v"/>
            </a:pPr>
            <a:r>
              <a:rPr lang="vi-VN" sz="3600" b="1">
                <a:solidFill>
                  <a:srgbClr val="C00000"/>
                </a:solidFill>
                <a:latin typeface="+mj-lt"/>
              </a:rPr>
              <a:t>Khái niệm chu trình quản lý NSNN</a:t>
            </a:r>
          </a:p>
          <a:p>
            <a:pPr marL="67732" indent="0" algn="just">
              <a:lnSpc>
                <a:spcPct val="150000"/>
              </a:lnSpc>
              <a:buFont typeface="Arial" panose="020B0604020202020204" pitchFamily="34" charset="0"/>
              <a:buNone/>
            </a:pPr>
            <a:r>
              <a:rPr lang="vi-VN" sz="3600" b="1" i="1">
                <a:solidFill>
                  <a:srgbClr val="333333"/>
                </a:solidFill>
                <a:latin typeface="Times New Roman" panose="02020603050405020304" pitchFamily="18" charset="0"/>
                <a:cs typeface="Times New Roman" panose="02020603050405020304" pitchFamily="18" charset="0"/>
              </a:rPr>
              <a:t>	</a:t>
            </a:r>
            <a:r>
              <a:rPr lang="en-US" sz="3600" b="1" i="1">
                <a:solidFill>
                  <a:srgbClr val="333333"/>
                </a:solidFill>
                <a:latin typeface="Times New Roman" panose="02020603050405020304" pitchFamily="18" charset="0"/>
                <a:cs typeface="Times New Roman" panose="02020603050405020304" pitchFamily="18" charset="0"/>
              </a:rPr>
              <a:t>Chu trình </a:t>
            </a:r>
            <a:r>
              <a:rPr lang="vi-VN" sz="3600" b="1" i="1">
                <a:solidFill>
                  <a:srgbClr val="333333"/>
                </a:solidFill>
                <a:latin typeface="Times New Roman" panose="02020603050405020304" pitchFamily="18" charset="0"/>
                <a:cs typeface="Times New Roman" panose="02020603050405020304" pitchFamily="18" charset="0"/>
              </a:rPr>
              <a:t>quản lý </a:t>
            </a:r>
            <a:r>
              <a:rPr lang="en-US" sz="3600" b="1" i="1">
                <a:solidFill>
                  <a:srgbClr val="333333"/>
                </a:solidFill>
                <a:latin typeface="Times New Roman" panose="02020603050405020304" pitchFamily="18" charset="0"/>
                <a:cs typeface="Times New Roman" panose="02020603050405020304" pitchFamily="18" charset="0"/>
              </a:rPr>
              <a:t>ngân sách (quy trình ngân sách) </a:t>
            </a:r>
            <a:r>
              <a:rPr lang="vi-VN" sz="3600" b="1" i="1">
                <a:solidFill>
                  <a:srgbClr val="333333"/>
                </a:solidFill>
                <a:latin typeface="Times New Roman" panose="02020603050405020304" pitchFamily="18" charset="0"/>
                <a:cs typeface="Times New Roman" panose="02020603050405020304" pitchFamily="18" charset="0"/>
              </a:rPr>
              <a:t>là toàn bộ hoạt động </a:t>
            </a:r>
            <a:r>
              <a:rPr lang="en-US" sz="3600" b="1" i="1">
                <a:solidFill>
                  <a:srgbClr val="333333"/>
                </a:solidFill>
                <a:latin typeface="Times New Roman" panose="02020603050405020304" pitchFamily="18" charset="0"/>
                <a:cs typeface="Times New Roman" panose="02020603050405020304" pitchFamily="18" charset="0"/>
              </a:rPr>
              <a:t>kể từ khi bắt đầu hình thành cho đến khi kết</a:t>
            </a:r>
            <a:r>
              <a:rPr lang="en-US" sz="3600" b="1" i="1"/>
              <a:t> </a:t>
            </a:r>
            <a:r>
              <a:rPr lang="en-US" sz="3600" b="1" i="1">
                <a:solidFill>
                  <a:srgbClr val="333333"/>
                </a:solidFill>
                <a:latin typeface="Times New Roman" panose="02020603050405020304" pitchFamily="18" charset="0"/>
                <a:cs typeface="Times New Roman" panose="02020603050405020304" pitchFamily="18" charset="0"/>
              </a:rPr>
              <a:t>thúc chuyển sang ngân sách </a:t>
            </a:r>
            <a:r>
              <a:rPr lang="vi-VN" sz="3600" b="1" i="1">
                <a:solidFill>
                  <a:srgbClr val="333333"/>
                </a:solidFill>
                <a:latin typeface="Times New Roman" panose="02020603050405020304" pitchFamily="18" charset="0"/>
                <a:cs typeface="Times New Roman" panose="02020603050405020304" pitchFamily="18" charset="0"/>
              </a:rPr>
              <a:t>mới.</a:t>
            </a:r>
            <a:endParaRPr lang="en-US" sz="3600" b="1" i="1">
              <a:latin typeface="Arial" panose="020B0604020202020204" pitchFamily="34" charset="0"/>
            </a:endParaRPr>
          </a:p>
          <a:p>
            <a:pPr marL="67732" indent="0">
              <a:lnSpc>
                <a:spcPct val="150000"/>
              </a:lnSpc>
              <a:buFont typeface="Arial" panose="020B0604020202020204" pitchFamily="34" charset="0"/>
              <a:buNone/>
            </a:pPr>
            <a:endParaRPr lang="vi-VN" sz="3600" b="1" dirty="0">
              <a:latin typeface="+mj-lt"/>
            </a:endParaRPr>
          </a:p>
        </p:txBody>
      </p:sp>
    </p:spTree>
    <p:extLst>
      <p:ext uri="{BB962C8B-B14F-4D97-AF65-F5344CB8AC3E}">
        <p14:creationId xmlns:p14="http://schemas.microsoft.com/office/powerpoint/2010/main" val="3443435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2E124-456F-ADB7-7C52-A7554CA5C02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2406A26-056A-E00F-23B9-7C0F9779EAA1}"/>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2.3. CHU TRÌNH QUẢN LÝ NSNN</a:t>
            </a:r>
          </a:p>
        </p:txBody>
      </p:sp>
      <p:sp>
        <p:nvSpPr>
          <p:cNvPr id="2" name="Title 1">
            <a:extLst>
              <a:ext uri="{FF2B5EF4-FFF2-40B4-BE49-F238E27FC236}">
                <a16:creationId xmlns:a16="http://schemas.microsoft.com/office/drawing/2014/main" id="{5722B621-1A5C-B4C2-A6D5-DEEE4ACD6360}"/>
              </a:ext>
            </a:extLst>
          </p:cNvPr>
          <p:cNvSpPr>
            <a:spLocks noGrp="1"/>
          </p:cNvSpPr>
          <p:nvPr>
            <p:ph type="title"/>
          </p:nvPr>
        </p:nvSpPr>
        <p:spPr>
          <a:xfrm>
            <a:off x="1882788" y="1275345"/>
            <a:ext cx="8710012" cy="914399"/>
          </a:xfrm>
        </p:spPr>
        <p:txBody>
          <a:bodyPr>
            <a:normAutofit/>
          </a:bodyPr>
          <a:lstStyle/>
          <a:p>
            <a:pPr algn="ctr"/>
            <a:r>
              <a:rPr lang="vi-VN" sz="3600" b="1" dirty="0">
                <a:solidFill>
                  <a:srgbClr val="002060"/>
                </a:solidFill>
                <a:latin typeface="Times New Roman" pitchFamily="18" charset="0"/>
                <a:cs typeface="Times New Roman" pitchFamily="18" charset="0"/>
              </a:rPr>
              <a:t>Ba khâu </a:t>
            </a:r>
            <a:r>
              <a:rPr lang="en-US" sz="3600" b="1" dirty="0" err="1">
                <a:solidFill>
                  <a:srgbClr val="002060"/>
                </a:solidFill>
                <a:latin typeface="Times New Roman" pitchFamily="18" charset="0"/>
                <a:cs typeface="Times New Roman" pitchFamily="18" charset="0"/>
              </a:rPr>
              <a:t>của</a:t>
            </a:r>
            <a:r>
              <a:rPr lang="en-US" sz="3600" b="1" dirty="0">
                <a:solidFill>
                  <a:srgbClr val="002060"/>
                </a:solidFill>
                <a:latin typeface="Times New Roman" pitchFamily="18" charset="0"/>
                <a:cs typeface="Times New Roman" pitchFamily="18" charset="0"/>
              </a:rPr>
              <a:t> </a:t>
            </a:r>
            <a:r>
              <a:rPr lang="en-US" sz="3600" b="1" dirty="0" err="1">
                <a:solidFill>
                  <a:srgbClr val="002060"/>
                </a:solidFill>
                <a:latin typeface="Times New Roman" pitchFamily="18" charset="0"/>
                <a:cs typeface="Times New Roman" pitchFamily="18" charset="0"/>
              </a:rPr>
              <a:t>một</a:t>
            </a:r>
            <a:r>
              <a:rPr lang="en-US" sz="3600" b="1" dirty="0">
                <a:solidFill>
                  <a:srgbClr val="002060"/>
                </a:solidFill>
                <a:latin typeface="Times New Roman" pitchFamily="18" charset="0"/>
                <a:cs typeface="Times New Roman" pitchFamily="18" charset="0"/>
              </a:rPr>
              <a:t> chu </a:t>
            </a:r>
            <a:r>
              <a:rPr lang="en-US" sz="3600" b="1" dirty="0" err="1">
                <a:solidFill>
                  <a:srgbClr val="002060"/>
                </a:solidFill>
                <a:latin typeface="Times New Roman" pitchFamily="18" charset="0"/>
                <a:cs typeface="Times New Roman" pitchFamily="18" charset="0"/>
              </a:rPr>
              <a:t>trình</a:t>
            </a:r>
            <a:r>
              <a:rPr lang="en-US" sz="3600" b="1" dirty="0">
                <a:solidFill>
                  <a:srgbClr val="002060"/>
                </a:solidFill>
                <a:latin typeface="Times New Roman" pitchFamily="18" charset="0"/>
                <a:cs typeface="Times New Roman" pitchFamily="18" charset="0"/>
              </a:rPr>
              <a:t> NS</a:t>
            </a:r>
            <a:endParaRPr lang="en-US" sz="3600" dirty="0"/>
          </a:p>
        </p:txBody>
      </p:sp>
      <p:graphicFrame>
        <p:nvGraphicFramePr>
          <p:cNvPr id="3" name="Content Placeholder 3">
            <a:extLst>
              <a:ext uri="{FF2B5EF4-FFF2-40B4-BE49-F238E27FC236}">
                <a16:creationId xmlns:a16="http://schemas.microsoft.com/office/drawing/2014/main" id="{682B6A2F-0A63-E6A7-7B0D-212278CC1F79}"/>
              </a:ext>
            </a:extLst>
          </p:cNvPr>
          <p:cNvGraphicFramePr>
            <a:graphicFrameLocks/>
          </p:cNvGraphicFramePr>
          <p:nvPr>
            <p:extLst>
              <p:ext uri="{D42A27DB-BD31-4B8C-83A1-F6EECF244321}">
                <p14:modId xmlns:p14="http://schemas.microsoft.com/office/powerpoint/2010/main" val="1105995914"/>
              </p:ext>
            </p:extLst>
          </p:nvPr>
        </p:nvGraphicFramePr>
        <p:xfrm>
          <a:off x="709684" y="2259744"/>
          <a:ext cx="11163868" cy="43696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83986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C553E-1BDF-63BF-C868-36F1D31535D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1134DBA-B484-38EF-73B7-DA0E041324A8}"/>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2.3. CHU TRÌNH QUẢN LÝ NSNN</a:t>
            </a:r>
          </a:p>
        </p:txBody>
      </p:sp>
      <p:sp>
        <p:nvSpPr>
          <p:cNvPr id="2" name="Title 1">
            <a:extLst>
              <a:ext uri="{FF2B5EF4-FFF2-40B4-BE49-F238E27FC236}">
                <a16:creationId xmlns:a16="http://schemas.microsoft.com/office/drawing/2014/main" id="{6410A882-56D2-9675-06D3-A1D99CFC23CA}"/>
              </a:ext>
            </a:extLst>
          </p:cNvPr>
          <p:cNvSpPr>
            <a:spLocks noGrp="1"/>
          </p:cNvSpPr>
          <p:nvPr>
            <p:ph type="title"/>
          </p:nvPr>
        </p:nvSpPr>
        <p:spPr>
          <a:xfrm>
            <a:off x="1882788" y="1275345"/>
            <a:ext cx="8710012" cy="914399"/>
          </a:xfrm>
        </p:spPr>
        <p:txBody>
          <a:bodyPr>
            <a:normAutofit/>
          </a:bodyPr>
          <a:lstStyle/>
          <a:p>
            <a:pPr algn="ctr"/>
            <a:r>
              <a:rPr lang="en-US" sz="3600" b="1" dirty="0">
                <a:solidFill>
                  <a:srgbClr val="002060"/>
                </a:solidFill>
                <a:latin typeface="Times New Roman" pitchFamily="18" charset="0"/>
                <a:cs typeface="Times New Roman" pitchFamily="18" charset="0"/>
              </a:rPr>
              <a:t>Các </a:t>
            </a:r>
            <a:r>
              <a:rPr lang="en-US" sz="3600" b="1" dirty="0" err="1">
                <a:solidFill>
                  <a:srgbClr val="002060"/>
                </a:solidFill>
                <a:latin typeface="Times New Roman" pitchFamily="18" charset="0"/>
                <a:cs typeface="Times New Roman" pitchFamily="18" charset="0"/>
              </a:rPr>
              <a:t>hoạt</a:t>
            </a:r>
            <a:r>
              <a:rPr lang="en-US" sz="3600" b="1" dirty="0">
                <a:solidFill>
                  <a:srgbClr val="002060"/>
                </a:solidFill>
                <a:latin typeface="Times New Roman" pitchFamily="18" charset="0"/>
                <a:cs typeface="Times New Roman" pitchFamily="18" charset="0"/>
              </a:rPr>
              <a:t> </a:t>
            </a:r>
            <a:r>
              <a:rPr lang="en-US" sz="3600" b="1" dirty="0" err="1">
                <a:solidFill>
                  <a:srgbClr val="002060"/>
                </a:solidFill>
                <a:latin typeface="Times New Roman" pitchFamily="18" charset="0"/>
                <a:cs typeface="Times New Roman" pitchFamily="18" charset="0"/>
              </a:rPr>
              <a:t>động</a:t>
            </a:r>
            <a:r>
              <a:rPr lang="en-US" sz="3600" b="1" dirty="0">
                <a:solidFill>
                  <a:srgbClr val="002060"/>
                </a:solidFill>
                <a:latin typeface="Times New Roman" pitchFamily="18" charset="0"/>
                <a:cs typeface="Times New Roman" pitchFamily="18" charset="0"/>
              </a:rPr>
              <a:t> </a:t>
            </a:r>
            <a:r>
              <a:rPr lang="en-US" sz="3600" b="1" dirty="0" err="1">
                <a:solidFill>
                  <a:srgbClr val="002060"/>
                </a:solidFill>
                <a:latin typeface="Times New Roman" pitchFamily="18" charset="0"/>
                <a:cs typeface="Times New Roman" pitchFamily="18" charset="0"/>
              </a:rPr>
              <a:t>của</a:t>
            </a:r>
            <a:r>
              <a:rPr lang="en-US" sz="3600" b="1" dirty="0">
                <a:solidFill>
                  <a:srgbClr val="002060"/>
                </a:solidFill>
                <a:latin typeface="Times New Roman" pitchFamily="18" charset="0"/>
                <a:cs typeface="Times New Roman" pitchFamily="18" charset="0"/>
              </a:rPr>
              <a:t> </a:t>
            </a:r>
            <a:r>
              <a:rPr lang="en-US" sz="3600" b="1" dirty="0" err="1">
                <a:solidFill>
                  <a:srgbClr val="002060"/>
                </a:solidFill>
                <a:latin typeface="Times New Roman" pitchFamily="18" charset="0"/>
                <a:cs typeface="Times New Roman" pitchFamily="18" charset="0"/>
              </a:rPr>
              <a:t>một</a:t>
            </a:r>
            <a:r>
              <a:rPr lang="en-US" sz="3600" b="1" dirty="0">
                <a:solidFill>
                  <a:srgbClr val="002060"/>
                </a:solidFill>
                <a:latin typeface="Times New Roman" pitchFamily="18" charset="0"/>
                <a:cs typeface="Times New Roman" pitchFamily="18" charset="0"/>
              </a:rPr>
              <a:t> chu </a:t>
            </a:r>
            <a:r>
              <a:rPr lang="en-US" sz="3600" b="1" dirty="0" err="1">
                <a:solidFill>
                  <a:srgbClr val="002060"/>
                </a:solidFill>
                <a:latin typeface="Times New Roman" pitchFamily="18" charset="0"/>
                <a:cs typeface="Times New Roman" pitchFamily="18" charset="0"/>
              </a:rPr>
              <a:t>trình</a:t>
            </a:r>
            <a:r>
              <a:rPr lang="en-US" sz="3600" b="1" dirty="0">
                <a:solidFill>
                  <a:srgbClr val="002060"/>
                </a:solidFill>
                <a:latin typeface="Times New Roman" pitchFamily="18" charset="0"/>
                <a:cs typeface="Times New Roman" pitchFamily="18" charset="0"/>
              </a:rPr>
              <a:t> NS</a:t>
            </a:r>
            <a:endParaRPr lang="en-US" sz="3600" dirty="0"/>
          </a:p>
        </p:txBody>
      </p:sp>
      <p:sp>
        <p:nvSpPr>
          <p:cNvPr id="5" name="Oval 3">
            <a:extLst>
              <a:ext uri="{FF2B5EF4-FFF2-40B4-BE49-F238E27FC236}">
                <a16:creationId xmlns:a16="http://schemas.microsoft.com/office/drawing/2014/main" id="{C6D8B1D0-957C-A190-733F-4BB72AFFD774}"/>
              </a:ext>
            </a:extLst>
          </p:cNvPr>
          <p:cNvSpPr>
            <a:spLocks noChangeArrowheads="1"/>
          </p:cNvSpPr>
          <p:nvPr/>
        </p:nvSpPr>
        <p:spPr bwMode="auto">
          <a:xfrm>
            <a:off x="1752600" y="5101388"/>
            <a:ext cx="2743200" cy="1295400"/>
          </a:xfrm>
          <a:prstGeom prst="ellipse">
            <a:avLst/>
          </a:prstGeom>
          <a:solidFill>
            <a:srgbClr val="FFC000"/>
          </a:solidFill>
          <a:ln w="9525" algn="ctr">
            <a:solidFill>
              <a:schemeClr val="bg1"/>
            </a:solidFill>
            <a:round/>
            <a:headEnd/>
            <a:tailEnd/>
          </a:ln>
          <a:effectLst/>
        </p:spPr>
        <p:txBody>
          <a:bodyPr wrap="none" anchor="ctr"/>
          <a:lstStyle/>
          <a:p>
            <a:pPr algn="ctr">
              <a:defRPr/>
            </a:pPr>
            <a:r>
              <a:rPr lang="vi-VN" sz="2800" b="1" dirty="0">
                <a:latin typeface="Times New Roman" pitchFamily="18" charset="0"/>
                <a:cs typeface="Times New Roman" pitchFamily="18" charset="0"/>
              </a:rPr>
              <a:t>Chuẩn bị </a:t>
            </a:r>
          </a:p>
          <a:p>
            <a:pPr algn="ctr">
              <a:defRPr/>
            </a:pPr>
            <a:r>
              <a:rPr lang="vi-VN" sz="2800" b="1" dirty="0">
                <a:latin typeface="Times New Roman" pitchFamily="18" charset="0"/>
                <a:cs typeface="Times New Roman" pitchFamily="18" charset="0"/>
              </a:rPr>
              <a:t>dự toán</a:t>
            </a:r>
            <a:endParaRPr lang="en-US" sz="2800" b="1" dirty="0">
              <a:latin typeface=".VnArial Narrow" pitchFamily="34" charset="0"/>
              <a:cs typeface="Arial" charset="0"/>
            </a:endParaRPr>
          </a:p>
        </p:txBody>
      </p:sp>
      <p:sp>
        <p:nvSpPr>
          <p:cNvPr id="6" name="Oval 4">
            <a:extLst>
              <a:ext uri="{FF2B5EF4-FFF2-40B4-BE49-F238E27FC236}">
                <a16:creationId xmlns:a16="http://schemas.microsoft.com/office/drawing/2014/main" id="{A93BFBA0-B743-9CE2-38A1-02AAB69A9174}"/>
              </a:ext>
            </a:extLst>
          </p:cNvPr>
          <p:cNvSpPr>
            <a:spLocks noChangeArrowheads="1"/>
          </p:cNvSpPr>
          <p:nvPr/>
        </p:nvSpPr>
        <p:spPr bwMode="auto">
          <a:xfrm>
            <a:off x="3733800" y="3774294"/>
            <a:ext cx="2743200" cy="1408014"/>
          </a:xfrm>
          <a:prstGeom prst="ellipse">
            <a:avLst/>
          </a:prstGeom>
          <a:solidFill>
            <a:srgbClr val="FFC000"/>
          </a:solidFill>
          <a:ln w="9525" algn="ctr">
            <a:solidFill>
              <a:schemeClr val="bg1"/>
            </a:solidFill>
            <a:round/>
            <a:headEnd/>
            <a:tailEnd/>
          </a:ln>
          <a:effectLst/>
        </p:spPr>
        <p:txBody>
          <a:bodyPr wrap="none" anchor="ctr"/>
          <a:lstStyle/>
          <a:p>
            <a:pPr algn="ctr">
              <a:defRPr/>
            </a:pPr>
            <a:r>
              <a:rPr lang="en-US" sz="2400" b="1" dirty="0" err="1">
                <a:latin typeface="Times New Roman" pitchFamily="18" charset="0"/>
                <a:cs typeface="Times New Roman" pitchFamily="18" charset="0"/>
              </a:rPr>
              <a:t>Quyết</a:t>
            </a:r>
            <a:endParaRPr lang="en-US" sz="2400" b="1" dirty="0">
              <a:latin typeface="Times New Roman" pitchFamily="18" charset="0"/>
              <a:cs typeface="Times New Roman" pitchFamily="18" charset="0"/>
            </a:endParaRPr>
          </a:p>
          <a:p>
            <a:pPr algn="ctr">
              <a:defRPr/>
            </a:pP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định</a:t>
            </a:r>
            <a:r>
              <a:rPr lang="en-US" sz="2400" b="1" dirty="0">
                <a:latin typeface="Times New Roman" pitchFamily="18" charset="0"/>
                <a:cs typeface="Times New Roman" pitchFamily="18" charset="0"/>
              </a:rPr>
              <a:t> </a:t>
            </a:r>
            <a:r>
              <a:rPr lang="vi-VN" sz="2400" b="1" dirty="0">
                <a:latin typeface="Times New Roman" pitchFamily="18" charset="0"/>
                <a:cs typeface="Times New Roman" pitchFamily="18" charset="0"/>
              </a:rPr>
              <a:t>dự toán</a:t>
            </a:r>
            <a:endParaRPr lang="en-US" sz="2400" b="1" dirty="0">
              <a:latin typeface=".VnArial Narrow" pitchFamily="34" charset="0"/>
              <a:cs typeface="Arial" charset="0"/>
            </a:endParaRPr>
          </a:p>
        </p:txBody>
      </p:sp>
      <p:sp>
        <p:nvSpPr>
          <p:cNvPr id="7" name="Oval 5">
            <a:extLst>
              <a:ext uri="{FF2B5EF4-FFF2-40B4-BE49-F238E27FC236}">
                <a16:creationId xmlns:a16="http://schemas.microsoft.com/office/drawing/2014/main" id="{A8F893F8-63DE-2144-2DB9-CE806E2B47B4}"/>
              </a:ext>
            </a:extLst>
          </p:cNvPr>
          <p:cNvSpPr>
            <a:spLocks noChangeArrowheads="1"/>
          </p:cNvSpPr>
          <p:nvPr/>
        </p:nvSpPr>
        <p:spPr bwMode="auto">
          <a:xfrm>
            <a:off x="5638800" y="2891588"/>
            <a:ext cx="2590800" cy="1143000"/>
          </a:xfrm>
          <a:prstGeom prst="ellipse">
            <a:avLst/>
          </a:prstGeom>
          <a:solidFill>
            <a:srgbClr val="FF0000"/>
          </a:solidFill>
          <a:ln w="9525" algn="ctr">
            <a:solidFill>
              <a:schemeClr val="bg1"/>
            </a:solidFill>
            <a:round/>
            <a:headEnd/>
            <a:tailEnd/>
          </a:ln>
        </p:spPr>
        <p:txBody>
          <a:bodyPr wrap="none" anchor="ctr"/>
          <a:lstStyle/>
          <a:p>
            <a:pPr algn="ctr"/>
            <a:r>
              <a:rPr lang="en-US" sz="2800" b="1" dirty="0" err="1">
                <a:solidFill>
                  <a:schemeClr val="bg1"/>
                </a:solidFill>
                <a:latin typeface="Times New Roman" pitchFamily="18" charset="0"/>
                <a:cs typeface="Times New Roman" pitchFamily="18" charset="0"/>
              </a:rPr>
              <a:t>Chấp</a:t>
            </a:r>
            <a:r>
              <a:rPr lang="en-US" sz="2800" b="1" dirty="0">
                <a:solidFill>
                  <a:schemeClr val="bg1"/>
                </a:solidFill>
                <a:latin typeface="Times New Roman" pitchFamily="18" charset="0"/>
                <a:cs typeface="Times New Roman" pitchFamily="18" charset="0"/>
              </a:rPr>
              <a:t> </a:t>
            </a:r>
            <a:r>
              <a:rPr lang="en-US" sz="2800" b="1" dirty="0" err="1">
                <a:solidFill>
                  <a:schemeClr val="bg1"/>
                </a:solidFill>
                <a:latin typeface="Times New Roman" pitchFamily="18" charset="0"/>
                <a:cs typeface="Times New Roman" pitchFamily="18" charset="0"/>
              </a:rPr>
              <a:t>hành</a:t>
            </a:r>
            <a:r>
              <a:rPr lang="en-US" sz="2800" b="1" dirty="0">
                <a:solidFill>
                  <a:schemeClr val="bg1"/>
                </a:solidFill>
                <a:latin typeface="Times New Roman" pitchFamily="18" charset="0"/>
                <a:cs typeface="Times New Roman" pitchFamily="18" charset="0"/>
              </a:rPr>
              <a:t> NS</a:t>
            </a:r>
          </a:p>
        </p:txBody>
      </p:sp>
      <p:sp>
        <p:nvSpPr>
          <p:cNvPr id="8" name="Oval 6">
            <a:extLst>
              <a:ext uri="{FF2B5EF4-FFF2-40B4-BE49-F238E27FC236}">
                <a16:creationId xmlns:a16="http://schemas.microsoft.com/office/drawing/2014/main" id="{4C7D6FFD-FFB5-85B3-6BC0-21CBCF553FED}"/>
              </a:ext>
            </a:extLst>
          </p:cNvPr>
          <p:cNvSpPr>
            <a:spLocks noChangeArrowheads="1"/>
          </p:cNvSpPr>
          <p:nvPr/>
        </p:nvSpPr>
        <p:spPr bwMode="auto">
          <a:xfrm>
            <a:off x="7924800" y="1900988"/>
            <a:ext cx="2438400" cy="1143000"/>
          </a:xfrm>
          <a:prstGeom prst="ellipse">
            <a:avLst/>
          </a:prstGeom>
          <a:solidFill>
            <a:srgbClr val="00B0F0"/>
          </a:solidFill>
          <a:ln w="9525" algn="ctr">
            <a:solidFill>
              <a:schemeClr val="bg1"/>
            </a:solidFill>
            <a:round/>
            <a:headEnd/>
            <a:tailEnd/>
          </a:ln>
        </p:spPr>
        <p:txBody>
          <a:bodyPr wrap="none" anchor="ctr"/>
          <a:lstStyle/>
          <a:p>
            <a:pPr algn="ctr"/>
            <a:r>
              <a:rPr lang="en-US" sz="2800" b="1" dirty="0" err="1">
                <a:latin typeface="Times New Roman" pitchFamily="18" charset="0"/>
                <a:cs typeface="Times New Roman" pitchFamily="18" charset="0"/>
              </a:rPr>
              <a:t>Quyết</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toán</a:t>
            </a:r>
            <a:r>
              <a:rPr lang="en-US" sz="2800" b="1" dirty="0">
                <a:latin typeface="Times New Roman" pitchFamily="18" charset="0"/>
                <a:cs typeface="Times New Roman" pitchFamily="18" charset="0"/>
              </a:rPr>
              <a:t> NS</a:t>
            </a:r>
          </a:p>
        </p:txBody>
      </p:sp>
      <p:sp>
        <p:nvSpPr>
          <p:cNvPr id="9" name="Text Box 7">
            <a:extLst>
              <a:ext uri="{FF2B5EF4-FFF2-40B4-BE49-F238E27FC236}">
                <a16:creationId xmlns:a16="http://schemas.microsoft.com/office/drawing/2014/main" id="{7BDE3F50-D7DA-0FC9-B2AB-40F738AD7F2B}"/>
              </a:ext>
            </a:extLst>
          </p:cNvPr>
          <p:cNvSpPr txBox="1">
            <a:spLocks noChangeArrowheads="1"/>
          </p:cNvSpPr>
          <p:nvPr/>
        </p:nvSpPr>
        <p:spPr bwMode="auto">
          <a:xfrm>
            <a:off x="3048000" y="6396789"/>
            <a:ext cx="387350" cy="584775"/>
          </a:xfrm>
          <a:prstGeom prst="rect">
            <a:avLst/>
          </a:prstGeom>
          <a:noFill/>
          <a:ln w="9525" algn="ctr">
            <a:noFill/>
            <a:miter lim="800000"/>
            <a:headEnd/>
            <a:tailEnd/>
          </a:ln>
        </p:spPr>
        <p:txBody>
          <a:bodyPr wrap="square">
            <a:spAutoFit/>
          </a:bodyPr>
          <a:lstStyle/>
          <a:p>
            <a:r>
              <a:rPr lang="en-US" sz="3200" b="1" dirty="0">
                <a:latin typeface=".VnTime" pitchFamily="34" charset="0"/>
                <a:cs typeface="Arial" charset="0"/>
              </a:rPr>
              <a:t>1</a:t>
            </a:r>
          </a:p>
        </p:txBody>
      </p:sp>
      <p:sp>
        <p:nvSpPr>
          <p:cNvPr id="10" name="Text Box 8">
            <a:extLst>
              <a:ext uri="{FF2B5EF4-FFF2-40B4-BE49-F238E27FC236}">
                <a16:creationId xmlns:a16="http://schemas.microsoft.com/office/drawing/2014/main" id="{9BA8B501-D9C5-18D6-7A1C-27383231943C}"/>
              </a:ext>
            </a:extLst>
          </p:cNvPr>
          <p:cNvSpPr txBox="1">
            <a:spLocks noChangeArrowheads="1"/>
          </p:cNvSpPr>
          <p:nvPr/>
        </p:nvSpPr>
        <p:spPr bwMode="auto">
          <a:xfrm>
            <a:off x="5029200" y="5101388"/>
            <a:ext cx="387350" cy="579438"/>
          </a:xfrm>
          <a:prstGeom prst="rect">
            <a:avLst/>
          </a:prstGeom>
          <a:noFill/>
          <a:ln w="9525" algn="ctr">
            <a:noFill/>
            <a:miter lim="800000"/>
            <a:headEnd/>
            <a:tailEnd/>
          </a:ln>
        </p:spPr>
        <p:txBody>
          <a:bodyPr wrap="none">
            <a:spAutoFit/>
          </a:bodyPr>
          <a:lstStyle/>
          <a:p>
            <a:r>
              <a:rPr lang="en-US" sz="3200" b="1">
                <a:latin typeface=".VnTime" pitchFamily="34" charset="0"/>
                <a:cs typeface="Arial" charset="0"/>
              </a:rPr>
              <a:t>2</a:t>
            </a:r>
          </a:p>
        </p:txBody>
      </p:sp>
      <p:sp>
        <p:nvSpPr>
          <p:cNvPr id="11" name="Text Box 9">
            <a:extLst>
              <a:ext uri="{FF2B5EF4-FFF2-40B4-BE49-F238E27FC236}">
                <a16:creationId xmlns:a16="http://schemas.microsoft.com/office/drawing/2014/main" id="{F40D400A-DE1F-CA9D-600E-91368F690D17}"/>
              </a:ext>
            </a:extLst>
          </p:cNvPr>
          <p:cNvSpPr txBox="1">
            <a:spLocks noChangeArrowheads="1"/>
          </p:cNvSpPr>
          <p:nvPr/>
        </p:nvSpPr>
        <p:spPr bwMode="auto">
          <a:xfrm>
            <a:off x="7010400" y="4110788"/>
            <a:ext cx="387350" cy="579438"/>
          </a:xfrm>
          <a:prstGeom prst="rect">
            <a:avLst/>
          </a:prstGeom>
          <a:noFill/>
          <a:ln w="9525" algn="ctr">
            <a:noFill/>
            <a:miter lim="800000"/>
            <a:headEnd/>
            <a:tailEnd/>
          </a:ln>
        </p:spPr>
        <p:txBody>
          <a:bodyPr>
            <a:spAutoFit/>
          </a:bodyPr>
          <a:lstStyle/>
          <a:p>
            <a:r>
              <a:rPr lang="en-US" sz="3200" b="1">
                <a:latin typeface=".VnTime" pitchFamily="34" charset="0"/>
                <a:cs typeface="Arial" charset="0"/>
              </a:rPr>
              <a:t>3</a:t>
            </a:r>
          </a:p>
        </p:txBody>
      </p:sp>
      <p:sp>
        <p:nvSpPr>
          <p:cNvPr id="12" name="Text Box 10">
            <a:extLst>
              <a:ext uri="{FF2B5EF4-FFF2-40B4-BE49-F238E27FC236}">
                <a16:creationId xmlns:a16="http://schemas.microsoft.com/office/drawing/2014/main" id="{6D576863-328E-3C72-F4C3-D3DE0701B351}"/>
              </a:ext>
            </a:extLst>
          </p:cNvPr>
          <p:cNvSpPr txBox="1">
            <a:spLocks noChangeArrowheads="1"/>
          </p:cNvSpPr>
          <p:nvPr/>
        </p:nvSpPr>
        <p:spPr bwMode="auto">
          <a:xfrm>
            <a:off x="9220200" y="3043988"/>
            <a:ext cx="387350" cy="579438"/>
          </a:xfrm>
          <a:prstGeom prst="rect">
            <a:avLst/>
          </a:prstGeom>
          <a:noFill/>
          <a:ln w="9525" algn="ctr">
            <a:noFill/>
            <a:miter lim="800000"/>
            <a:headEnd/>
            <a:tailEnd/>
          </a:ln>
        </p:spPr>
        <p:txBody>
          <a:bodyPr wrap="none">
            <a:spAutoFit/>
          </a:bodyPr>
          <a:lstStyle/>
          <a:p>
            <a:r>
              <a:rPr lang="en-US" sz="3200" b="1">
                <a:latin typeface=".VnTime" pitchFamily="34" charset="0"/>
                <a:cs typeface="Arial" charset="0"/>
              </a:rPr>
              <a:t>4</a:t>
            </a:r>
          </a:p>
        </p:txBody>
      </p:sp>
    </p:spTree>
    <p:extLst>
      <p:ext uri="{BB962C8B-B14F-4D97-AF65-F5344CB8AC3E}">
        <p14:creationId xmlns:p14="http://schemas.microsoft.com/office/powerpoint/2010/main" val="4136919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900" decel="100000" fill="hold"/>
                                        <p:tgtEl>
                                          <p:spTgt spid="9"/>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9"/>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1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500" fill="hold"/>
                                        <p:tgtEl>
                                          <p:spTgt spid="5"/>
                                        </p:tgtEl>
                                        <p:attrNameLst>
                                          <p:attrName>ppt_w</p:attrName>
                                        </p:attrNameLst>
                                      </p:cBhvr>
                                      <p:tavLst>
                                        <p:tav tm="0">
                                          <p:val>
                                            <p:fltVal val="0"/>
                                          </p:val>
                                        </p:tav>
                                        <p:tav tm="100000">
                                          <p:val>
                                            <p:strVal val="#ppt_w"/>
                                          </p:val>
                                        </p:tav>
                                      </p:tavLst>
                                    </p:anim>
                                    <p:anim calcmode="lin" valueType="num">
                                      <p:cBhvr>
                                        <p:cTn id="16" dur="5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17" presetClass="entr" presetSubtype="1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p:cTn id="21" dur="500" fill="hold"/>
                                        <p:tgtEl>
                                          <p:spTgt spid="10"/>
                                        </p:tgtEl>
                                        <p:attrNameLst>
                                          <p:attrName>ppt_w</p:attrName>
                                        </p:attrNameLst>
                                      </p:cBhvr>
                                      <p:tavLst>
                                        <p:tav tm="0">
                                          <p:val>
                                            <p:fltVal val="0"/>
                                          </p:val>
                                        </p:tav>
                                        <p:tav tm="100000">
                                          <p:val>
                                            <p:strVal val="#ppt_w"/>
                                          </p:val>
                                        </p:tav>
                                      </p:tavLst>
                                    </p:anim>
                                    <p:anim calcmode="lin" valueType="num">
                                      <p:cBhvr>
                                        <p:cTn id="22" dur="5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17" presetClass="entr" presetSubtype="1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500" fill="hold"/>
                                        <p:tgtEl>
                                          <p:spTgt spid="6"/>
                                        </p:tgtEl>
                                        <p:attrNameLst>
                                          <p:attrName>ppt_w</p:attrName>
                                        </p:attrNameLst>
                                      </p:cBhvr>
                                      <p:tavLst>
                                        <p:tav tm="0">
                                          <p:val>
                                            <p:fltVal val="0"/>
                                          </p:val>
                                        </p:tav>
                                        <p:tav tm="100000">
                                          <p:val>
                                            <p:strVal val="#ppt_w"/>
                                          </p:val>
                                        </p:tav>
                                      </p:tavLst>
                                    </p:anim>
                                    <p:anim calcmode="lin" valueType="num">
                                      <p:cBhvr>
                                        <p:cTn id="28" dur="5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17" presetClass="entr" presetSubtype="1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p:cTn id="33" dur="500" fill="hold"/>
                                        <p:tgtEl>
                                          <p:spTgt spid="11"/>
                                        </p:tgtEl>
                                        <p:attrNameLst>
                                          <p:attrName>ppt_w</p:attrName>
                                        </p:attrNameLst>
                                      </p:cBhvr>
                                      <p:tavLst>
                                        <p:tav tm="0">
                                          <p:val>
                                            <p:fltVal val="0"/>
                                          </p:val>
                                        </p:tav>
                                        <p:tav tm="100000">
                                          <p:val>
                                            <p:strVal val="#ppt_w"/>
                                          </p:val>
                                        </p:tav>
                                      </p:tavLst>
                                    </p:anim>
                                    <p:anim calcmode="lin" valueType="num">
                                      <p:cBhvr>
                                        <p:cTn id="34" dur="500" fill="hold"/>
                                        <p:tgtEl>
                                          <p:spTgt spid="11"/>
                                        </p:tgtEl>
                                        <p:attrNameLst>
                                          <p:attrName>ppt_h</p:attrName>
                                        </p:attrNameLst>
                                      </p:cBhvr>
                                      <p:tavLst>
                                        <p:tav tm="0">
                                          <p:val>
                                            <p:strVal val="#ppt_h"/>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17" presetClass="entr" presetSubtype="1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anim calcmode="lin" valueType="num">
                                      <p:cBhvr>
                                        <p:cTn id="39" dur="500" fill="hold"/>
                                        <p:tgtEl>
                                          <p:spTgt spid="7"/>
                                        </p:tgtEl>
                                        <p:attrNameLst>
                                          <p:attrName>ppt_w</p:attrName>
                                        </p:attrNameLst>
                                      </p:cBhvr>
                                      <p:tavLst>
                                        <p:tav tm="0">
                                          <p:val>
                                            <p:fltVal val="0"/>
                                          </p:val>
                                        </p:tav>
                                        <p:tav tm="100000">
                                          <p:val>
                                            <p:strVal val="#ppt_w"/>
                                          </p:val>
                                        </p:tav>
                                      </p:tavLst>
                                    </p:anim>
                                    <p:anim calcmode="lin" valueType="num">
                                      <p:cBhvr>
                                        <p:cTn id="40" dur="500" fill="hold"/>
                                        <p:tgtEl>
                                          <p:spTgt spid="7"/>
                                        </p:tgtEl>
                                        <p:attrNameLst>
                                          <p:attrName>ppt_h</p:attrName>
                                        </p:attrNameLst>
                                      </p:cBhvr>
                                      <p:tavLst>
                                        <p:tav tm="0">
                                          <p:val>
                                            <p:strVal val="#ppt_h"/>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3" presetID="17" presetClass="entr" presetSubtype="10"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p:cTn id="45" dur="500" fill="hold"/>
                                        <p:tgtEl>
                                          <p:spTgt spid="12"/>
                                        </p:tgtEl>
                                        <p:attrNameLst>
                                          <p:attrName>ppt_w</p:attrName>
                                        </p:attrNameLst>
                                      </p:cBhvr>
                                      <p:tavLst>
                                        <p:tav tm="0">
                                          <p:val>
                                            <p:fltVal val="0"/>
                                          </p:val>
                                        </p:tav>
                                        <p:tav tm="100000">
                                          <p:val>
                                            <p:strVal val="#ppt_w"/>
                                          </p:val>
                                        </p:tav>
                                      </p:tavLst>
                                    </p:anim>
                                    <p:anim calcmode="lin" valueType="num">
                                      <p:cBhvr>
                                        <p:cTn id="46" dur="500" fill="hold"/>
                                        <p:tgtEl>
                                          <p:spTgt spid="12"/>
                                        </p:tgtEl>
                                        <p:attrNameLst>
                                          <p:attrName>ppt_h</p:attrName>
                                        </p:attrNameLst>
                                      </p:cBhvr>
                                      <p:tavLst>
                                        <p:tav tm="0">
                                          <p:val>
                                            <p:strVal val="#ppt_h"/>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17" presetClass="entr" presetSubtype="10" fill="hold" grpId="0" nodeType="clickEffect">
                                  <p:stCondLst>
                                    <p:cond delay="0"/>
                                  </p:stCondLst>
                                  <p:childTnLst>
                                    <p:set>
                                      <p:cBhvr>
                                        <p:cTn id="50" dur="1" fill="hold">
                                          <p:stCondLst>
                                            <p:cond delay="0"/>
                                          </p:stCondLst>
                                        </p:cTn>
                                        <p:tgtEl>
                                          <p:spTgt spid="8"/>
                                        </p:tgtEl>
                                        <p:attrNameLst>
                                          <p:attrName>style.visibility</p:attrName>
                                        </p:attrNameLst>
                                      </p:cBhvr>
                                      <p:to>
                                        <p:strVal val="visible"/>
                                      </p:to>
                                    </p:set>
                                    <p:anim calcmode="lin" valueType="num">
                                      <p:cBhvr>
                                        <p:cTn id="51" dur="500" fill="hold"/>
                                        <p:tgtEl>
                                          <p:spTgt spid="8"/>
                                        </p:tgtEl>
                                        <p:attrNameLst>
                                          <p:attrName>ppt_w</p:attrName>
                                        </p:attrNameLst>
                                      </p:cBhvr>
                                      <p:tavLst>
                                        <p:tav tm="0">
                                          <p:val>
                                            <p:fltVal val="0"/>
                                          </p:val>
                                        </p:tav>
                                        <p:tav tm="100000">
                                          <p:val>
                                            <p:strVal val="#ppt_w"/>
                                          </p:val>
                                        </p:tav>
                                      </p:tavLst>
                                    </p:anim>
                                    <p:anim calcmode="lin" valueType="num">
                                      <p:cBhvr>
                                        <p:cTn id="52" dur="500" fill="hold"/>
                                        <p:tgtEl>
                                          <p:spTgt spid="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p:bldP spid="10" grpId="0"/>
      <p:bldP spid="11"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6D4B0-D576-0C4C-E099-5B6382FE780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52ABC31-A9AD-EA00-34D4-AC63A9891B2C}"/>
              </a:ext>
            </a:extLst>
          </p:cNvPr>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2.3. CHU TRÌNH QUẢN LÝ NSNN</a:t>
            </a:r>
          </a:p>
        </p:txBody>
      </p:sp>
      <p:sp>
        <p:nvSpPr>
          <p:cNvPr id="6" name="Google Shape;157;p18">
            <a:extLst>
              <a:ext uri="{FF2B5EF4-FFF2-40B4-BE49-F238E27FC236}">
                <a16:creationId xmlns:a16="http://schemas.microsoft.com/office/drawing/2014/main" id="{DC9D4179-5FDA-6E11-58BF-61CFF4075A6B}"/>
              </a:ext>
            </a:extLst>
          </p:cNvPr>
          <p:cNvSpPr txBox="1">
            <a:spLocks/>
          </p:cNvSpPr>
          <p:nvPr/>
        </p:nvSpPr>
        <p:spPr>
          <a:xfrm>
            <a:off x="302811" y="1201681"/>
            <a:ext cx="11215561" cy="4454638"/>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v"/>
            </a:pPr>
            <a:r>
              <a:rPr lang="vi-VN" sz="2400" b="1" dirty="0">
                <a:solidFill>
                  <a:srgbClr val="C00000"/>
                </a:solidFill>
              </a:rPr>
              <a:t>Năm ngân sách</a:t>
            </a:r>
          </a:p>
          <a:p>
            <a:pPr marL="67732" indent="0">
              <a:lnSpc>
                <a:spcPct val="100000"/>
              </a:lnSpc>
              <a:buNone/>
            </a:pPr>
            <a:r>
              <a:rPr lang="vi-VN" sz="2400" dirty="0">
                <a:solidFill>
                  <a:srgbClr val="0000CC"/>
                </a:solidFill>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Năm</a:t>
            </a:r>
            <a:r>
              <a:rPr lang="en-US" sz="2400" b="1" i="1" dirty="0">
                <a:latin typeface="Times New Roman" panose="02020603050405020304" pitchFamily="18" charset="0"/>
                <a:cs typeface="Times New Roman" panose="02020603050405020304" pitchFamily="18" charset="0"/>
              </a:rPr>
              <a:t> </a:t>
            </a:r>
            <a:r>
              <a:rPr lang="vi-VN" sz="2400" b="1" i="1" dirty="0">
                <a:latin typeface="Times New Roman" panose="02020603050405020304" pitchFamily="18" charset="0"/>
                <a:cs typeface="Times New Roman" panose="02020603050405020304" pitchFamily="18" charset="0"/>
              </a:rPr>
              <a:t>ngân sách </a:t>
            </a:r>
            <a:r>
              <a:rPr lang="en-US" sz="2400" b="1" i="1" dirty="0" err="1">
                <a:latin typeface="Times New Roman" panose="02020603050405020304" pitchFamily="18" charset="0"/>
                <a:cs typeface="Times New Roman" panose="02020603050405020304" pitchFamily="18" charset="0"/>
              </a:rPr>
              <a:t>được</a:t>
            </a:r>
            <a:r>
              <a:rPr lang="en-US" sz="2400" b="1" i="1" dirty="0">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hiểu</a:t>
            </a:r>
            <a:r>
              <a:rPr lang="en-US" sz="2400" b="1" i="1" dirty="0">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là</a:t>
            </a:r>
            <a:r>
              <a:rPr lang="en-US" sz="2400" b="1" i="1" dirty="0">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khoảng</a:t>
            </a:r>
            <a:r>
              <a:rPr lang="en-US" sz="2400" b="1" i="1" dirty="0">
                <a:latin typeface="Times New Roman" panose="02020603050405020304" pitchFamily="18" charset="0"/>
                <a:cs typeface="Times New Roman" panose="02020603050405020304" pitchFamily="18" charset="0"/>
              </a:rPr>
              <a:t> </a:t>
            </a:r>
            <a:r>
              <a:rPr lang="vi-VN" sz="2400" b="1" i="1" dirty="0">
                <a:latin typeface="Times New Roman" panose="02020603050405020304" pitchFamily="18" charset="0"/>
                <a:cs typeface="Times New Roman" panose="02020603050405020304" pitchFamily="18" charset="0"/>
              </a:rPr>
              <a:t>thời gian</a:t>
            </a:r>
            <a:r>
              <a:rPr lang="en-US" sz="2400" b="1" i="1" dirty="0">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mà</a:t>
            </a:r>
            <a:r>
              <a:rPr lang="en-US" sz="2400" b="1" i="1" dirty="0">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hoạt</a:t>
            </a:r>
            <a:r>
              <a:rPr lang="en-US" sz="2400" b="1" i="1" dirty="0">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động</a:t>
            </a:r>
            <a:r>
              <a:rPr lang="en-US" sz="2400" b="1" i="1" dirty="0">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thu</a:t>
            </a:r>
            <a:r>
              <a:rPr lang="en-US" sz="2400" b="1" i="1" dirty="0">
                <a:latin typeface="Times New Roman" panose="02020603050405020304" pitchFamily="18" charset="0"/>
                <a:cs typeface="Times New Roman" panose="02020603050405020304" pitchFamily="18" charset="0"/>
              </a:rPr>
              <a:t>, chi NSNN </a:t>
            </a:r>
            <a:r>
              <a:rPr lang="en-US" sz="2400" b="1" i="1" dirty="0" err="1">
                <a:latin typeface="Times New Roman" panose="02020603050405020304" pitchFamily="18" charset="0"/>
                <a:cs typeface="Times New Roman" panose="02020603050405020304" pitchFamily="18" charset="0"/>
              </a:rPr>
              <a:t>được</a:t>
            </a:r>
            <a:r>
              <a:rPr lang="en-US" sz="2400" b="1" i="1" dirty="0">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thực</a:t>
            </a:r>
            <a:r>
              <a:rPr lang="en-US" sz="2400" b="1" i="1" dirty="0">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hiện</a:t>
            </a:r>
            <a:endParaRPr lang="vi-VN" sz="2400" b="1" i="1" dirty="0"/>
          </a:p>
          <a:p>
            <a:pPr marL="67732" indent="0">
              <a:lnSpc>
                <a:spcPct val="100000"/>
              </a:lnSpc>
              <a:buNone/>
            </a:pPr>
            <a:r>
              <a:rPr lang="vi-VN" sz="2400" b="1" i="1" dirty="0">
                <a:cs typeface="Times New Roman" panose="02020603050405020304" pitchFamily="18" charset="0"/>
              </a:rPr>
              <a:t>	</a:t>
            </a:r>
            <a:r>
              <a:rPr lang="vi-VN" sz="2400" dirty="0">
                <a:cs typeface="Times New Roman" panose="02020603050405020304" pitchFamily="18" charset="0"/>
              </a:rPr>
              <a:t>- Thời gian của một năm ngân sách: 12 tháng</a:t>
            </a:r>
          </a:p>
          <a:p>
            <a:pPr marL="67732" indent="0">
              <a:lnSpc>
                <a:spcPct val="100000"/>
              </a:lnSpc>
              <a:buNone/>
            </a:pPr>
            <a:r>
              <a:rPr lang="vi-VN" sz="2400" dirty="0">
                <a:cs typeface="Times New Roman" panose="02020603050405020304" pitchFamily="18" charset="0"/>
              </a:rPr>
              <a:t>	- Có thể khác nhau thời điểm bắt đâu và kết thúc ở mỗi quốc gia</a:t>
            </a:r>
          </a:p>
          <a:p>
            <a:pPr marL="67732" indent="0">
              <a:lnSpc>
                <a:spcPct val="100000"/>
              </a:lnSpc>
              <a:buNone/>
            </a:pPr>
            <a:r>
              <a:rPr lang="vi-VN" sz="2400" b="1" i="1" dirty="0">
                <a:latin typeface="Times New Roman" panose="02020603050405020304" pitchFamily="18" charset="0"/>
                <a:cs typeface="Times New Roman" panose="02020603050405020304" pitchFamily="18" charset="0"/>
              </a:rPr>
              <a:t>		+ Anh, Ấn Độ, Nhật Bản: 01/4 – 31/3</a:t>
            </a:r>
          </a:p>
          <a:p>
            <a:pPr marL="67732" indent="0">
              <a:lnSpc>
                <a:spcPct val="100000"/>
              </a:lnSpc>
              <a:buNone/>
            </a:pPr>
            <a:r>
              <a:rPr lang="vi-VN" sz="2400" b="1" i="1" dirty="0">
                <a:latin typeface="Times New Roman" panose="02020603050405020304" pitchFamily="18" charset="0"/>
                <a:cs typeface="Times New Roman" panose="02020603050405020304" pitchFamily="18" charset="0"/>
              </a:rPr>
              <a:t>		+ Mỹ: 01/10 – 31/03</a:t>
            </a:r>
          </a:p>
          <a:p>
            <a:pPr marL="67732" indent="0">
              <a:lnSpc>
                <a:spcPct val="100000"/>
              </a:lnSpc>
              <a:buNone/>
            </a:pPr>
            <a:r>
              <a:rPr lang="vi-VN" sz="2400" b="1" i="1" dirty="0">
                <a:latin typeface="Times New Roman" panose="02020603050405020304" pitchFamily="18" charset="0"/>
                <a:cs typeface="Times New Roman" panose="02020603050405020304" pitchFamily="18" charset="0"/>
              </a:rPr>
              <a:t>		+ Úc, Italia, Na uy, Thụy Điển: 01/07 – 30/06</a:t>
            </a:r>
          </a:p>
          <a:p>
            <a:pPr marL="67732" indent="0">
              <a:lnSpc>
                <a:spcPct val="100000"/>
              </a:lnSpc>
              <a:buNone/>
            </a:pPr>
            <a:r>
              <a:rPr lang="vi-VN" sz="2400" b="1" i="1" dirty="0">
                <a:latin typeface="Times New Roman" panose="02020603050405020304" pitchFamily="18" charset="0"/>
                <a:cs typeface="Times New Roman" panose="02020603050405020304" pitchFamily="18" charset="0"/>
              </a:rPr>
              <a:t>		</a:t>
            </a:r>
            <a:r>
              <a:rPr lang="vi-VN" sz="2400" b="1" i="1" dirty="0">
                <a:solidFill>
                  <a:srgbClr val="C00000"/>
                </a:solidFill>
                <a:latin typeface="Times New Roman" panose="02020603050405020304" pitchFamily="18" charset="0"/>
                <a:cs typeface="Times New Roman" panose="02020603050405020304" pitchFamily="18" charset="0"/>
              </a:rPr>
              <a:t>+ Việt Nam?</a:t>
            </a:r>
          </a:p>
          <a:p>
            <a:pPr marL="67732" indent="0">
              <a:lnSpc>
                <a:spcPct val="100000"/>
              </a:lnSpc>
              <a:buNone/>
            </a:pPr>
            <a:r>
              <a:rPr lang="vi-VN" sz="2400" b="1" i="1" dirty="0">
                <a:solidFill>
                  <a:srgbClr val="C00000"/>
                </a:solidFill>
                <a:latin typeface="Times New Roman" panose="02020603050405020304" pitchFamily="18" charset="0"/>
                <a:cs typeface="Times New Roman" panose="02020603050405020304" pitchFamily="18" charset="0"/>
              </a:rPr>
              <a:t>			VN, Đức, Pháp, Bỉ, Hà Lan, Trung Quốc... 01/01 – 31/12</a:t>
            </a:r>
          </a:p>
          <a:p>
            <a:pPr marL="67732" indent="0">
              <a:lnSpc>
                <a:spcPct val="150000"/>
              </a:lnSpc>
              <a:buFont typeface="Arial" panose="020B0604020202020204" pitchFamily="34" charset="0"/>
              <a:buNone/>
            </a:pPr>
            <a:endParaRPr lang="vi-VN" sz="2400" b="1" dirty="0">
              <a:latin typeface="+mj-lt"/>
            </a:endParaRPr>
          </a:p>
        </p:txBody>
      </p:sp>
    </p:spTree>
    <p:extLst>
      <p:ext uri="{BB962C8B-B14F-4D97-AF65-F5344CB8AC3E}">
        <p14:creationId xmlns:p14="http://schemas.microsoft.com/office/powerpoint/2010/main" val="330914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 calcmode="lin" valueType="num">
                                      <p:cBhvr additive="base">
                                        <p:cTn id="25"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
                                            <p:txEl>
                                              <p:pRg st="4" end="4"/>
                                            </p:txEl>
                                          </p:spTgt>
                                        </p:tgtEl>
                                        <p:attrNameLst>
                                          <p:attrName>style.visibility</p:attrName>
                                        </p:attrNameLst>
                                      </p:cBhvr>
                                      <p:to>
                                        <p:strVal val="visible"/>
                                      </p:to>
                                    </p:set>
                                    <p:anim calcmode="lin" valueType="num">
                                      <p:cBhvr additive="base">
                                        <p:cTn id="31"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
                                            <p:txEl>
                                              <p:pRg st="5" end="5"/>
                                            </p:txEl>
                                          </p:spTgt>
                                        </p:tgtEl>
                                        <p:attrNameLst>
                                          <p:attrName>style.visibility</p:attrName>
                                        </p:attrNameLst>
                                      </p:cBhvr>
                                      <p:to>
                                        <p:strVal val="visible"/>
                                      </p:to>
                                    </p:set>
                                    <p:anim calcmode="lin" valueType="num">
                                      <p:cBhvr additive="base">
                                        <p:cTn id="37"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
                                            <p:txEl>
                                              <p:pRg st="6" end="6"/>
                                            </p:txEl>
                                          </p:spTgt>
                                        </p:tgtEl>
                                        <p:attrNameLst>
                                          <p:attrName>style.visibility</p:attrName>
                                        </p:attrNameLst>
                                      </p:cBhvr>
                                      <p:to>
                                        <p:strVal val="visible"/>
                                      </p:to>
                                    </p:set>
                                    <p:anim calcmode="lin" valueType="num">
                                      <p:cBhvr additive="base">
                                        <p:cTn id="43"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6">
                                            <p:txEl>
                                              <p:pRg st="7" end="7"/>
                                            </p:txEl>
                                          </p:spTgt>
                                        </p:tgtEl>
                                        <p:attrNameLst>
                                          <p:attrName>style.visibility</p:attrName>
                                        </p:attrNameLst>
                                      </p:cBhvr>
                                      <p:to>
                                        <p:strVal val="visible"/>
                                      </p:to>
                                    </p:set>
                                    <p:anim calcmode="lin" valueType="num">
                                      <p:cBhvr additive="base">
                                        <p:cTn id="49"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6">
                                            <p:txEl>
                                              <p:pRg st="8" end="8"/>
                                            </p:txEl>
                                          </p:spTgt>
                                        </p:tgtEl>
                                        <p:attrNameLst>
                                          <p:attrName>style.visibility</p:attrName>
                                        </p:attrNameLst>
                                      </p:cBhvr>
                                      <p:to>
                                        <p:strVal val="visible"/>
                                      </p:to>
                                    </p:set>
                                    <p:anim calcmode="lin" valueType="num">
                                      <p:cBhvr additive="base">
                                        <p:cTn id="55"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6">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2095C-9844-A71E-3205-491A8442F6E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9FE1F85-FF27-73A5-E4E1-2247A1349A23}"/>
              </a:ext>
            </a:extLst>
          </p:cNvPr>
          <p:cNvSpPr>
            <a:spLocks noGrp="1" noRot="1" noMove="1" noResize="1" noEditPoints="1" noAdjustHandles="1" noChangeArrowheads="1" noChangeShapeType="1"/>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2.3.1. LẬP DỰ TOÁN</a:t>
            </a:r>
          </a:p>
        </p:txBody>
      </p:sp>
      <p:sp>
        <p:nvSpPr>
          <p:cNvPr id="3" name="Rectangle: Rounded Corners 2">
            <a:extLst>
              <a:ext uri="{FF2B5EF4-FFF2-40B4-BE49-F238E27FC236}">
                <a16:creationId xmlns:a16="http://schemas.microsoft.com/office/drawing/2014/main" id="{9366A988-4BCF-7C1C-778F-4A8B12B94644}"/>
              </a:ext>
            </a:extLst>
          </p:cNvPr>
          <p:cNvSpPr/>
          <p:nvPr/>
        </p:nvSpPr>
        <p:spPr>
          <a:xfrm>
            <a:off x="312234" y="1721613"/>
            <a:ext cx="2564781" cy="440375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4400" b="1" dirty="0">
              <a:solidFill>
                <a:schemeClr val="tx1"/>
              </a:solidFill>
              <a:latin typeface="Times New Roman" panose="02020603050405020304" pitchFamily="18" charset="0"/>
              <a:cs typeface="Times New Roman" panose="02020603050405020304" pitchFamily="18" charset="0"/>
            </a:endParaRPr>
          </a:p>
          <a:p>
            <a:pPr algn="ctr"/>
            <a:r>
              <a:rPr lang="en-US" sz="4400" b="1" dirty="0">
                <a:solidFill>
                  <a:schemeClr val="tx1"/>
                </a:solidFill>
                <a:latin typeface="Times New Roman" panose="02020603050405020304" pitchFamily="18" charset="0"/>
                <a:cs typeface="Times New Roman" panose="02020603050405020304" pitchFamily="18" charset="0"/>
              </a:rPr>
              <a:t>KHÁI NIỆM</a:t>
            </a:r>
          </a:p>
          <a:p>
            <a:pPr algn="ctr"/>
            <a:endParaRPr lang="en-US" sz="4400" b="1" dirty="0">
              <a:solidFill>
                <a:schemeClr val="tx1"/>
              </a:solidFill>
              <a:latin typeface="Times New Roman" panose="02020603050405020304" pitchFamily="18" charset="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5B366A82-BDE5-27EC-E60A-E3C743DDC353}"/>
              </a:ext>
            </a:extLst>
          </p:cNvPr>
          <p:cNvSpPr/>
          <p:nvPr/>
        </p:nvSpPr>
        <p:spPr>
          <a:xfrm>
            <a:off x="3095494" y="1721609"/>
            <a:ext cx="2564781" cy="440375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4400" b="1" dirty="0">
                <a:solidFill>
                  <a:schemeClr val="tx1"/>
                </a:solidFill>
                <a:latin typeface="Times New Roman" panose="02020603050405020304" pitchFamily="18" charset="0"/>
                <a:cs typeface="Times New Roman" panose="02020603050405020304" pitchFamily="18" charset="0"/>
              </a:rPr>
              <a:t>CĂN CỨ</a:t>
            </a:r>
          </a:p>
        </p:txBody>
      </p:sp>
      <p:sp>
        <p:nvSpPr>
          <p:cNvPr id="6" name="Rectangle: Rounded Corners 5">
            <a:extLst>
              <a:ext uri="{FF2B5EF4-FFF2-40B4-BE49-F238E27FC236}">
                <a16:creationId xmlns:a16="http://schemas.microsoft.com/office/drawing/2014/main" id="{C54A59BE-99C1-3C96-638A-49D117E9BAA1}"/>
              </a:ext>
            </a:extLst>
          </p:cNvPr>
          <p:cNvSpPr/>
          <p:nvPr/>
        </p:nvSpPr>
        <p:spPr>
          <a:xfrm>
            <a:off x="5905597" y="1721608"/>
            <a:ext cx="2564781" cy="440375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4400" b="1" dirty="0">
                <a:solidFill>
                  <a:schemeClr val="tx1"/>
                </a:solidFill>
                <a:latin typeface="Times New Roman" panose="02020603050405020304" pitchFamily="18" charset="0"/>
                <a:cs typeface="Times New Roman" panose="02020603050405020304" pitchFamily="18" charset="0"/>
              </a:rPr>
              <a:t>YÊU CẦU</a:t>
            </a:r>
          </a:p>
        </p:txBody>
      </p:sp>
      <p:sp>
        <p:nvSpPr>
          <p:cNvPr id="7" name="Rectangle: Rounded Corners 6">
            <a:extLst>
              <a:ext uri="{FF2B5EF4-FFF2-40B4-BE49-F238E27FC236}">
                <a16:creationId xmlns:a16="http://schemas.microsoft.com/office/drawing/2014/main" id="{D91097DB-DA47-3B78-8802-BEF6460556AC}"/>
              </a:ext>
            </a:extLst>
          </p:cNvPr>
          <p:cNvSpPr/>
          <p:nvPr/>
        </p:nvSpPr>
        <p:spPr>
          <a:xfrm>
            <a:off x="8879260" y="1721609"/>
            <a:ext cx="2564781" cy="440375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4400" b="1" dirty="0">
                <a:solidFill>
                  <a:schemeClr val="tx1"/>
                </a:solidFill>
                <a:latin typeface="Times New Roman" panose="02020603050405020304" pitchFamily="18" charset="0"/>
                <a:cs typeface="Times New Roman" panose="02020603050405020304" pitchFamily="18" charset="0"/>
              </a:rPr>
              <a:t>QUY TRÌNH</a:t>
            </a:r>
          </a:p>
        </p:txBody>
      </p:sp>
    </p:spTree>
    <p:extLst>
      <p:ext uri="{BB962C8B-B14F-4D97-AF65-F5344CB8AC3E}">
        <p14:creationId xmlns:p14="http://schemas.microsoft.com/office/powerpoint/2010/main" val="4024942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460F9-4626-60A4-21CC-274C23D2013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EF92406-B4ED-C79B-09B9-D9F41D532445}"/>
              </a:ext>
            </a:extLst>
          </p:cNvPr>
          <p:cNvSpPr>
            <a:spLocks noGrp="1" noRot="1" noMove="1" noResize="1" noEditPoints="1" noAdjustHandles="1" noChangeArrowheads="1" noChangeShapeType="1"/>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2.3.1. LẬP DỰ TOÁN</a:t>
            </a:r>
          </a:p>
        </p:txBody>
      </p:sp>
      <p:sp>
        <p:nvSpPr>
          <p:cNvPr id="2" name="Content Placeholder 2">
            <a:extLst>
              <a:ext uri="{FF2B5EF4-FFF2-40B4-BE49-F238E27FC236}">
                <a16:creationId xmlns:a16="http://schemas.microsoft.com/office/drawing/2014/main" id="{E130E411-7CBE-4CB0-9B6E-3C73AD9518D1}"/>
              </a:ext>
            </a:extLst>
          </p:cNvPr>
          <p:cNvSpPr txBox="1">
            <a:spLocks/>
          </p:cNvSpPr>
          <p:nvPr/>
        </p:nvSpPr>
        <p:spPr>
          <a:xfrm>
            <a:off x="153962" y="1212741"/>
            <a:ext cx="11871016" cy="5607780"/>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buFont typeface="Wingdings" panose="05000000000000000000" pitchFamily="2" charset="2"/>
              <a:buChar char="v"/>
            </a:pPr>
            <a:r>
              <a:rPr lang="vi-VN" sz="3200" b="1" dirty="0">
                <a:solidFill>
                  <a:srgbClr val="C00000"/>
                </a:solidFill>
                <a:latin typeface="+mj-lt"/>
              </a:rPr>
              <a:t> Lập dự toán ngân sách nhà nước hàng năm</a:t>
            </a:r>
          </a:p>
          <a:p>
            <a:pPr marL="0" indent="0">
              <a:lnSpc>
                <a:spcPct val="150000"/>
              </a:lnSpc>
              <a:buFont typeface="Arial" panose="020B0604020202020204" pitchFamily="34" charset="0"/>
              <a:buNone/>
            </a:pPr>
            <a:r>
              <a:rPr lang="vi-VN" sz="3200" b="1" dirty="0">
                <a:solidFill>
                  <a:srgbClr val="C00000"/>
                </a:solidFill>
                <a:latin typeface="+mj-lt"/>
                <a:cs typeface="Times New Roman" pitchFamily="18" charset="0"/>
              </a:rPr>
              <a:t>	- </a:t>
            </a:r>
            <a:r>
              <a:rPr lang="vi-VN" sz="3200" dirty="0">
                <a:latin typeface="Times New Roman" pitchFamily="18" charset="0"/>
                <a:cs typeface="Times New Roman" pitchFamily="18" charset="0"/>
              </a:rPr>
              <a:t>Là quá trình tính toán, dự trù các khoản thu, chi của 1 năm NS</a:t>
            </a:r>
          </a:p>
          <a:p>
            <a:pPr marL="0" indent="0">
              <a:lnSpc>
                <a:spcPct val="150000"/>
              </a:lnSpc>
              <a:buFont typeface="Arial" panose="020B0604020202020204" pitchFamily="34" charset="0"/>
              <a:buNone/>
            </a:pPr>
            <a:r>
              <a:rPr lang="vi-VN" sz="3200" dirty="0">
                <a:latin typeface="Times New Roman" pitchFamily="18" charset="0"/>
                <a:cs typeface="Times New Roman" pitchFamily="18" charset="0"/>
              </a:rPr>
              <a:t>	- Khâu khởi đầu quan trọng, ảnh hưởng tới các khâu tiếp theo</a:t>
            </a:r>
          </a:p>
          <a:p>
            <a:pPr marL="0" indent="0">
              <a:lnSpc>
                <a:spcPct val="150000"/>
              </a:lnSpc>
              <a:buFont typeface="Arial" panose="020B0604020202020204" pitchFamily="34" charset="0"/>
              <a:buNone/>
            </a:pPr>
            <a:r>
              <a:rPr lang="vi-VN" sz="3200" dirty="0">
                <a:latin typeface="Times New Roman" pitchFamily="18" charset="0"/>
                <a:cs typeface="Times New Roman" pitchFamily="18" charset="0"/>
              </a:rPr>
              <a:t>	- Kết quả của khâu này là dự toán NS được các cấp có thẩm quyền quyết định </a:t>
            </a:r>
          </a:p>
          <a:p>
            <a:pPr marL="0" indent="0">
              <a:lnSpc>
                <a:spcPct val="150000"/>
              </a:lnSpc>
              <a:buFont typeface="Arial" panose="020B0604020202020204" pitchFamily="34" charset="0"/>
              <a:buNone/>
            </a:pPr>
            <a:r>
              <a:rPr lang="vi-VN" sz="3200" dirty="0">
                <a:latin typeface="Times New Roman" pitchFamily="18" charset="0"/>
                <a:cs typeface="Times New Roman" pitchFamily="18" charset="0"/>
              </a:rPr>
              <a:t>	- Khâu </a:t>
            </a:r>
            <a:r>
              <a:rPr lang="en-US" sz="3200" dirty="0">
                <a:latin typeface="Times New Roman" pitchFamily="18" charset="0"/>
                <a:cs typeface="Times New Roman" pitchFamily="18" charset="0"/>
              </a:rPr>
              <a:t>l</a:t>
            </a:r>
            <a:r>
              <a:rPr lang="vi-VN" sz="3200" dirty="0">
                <a:latin typeface="Times New Roman" pitchFamily="18" charset="0"/>
                <a:cs typeface="Times New Roman" pitchFamily="18" charset="0"/>
              </a:rPr>
              <a:t>ập dự toán NSNN ở Việt Nam: Kéo dài từ 15/5 – 31/12, thực chất 1 số hoạt động của lập dự toán đã diễn ra trước đó</a:t>
            </a:r>
            <a:r>
              <a:rPr lang="vi-VN" sz="3200" b="1" i="1" dirty="0">
                <a:latin typeface="Times New Roman" pitchFamily="18" charset="0"/>
                <a:cs typeface="Times New Roman" pitchFamily="18" charset="0"/>
              </a:rPr>
              <a:t>.</a:t>
            </a:r>
          </a:p>
          <a:p>
            <a:pPr marL="0" indent="0" algn="just">
              <a:lnSpc>
                <a:spcPct val="120000"/>
              </a:lnSpc>
              <a:buFont typeface="Arial" panose="020B0604020202020204" pitchFamily="34" charset="0"/>
              <a:buNone/>
            </a:pPr>
            <a:endParaRPr lang="en-US" dirty="0"/>
          </a:p>
        </p:txBody>
      </p:sp>
    </p:spTree>
    <p:extLst>
      <p:ext uri="{BB962C8B-B14F-4D97-AF65-F5344CB8AC3E}">
        <p14:creationId xmlns:p14="http://schemas.microsoft.com/office/powerpoint/2010/main" val="17266669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CB71D-0917-FD25-9077-2ADE8D04919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FCEE381-EB67-0724-CB3B-0AA0791A3D03}"/>
              </a:ext>
            </a:extLst>
          </p:cNvPr>
          <p:cNvSpPr>
            <a:spLocks noGrp="1" noRot="1" noMove="1" noResize="1" noEditPoints="1" noAdjustHandles="1" noChangeArrowheads="1" noChangeShapeType="1"/>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2.3.1. LẬP DỰ TOÁN</a:t>
            </a:r>
          </a:p>
        </p:txBody>
      </p:sp>
      <p:sp>
        <p:nvSpPr>
          <p:cNvPr id="3" name="Content Placeholder 2">
            <a:extLst>
              <a:ext uri="{FF2B5EF4-FFF2-40B4-BE49-F238E27FC236}">
                <a16:creationId xmlns:a16="http://schemas.microsoft.com/office/drawing/2014/main" id="{AB13710B-F73E-9568-6AB3-F7366AC7BD5F}"/>
              </a:ext>
            </a:extLst>
          </p:cNvPr>
          <p:cNvSpPr txBox="1">
            <a:spLocks/>
          </p:cNvSpPr>
          <p:nvPr/>
        </p:nvSpPr>
        <p:spPr>
          <a:xfrm>
            <a:off x="178025" y="1092426"/>
            <a:ext cx="11871016" cy="560778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buFont typeface="Wingdings" panose="05000000000000000000" pitchFamily="2" charset="2"/>
              <a:buChar char="v"/>
            </a:pPr>
            <a:r>
              <a:rPr lang="vi-VN" sz="3200" b="1" dirty="0">
                <a:solidFill>
                  <a:srgbClr val="C00000"/>
                </a:solidFill>
                <a:latin typeface="+mj-lt"/>
              </a:rPr>
              <a:t> Mục tiêu lập dự toán NSNN</a:t>
            </a:r>
          </a:p>
          <a:p>
            <a:pPr marL="0" indent="0" algn="just">
              <a:lnSpc>
                <a:spcPct val="150000"/>
              </a:lnSpc>
              <a:buFont typeface="Arial" panose="020B0604020202020204" pitchFamily="34" charset="0"/>
              <a:buNone/>
            </a:pPr>
            <a:r>
              <a:rPr lang="vi-VN" sz="3200" b="1" dirty="0">
                <a:solidFill>
                  <a:srgbClr val="C00000"/>
                </a:solidFill>
                <a:latin typeface="+mj-lt"/>
                <a:cs typeface="Times New Roman" pitchFamily="18" charset="0"/>
              </a:rPr>
              <a:t>	- </a:t>
            </a:r>
            <a:r>
              <a:rPr lang="vi-VN" sz="3200" dirty="0">
                <a:latin typeface="Times New Roman" pitchFamily="18" charset="0"/>
                <a:cs typeface="Times New Roman" pitchFamily="18" charset="0"/>
              </a:rPr>
              <a:t>T</a:t>
            </a:r>
            <a:r>
              <a:rPr lang="en-US" sz="3200" dirty="0" err="1">
                <a:latin typeface="Times New Roman" pitchFamily="18" charset="0"/>
                <a:cs typeface="Times New Roman" pitchFamily="18" charset="0"/>
              </a:rPr>
              <a:t>rên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sở</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nguồn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hạn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cần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bảo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đảm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rằng</a:t>
            </a:r>
            <a:r>
              <a:rPr lang="en-US" sz="3200" dirty="0">
                <a:latin typeface="Times New Roman" pitchFamily="18" charset="0"/>
                <a:cs typeface="Times New Roman" pitchFamily="18" charset="0"/>
              </a:rPr>
              <a:t> NSNN </a:t>
            </a:r>
            <a:r>
              <a:rPr lang="en-US" sz="3200" dirty="0" err="1">
                <a:latin typeface="Times New Roman" pitchFamily="18" charset="0"/>
                <a:cs typeface="Times New Roman" pitchFamily="18" charset="0"/>
              </a:rPr>
              <a:t>đáp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ứng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được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việc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chính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sách</a:t>
            </a:r>
            <a:r>
              <a:rPr lang="en-US" sz="3200" dirty="0">
                <a:latin typeface="Times New Roman" pitchFamily="18" charset="0"/>
                <a:cs typeface="Times New Roman" pitchFamily="18" charset="0"/>
              </a:rPr>
              <a:t> KT – XH</a:t>
            </a:r>
            <a:endParaRPr lang="vi-VN" sz="3200" dirty="0">
              <a:latin typeface="Times New Roman" pitchFamily="18" charset="0"/>
              <a:cs typeface="Times New Roman" pitchFamily="18" charset="0"/>
            </a:endParaRPr>
          </a:p>
          <a:p>
            <a:pPr marL="0" indent="0" algn="just">
              <a:lnSpc>
                <a:spcPct val="150000"/>
              </a:lnSpc>
              <a:buFont typeface="Arial" panose="020B0604020202020204" pitchFamily="34" charset="0"/>
              <a:buNone/>
            </a:pPr>
            <a:r>
              <a:rPr lang="vi-VN" sz="3200" dirty="0">
                <a:latin typeface="Times New Roman" pitchFamily="18" charset="0"/>
                <a:cs typeface="Times New Roman" pitchFamily="18" charset="0"/>
              </a:rPr>
              <a:t>	- </a:t>
            </a:r>
            <a:r>
              <a:rPr lang="en-US" sz="3200" dirty="0" err="1">
                <a:latin typeface="Times New Roman" pitchFamily="18" charset="0"/>
                <a:cs typeface="Times New Roman" pitchFamily="18" charset="0"/>
              </a:rPr>
              <a:t>Phân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bổ</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nguồn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phù</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hợp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với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chính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sách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ưu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tiên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trong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từng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thời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kỳ</a:t>
            </a:r>
            <a:endParaRPr lang="vi-VN" sz="3200" dirty="0">
              <a:latin typeface="Times New Roman" pitchFamily="18" charset="0"/>
              <a:cs typeface="Times New Roman" pitchFamily="18" charset="0"/>
            </a:endParaRPr>
          </a:p>
          <a:p>
            <a:pPr marL="0" indent="0" algn="just">
              <a:lnSpc>
                <a:spcPct val="150000"/>
              </a:lnSpc>
              <a:buFont typeface="Arial" panose="020B0604020202020204" pitchFamily="34" charset="0"/>
              <a:buNone/>
            </a:pPr>
            <a:r>
              <a:rPr lang="vi-VN" sz="3200" dirty="0">
                <a:latin typeface="Times New Roman" pitchFamily="18" charset="0"/>
                <a:cs typeface="Times New Roman" pitchFamily="18" charset="0"/>
              </a:rPr>
              <a:t>	- </a:t>
            </a:r>
            <a:r>
              <a:rPr lang="en-US" sz="3200" dirty="0" err="1">
                <a:latin typeface="Times New Roman" pitchFamily="18" charset="0"/>
                <a:cs typeface="Times New Roman" pitchFamily="18" charset="0"/>
              </a:rPr>
              <a:t>Tạo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điều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việc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quản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lý</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thu</a:t>
            </a:r>
            <a:r>
              <a:rPr lang="en-US" sz="3200" dirty="0">
                <a:latin typeface="Times New Roman" pitchFamily="18" charset="0"/>
                <a:cs typeface="Times New Roman" pitchFamily="18" charset="0"/>
              </a:rPr>
              <a:t>, chi </a:t>
            </a:r>
            <a:r>
              <a:rPr lang="en-US" sz="3200" dirty="0" err="1">
                <a:latin typeface="Times New Roman" pitchFamily="18" charset="0"/>
                <a:cs typeface="Times New Roman" pitchFamily="18" charset="0"/>
              </a:rPr>
              <a:t>trong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khâu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cũng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như</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cũng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như</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việc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đánh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quyết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toán</a:t>
            </a:r>
            <a:r>
              <a:rPr lang="en-US" sz="3200" dirty="0">
                <a:latin typeface="Times New Roman" pitchFamily="18" charset="0"/>
                <a:cs typeface="Times New Roman" pitchFamily="18" charset="0"/>
              </a:rPr>
              <a:t> NSNN</a:t>
            </a:r>
          </a:p>
          <a:p>
            <a:pPr marL="0" indent="0" algn="just">
              <a:lnSpc>
                <a:spcPct val="120000"/>
              </a:lnSpc>
              <a:buFont typeface="Arial" panose="020B0604020202020204" pitchFamily="34" charset="0"/>
              <a:buNone/>
            </a:pPr>
            <a:endParaRPr lang="en-US" dirty="0"/>
          </a:p>
        </p:txBody>
      </p:sp>
    </p:spTree>
    <p:extLst>
      <p:ext uri="{BB962C8B-B14F-4D97-AF65-F5344CB8AC3E}">
        <p14:creationId xmlns:p14="http://schemas.microsoft.com/office/powerpoint/2010/main" val="4155889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ED013-093F-D302-6BF1-A37FA068095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5A3BBDD-355A-AC44-B04B-835D96A087B6}"/>
              </a:ext>
            </a:extLst>
          </p:cNvPr>
          <p:cNvSpPr>
            <a:spLocks noGrp="1" noRot="1" noMove="1" noResize="1" noEditPoints="1" noAdjustHandles="1" noChangeArrowheads="1" noChangeShapeType="1"/>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2.3.1. LẬP DỰ TOÁN</a:t>
            </a:r>
          </a:p>
        </p:txBody>
      </p:sp>
      <p:sp>
        <p:nvSpPr>
          <p:cNvPr id="2" name="Content Placeholder 2">
            <a:extLst>
              <a:ext uri="{FF2B5EF4-FFF2-40B4-BE49-F238E27FC236}">
                <a16:creationId xmlns:a16="http://schemas.microsoft.com/office/drawing/2014/main" id="{2D484E74-60BC-41E2-71AE-799079335D80}"/>
              </a:ext>
            </a:extLst>
          </p:cNvPr>
          <p:cNvSpPr txBox="1">
            <a:spLocks/>
          </p:cNvSpPr>
          <p:nvPr/>
        </p:nvSpPr>
        <p:spPr>
          <a:xfrm>
            <a:off x="178025" y="1233917"/>
            <a:ext cx="11871016" cy="5685182"/>
          </a:xfrm>
          <a:prstGeom prst="rect">
            <a:avLst/>
          </a:prstGeom>
        </p:spPr>
        <p:txBody>
          <a:bodyPr>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v"/>
            </a:pPr>
            <a:r>
              <a:rPr lang="vi-VN" sz="3200" b="1" dirty="0">
                <a:solidFill>
                  <a:srgbClr val="C00000"/>
                </a:solidFill>
                <a:latin typeface="+mj-lt"/>
              </a:rPr>
              <a:t> </a:t>
            </a:r>
            <a:r>
              <a:rPr lang="vi-VN" sz="4100" b="1" dirty="0">
                <a:solidFill>
                  <a:srgbClr val="C00000"/>
                </a:solidFill>
                <a:latin typeface="+mj-lt"/>
              </a:rPr>
              <a:t>Căn cứ lập dự toán NSNN hàng năm</a:t>
            </a:r>
          </a:p>
          <a:p>
            <a:pPr marL="0" indent="0" algn="just">
              <a:buNone/>
            </a:pPr>
            <a:r>
              <a:rPr lang="en-US" sz="3200" dirty="0">
                <a:latin typeface="Times New Roman" panose="02020603050405020304" pitchFamily="18" charset="0"/>
                <a:cs typeface="Times New Roman" pitchFamily="18" charset="0"/>
              </a:rPr>
              <a:t>- </a:t>
            </a:r>
            <a:r>
              <a:rPr lang="vi-VN" dirty="0">
                <a:latin typeface="Times New Roman" panose="02020603050405020304" pitchFamily="18" charset="0"/>
                <a:cs typeface="Times New Roman" panose="02020603050405020304" pitchFamily="18" charset="0"/>
              </a:rPr>
              <a:t> Nhiệm vụ phát triển kinh tế - xã hội và bảo đảm quốc phòng, an ninh, đối ngoại, bình đẳng giới.</a:t>
            </a:r>
          </a:p>
          <a:p>
            <a:pPr marL="0" indent="0" algn="just">
              <a:buNone/>
            </a:pPr>
            <a:r>
              <a:rPr lang="en-US" dirty="0">
                <a:latin typeface="Times New Roman" panose="02020603050405020304" pitchFamily="18" charset="0"/>
                <a:cs typeface="Times New Roman" panose="02020603050405020304" pitchFamily="18" charset="0"/>
              </a:rPr>
              <a:t>-</a:t>
            </a:r>
            <a:r>
              <a:rPr lang="vi-VN" dirty="0">
                <a:latin typeface="Times New Roman" panose="02020603050405020304" pitchFamily="18" charset="0"/>
                <a:cs typeface="Times New Roman" panose="02020603050405020304" pitchFamily="18" charset="0"/>
              </a:rPr>
              <a:t> Chức năng, nhiệm vụ của các Bộ, cơ quan ngang Bộ, cơ quan thuộc Chính phủ, cơ quan, tổ chức khác ở trung ương, các cơ quan, tổ chức, đơn vị ở địa phương.</a:t>
            </a:r>
          </a:p>
          <a:p>
            <a:pPr marL="0" indent="0" algn="just">
              <a:buNone/>
            </a:pP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Quy định của pháp luật về thuế, phí, lệ phí và các khoản thu khác thuộc ngân sách; định mức phân bổ ngân sách, chế độ, tiêu chuẩn, định mức chi ngân sách nhà nước.</a:t>
            </a:r>
          </a:p>
          <a:p>
            <a:pPr marL="0" indent="0" algn="just">
              <a:buNone/>
            </a:pP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Phân cấp nguồn thu, nhiệm vụ chi ngân sách và tỷ lệ phần trăm (%) phân chia đối với các khoản thu phân chia và mức bổ sung cân đối ngân sách của ngân sách cấp trên cho ngân sách cấp dưới.</a:t>
            </a:r>
          </a:p>
          <a:p>
            <a:pPr marL="0" indent="0" algn="just">
              <a:buNone/>
            </a:pP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Văn bản pháp luật của các cấp, cơ quan nhà nước có thẩm quyền hướng dẫn xây dựng kế hoạch phát triển kinh tế - xã hội và dự toán ngân sách nhà nước năm sau.</a:t>
            </a:r>
          </a:p>
          <a:p>
            <a:pPr marL="0" indent="0" algn="just">
              <a:buNone/>
            </a:pP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Kế hoạch tài chính 05 năm, kế hoạch đầu tư công trung hạn nguồn ngân sách nhà nước.</a:t>
            </a:r>
          </a:p>
          <a:p>
            <a:pPr marL="0" indent="0" algn="just">
              <a:buNone/>
            </a:pP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Tình hình thực hiện ngân sách nhà nước năm trước.</a:t>
            </a:r>
          </a:p>
          <a:p>
            <a:pPr marL="0" indent="0" algn="ctr">
              <a:lnSpc>
                <a:spcPct val="120000"/>
              </a:lnSpc>
              <a:buFont typeface="Arial" panose="020B0604020202020204" pitchFamily="34" charset="0"/>
              <a:buNone/>
            </a:pPr>
            <a:r>
              <a:rPr lang="vi-VN" sz="3200" b="1" dirty="0">
                <a:solidFill>
                  <a:srgbClr val="C00000"/>
                </a:solidFill>
                <a:latin typeface="+mj-lt"/>
              </a:rPr>
              <a:t> </a:t>
            </a:r>
            <a:r>
              <a:rPr lang="vi-VN" dirty="0">
                <a:solidFill>
                  <a:srgbClr val="0000CC"/>
                </a:solidFill>
                <a:latin typeface="Times New Roman" panose="02020603050405020304" pitchFamily="18" charset="0"/>
                <a:cs typeface="Times New Roman" panose="02020603050405020304" pitchFamily="18" charset="0"/>
              </a:rPr>
              <a:t>	</a:t>
            </a:r>
            <a:r>
              <a:rPr lang="vi-VN" b="1" dirty="0">
                <a:solidFill>
                  <a:srgbClr val="FF0000"/>
                </a:solidFill>
                <a:latin typeface="Times New Roman" pitchFamily="18" charset="0"/>
                <a:cs typeface="Times New Roman" pitchFamily="18" charset="0"/>
              </a:rPr>
              <a:t> (Tham khảo Điều 4</a:t>
            </a:r>
            <a:r>
              <a:rPr lang="en-US" b="1" dirty="0">
                <a:solidFill>
                  <a:srgbClr val="FF0000"/>
                </a:solidFill>
                <a:latin typeface="Times New Roman" pitchFamily="18" charset="0"/>
                <a:cs typeface="Times New Roman" pitchFamily="18" charset="0"/>
              </a:rPr>
              <a:t>4</a:t>
            </a:r>
            <a:r>
              <a:rPr lang="vi-VN" b="1" dirty="0">
                <a:solidFill>
                  <a:srgbClr val="FF0000"/>
                </a:solidFill>
                <a:latin typeface="Times New Roman" pitchFamily="18" charset="0"/>
                <a:cs typeface="Times New Roman" pitchFamily="18" charset="0"/>
              </a:rPr>
              <a:t> Luật NSNN 20</a:t>
            </a:r>
            <a:r>
              <a:rPr lang="en-US" b="1" dirty="0">
                <a:solidFill>
                  <a:srgbClr val="FF0000"/>
                </a:solidFill>
                <a:latin typeface="Times New Roman" pitchFamily="18" charset="0"/>
                <a:cs typeface="Times New Roman" pitchFamily="18" charset="0"/>
              </a:rPr>
              <a:t>2</a:t>
            </a:r>
            <a:r>
              <a:rPr lang="vi-VN" b="1" dirty="0">
                <a:solidFill>
                  <a:srgbClr val="FF0000"/>
                </a:solidFill>
                <a:latin typeface="Times New Roman" pitchFamily="18" charset="0"/>
                <a:cs typeface="Times New Roman" pitchFamily="18" charset="0"/>
              </a:rPr>
              <a:t>5)</a:t>
            </a:r>
            <a:endParaRPr lang="vi-VN" dirty="0">
              <a:solidFill>
                <a:srgbClr val="FF0000"/>
              </a:solidFill>
              <a:latin typeface="Times New Roman" pitchFamily="18" charset="0"/>
              <a:cs typeface="Times New Roman" pitchFamily="18" charset="0"/>
            </a:endParaRPr>
          </a:p>
          <a:p>
            <a:pPr marL="0" indent="0">
              <a:lnSpc>
                <a:spcPct val="100000"/>
              </a:lnSpc>
              <a:buFont typeface="Arial" panose="020B0604020202020204" pitchFamily="34" charset="0"/>
              <a:buNone/>
            </a:pPr>
            <a:endParaRPr lang="en-US" dirty="0"/>
          </a:p>
        </p:txBody>
      </p:sp>
    </p:spTree>
    <p:extLst>
      <p:ext uri="{BB962C8B-B14F-4D97-AF65-F5344CB8AC3E}">
        <p14:creationId xmlns:p14="http://schemas.microsoft.com/office/powerpoint/2010/main" val="370183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9BF2F-F70D-2DD9-FC58-BF9C0A96CBE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728B28E-EE47-0A5A-6CC9-990184747B6C}"/>
              </a:ext>
            </a:extLst>
          </p:cNvPr>
          <p:cNvSpPr>
            <a:spLocks noGrp="1" noRot="1" noMove="1" noResize="1" noEditPoints="1" noAdjustHandles="1" noChangeArrowheads="1" noChangeShapeType="1"/>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2.3.1. LẬP DỰ TOÁN</a:t>
            </a:r>
          </a:p>
        </p:txBody>
      </p:sp>
      <p:sp>
        <p:nvSpPr>
          <p:cNvPr id="2" name="Content Placeholder 2">
            <a:extLst>
              <a:ext uri="{FF2B5EF4-FFF2-40B4-BE49-F238E27FC236}">
                <a16:creationId xmlns:a16="http://schemas.microsoft.com/office/drawing/2014/main" id="{5BE322D1-B704-BDBA-EA7B-2DFF71D99537}"/>
              </a:ext>
            </a:extLst>
          </p:cNvPr>
          <p:cNvSpPr txBox="1">
            <a:spLocks/>
          </p:cNvSpPr>
          <p:nvPr/>
        </p:nvSpPr>
        <p:spPr>
          <a:xfrm>
            <a:off x="178025" y="1233917"/>
            <a:ext cx="11871016" cy="56851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v"/>
            </a:pPr>
            <a:r>
              <a:rPr lang="vi-VN" sz="3200" b="1" dirty="0">
                <a:solidFill>
                  <a:srgbClr val="C00000"/>
                </a:solidFill>
                <a:latin typeface="+mj-lt"/>
              </a:rPr>
              <a:t> </a:t>
            </a:r>
            <a:r>
              <a:rPr lang="en-US" sz="4100" b="1" dirty="0" err="1">
                <a:solidFill>
                  <a:srgbClr val="C00000"/>
                </a:solidFill>
                <a:latin typeface="Times New Roman" panose="02020603050405020304" pitchFamily="18" charset="0"/>
                <a:cs typeface="Times New Roman" panose="02020603050405020304" pitchFamily="18" charset="0"/>
              </a:rPr>
              <a:t>Yêu</a:t>
            </a:r>
            <a:r>
              <a:rPr lang="en-US" sz="4100" b="1" dirty="0">
                <a:solidFill>
                  <a:srgbClr val="C00000"/>
                </a:solidFill>
                <a:latin typeface="Times New Roman" panose="02020603050405020304" pitchFamily="18" charset="0"/>
                <a:cs typeface="Times New Roman" panose="02020603050405020304" pitchFamily="18" charset="0"/>
              </a:rPr>
              <a:t> </a:t>
            </a:r>
            <a:r>
              <a:rPr lang="en-US" sz="4100" b="1" dirty="0" err="1">
                <a:solidFill>
                  <a:srgbClr val="C00000"/>
                </a:solidFill>
                <a:latin typeface="Times New Roman" panose="02020603050405020304" pitchFamily="18" charset="0"/>
                <a:cs typeface="Times New Roman" panose="02020603050405020304" pitchFamily="18" charset="0"/>
              </a:rPr>
              <a:t>cầu</a:t>
            </a:r>
            <a:r>
              <a:rPr lang="vi-VN" sz="4100" b="1" dirty="0">
                <a:solidFill>
                  <a:srgbClr val="C00000"/>
                </a:solidFill>
                <a:latin typeface="Times New Roman" panose="02020603050405020304" pitchFamily="18" charset="0"/>
                <a:cs typeface="Times New Roman" panose="02020603050405020304" pitchFamily="18" charset="0"/>
              </a:rPr>
              <a:t> </a:t>
            </a:r>
            <a:r>
              <a:rPr lang="vi-VN" sz="4100" b="1" dirty="0">
                <a:solidFill>
                  <a:srgbClr val="C00000"/>
                </a:solidFill>
                <a:latin typeface="+mj-lt"/>
              </a:rPr>
              <a:t>lập dự toán NSNN hàng năm</a:t>
            </a:r>
            <a:r>
              <a:rPr lang="en-US" sz="4100" b="1" dirty="0">
                <a:solidFill>
                  <a:srgbClr val="C00000"/>
                </a:solidFill>
                <a:latin typeface="+mj-lt"/>
              </a:rPr>
              <a:t> (</a:t>
            </a:r>
            <a:r>
              <a:rPr lang="en-US" sz="4100" b="1" dirty="0" err="1">
                <a:solidFill>
                  <a:srgbClr val="C00000"/>
                </a:solidFill>
                <a:latin typeface="+mj-lt"/>
              </a:rPr>
              <a:t>lý</a:t>
            </a:r>
            <a:r>
              <a:rPr lang="en-US" sz="4100" b="1" dirty="0">
                <a:solidFill>
                  <a:srgbClr val="C00000"/>
                </a:solidFill>
                <a:latin typeface="+mj-lt"/>
              </a:rPr>
              <a:t> </a:t>
            </a:r>
            <a:r>
              <a:rPr lang="en-US" sz="4100" b="1" dirty="0" err="1">
                <a:solidFill>
                  <a:srgbClr val="C00000"/>
                </a:solidFill>
                <a:latin typeface="+mj-lt"/>
              </a:rPr>
              <a:t>thuyết</a:t>
            </a:r>
            <a:r>
              <a:rPr lang="en-US" sz="4100" b="1" dirty="0">
                <a:solidFill>
                  <a:srgbClr val="C00000"/>
                </a:solidFill>
                <a:latin typeface="+mj-lt"/>
              </a:rPr>
              <a:t>)</a:t>
            </a:r>
            <a:endParaRPr lang="vi-VN" sz="4100" b="1" dirty="0">
              <a:solidFill>
                <a:srgbClr val="C00000"/>
              </a:solidFill>
              <a:latin typeface="+mj-lt"/>
            </a:endParaRPr>
          </a:p>
          <a:p>
            <a:pPr marL="0" indent="0" algn="just">
              <a:buNone/>
            </a:pPr>
            <a:endParaRPr lang="en-US" dirty="0"/>
          </a:p>
        </p:txBody>
      </p:sp>
    </p:spTree>
    <p:extLst>
      <p:ext uri="{BB962C8B-B14F-4D97-AF65-F5344CB8AC3E}">
        <p14:creationId xmlns:p14="http://schemas.microsoft.com/office/powerpoint/2010/main" val="3992151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EED20-9763-2504-6AA8-20999DC7F81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30DE11C-D854-982D-803C-B13732FA3C2A}"/>
              </a:ext>
            </a:extLst>
          </p:cNvPr>
          <p:cNvSpPr>
            <a:spLocks noGrp="1" noRot="1" noMove="1" noResize="1" noEditPoints="1" noAdjustHandles="1" noChangeArrowheads="1" noChangeShapeType="1"/>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2.3.1. LẬP DỰ TOÁN</a:t>
            </a:r>
          </a:p>
        </p:txBody>
      </p:sp>
      <p:sp>
        <p:nvSpPr>
          <p:cNvPr id="2" name="Content Placeholder 2">
            <a:extLst>
              <a:ext uri="{FF2B5EF4-FFF2-40B4-BE49-F238E27FC236}">
                <a16:creationId xmlns:a16="http://schemas.microsoft.com/office/drawing/2014/main" id="{B404F9B6-EF65-E582-C5A2-A91C1ACD06F1}"/>
              </a:ext>
            </a:extLst>
          </p:cNvPr>
          <p:cNvSpPr txBox="1">
            <a:spLocks/>
          </p:cNvSpPr>
          <p:nvPr/>
        </p:nvSpPr>
        <p:spPr>
          <a:xfrm>
            <a:off x="178025" y="1233917"/>
            <a:ext cx="11871016" cy="5685182"/>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v"/>
            </a:pPr>
            <a:r>
              <a:rPr lang="vi-VN" sz="3200" b="1" dirty="0">
                <a:solidFill>
                  <a:srgbClr val="C00000"/>
                </a:solidFill>
                <a:latin typeface="+mj-lt"/>
              </a:rPr>
              <a:t> </a:t>
            </a:r>
            <a:r>
              <a:rPr lang="en-US" sz="4100" b="1" dirty="0" err="1">
                <a:solidFill>
                  <a:srgbClr val="C00000"/>
                </a:solidFill>
                <a:latin typeface="Times New Roman" panose="02020603050405020304" pitchFamily="18" charset="0"/>
                <a:cs typeface="Times New Roman" panose="02020603050405020304" pitchFamily="18" charset="0"/>
              </a:rPr>
              <a:t>Yêu</a:t>
            </a:r>
            <a:r>
              <a:rPr lang="en-US" sz="4100" b="1" dirty="0">
                <a:solidFill>
                  <a:srgbClr val="C00000"/>
                </a:solidFill>
                <a:latin typeface="Times New Roman" panose="02020603050405020304" pitchFamily="18" charset="0"/>
                <a:cs typeface="Times New Roman" panose="02020603050405020304" pitchFamily="18" charset="0"/>
              </a:rPr>
              <a:t> </a:t>
            </a:r>
            <a:r>
              <a:rPr lang="en-US" sz="4100" b="1" dirty="0" err="1">
                <a:solidFill>
                  <a:srgbClr val="C00000"/>
                </a:solidFill>
                <a:latin typeface="Times New Roman" panose="02020603050405020304" pitchFamily="18" charset="0"/>
                <a:cs typeface="Times New Roman" panose="02020603050405020304" pitchFamily="18" charset="0"/>
              </a:rPr>
              <a:t>cầu</a:t>
            </a:r>
            <a:r>
              <a:rPr lang="vi-VN" sz="4100" b="1" dirty="0">
                <a:solidFill>
                  <a:srgbClr val="C00000"/>
                </a:solidFill>
                <a:latin typeface="Times New Roman" panose="02020603050405020304" pitchFamily="18" charset="0"/>
                <a:cs typeface="Times New Roman" panose="02020603050405020304" pitchFamily="18" charset="0"/>
              </a:rPr>
              <a:t> </a:t>
            </a:r>
            <a:r>
              <a:rPr lang="vi-VN" sz="4100" b="1" dirty="0">
                <a:solidFill>
                  <a:srgbClr val="C00000"/>
                </a:solidFill>
                <a:latin typeface="+mj-lt"/>
              </a:rPr>
              <a:t>lập dự toán NSNN hàng năm</a:t>
            </a:r>
            <a:endParaRPr lang="en-US" sz="4100" b="1" dirty="0">
              <a:solidFill>
                <a:srgbClr val="C00000"/>
              </a:solidFill>
              <a:latin typeface="+mj-lt"/>
            </a:endParaRPr>
          </a:p>
          <a:p>
            <a:pPr marL="0" indent="0" algn="just">
              <a:buNone/>
            </a:pPr>
            <a:r>
              <a:rPr lang="vi-VN" sz="2600" dirty="0"/>
              <a:t>1. Dự toán ngân sách nhà nước phải tổng hợp theo từng khoản thu, chi và theo cơ cấu chi đầu tư phát triển, chi thường xuyên, chi dự trữ quốc gia, chi trả nợ lãi và chi viện trợ, chi bổ sung quỹ dự trữ tài chính, dự phòng ngân sách.</a:t>
            </a:r>
          </a:p>
          <a:p>
            <a:pPr marL="0" indent="0" algn="just">
              <a:buNone/>
            </a:pPr>
            <a:r>
              <a:rPr lang="vi-VN" sz="2600" dirty="0"/>
              <a:t>2. Dự toán ngân sách của đơn vị dự toán ngân sách và dự toán của từng cấp ngân sách được lập phải thể hiện đầy đủ các khoản thu, chi theo đúng biểu mẫu, thời hạn do cơ quan nhà nước có thẩm quyền quy định, trong đó:</a:t>
            </a:r>
          </a:p>
          <a:p>
            <a:pPr marL="0" indent="0" algn="just">
              <a:buNone/>
            </a:pPr>
            <a:r>
              <a:rPr lang="vi-VN" sz="2600" dirty="0"/>
              <a:t>a) Dự toán thu ngân sách được lập trên cơ sở dự báo các chỉ tiêu kinh tế vĩ mô và các chỉ tiêu khác có liên quan, các quy định của pháp luật về thuế, phí, lệ phí và các khoản thu khác thuộc ngân sách;</a:t>
            </a:r>
          </a:p>
          <a:p>
            <a:pPr marL="0" indent="0" algn="just">
              <a:buNone/>
            </a:pPr>
            <a:r>
              <a:rPr lang="vi-VN" sz="2600" dirty="0"/>
              <a:t>b) Dự toán chi đầu tư phát triển được lập trên cơ sở quy hoạch, kế hoạch, chương trình, dự án, nhiệm vụ chi đã được cấp có thẩm quyền phê duyệt theo quy định của pháp luật; kế hoạch tài chính 05 năm; kế hoạch đầu tư công trung hạn nguồn ngân sách nhà nước, khả năng cân đối các nguồn lực trong năm dự toán, quy định của pháp luật;</a:t>
            </a:r>
          </a:p>
          <a:p>
            <a:pPr marL="0" indent="0" algn="just">
              <a:lnSpc>
                <a:spcPct val="120000"/>
              </a:lnSpc>
              <a:buNone/>
            </a:pPr>
            <a:endParaRPr lang="vi-VN" sz="2600" b="1" dirty="0">
              <a:solidFill>
                <a:srgbClr val="C00000"/>
              </a:solidFill>
              <a:latin typeface="+mj-lt"/>
            </a:endParaRPr>
          </a:p>
          <a:p>
            <a:pPr marL="0" indent="0" algn="just">
              <a:buNone/>
            </a:pPr>
            <a:endParaRPr lang="en-US" dirty="0"/>
          </a:p>
        </p:txBody>
      </p:sp>
    </p:spTree>
    <p:extLst>
      <p:ext uri="{BB962C8B-B14F-4D97-AF65-F5344CB8AC3E}">
        <p14:creationId xmlns:p14="http://schemas.microsoft.com/office/powerpoint/2010/main" val="18455210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F5BC4-7DB9-8BA3-790E-EFAF00AC5F2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64B3E6C-CB1F-7DC8-CAAC-80872733BCF8}"/>
              </a:ext>
            </a:extLst>
          </p:cNvPr>
          <p:cNvSpPr>
            <a:spLocks noGrp="1" noRot="1" noMove="1" noResize="1" noEditPoints="1" noAdjustHandles="1" noChangeArrowheads="1" noChangeShapeType="1"/>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2.3.1. LẬP DỰ TOÁN</a:t>
            </a:r>
          </a:p>
        </p:txBody>
      </p:sp>
      <p:sp>
        <p:nvSpPr>
          <p:cNvPr id="2" name="Content Placeholder 2">
            <a:extLst>
              <a:ext uri="{FF2B5EF4-FFF2-40B4-BE49-F238E27FC236}">
                <a16:creationId xmlns:a16="http://schemas.microsoft.com/office/drawing/2014/main" id="{DD95AF91-AF41-9C1B-1057-025A73D1A952}"/>
              </a:ext>
            </a:extLst>
          </p:cNvPr>
          <p:cNvSpPr txBox="1">
            <a:spLocks/>
          </p:cNvSpPr>
          <p:nvPr/>
        </p:nvSpPr>
        <p:spPr>
          <a:xfrm>
            <a:off x="178025" y="1233917"/>
            <a:ext cx="11871016" cy="56851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v"/>
            </a:pPr>
            <a:r>
              <a:rPr lang="vi-VN" sz="3200" b="1" dirty="0">
                <a:solidFill>
                  <a:srgbClr val="C00000"/>
                </a:solidFill>
                <a:latin typeface="+mj-lt"/>
              </a:rPr>
              <a:t> </a:t>
            </a:r>
            <a:r>
              <a:rPr lang="en-US" sz="4100" b="1" dirty="0" err="1">
                <a:solidFill>
                  <a:srgbClr val="C00000"/>
                </a:solidFill>
                <a:latin typeface="Times New Roman" panose="02020603050405020304" pitchFamily="18" charset="0"/>
                <a:cs typeface="Times New Roman" panose="02020603050405020304" pitchFamily="18" charset="0"/>
              </a:rPr>
              <a:t>Yêu</a:t>
            </a:r>
            <a:r>
              <a:rPr lang="en-US" sz="4100" b="1" dirty="0">
                <a:solidFill>
                  <a:srgbClr val="C00000"/>
                </a:solidFill>
                <a:latin typeface="Times New Roman" panose="02020603050405020304" pitchFamily="18" charset="0"/>
                <a:cs typeface="Times New Roman" panose="02020603050405020304" pitchFamily="18" charset="0"/>
              </a:rPr>
              <a:t> </a:t>
            </a:r>
            <a:r>
              <a:rPr lang="en-US" sz="4100" b="1" dirty="0" err="1">
                <a:solidFill>
                  <a:srgbClr val="C00000"/>
                </a:solidFill>
                <a:latin typeface="Times New Roman" panose="02020603050405020304" pitchFamily="18" charset="0"/>
                <a:cs typeface="Times New Roman" panose="02020603050405020304" pitchFamily="18" charset="0"/>
              </a:rPr>
              <a:t>cầu</a:t>
            </a:r>
            <a:r>
              <a:rPr lang="vi-VN" sz="4100" b="1" dirty="0">
                <a:solidFill>
                  <a:srgbClr val="C00000"/>
                </a:solidFill>
                <a:latin typeface="Times New Roman" panose="02020603050405020304" pitchFamily="18" charset="0"/>
                <a:cs typeface="Times New Roman" panose="02020603050405020304" pitchFamily="18" charset="0"/>
              </a:rPr>
              <a:t> </a:t>
            </a:r>
            <a:r>
              <a:rPr lang="vi-VN" sz="4100" b="1" dirty="0">
                <a:solidFill>
                  <a:srgbClr val="C00000"/>
                </a:solidFill>
                <a:latin typeface="+mj-lt"/>
              </a:rPr>
              <a:t>lập dự toán NSNN hàng năm</a:t>
            </a:r>
            <a:endParaRPr lang="en-US" sz="4100" b="1" dirty="0">
              <a:solidFill>
                <a:srgbClr val="C00000"/>
              </a:solidFill>
              <a:latin typeface="+mj-lt"/>
            </a:endParaRPr>
          </a:p>
          <a:p>
            <a:pPr marL="0" indent="0" algn="just">
              <a:buNone/>
            </a:pPr>
            <a:r>
              <a:rPr lang="vi-VN" sz="2400" dirty="0"/>
              <a:t>c) Dự toán chi thường xuyên được lập trên cơ sở kế hoạch phát triển của ngành, lĩnh vực, chương trình, dự án, đề án đã được cấp có thẩm quyền phê duyệt; chế độ, chính sách, tiêu chuẩn, định mức chi (nếu có); các nhiệm vụ chi cần thiết khác đã có chủ trương, kế hoạch của cấp có thẩm quyền dự kiến phát sinh cần bố trí nguồn để thực hiện.</a:t>
            </a:r>
          </a:p>
          <a:p>
            <a:pPr marL="0" indent="0" algn="just">
              <a:buNone/>
            </a:pPr>
            <a:r>
              <a:rPr lang="vi-VN" sz="2400" dirty="0"/>
              <a:t>Việc lập dự toán ngân sách của các cơ quan nhà nước thực hiện chế độ tự chủ, tự chịu trách nhiệm về sử dụng biên chế và kinh phí quản lý hành chính; đơn vị sự nghiệp công lập thực hiện quyền tự chủ, tự chịu trách nhiệm về thực hiện nhiệm vụ, tổ chức bộ máy, biên chế và tài chính; kinh phí thực hiện hoạt động cung cấp dịch vụ, thu phí của các cơ quan hành chính nhà nước thực hiện theo quy định của Chính phủ;</a:t>
            </a:r>
          </a:p>
          <a:p>
            <a:pPr marL="0" indent="0">
              <a:lnSpc>
                <a:spcPct val="120000"/>
              </a:lnSpc>
              <a:buNone/>
            </a:pPr>
            <a:endParaRPr lang="vi-VN" sz="4100" b="1" dirty="0">
              <a:solidFill>
                <a:srgbClr val="C00000"/>
              </a:solidFill>
              <a:latin typeface="+mj-lt"/>
            </a:endParaRPr>
          </a:p>
          <a:p>
            <a:pPr marL="0" indent="0" algn="just">
              <a:buNone/>
            </a:pPr>
            <a:endParaRPr lang="en-US" dirty="0"/>
          </a:p>
        </p:txBody>
      </p:sp>
    </p:spTree>
    <p:extLst>
      <p:ext uri="{BB962C8B-B14F-4D97-AF65-F5344CB8AC3E}">
        <p14:creationId xmlns:p14="http://schemas.microsoft.com/office/powerpoint/2010/main" val="2521846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7D72A-F2D5-53B7-7DE5-45597074B98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75EB721-7A3F-E56F-6FB4-E71A75CC1E57}"/>
              </a:ext>
            </a:extLst>
          </p:cNvPr>
          <p:cNvSpPr>
            <a:spLocks noGrp="1" noRot="1" noMove="1" noResize="1" noEditPoints="1" noAdjustHandles="1" noChangeArrowheads="1" noChangeShapeType="1"/>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2.3.1. LẬP DỰ TOÁN</a:t>
            </a:r>
          </a:p>
        </p:txBody>
      </p:sp>
      <p:sp>
        <p:nvSpPr>
          <p:cNvPr id="2" name="Content Placeholder 2">
            <a:extLst>
              <a:ext uri="{FF2B5EF4-FFF2-40B4-BE49-F238E27FC236}">
                <a16:creationId xmlns:a16="http://schemas.microsoft.com/office/drawing/2014/main" id="{5409B32B-CD6D-E164-AA0A-2175069881EF}"/>
              </a:ext>
            </a:extLst>
          </p:cNvPr>
          <p:cNvSpPr txBox="1">
            <a:spLocks/>
          </p:cNvSpPr>
          <p:nvPr/>
        </p:nvSpPr>
        <p:spPr>
          <a:xfrm>
            <a:off x="178025" y="1233917"/>
            <a:ext cx="11871016" cy="5685182"/>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v"/>
            </a:pPr>
            <a:r>
              <a:rPr lang="vi-VN" sz="3200" b="1" dirty="0">
                <a:solidFill>
                  <a:srgbClr val="C00000"/>
                </a:solidFill>
                <a:latin typeface="+mj-lt"/>
              </a:rPr>
              <a:t> </a:t>
            </a:r>
            <a:r>
              <a:rPr lang="en-US" sz="4100" b="1" dirty="0" err="1">
                <a:solidFill>
                  <a:srgbClr val="C00000"/>
                </a:solidFill>
                <a:latin typeface="Times New Roman" panose="02020603050405020304" pitchFamily="18" charset="0"/>
                <a:cs typeface="Times New Roman" panose="02020603050405020304" pitchFamily="18" charset="0"/>
              </a:rPr>
              <a:t>Yêu</a:t>
            </a:r>
            <a:r>
              <a:rPr lang="en-US" sz="4100" b="1" dirty="0">
                <a:solidFill>
                  <a:srgbClr val="C00000"/>
                </a:solidFill>
                <a:latin typeface="Times New Roman" panose="02020603050405020304" pitchFamily="18" charset="0"/>
                <a:cs typeface="Times New Roman" panose="02020603050405020304" pitchFamily="18" charset="0"/>
              </a:rPr>
              <a:t> </a:t>
            </a:r>
            <a:r>
              <a:rPr lang="en-US" sz="4100" b="1" dirty="0" err="1">
                <a:solidFill>
                  <a:srgbClr val="C00000"/>
                </a:solidFill>
                <a:latin typeface="Times New Roman" panose="02020603050405020304" pitchFamily="18" charset="0"/>
                <a:cs typeface="Times New Roman" panose="02020603050405020304" pitchFamily="18" charset="0"/>
              </a:rPr>
              <a:t>cầu</a:t>
            </a:r>
            <a:r>
              <a:rPr lang="vi-VN" sz="4100" b="1" dirty="0">
                <a:solidFill>
                  <a:srgbClr val="C00000"/>
                </a:solidFill>
                <a:latin typeface="Times New Roman" panose="02020603050405020304" pitchFamily="18" charset="0"/>
                <a:cs typeface="Times New Roman" panose="02020603050405020304" pitchFamily="18" charset="0"/>
              </a:rPr>
              <a:t> </a:t>
            </a:r>
            <a:r>
              <a:rPr lang="vi-VN" sz="4100" b="1" dirty="0">
                <a:solidFill>
                  <a:srgbClr val="C00000"/>
                </a:solidFill>
                <a:latin typeface="+mj-lt"/>
              </a:rPr>
              <a:t>lập dự toán NSNN hàng năm</a:t>
            </a:r>
            <a:endParaRPr lang="en-US" sz="4100" b="1" dirty="0">
              <a:solidFill>
                <a:srgbClr val="C00000"/>
              </a:solidFill>
              <a:latin typeface="+mj-lt"/>
            </a:endParaRPr>
          </a:p>
          <a:p>
            <a:pPr marL="0" indent="0">
              <a:buNone/>
            </a:pPr>
            <a:r>
              <a:rPr lang="vi-VN" dirty="0"/>
              <a:t>d) Ưu tiên bố trí dự toán chi ngân sách nhà nước đối với lĩnh vực giáo dục - đào tạo và dạy nghề; lĩnh vực khoa học, công nghệ, đổi mới sáng tạo và chuyển đổi số theo chủ trương của Đảng và pháp luật của Nhà nước đối với từng lĩnh vực;</a:t>
            </a:r>
          </a:p>
          <a:p>
            <a:pPr marL="0" indent="0">
              <a:buNone/>
            </a:pPr>
            <a:r>
              <a:rPr lang="vi-VN" dirty="0"/>
              <a:t>đ) Dự toán chi thực hiện các chương trình, đề án, dự án, nhiệm vụ được cấp có thẩm quyền phê duyệt trong nhiều năm được lập trên cơ sở khả năng thực hiện hàng năm và tổng mức kinh phí đã được phê duyệt (nếu có);</a:t>
            </a:r>
          </a:p>
          <a:p>
            <a:pPr marL="0" indent="0">
              <a:buNone/>
            </a:pPr>
            <a:r>
              <a:rPr lang="vi-VN" dirty="0"/>
              <a:t>e) Dự toán chi trả nợ được lập trên cơ sở bảo đảm trả các khoản nợ đến hạn của năm dự toán ngân sách;</a:t>
            </a:r>
          </a:p>
          <a:p>
            <a:pPr marL="0" indent="0">
              <a:buNone/>
            </a:pPr>
            <a:r>
              <a:rPr lang="vi-VN" dirty="0"/>
              <a:t>g) Dự toán vay để bù đắp bội chi ngân sách nhà nước phải căn cứ vào cân đối ngân sách nhà nước, khả năng từng nguồn vay, khả năng trả nợ và trong giới hạn an toàn về nợ theo nghị quyết của Quốc hội.</a:t>
            </a:r>
          </a:p>
          <a:p>
            <a:pPr marL="0" indent="0">
              <a:lnSpc>
                <a:spcPct val="120000"/>
              </a:lnSpc>
              <a:buNone/>
            </a:pPr>
            <a:endParaRPr lang="vi-VN" sz="4100" b="1" dirty="0">
              <a:solidFill>
                <a:srgbClr val="C00000"/>
              </a:solidFill>
              <a:latin typeface="+mj-lt"/>
            </a:endParaRPr>
          </a:p>
          <a:p>
            <a:pPr marL="0" indent="0" algn="just">
              <a:buNone/>
            </a:pPr>
            <a:endParaRPr lang="en-US" dirty="0"/>
          </a:p>
        </p:txBody>
      </p:sp>
    </p:spTree>
    <p:extLst>
      <p:ext uri="{BB962C8B-B14F-4D97-AF65-F5344CB8AC3E}">
        <p14:creationId xmlns:p14="http://schemas.microsoft.com/office/powerpoint/2010/main" val="40990511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D14A4-056D-593D-B130-44A9ED4A4FF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6E15D21-309B-6E0B-5352-489686AF527A}"/>
              </a:ext>
            </a:extLst>
          </p:cNvPr>
          <p:cNvSpPr>
            <a:spLocks noGrp="1" noRot="1" noMove="1" noResize="1" noEditPoints="1" noAdjustHandles="1" noChangeArrowheads="1" noChangeShapeType="1"/>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2.3.1. LẬP DỰ TOÁN</a:t>
            </a:r>
          </a:p>
        </p:txBody>
      </p:sp>
      <p:sp>
        <p:nvSpPr>
          <p:cNvPr id="3" name="Content Placeholder 2">
            <a:extLst>
              <a:ext uri="{FF2B5EF4-FFF2-40B4-BE49-F238E27FC236}">
                <a16:creationId xmlns:a16="http://schemas.microsoft.com/office/drawing/2014/main" id="{D5F1705D-D00C-4CFF-1B1A-1832FD7ADB54}"/>
              </a:ext>
            </a:extLst>
          </p:cNvPr>
          <p:cNvSpPr txBox="1">
            <a:spLocks/>
          </p:cNvSpPr>
          <p:nvPr/>
        </p:nvSpPr>
        <p:spPr>
          <a:xfrm>
            <a:off x="178025" y="1297316"/>
            <a:ext cx="11871016" cy="55472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v"/>
            </a:pPr>
            <a:r>
              <a:rPr lang="vi-VN" sz="2000" b="1" dirty="0">
                <a:solidFill>
                  <a:srgbClr val="C00000"/>
                </a:solidFill>
                <a:latin typeface="Arial" panose="020B0604020202020204" pitchFamily="34" charset="0"/>
                <a:cs typeface="Arial" panose="020B0604020202020204" pitchFamily="34" charset="0"/>
              </a:rPr>
              <a:t> </a:t>
            </a:r>
            <a:r>
              <a:rPr lang="en-US" sz="2000" b="1" dirty="0" err="1">
                <a:solidFill>
                  <a:srgbClr val="C00000"/>
                </a:solidFill>
                <a:latin typeface="Arial" panose="020B0604020202020204" pitchFamily="34" charset="0"/>
                <a:cs typeface="Arial" panose="020B0604020202020204" pitchFamily="34" charset="0"/>
              </a:rPr>
              <a:t>Điều</a:t>
            </a:r>
            <a:r>
              <a:rPr lang="en-US" sz="2000" b="1" dirty="0">
                <a:solidFill>
                  <a:srgbClr val="C00000"/>
                </a:solidFill>
                <a:latin typeface="Arial" panose="020B0604020202020204" pitchFamily="34" charset="0"/>
                <a:cs typeface="Arial" panose="020B0604020202020204" pitchFamily="34" charset="0"/>
              </a:rPr>
              <a:t> 46. </a:t>
            </a:r>
            <a:r>
              <a:rPr lang="en-US" sz="2000" b="1" dirty="0" err="1">
                <a:solidFill>
                  <a:srgbClr val="C00000"/>
                </a:solidFill>
                <a:latin typeface="Arial" panose="020B0604020202020204" pitchFamily="34" charset="0"/>
                <a:cs typeface="Arial" panose="020B0604020202020204" pitchFamily="34" charset="0"/>
              </a:rPr>
              <a:t>Thời</a:t>
            </a:r>
            <a:r>
              <a:rPr lang="en-US" sz="2000" b="1" dirty="0">
                <a:solidFill>
                  <a:srgbClr val="C00000"/>
                </a:solidFill>
                <a:latin typeface="Arial" panose="020B0604020202020204" pitchFamily="34" charset="0"/>
                <a:cs typeface="Arial" panose="020B0604020202020204" pitchFamily="34" charset="0"/>
              </a:rPr>
              <a:t> </a:t>
            </a:r>
            <a:r>
              <a:rPr lang="en-US" sz="2000" b="1" dirty="0" err="1">
                <a:solidFill>
                  <a:srgbClr val="C00000"/>
                </a:solidFill>
                <a:latin typeface="Arial" panose="020B0604020202020204" pitchFamily="34" charset="0"/>
                <a:cs typeface="Arial" panose="020B0604020202020204" pitchFamily="34" charset="0"/>
              </a:rPr>
              <a:t>gian</a:t>
            </a:r>
            <a:r>
              <a:rPr lang="en-US" sz="2000" b="1" dirty="0">
                <a:solidFill>
                  <a:srgbClr val="C00000"/>
                </a:solidFill>
                <a:latin typeface="Arial" panose="020B0604020202020204" pitchFamily="34" charset="0"/>
                <a:cs typeface="Arial" panose="020B0604020202020204" pitchFamily="34" charset="0"/>
              </a:rPr>
              <a:t> </a:t>
            </a:r>
            <a:r>
              <a:rPr lang="en-US" sz="2000" b="1" dirty="0" err="1">
                <a:solidFill>
                  <a:srgbClr val="C00000"/>
                </a:solidFill>
                <a:latin typeface="Arial" panose="020B0604020202020204" pitchFamily="34" charset="0"/>
                <a:cs typeface="Arial" panose="020B0604020202020204" pitchFamily="34" charset="0"/>
              </a:rPr>
              <a:t>hướng</a:t>
            </a:r>
            <a:r>
              <a:rPr lang="en-US" sz="2000" b="1" dirty="0">
                <a:solidFill>
                  <a:srgbClr val="C00000"/>
                </a:solidFill>
                <a:latin typeface="Arial" panose="020B0604020202020204" pitchFamily="34" charset="0"/>
                <a:cs typeface="Arial" panose="020B0604020202020204" pitchFamily="34" charset="0"/>
              </a:rPr>
              <a:t> </a:t>
            </a:r>
            <a:r>
              <a:rPr lang="en-US" sz="2000" b="1" dirty="0" err="1">
                <a:solidFill>
                  <a:srgbClr val="C00000"/>
                </a:solidFill>
                <a:latin typeface="Arial" panose="020B0604020202020204" pitchFamily="34" charset="0"/>
                <a:cs typeface="Arial" panose="020B0604020202020204" pitchFamily="34" charset="0"/>
              </a:rPr>
              <a:t>dẫn</a:t>
            </a:r>
            <a:r>
              <a:rPr lang="en-US" sz="2000" b="1" dirty="0">
                <a:solidFill>
                  <a:srgbClr val="C00000"/>
                </a:solidFill>
                <a:latin typeface="Arial" panose="020B0604020202020204" pitchFamily="34" charset="0"/>
                <a:cs typeface="Arial" panose="020B0604020202020204" pitchFamily="34" charset="0"/>
              </a:rPr>
              <a:t> </a:t>
            </a:r>
            <a:r>
              <a:rPr lang="en-US" sz="2000" b="1" dirty="0" err="1">
                <a:solidFill>
                  <a:srgbClr val="C00000"/>
                </a:solidFill>
                <a:latin typeface="Arial" panose="020B0604020202020204" pitchFamily="34" charset="0"/>
                <a:cs typeface="Arial" panose="020B0604020202020204" pitchFamily="34" charset="0"/>
              </a:rPr>
              <a:t>lập</a:t>
            </a:r>
            <a:r>
              <a:rPr lang="en-US" sz="2000" b="1" dirty="0">
                <a:solidFill>
                  <a:srgbClr val="C00000"/>
                </a:solidFill>
                <a:latin typeface="Arial" panose="020B0604020202020204" pitchFamily="34" charset="0"/>
                <a:cs typeface="Arial" panose="020B0604020202020204" pitchFamily="34" charset="0"/>
              </a:rPr>
              <a:t>, </a:t>
            </a:r>
            <a:r>
              <a:rPr lang="en-US" sz="2000" b="1" dirty="0" err="1">
                <a:solidFill>
                  <a:srgbClr val="C00000"/>
                </a:solidFill>
                <a:latin typeface="Arial" panose="020B0604020202020204" pitchFamily="34" charset="0"/>
                <a:cs typeface="Arial" panose="020B0604020202020204" pitchFamily="34" charset="0"/>
              </a:rPr>
              <a:t>xây</a:t>
            </a:r>
            <a:r>
              <a:rPr lang="en-US" sz="2000" b="1" dirty="0">
                <a:solidFill>
                  <a:srgbClr val="C00000"/>
                </a:solidFill>
                <a:latin typeface="Arial" panose="020B0604020202020204" pitchFamily="34" charset="0"/>
                <a:cs typeface="Arial" panose="020B0604020202020204" pitchFamily="34" charset="0"/>
              </a:rPr>
              <a:t> </a:t>
            </a:r>
            <a:r>
              <a:rPr lang="en-US" sz="2000" b="1" dirty="0" err="1">
                <a:solidFill>
                  <a:srgbClr val="C00000"/>
                </a:solidFill>
                <a:latin typeface="Arial" panose="020B0604020202020204" pitchFamily="34" charset="0"/>
                <a:cs typeface="Arial" panose="020B0604020202020204" pitchFamily="34" charset="0"/>
              </a:rPr>
              <a:t>dựng</a:t>
            </a:r>
            <a:r>
              <a:rPr lang="en-US" sz="2000" b="1" dirty="0">
                <a:solidFill>
                  <a:srgbClr val="C00000"/>
                </a:solidFill>
                <a:latin typeface="Arial" panose="020B0604020202020204" pitchFamily="34" charset="0"/>
                <a:cs typeface="Arial" panose="020B0604020202020204" pitchFamily="34" charset="0"/>
              </a:rPr>
              <a:t>, </a:t>
            </a:r>
            <a:r>
              <a:rPr lang="en-US" sz="2000" b="1" dirty="0" err="1">
                <a:solidFill>
                  <a:srgbClr val="C00000"/>
                </a:solidFill>
                <a:latin typeface="Arial" panose="020B0604020202020204" pitchFamily="34" charset="0"/>
                <a:cs typeface="Arial" panose="020B0604020202020204" pitchFamily="34" charset="0"/>
              </a:rPr>
              <a:t>tổng</a:t>
            </a:r>
            <a:r>
              <a:rPr lang="en-US" sz="2000" b="1" dirty="0">
                <a:solidFill>
                  <a:srgbClr val="C00000"/>
                </a:solidFill>
                <a:latin typeface="Arial" panose="020B0604020202020204" pitchFamily="34" charset="0"/>
                <a:cs typeface="Arial" panose="020B0604020202020204" pitchFamily="34" charset="0"/>
              </a:rPr>
              <a:t> </a:t>
            </a:r>
            <a:r>
              <a:rPr lang="en-US" sz="2000" b="1" dirty="0" err="1">
                <a:solidFill>
                  <a:srgbClr val="C00000"/>
                </a:solidFill>
                <a:latin typeface="Arial" panose="020B0604020202020204" pitchFamily="34" charset="0"/>
                <a:cs typeface="Arial" panose="020B0604020202020204" pitchFamily="34" charset="0"/>
              </a:rPr>
              <a:t>hợp</a:t>
            </a:r>
            <a:r>
              <a:rPr lang="en-US" sz="2000" b="1" dirty="0">
                <a:solidFill>
                  <a:srgbClr val="C00000"/>
                </a:solidFill>
                <a:latin typeface="Arial" panose="020B0604020202020204" pitchFamily="34" charset="0"/>
                <a:cs typeface="Arial" panose="020B0604020202020204" pitchFamily="34" charset="0"/>
              </a:rPr>
              <a:t>, </a:t>
            </a:r>
            <a:r>
              <a:rPr lang="en-US" sz="2000" b="1" dirty="0" err="1">
                <a:solidFill>
                  <a:srgbClr val="C00000"/>
                </a:solidFill>
                <a:latin typeface="Arial" panose="020B0604020202020204" pitchFamily="34" charset="0"/>
                <a:cs typeface="Arial" panose="020B0604020202020204" pitchFamily="34" charset="0"/>
              </a:rPr>
              <a:t>quyết</a:t>
            </a:r>
            <a:r>
              <a:rPr lang="en-US" sz="2000" b="1" dirty="0">
                <a:solidFill>
                  <a:srgbClr val="C00000"/>
                </a:solidFill>
                <a:latin typeface="Arial" panose="020B0604020202020204" pitchFamily="34" charset="0"/>
                <a:cs typeface="Arial" panose="020B0604020202020204" pitchFamily="34" charset="0"/>
              </a:rPr>
              <a:t> </a:t>
            </a:r>
            <a:r>
              <a:rPr lang="en-US" sz="2000" b="1" dirty="0" err="1">
                <a:solidFill>
                  <a:srgbClr val="C00000"/>
                </a:solidFill>
                <a:latin typeface="Arial" panose="020B0604020202020204" pitchFamily="34" charset="0"/>
                <a:cs typeface="Arial" panose="020B0604020202020204" pitchFamily="34" charset="0"/>
              </a:rPr>
              <a:t>định</a:t>
            </a:r>
            <a:r>
              <a:rPr lang="en-US" sz="2000" b="1" dirty="0">
                <a:solidFill>
                  <a:srgbClr val="C00000"/>
                </a:solidFill>
                <a:latin typeface="Arial" panose="020B0604020202020204" pitchFamily="34" charset="0"/>
                <a:cs typeface="Arial" panose="020B0604020202020204" pitchFamily="34" charset="0"/>
              </a:rPr>
              <a:t> </a:t>
            </a:r>
            <a:r>
              <a:rPr lang="en-US" sz="2000" b="1" dirty="0" err="1">
                <a:solidFill>
                  <a:srgbClr val="C00000"/>
                </a:solidFill>
                <a:latin typeface="Arial" panose="020B0604020202020204" pitchFamily="34" charset="0"/>
                <a:cs typeface="Arial" panose="020B0604020202020204" pitchFamily="34" charset="0"/>
              </a:rPr>
              <a:t>và</a:t>
            </a:r>
            <a:r>
              <a:rPr lang="en-US" sz="2000" b="1" dirty="0">
                <a:solidFill>
                  <a:srgbClr val="C00000"/>
                </a:solidFill>
                <a:latin typeface="Arial" panose="020B0604020202020204" pitchFamily="34" charset="0"/>
                <a:cs typeface="Arial" panose="020B0604020202020204" pitchFamily="34" charset="0"/>
              </a:rPr>
              <a:t> </a:t>
            </a:r>
            <a:r>
              <a:rPr lang="en-US" sz="2000" b="1" dirty="0" err="1">
                <a:solidFill>
                  <a:srgbClr val="C00000"/>
                </a:solidFill>
                <a:latin typeface="Arial" panose="020B0604020202020204" pitchFamily="34" charset="0"/>
                <a:cs typeface="Arial" panose="020B0604020202020204" pitchFamily="34" charset="0"/>
              </a:rPr>
              <a:t>giao</a:t>
            </a:r>
            <a:r>
              <a:rPr lang="en-US" sz="2000" b="1" dirty="0">
                <a:solidFill>
                  <a:srgbClr val="C00000"/>
                </a:solidFill>
                <a:latin typeface="Arial" panose="020B0604020202020204" pitchFamily="34" charset="0"/>
                <a:cs typeface="Arial" panose="020B0604020202020204" pitchFamily="34" charset="0"/>
              </a:rPr>
              <a:t> </a:t>
            </a:r>
            <a:r>
              <a:rPr lang="en-US" sz="2000" b="1" dirty="0" err="1">
                <a:solidFill>
                  <a:srgbClr val="C00000"/>
                </a:solidFill>
                <a:latin typeface="Arial" panose="020B0604020202020204" pitchFamily="34" charset="0"/>
                <a:cs typeface="Arial" panose="020B0604020202020204" pitchFamily="34" charset="0"/>
              </a:rPr>
              <a:t>dự</a:t>
            </a:r>
            <a:r>
              <a:rPr lang="en-US" sz="2000" b="1" dirty="0">
                <a:solidFill>
                  <a:srgbClr val="C00000"/>
                </a:solidFill>
                <a:latin typeface="Arial" panose="020B0604020202020204" pitchFamily="34" charset="0"/>
                <a:cs typeface="Arial" panose="020B0604020202020204" pitchFamily="34" charset="0"/>
              </a:rPr>
              <a:t> </a:t>
            </a:r>
            <a:r>
              <a:rPr lang="en-US" sz="2000" b="1" dirty="0" err="1">
                <a:solidFill>
                  <a:srgbClr val="C00000"/>
                </a:solidFill>
                <a:latin typeface="Arial" panose="020B0604020202020204" pitchFamily="34" charset="0"/>
                <a:cs typeface="Arial" panose="020B0604020202020204" pitchFamily="34" charset="0"/>
              </a:rPr>
              <a:t>toán</a:t>
            </a:r>
            <a:r>
              <a:rPr lang="en-US" sz="2000" b="1" dirty="0">
                <a:solidFill>
                  <a:srgbClr val="C00000"/>
                </a:solidFill>
                <a:latin typeface="Arial" panose="020B0604020202020204" pitchFamily="34" charset="0"/>
                <a:cs typeface="Arial" panose="020B0604020202020204" pitchFamily="34" charset="0"/>
              </a:rPr>
              <a:t> NSNN</a:t>
            </a:r>
          </a:p>
          <a:p>
            <a:pPr marL="0" indent="0" algn="just">
              <a:lnSpc>
                <a:spcPct val="120000"/>
              </a:lnSpc>
              <a:buNone/>
            </a:pPr>
            <a:r>
              <a:rPr lang="vi-VN" sz="2000" dirty="0">
                <a:latin typeface="Arial" panose="020B0604020202020204" pitchFamily="34" charset="0"/>
                <a:cs typeface="Arial" panose="020B0604020202020204" pitchFamily="34" charset="0"/>
              </a:rPr>
              <a:t>1. </a:t>
            </a:r>
            <a:r>
              <a:rPr lang="vi-VN" sz="2000" b="1" dirty="0">
                <a:solidFill>
                  <a:srgbClr val="0070C0"/>
                </a:solidFill>
                <a:latin typeface="Arial" panose="020B0604020202020204" pitchFamily="34" charset="0"/>
                <a:cs typeface="Arial" panose="020B0604020202020204" pitchFamily="34" charset="0"/>
              </a:rPr>
              <a:t>Trước ngày 15 tháng 5, </a:t>
            </a:r>
            <a:r>
              <a:rPr lang="vi-VN" sz="2000" dirty="0">
                <a:latin typeface="Arial" panose="020B0604020202020204" pitchFamily="34" charset="0"/>
                <a:cs typeface="Arial" panose="020B0604020202020204" pitchFamily="34" charset="0"/>
              </a:rPr>
              <a:t>Thủ tướng Chính phủ ban hành quy định về việc xây dựng kế hoạch phát triển kinh tế - xã hội, dự toán ngân sách nhà nước năm sau.</a:t>
            </a:r>
          </a:p>
          <a:p>
            <a:pPr marL="0" indent="0" algn="just">
              <a:lnSpc>
                <a:spcPct val="120000"/>
              </a:lnSpc>
              <a:buNone/>
            </a:pPr>
            <a:r>
              <a:rPr lang="vi-VN" sz="2000" dirty="0">
                <a:latin typeface="Arial" panose="020B0604020202020204" pitchFamily="34" charset="0"/>
                <a:cs typeface="Arial" panose="020B0604020202020204" pitchFamily="34" charset="0"/>
              </a:rPr>
              <a:t>2. </a:t>
            </a:r>
            <a:r>
              <a:rPr lang="vi-VN" sz="2000" b="1" dirty="0">
                <a:solidFill>
                  <a:srgbClr val="0070C0"/>
                </a:solidFill>
                <a:latin typeface="Arial" panose="020B0604020202020204" pitchFamily="34" charset="0"/>
                <a:cs typeface="Arial" panose="020B0604020202020204" pitchFamily="34" charset="0"/>
              </a:rPr>
              <a:t>Trước ngày 20 tháng 9, </a:t>
            </a:r>
            <a:r>
              <a:rPr lang="vi-VN" sz="2000" dirty="0">
                <a:latin typeface="Arial" panose="020B0604020202020204" pitchFamily="34" charset="0"/>
                <a:cs typeface="Arial" panose="020B0604020202020204" pitchFamily="34" charset="0"/>
              </a:rPr>
              <a:t>Chính phủ trình các tài liệu báo cáo theo quy định tại Điều 49 của Luật này đến Ủy ban Thường vụ Quốc hội để cho ý kiến và tiếp thu, hoàn chỉnh để trình Quốc hội.</a:t>
            </a:r>
          </a:p>
          <a:p>
            <a:pPr marL="0" indent="0" algn="just">
              <a:lnSpc>
                <a:spcPct val="120000"/>
              </a:lnSpc>
              <a:buNone/>
            </a:pPr>
            <a:r>
              <a:rPr lang="vi-VN" sz="2000" dirty="0">
                <a:latin typeface="Arial" panose="020B0604020202020204" pitchFamily="34" charset="0"/>
                <a:cs typeface="Arial" panose="020B0604020202020204" pitchFamily="34" charset="0"/>
              </a:rPr>
              <a:t>3. Các báo cáo của Chính phủ được gửi đến các đại biểu Quốc hội chậm nhất là </a:t>
            </a:r>
            <a:r>
              <a:rPr lang="vi-VN" sz="2000" dirty="0">
                <a:solidFill>
                  <a:srgbClr val="0070C0"/>
                </a:solidFill>
                <a:latin typeface="Arial" panose="020B0604020202020204" pitchFamily="34" charset="0"/>
                <a:cs typeface="Arial" panose="020B0604020202020204" pitchFamily="34" charset="0"/>
              </a:rPr>
              <a:t>20 ngày trước ngày khai mạc kỳ họp Quốc hội cuối năm.</a:t>
            </a:r>
            <a:endParaRPr lang="en-US" sz="2000" dirty="0">
              <a:solidFill>
                <a:srgbClr val="0070C0"/>
              </a:solidFill>
              <a:latin typeface="Arial" panose="020B0604020202020204" pitchFamily="34" charset="0"/>
              <a:cs typeface="Arial" panose="020B0604020202020204" pitchFamily="34" charset="0"/>
            </a:endParaRPr>
          </a:p>
          <a:p>
            <a:pPr marL="0" indent="0" algn="just">
              <a:lnSpc>
                <a:spcPct val="120000"/>
              </a:lnSpc>
              <a:buNone/>
            </a:pPr>
            <a:r>
              <a:rPr lang="vi-VN" sz="2000" dirty="0">
                <a:latin typeface="Arial" panose="020B0604020202020204" pitchFamily="34" charset="0"/>
                <a:cs typeface="Arial" panose="020B0604020202020204" pitchFamily="34" charset="0"/>
              </a:rPr>
              <a:t>4</a:t>
            </a:r>
            <a:r>
              <a:rPr lang="vi-VN" sz="2000" b="1" dirty="0">
                <a:latin typeface="Arial" panose="020B0604020202020204" pitchFamily="34" charset="0"/>
                <a:cs typeface="Arial" panose="020B0604020202020204" pitchFamily="34" charset="0"/>
              </a:rPr>
              <a:t>. </a:t>
            </a:r>
            <a:r>
              <a:rPr lang="vi-VN" sz="2000" b="1" dirty="0">
                <a:solidFill>
                  <a:srgbClr val="0070C0"/>
                </a:solidFill>
                <a:latin typeface="Arial" panose="020B0604020202020204" pitchFamily="34" charset="0"/>
                <a:cs typeface="Arial" panose="020B0604020202020204" pitchFamily="34" charset="0"/>
              </a:rPr>
              <a:t>Trước ngày 10 tháng 11, </a:t>
            </a:r>
            <a:r>
              <a:rPr lang="vi-VN" sz="2000" dirty="0">
                <a:latin typeface="Arial" panose="020B0604020202020204" pitchFamily="34" charset="0"/>
                <a:cs typeface="Arial" panose="020B0604020202020204" pitchFamily="34" charset="0"/>
              </a:rPr>
              <a:t>Quốc hội quyết định và ban hành nghị quyết về dự toán ngân sách nhà nước, phương án phân bổ ngân sách trung ương năm sau.</a:t>
            </a:r>
          </a:p>
          <a:p>
            <a:pPr marL="0" indent="0" algn="just">
              <a:lnSpc>
                <a:spcPct val="120000"/>
              </a:lnSpc>
              <a:buNone/>
            </a:pPr>
            <a:r>
              <a:rPr lang="vi-VN" sz="2000" dirty="0">
                <a:latin typeface="Arial" panose="020B0604020202020204" pitchFamily="34" charset="0"/>
                <a:cs typeface="Arial" panose="020B0604020202020204" pitchFamily="34" charset="0"/>
              </a:rPr>
              <a:t>5. </a:t>
            </a:r>
            <a:r>
              <a:rPr lang="vi-VN" sz="2000" b="1" dirty="0">
                <a:solidFill>
                  <a:srgbClr val="0070C0"/>
                </a:solidFill>
                <a:latin typeface="Arial" panose="020B0604020202020204" pitchFamily="34" charset="0"/>
                <a:cs typeface="Arial" panose="020B0604020202020204" pitchFamily="34" charset="0"/>
              </a:rPr>
              <a:t>Trước ngày 20 tháng 11, </a:t>
            </a:r>
            <a:r>
              <a:rPr lang="vi-VN" sz="2000" dirty="0">
                <a:latin typeface="Arial" panose="020B0604020202020204" pitchFamily="34" charset="0"/>
                <a:cs typeface="Arial" panose="020B0604020202020204" pitchFamily="34" charset="0"/>
              </a:rPr>
              <a:t>Thủ tướng Chính phủ giao dự toán thu, chi ngân sách năm sau cho từng Bộ, cơ quan ngang Bộ, cơ quan thuộc Chính phủ, cơ quan khác ở trung ương và từng tỉnh, thành phố trực thuộc trung ương.</a:t>
            </a:r>
          </a:p>
          <a:p>
            <a:pPr marL="0" indent="0" algn="just">
              <a:buNone/>
            </a:pPr>
            <a:endParaRPr lang="vi-VN" sz="2000" dirty="0">
              <a:latin typeface="Arial" panose="020B0604020202020204" pitchFamily="34" charset="0"/>
              <a:cs typeface="Arial" panose="020B0604020202020204" pitchFamily="34" charset="0"/>
            </a:endParaRPr>
          </a:p>
          <a:p>
            <a:pPr marL="0" indent="0">
              <a:lnSpc>
                <a:spcPct val="100000"/>
              </a:lnSpc>
              <a:buNone/>
            </a:pPr>
            <a:endParaRPr lang="en-US" sz="2000" b="1" dirty="0">
              <a:solidFill>
                <a:srgbClr val="C00000"/>
              </a:solidFill>
              <a:latin typeface="Arial" panose="020B0604020202020204" pitchFamily="34" charset="0"/>
              <a:cs typeface="Arial" panose="020B0604020202020204" pitchFamily="34" charset="0"/>
            </a:endParaRPr>
          </a:p>
          <a:p>
            <a:pPr marL="0" indent="0">
              <a:lnSpc>
                <a:spcPct val="100000"/>
              </a:lnSpc>
              <a:buNone/>
            </a:pPr>
            <a:endParaRPr lang="vi-VN" sz="2000" b="1" dirty="0">
              <a:solidFill>
                <a:srgbClr val="C00000"/>
              </a:solidFill>
              <a:latin typeface="Arial" panose="020B0604020202020204" pitchFamily="34" charset="0"/>
              <a:cs typeface="Arial" panose="020B0604020202020204" pitchFamily="34" charset="0"/>
            </a:endParaRPr>
          </a:p>
          <a:p>
            <a:pPr marL="0" indent="0">
              <a:lnSpc>
                <a:spcPct val="100000"/>
              </a:lnSpc>
              <a:buFont typeface="Arial" panose="020B0604020202020204" pitchFamily="34" charset="0"/>
              <a:buNone/>
            </a:pPr>
            <a:r>
              <a:rPr lang="vi-VN" sz="2000" b="1" dirty="0">
                <a:solidFill>
                  <a:srgbClr val="C00000"/>
                </a:solidFill>
                <a:latin typeface="Arial" panose="020B0604020202020204" pitchFamily="34" charset="0"/>
                <a:cs typeface="Arial" panose="020B0604020202020204" pitchFamily="34" charset="0"/>
              </a:rPr>
              <a:t>	</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512519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87180-4E18-94B1-254B-7C2FF345E3C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1CBC481-0F2E-139C-A655-1DC632BBF67D}"/>
              </a:ext>
            </a:extLst>
          </p:cNvPr>
          <p:cNvSpPr>
            <a:spLocks noGrp="1" noRot="1" noMove="1" noResize="1" noEditPoints="1" noAdjustHandles="1" noChangeArrowheads="1" noChangeShapeType="1"/>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2.3.1. LẬP DỰ TOÁN</a:t>
            </a:r>
          </a:p>
        </p:txBody>
      </p:sp>
      <p:sp>
        <p:nvSpPr>
          <p:cNvPr id="3" name="Content Placeholder 2">
            <a:extLst>
              <a:ext uri="{FF2B5EF4-FFF2-40B4-BE49-F238E27FC236}">
                <a16:creationId xmlns:a16="http://schemas.microsoft.com/office/drawing/2014/main" id="{90B491C4-0243-F09E-AFEE-37D1EE9E0EFD}"/>
              </a:ext>
            </a:extLst>
          </p:cNvPr>
          <p:cNvSpPr txBox="1">
            <a:spLocks/>
          </p:cNvSpPr>
          <p:nvPr/>
        </p:nvSpPr>
        <p:spPr>
          <a:xfrm>
            <a:off x="178025" y="1297316"/>
            <a:ext cx="11871016" cy="5547267"/>
          </a:xfrm>
          <a:prstGeom prst="rect">
            <a:avLst/>
          </a:prstGeom>
        </p:spPr>
        <p:txBody>
          <a:bodyPr>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buNone/>
            </a:pPr>
            <a:r>
              <a:rPr lang="en-US" sz="8000" b="1" dirty="0" err="1">
                <a:solidFill>
                  <a:srgbClr val="C00000"/>
                </a:solidFill>
                <a:latin typeface="Times New Roman" panose="02020603050405020304" pitchFamily="18" charset="0"/>
                <a:cs typeface="Times New Roman" panose="02020603050405020304" pitchFamily="18" charset="0"/>
              </a:rPr>
              <a:t>Điều</a:t>
            </a:r>
            <a:r>
              <a:rPr lang="en-US" sz="8000" b="1" dirty="0">
                <a:solidFill>
                  <a:srgbClr val="C00000"/>
                </a:solidFill>
                <a:latin typeface="Times New Roman" panose="02020603050405020304" pitchFamily="18" charset="0"/>
                <a:cs typeface="Times New Roman" panose="02020603050405020304" pitchFamily="18" charset="0"/>
              </a:rPr>
              <a:t> 46. </a:t>
            </a:r>
            <a:r>
              <a:rPr lang="en-US" sz="8000" b="1" dirty="0" err="1">
                <a:solidFill>
                  <a:srgbClr val="C00000"/>
                </a:solidFill>
                <a:latin typeface="Times New Roman" panose="02020603050405020304" pitchFamily="18" charset="0"/>
                <a:cs typeface="Times New Roman" panose="02020603050405020304" pitchFamily="18" charset="0"/>
              </a:rPr>
              <a:t>Thời</a:t>
            </a:r>
            <a:r>
              <a:rPr lang="en-US" sz="8000" b="1" dirty="0">
                <a:solidFill>
                  <a:srgbClr val="C00000"/>
                </a:solidFill>
                <a:latin typeface="Times New Roman" panose="02020603050405020304" pitchFamily="18" charset="0"/>
                <a:cs typeface="Times New Roman" panose="02020603050405020304" pitchFamily="18" charset="0"/>
              </a:rPr>
              <a:t> </a:t>
            </a:r>
            <a:r>
              <a:rPr lang="en-US" sz="8000" b="1" dirty="0" err="1">
                <a:solidFill>
                  <a:srgbClr val="C00000"/>
                </a:solidFill>
                <a:latin typeface="Times New Roman" panose="02020603050405020304" pitchFamily="18" charset="0"/>
                <a:cs typeface="Times New Roman" panose="02020603050405020304" pitchFamily="18" charset="0"/>
              </a:rPr>
              <a:t>gian</a:t>
            </a:r>
            <a:r>
              <a:rPr lang="en-US" sz="8000" b="1" dirty="0">
                <a:solidFill>
                  <a:srgbClr val="C00000"/>
                </a:solidFill>
                <a:latin typeface="Times New Roman" panose="02020603050405020304" pitchFamily="18" charset="0"/>
                <a:cs typeface="Times New Roman" panose="02020603050405020304" pitchFamily="18" charset="0"/>
              </a:rPr>
              <a:t> </a:t>
            </a:r>
            <a:r>
              <a:rPr lang="en-US" sz="8000" b="1" dirty="0" err="1">
                <a:solidFill>
                  <a:srgbClr val="C00000"/>
                </a:solidFill>
                <a:latin typeface="Times New Roman" panose="02020603050405020304" pitchFamily="18" charset="0"/>
                <a:cs typeface="Times New Roman" panose="02020603050405020304" pitchFamily="18" charset="0"/>
              </a:rPr>
              <a:t>hướng</a:t>
            </a:r>
            <a:r>
              <a:rPr lang="en-US" sz="8000" b="1" dirty="0">
                <a:solidFill>
                  <a:srgbClr val="C00000"/>
                </a:solidFill>
                <a:latin typeface="Times New Roman" panose="02020603050405020304" pitchFamily="18" charset="0"/>
                <a:cs typeface="Times New Roman" panose="02020603050405020304" pitchFamily="18" charset="0"/>
              </a:rPr>
              <a:t> </a:t>
            </a:r>
            <a:r>
              <a:rPr lang="en-US" sz="8000" b="1" dirty="0" err="1">
                <a:solidFill>
                  <a:srgbClr val="C00000"/>
                </a:solidFill>
                <a:latin typeface="Times New Roman" panose="02020603050405020304" pitchFamily="18" charset="0"/>
                <a:cs typeface="Times New Roman" panose="02020603050405020304" pitchFamily="18" charset="0"/>
              </a:rPr>
              <a:t>dẫn</a:t>
            </a:r>
            <a:r>
              <a:rPr lang="en-US" sz="8000" b="1" dirty="0">
                <a:solidFill>
                  <a:srgbClr val="C00000"/>
                </a:solidFill>
                <a:latin typeface="Times New Roman" panose="02020603050405020304" pitchFamily="18" charset="0"/>
                <a:cs typeface="Times New Roman" panose="02020603050405020304" pitchFamily="18" charset="0"/>
              </a:rPr>
              <a:t> </a:t>
            </a:r>
            <a:r>
              <a:rPr lang="en-US" sz="8000" b="1" dirty="0" err="1">
                <a:solidFill>
                  <a:srgbClr val="C00000"/>
                </a:solidFill>
                <a:latin typeface="Times New Roman" panose="02020603050405020304" pitchFamily="18" charset="0"/>
                <a:cs typeface="Times New Roman" panose="02020603050405020304" pitchFamily="18" charset="0"/>
              </a:rPr>
              <a:t>lập</a:t>
            </a:r>
            <a:r>
              <a:rPr lang="en-US" sz="8000" b="1" dirty="0">
                <a:solidFill>
                  <a:srgbClr val="C00000"/>
                </a:solidFill>
                <a:latin typeface="Times New Roman" panose="02020603050405020304" pitchFamily="18" charset="0"/>
                <a:cs typeface="Times New Roman" panose="02020603050405020304" pitchFamily="18" charset="0"/>
              </a:rPr>
              <a:t>, </a:t>
            </a:r>
            <a:r>
              <a:rPr lang="en-US" sz="8000" b="1" dirty="0" err="1">
                <a:solidFill>
                  <a:srgbClr val="C00000"/>
                </a:solidFill>
                <a:latin typeface="Times New Roman" panose="02020603050405020304" pitchFamily="18" charset="0"/>
                <a:cs typeface="Times New Roman" panose="02020603050405020304" pitchFamily="18" charset="0"/>
              </a:rPr>
              <a:t>xây</a:t>
            </a:r>
            <a:r>
              <a:rPr lang="en-US" sz="8000" b="1" dirty="0">
                <a:solidFill>
                  <a:srgbClr val="C00000"/>
                </a:solidFill>
                <a:latin typeface="Times New Roman" panose="02020603050405020304" pitchFamily="18" charset="0"/>
                <a:cs typeface="Times New Roman" panose="02020603050405020304" pitchFamily="18" charset="0"/>
              </a:rPr>
              <a:t> </a:t>
            </a:r>
            <a:r>
              <a:rPr lang="en-US" sz="8000" b="1" dirty="0" err="1">
                <a:solidFill>
                  <a:srgbClr val="C00000"/>
                </a:solidFill>
                <a:latin typeface="Times New Roman" panose="02020603050405020304" pitchFamily="18" charset="0"/>
                <a:cs typeface="Times New Roman" panose="02020603050405020304" pitchFamily="18" charset="0"/>
              </a:rPr>
              <a:t>dựng</a:t>
            </a:r>
            <a:r>
              <a:rPr lang="en-US" sz="8000" b="1" dirty="0">
                <a:solidFill>
                  <a:srgbClr val="C00000"/>
                </a:solidFill>
                <a:latin typeface="Times New Roman" panose="02020603050405020304" pitchFamily="18" charset="0"/>
                <a:cs typeface="Times New Roman" panose="02020603050405020304" pitchFamily="18" charset="0"/>
              </a:rPr>
              <a:t>, </a:t>
            </a:r>
            <a:r>
              <a:rPr lang="en-US" sz="8000" b="1" dirty="0" err="1">
                <a:solidFill>
                  <a:srgbClr val="C00000"/>
                </a:solidFill>
                <a:latin typeface="Times New Roman" panose="02020603050405020304" pitchFamily="18" charset="0"/>
                <a:cs typeface="Times New Roman" panose="02020603050405020304" pitchFamily="18" charset="0"/>
              </a:rPr>
              <a:t>tổng</a:t>
            </a:r>
            <a:r>
              <a:rPr lang="en-US" sz="8000" b="1" dirty="0">
                <a:solidFill>
                  <a:srgbClr val="C00000"/>
                </a:solidFill>
                <a:latin typeface="Times New Roman" panose="02020603050405020304" pitchFamily="18" charset="0"/>
                <a:cs typeface="Times New Roman" panose="02020603050405020304" pitchFamily="18" charset="0"/>
              </a:rPr>
              <a:t> </a:t>
            </a:r>
            <a:r>
              <a:rPr lang="en-US" sz="8000" b="1" dirty="0" err="1">
                <a:solidFill>
                  <a:srgbClr val="C00000"/>
                </a:solidFill>
                <a:latin typeface="Times New Roman" panose="02020603050405020304" pitchFamily="18" charset="0"/>
                <a:cs typeface="Times New Roman" panose="02020603050405020304" pitchFamily="18" charset="0"/>
              </a:rPr>
              <a:t>hợp</a:t>
            </a:r>
            <a:r>
              <a:rPr lang="en-US" sz="8000" b="1" dirty="0">
                <a:solidFill>
                  <a:srgbClr val="C00000"/>
                </a:solidFill>
                <a:latin typeface="Times New Roman" panose="02020603050405020304" pitchFamily="18" charset="0"/>
                <a:cs typeface="Times New Roman" panose="02020603050405020304" pitchFamily="18" charset="0"/>
              </a:rPr>
              <a:t>, </a:t>
            </a:r>
            <a:r>
              <a:rPr lang="en-US" sz="8000" b="1" dirty="0" err="1">
                <a:solidFill>
                  <a:srgbClr val="C00000"/>
                </a:solidFill>
                <a:latin typeface="Times New Roman" panose="02020603050405020304" pitchFamily="18" charset="0"/>
                <a:cs typeface="Times New Roman" panose="02020603050405020304" pitchFamily="18" charset="0"/>
              </a:rPr>
              <a:t>quyết</a:t>
            </a:r>
            <a:r>
              <a:rPr lang="en-US" sz="8000" b="1" dirty="0">
                <a:solidFill>
                  <a:srgbClr val="C00000"/>
                </a:solidFill>
                <a:latin typeface="Times New Roman" panose="02020603050405020304" pitchFamily="18" charset="0"/>
                <a:cs typeface="Times New Roman" panose="02020603050405020304" pitchFamily="18" charset="0"/>
              </a:rPr>
              <a:t> </a:t>
            </a:r>
            <a:r>
              <a:rPr lang="en-US" sz="8000" b="1" dirty="0" err="1">
                <a:solidFill>
                  <a:srgbClr val="C00000"/>
                </a:solidFill>
                <a:latin typeface="Times New Roman" panose="02020603050405020304" pitchFamily="18" charset="0"/>
                <a:cs typeface="Times New Roman" panose="02020603050405020304" pitchFamily="18" charset="0"/>
              </a:rPr>
              <a:t>định</a:t>
            </a:r>
            <a:r>
              <a:rPr lang="en-US" sz="8000" b="1" dirty="0">
                <a:solidFill>
                  <a:srgbClr val="C00000"/>
                </a:solidFill>
                <a:latin typeface="Times New Roman" panose="02020603050405020304" pitchFamily="18" charset="0"/>
                <a:cs typeface="Times New Roman" panose="02020603050405020304" pitchFamily="18" charset="0"/>
              </a:rPr>
              <a:t> </a:t>
            </a:r>
            <a:r>
              <a:rPr lang="en-US" sz="8000" b="1" dirty="0" err="1">
                <a:solidFill>
                  <a:srgbClr val="C00000"/>
                </a:solidFill>
                <a:latin typeface="Times New Roman" panose="02020603050405020304" pitchFamily="18" charset="0"/>
                <a:cs typeface="Times New Roman" panose="02020603050405020304" pitchFamily="18" charset="0"/>
              </a:rPr>
              <a:t>và</a:t>
            </a:r>
            <a:r>
              <a:rPr lang="en-US" sz="8000" b="1" dirty="0">
                <a:solidFill>
                  <a:srgbClr val="C00000"/>
                </a:solidFill>
                <a:latin typeface="Times New Roman" panose="02020603050405020304" pitchFamily="18" charset="0"/>
                <a:cs typeface="Times New Roman" panose="02020603050405020304" pitchFamily="18" charset="0"/>
              </a:rPr>
              <a:t> </a:t>
            </a:r>
            <a:r>
              <a:rPr lang="en-US" sz="8000" b="1" dirty="0" err="1">
                <a:solidFill>
                  <a:srgbClr val="C00000"/>
                </a:solidFill>
                <a:latin typeface="Times New Roman" panose="02020603050405020304" pitchFamily="18" charset="0"/>
                <a:cs typeface="Times New Roman" panose="02020603050405020304" pitchFamily="18" charset="0"/>
              </a:rPr>
              <a:t>giao</a:t>
            </a:r>
            <a:r>
              <a:rPr lang="en-US" sz="8000" b="1" dirty="0">
                <a:solidFill>
                  <a:srgbClr val="C00000"/>
                </a:solidFill>
                <a:latin typeface="Times New Roman" panose="02020603050405020304" pitchFamily="18" charset="0"/>
                <a:cs typeface="Times New Roman" panose="02020603050405020304" pitchFamily="18" charset="0"/>
              </a:rPr>
              <a:t> </a:t>
            </a:r>
            <a:r>
              <a:rPr lang="en-US" sz="8000" b="1" dirty="0" err="1">
                <a:solidFill>
                  <a:srgbClr val="C00000"/>
                </a:solidFill>
                <a:latin typeface="Times New Roman" panose="02020603050405020304" pitchFamily="18" charset="0"/>
                <a:cs typeface="Times New Roman" panose="02020603050405020304" pitchFamily="18" charset="0"/>
              </a:rPr>
              <a:t>dự</a:t>
            </a:r>
            <a:r>
              <a:rPr lang="en-US" sz="8000" b="1" dirty="0">
                <a:solidFill>
                  <a:srgbClr val="C00000"/>
                </a:solidFill>
                <a:latin typeface="Times New Roman" panose="02020603050405020304" pitchFamily="18" charset="0"/>
                <a:cs typeface="Times New Roman" panose="02020603050405020304" pitchFamily="18" charset="0"/>
              </a:rPr>
              <a:t> </a:t>
            </a:r>
            <a:r>
              <a:rPr lang="en-US" sz="8000" b="1" dirty="0" err="1">
                <a:solidFill>
                  <a:srgbClr val="C00000"/>
                </a:solidFill>
                <a:latin typeface="Times New Roman" panose="02020603050405020304" pitchFamily="18" charset="0"/>
                <a:cs typeface="Times New Roman" panose="02020603050405020304" pitchFamily="18" charset="0"/>
              </a:rPr>
              <a:t>toán</a:t>
            </a:r>
            <a:r>
              <a:rPr lang="en-US" sz="8000" b="1" dirty="0">
                <a:solidFill>
                  <a:srgbClr val="C00000"/>
                </a:solidFill>
                <a:latin typeface="Times New Roman" panose="02020603050405020304" pitchFamily="18" charset="0"/>
                <a:cs typeface="Times New Roman" panose="02020603050405020304" pitchFamily="18" charset="0"/>
              </a:rPr>
              <a:t> NSNN (</a:t>
            </a:r>
            <a:r>
              <a:rPr lang="en-US" sz="8000" b="1" dirty="0" err="1">
                <a:solidFill>
                  <a:srgbClr val="C00000"/>
                </a:solidFill>
                <a:latin typeface="Times New Roman" panose="02020603050405020304" pitchFamily="18" charset="0"/>
                <a:cs typeface="Times New Roman" panose="02020603050405020304" pitchFamily="18" charset="0"/>
              </a:rPr>
              <a:t>tt</a:t>
            </a:r>
            <a:r>
              <a:rPr lang="en-US" sz="8000" b="1" dirty="0">
                <a:solidFill>
                  <a:srgbClr val="C00000"/>
                </a:solidFill>
                <a:latin typeface="Times New Roman" panose="02020603050405020304" pitchFamily="18" charset="0"/>
                <a:cs typeface="Times New Roman" panose="02020603050405020304" pitchFamily="18" charset="0"/>
              </a:rPr>
              <a:t>)</a:t>
            </a:r>
          </a:p>
          <a:p>
            <a:pPr marL="0" indent="0" algn="just">
              <a:lnSpc>
                <a:spcPct val="120000"/>
              </a:lnSpc>
              <a:buNone/>
            </a:pPr>
            <a:r>
              <a:rPr lang="vi-VN" sz="8000" dirty="0"/>
              <a:t>6</a:t>
            </a:r>
            <a:r>
              <a:rPr lang="vi-VN" sz="8000" b="1" dirty="0">
                <a:solidFill>
                  <a:srgbClr val="0070C0"/>
                </a:solidFill>
              </a:rPr>
              <a:t>. Trước ngày 10 tháng 12,</a:t>
            </a:r>
            <a:r>
              <a:rPr lang="vi-VN" sz="8000" dirty="0"/>
              <a:t> Hội đồng nhân dân cấp tỉnh quyết định dự toán ngân sách địa phương, phân bổ ngân sách cấp tỉnh năm sau. Hội đồng nhân dân cấp xã quyết định dự toán ngân sách địa phương, phân bổ ngân sách năm sau của cấp mình chậm nhất là 10 ngày, kể từ ngày Hội đồng nhân dân cấp tỉnh quyết định dự toán và phân bổ ngân sách.</a:t>
            </a:r>
          </a:p>
          <a:p>
            <a:pPr marL="0" indent="0" algn="just">
              <a:lnSpc>
                <a:spcPct val="120000"/>
              </a:lnSpc>
              <a:buNone/>
            </a:pPr>
            <a:r>
              <a:rPr lang="vi-VN" sz="8000" dirty="0"/>
              <a:t>7. </a:t>
            </a:r>
            <a:r>
              <a:rPr lang="vi-VN" sz="8000" b="1" dirty="0">
                <a:solidFill>
                  <a:srgbClr val="0070C0"/>
                </a:solidFill>
              </a:rPr>
              <a:t>Chậm nhất là 05 ngày làm việc, kể từ ngày Hội đồng nhân dân quyết định dự toán ngân sách</a:t>
            </a:r>
            <a:r>
              <a:rPr lang="vi-VN" sz="8000" dirty="0"/>
              <a:t>, Ủy ban nhân dân cùng cấp giao dự toán ngân sách năm sau cho từng cơ quan, đơn vị thuộc cấp mình và cấp dưới; đồng thời, báo cáo Ủy ban nhân dân và cơ quan tài chính cấp trên trực tiếp, Ủy ban nhân dân cấp tỉnh báo cáo Bộ Tài chính về dự toán ngân sách đã được Hội đồng nhân dân cấp tỉnh quyết định.</a:t>
            </a:r>
          </a:p>
          <a:p>
            <a:pPr marL="0" indent="0" algn="just">
              <a:lnSpc>
                <a:spcPct val="120000"/>
              </a:lnSpc>
              <a:buNone/>
            </a:pPr>
            <a:r>
              <a:rPr lang="vi-VN" sz="8000" dirty="0"/>
              <a:t>8. </a:t>
            </a:r>
            <a:r>
              <a:rPr lang="vi-VN" sz="8000" b="1" dirty="0">
                <a:solidFill>
                  <a:srgbClr val="0070C0"/>
                </a:solidFill>
              </a:rPr>
              <a:t>Trước ngày 31 tháng 12,</a:t>
            </a:r>
            <a:r>
              <a:rPr lang="vi-VN" sz="8000" dirty="0"/>
              <a:t> các Bộ, cơ quan ngang Bộ, cơ quan thuộc Chính phủ, cơ quan khác ở trung ương, Ủy ban nhân dân các cấp phải hoàn thành việc giao dự toán ngân sách cho từng cơ quan, đơn vị trực thuộc, đơn vị được giao dự toán theo quy định tại khoản 1 Điều 51 của Luật này và Ủy ban nhân dân cấp dưới</a:t>
            </a:r>
            <a:r>
              <a:rPr lang="vi-VN" sz="3200" dirty="0"/>
              <a:t>.</a:t>
            </a:r>
          </a:p>
          <a:p>
            <a:pPr marL="0" indent="0" algn="just">
              <a:lnSpc>
                <a:spcPct val="120000"/>
              </a:lnSpc>
              <a:buNone/>
            </a:pPr>
            <a:endParaRPr lang="vi-VN" sz="3200" dirty="0"/>
          </a:p>
          <a:p>
            <a:pPr marL="0" indent="0" algn="just">
              <a:lnSpc>
                <a:spcPct val="120000"/>
              </a:lnSpc>
              <a:buNone/>
            </a:pPr>
            <a:endParaRPr lang="en-US" sz="3200" b="1" dirty="0">
              <a:solidFill>
                <a:srgbClr val="C00000"/>
              </a:solidFill>
              <a:latin typeface="+mj-lt"/>
            </a:endParaRPr>
          </a:p>
          <a:p>
            <a:pPr marL="0" indent="0">
              <a:lnSpc>
                <a:spcPct val="100000"/>
              </a:lnSpc>
              <a:buNone/>
            </a:pPr>
            <a:endParaRPr lang="vi-VN" sz="3100" b="1" dirty="0">
              <a:solidFill>
                <a:srgbClr val="C00000"/>
              </a:solidFill>
              <a:latin typeface="+mj-lt"/>
            </a:endParaRPr>
          </a:p>
          <a:p>
            <a:pPr marL="0" indent="0">
              <a:lnSpc>
                <a:spcPct val="100000"/>
              </a:lnSpc>
              <a:buFont typeface="Arial" panose="020B0604020202020204" pitchFamily="34" charset="0"/>
              <a:buNone/>
            </a:pPr>
            <a:r>
              <a:rPr lang="vi-VN" sz="3100" b="1" dirty="0">
                <a:solidFill>
                  <a:srgbClr val="C00000"/>
                </a:solidFill>
                <a:latin typeface="+mj-lt"/>
              </a:rPr>
              <a:t>	</a:t>
            </a:r>
            <a:endParaRPr lang="en-US" dirty="0"/>
          </a:p>
        </p:txBody>
      </p:sp>
    </p:spTree>
    <p:extLst>
      <p:ext uri="{BB962C8B-B14F-4D97-AF65-F5344CB8AC3E}">
        <p14:creationId xmlns:p14="http://schemas.microsoft.com/office/powerpoint/2010/main" val="41621519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ADAE5-6D79-A92B-8932-4013B3E0D26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E89D917-BE74-9FA1-81C9-2D50698A118A}"/>
              </a:ext>
            </a:extLst>
          </p:cNvPr>
          <p:cNvSpPr>
            <a:spLocks noGrp="1" noRot="1" noMove="1" noResize="1" noEditPoints="1" noAdjustHandles="1" noChangeArrowheads="1" noChangeShapeType="1"/>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2.3.1. LẬP DỰ TOÁN</a:t>
            </a:r>
          </a:p>
        </p:txBody>
      </p:sp>
      <p:sp>
        <p:nvSpPr>
          <p:cNvPr id="3" name="Content Placeholder 2">
            <a:extLst>
              <a:ext uri="{FF2B5EF4-FFF2-40B4-BE49-F238E27FC236}">
                <a16:creationId xmlns:a16="http://schemas.microsoft.com/office/drawing/2014/main" id="{186AE22E-17A6-2851-36C9-98F2D037517C}"/>
              </a:ext>
            </a:extLst>
          </p:cNvPr>
          <p:cNvSpPr txBox="1">
            <a:spLocks/>
          </p:cNvSpPr>
          <p:nvPr/>
        </p:nvSpPr>
        <p:spPr>
          <a:xfrm>
            <a:off x="178025" y="1297316"/>
            <a:ext cx="11871016" cy="554726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v"/>
            </a:pPr>
            <a:r>
              <a:rPr lang="vi-VN" sz="3200" b="1">
                <a:solidFill>
                  <a:srgbClr val="C00000"/>
                </a:solidFill>
                <a:latin typeface="+mj-lt"/>
              </a:rPr>
              <a:t> </a:t>
            </a:r>
            <a:r>
              <a:rPr lang="vi-VN" sz="3100" b="1">
                <a:solidFill>
                  <a:srgbClr val="C00000"/>
                </a:solidFill>
                <a:latin typeface="+mj-lt"/>
              </a:rPr>
              <a:t>Các hoạt động trong khâu lập dự toán NSNN</a:t>
            </a:r>
          </a:p>
          <a:p>
            <a:pPr marL="0" indent="0">
              <a:lnSpc>
                <a:spcPct val="100000"/>
              </a:lnSpc>
              <a:buFont typeface="Arial" panose="020B0604020202020204" pitchFamily="34" charset="0"/>
              <a:buNone/>
            </a:pPr>
            <a:r>
              <a:rPr lang="vi-VN" sz="3100" b="1">
                <a:solidFill>
                  <a:srgbClr val="C00000"/>
                </a:solidFill>
                <a:latin typeface="+mj-lt"/>
              </a:rPr>
              <a:t>	</a:t>
            </a:r>
            <a:r>
              <a:rPr lang="vi-VN" sz="3100" b="1" i="1">
                <a:solidFill>
                  <a:srgbClr val="C00000"/>
                </a:solidFill>
                <a:latin typeface="+mj-lt"/>
              </a:rPr>
              <a:t>Lập và quyết định dự toán ngân sách nhà nước hàng năm</a:t>
            </a:r>
          </a:p>
          <a:p>
            <a:pPr marL="0" indent="0" algn="just">
              <a:lnSpc>
                <a:spcPct val="150000"/>
              </a:lnSpc>
              <a:buFont typeface="Arial" panose="020B0604020202020204" pitchFamily="34" charset="0"/>
              <a:buNone/>
            </a:pPr>
            <a:r>
              <a:rPr lang="vi-VN" sz="3100">
                <a:solidFill>
                  <a:srgbClr val="0000CC"/>
                </a:solidFill>
                <a:latin typeface="Times New Roman" panose="02020603050405020304" pitchFamily="18" charset="0"/>
                <a:cs typeface="Times New Roman" panose="02020603050405020304" pitchFamily="18" charset="0"/>
              </a:rPr>
              <a:t>	</a:t>
            </a:r>
            <a:r>
              <a:rPr lang="vi-VN" sz="3100" b="1">
                <a:latin typeface="Times New Roman" pitchFamily="18" charset="0"/>
                <a:cs typeface="Times New Roman" pitchFamily="18" charset="0"/>
              </a:rPr>
              <a:t>Bước 1: Chuẩn bị </a:t>
            </a:r>
            <a:r>
              <a:rPr lang="en-US" sz="3100" b="1">
                <a:latin typeface="Times New Roman" pitchFamily="18" charset="0"/>
                <a:cs typeface="Times New Roman" pitchFamily="18" charset="0"/>
              </a:rPr>
              <a:t>dự toán </a:t>
            </a:r>
            <a:r>
              <a:rPr lang="en-US" sz="3100">
                <a:latin typeface="Times New Roman" pitchFamily="18" charset="0"/>
                <a:cs typeface="Times New Roman" pitchFamily="18" charset="0"/>
              </a:rPr>
              <a:t>là tính toán, dự trù các khoản thu – chi của ngân sách trong một năm ngân sách</a:t>
            </a:r>
          </a:p>
          <a:p>
            <a:pPr marL="0" indent="0" algn="just">
              <a:lnSpc>
                <a:spcPct val="150000"/>
              </a:lnSpc>
              <a:buFont typeface="Arial" panose="020B0604020202020204" pitchFamily="34" charset="0"/>
              <a:buNone/>
            </a:pPr>
            <a:r>
              <a:rPr lang="vi-VN" sz="3100" b="1">
                <a:latin typeface="Times New Roman" pitchFamily="18" charset="0"/>
                <a:cs typeface="Times New Roman" pitchFamily="18" charset="0"/>
              </a:rPr>
              <a:t>	Bước 2: </a:t>
            </a:r>
            <a:r>
              <a:rPr lang="en-US" sz="3100" b="1">
                <a:latin typeface="Times New Roman" pitchFamily="18" charset="0"/>
                <a:cs typeface="Times New Roman" pitchFamily="18" charset="0"/>
              </a:rPr>
              <a:t>Quyết định dự toán</a:t>
            </a:r>
            <a:r>
              <a:rPr lang="en-US" sz="3100">
                <a:latin typeface="Times New Roman" pitchFamily="18" charset="0"/>
                <a:cs typeface="Times New Roman" pitchFamily="18" charset="0"/>
              </a:rPr>
              <a:t> là việc xem xét, phê chuẩn bản dự toán được chuẩn bị bởi cơ quan hành pháp. </a:t>
            </a:r>
          </a:p>
          <a:p>
            <a:pPr algn="just">
              <a:lnSpc>
                <a:spcPct val="150000"/>
              </a:lnSpc>
              <a:buFont typeface="Arial" panose="020B0604020202020204" pitchFamily="34" charset="0"/>
              <a:buNone/>
            </a:pPr>
            <a:r>
              <a:rPr lang="en-US" sz="3100">
                <a:latin typeface="Times New Roman" pitchFamily="18" charset="0"/>
                <a:cs typeface="Times New Roman" pitchFamily="18" charset="0"/>
              </a:rPr>
              <a:t>	</a:t>
            </a:r>
            <a:r>
              <a:rPr lang="vi-VN" sz="3100">
                <a:latin typeface="Times New Roman" pitchFamily="18" charset="0"/>
                <a:cs typeface="Times New Roman" pitchFamily="18" charset="0"/>
              </a:rPr>
              <a:t>	</a:t>
            </a:r>
            <a:r>
              <a:rPr lang="en-US" sz="3100">
                <a:latin typeface="Times New Roman" pitchFamily="18" charset="0"/>
                <a:cs typeface="Times New Roman" pitchFamily="18" charset="0"/>
              </a:rPr>
              <a:t>Cơ quan </a:t>
            </a:r>
            <a:r>
              <a:rPr lang="en-US" sz="3100" b="1">
                <a:latin typeface="Times New Roman" pitchFamily="18" charset="0"/>
                <a:cs typeface="Times New Roman" pitchFamily="18" charset="0"/>
              </a:rPr>
              <a:t>quyền lực nhà nước</a:t>
            </a:r>
            <a:r>
              <a:rPr lang="en-US" sz="3100">
                <a:latin typeface="Times New Roman" pitchFamily="18" charset="0"/>
                <a:cs typeface="Times New Roman" pitchFamily="18" charset="0"/>
              </a:rPr>
              <a:t> sẽ quyết định dự toán</a:t>
            </a:r>
          </a:p>
          <a:p>
            <a:pPr marL="67732" indent="0">
              <a:lnSpc>
                <a:spcPct val="100000"/>
              </a:lnSpc>
              <a:buFont typeface="Arial" panose="020B0604020202020204" pitchFamily="34" charset="0"/>
              <a:buNone/>
            </a:pPr>
            <a:endParaRPr lang="en-US" dirty="0"/>
          </a:p>
        </p:txBody>
      </p:sp>
    </p:spTree>
    <p:extLst>
      <p:ext uri="{BB962C8B-B14F-4D97-AF65-F5344CB8AC3E}">
        <p14:creationId xmlns:p14="http://schemas.microsoft.com/office/powerpoint/2010/main" val="37177925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E984D-1591-9D6D-8EE3-07410436B49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E860365-4EC4-E742-80D5-67D105085E3D}"/>
              </a:ext>
            </a:extLst>
          </p:cNvPr>
          <p:cNvSpPr>
            <a:spLocks noGrp="1" noRot="1" noMove="1" noResize="1" noEditPoints="1" noAdjustHandles="1" noChangeArrowheads="1" noChangeShapeType="1"/>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2.3.1. LẬP DỰ TOÁN</a:t>
            </a:r>
          </a:p>
        </p:txBody>
      </p:sp>
      <p:sp>
        <p:nvSpPr>
          <p:cNvPr id="3" name="Content Placeholder 2">
            <a:extLst>
              <a:ext uri="{FF2B5EF4-FFF2-40B4-BE49-F238E27FC236}">
                <a16:creationId xmlns:a16="http://schemas.microsoft.com/office/drawing/2014/main" id="{021E1680-5BBC-6ACE-0913-F63247A5495B}"/>
              </a:ext>
            </a:extLst>
          </p:cNvPr>
          <p:cNvSpPr txBox="1">
            <a:spLocks/>
          </p:cNvSpPr>
          <p:nvPr/>
        </p:nvSpPr>
        <p:spPr>
          <a:xfrm>
            <a:off x="178025" y="1297316"/>
            <a:ext cx="11871016" cy="554726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v"/>
            </a:pPr>
            <a:r>
              <a:rPr lang="vi-VN" sz="3200" b="1" dirty="0">
                <a:solidFill>
                  <a:srgbClr val="C00000"/>
                </a:solidFill>
                <a:latin typeface="+mj-lt"/>
              </a:rPr>
              <a:t> </a:t>
            </a:r>
            <a:r>
              <a:rPr lang="vi-VN" sz="3100" b="1" dirty="0">
                <a:solidFill>
                  <a:srgbClr val="C00000"/>
                </a:solidFill>
                <a:latin typeface="+mj-lt"/>
              </a:rPr>
              <a:t>Các hoạt động trong khâu lập dự toán NSNN</a:t>
            </a:r>
            <a:endParaRPr lang="vi-VN" sz="3100" b="1" i="1" dirty="0">
              <a:solidFill>
                <a:srgbClr val="C00000"/>
              </a:solidFill>
              <a:latin typeface="+mj-lt"/>
            </a:endParaRPr>
          </a:p>
          <a:p>
            <a:pPr marL="0" indent="0" algn="just">
              <a:lnSpc>
                <a:spcPct val="150000"/>
              </a:lnSpc>
              <a:buFont typeface="Arial" panose="020B0604020202020204" pitchFamily="34" charset="0"/>
              <a:buNone/>
            </a:pPr>
            <a:r>
              <a:rPr lang="vi-VN" sz="3100" dirty="0">
                <a:solidFill>
                  <a:srgbClr val="0000CC"/>
                </a:solidFill>
                <a:latin typeface="Times New Roman" panose="02020603050405020304" pitchFamily="18" charset="0"/>
                <a:cs typeface="Times New Roman" panose="02020603050405020304" pitchFamily="18" charset="0"/>
              </a:rPr>
              <a:t>	</a:t>
            </a:r>
            <a:r>
              <a:rPr lang="vi-VN" sz="3100" b="1" dirty="0">
                <a:latin typeface="Times New Roman" pitchFamily="18" charset="0"/>
                <a:cs typeface="Times New Roman" pitchFamily="18" charset="0"/>
              </a:rPr>
              <a:t>Bước 1: </a:t>
            </a:r>
            <a:r>
              <a:rPr lang="en-US" sz="3100" b="1" dirty="0" err="1">
                <a:latin typeface="Times New Roman" pitchFamily="18" charset="0"/>
                <a:cs typeface="Times New Roman" pitchFamily="18" charset="0"/>
              </a:rPr>
              <a:t>Hướng</a:t>
            </a:r>
            <a:r>
              <a:rPr lang="en-US" sz="3100" b="1" dirty="0">
                <a:latin typeface="Times New Roman" pitchFamily="18" charset="0"/>
                <a:cs typeface="Times New Roman" pitchFamily="18" charset="0"/>
              </a:rPr>
              <a:t> </a:t>
            </a:r>
            <a:r>
              <a:rPr lang="en-US" sz="3100" b="1" dirty="0" err="1">
                <a:latin typeface="Times New Roman" pitchFamily="18" charset="0"/>
                <a:cs typeface="Times New Roman" pitchFamily="18" charset="0"/>
              </a:rPr>
              <a:t>dẫn</a:t>
            </a:r>
            <a:r>
              <a:rPr lang="en-US" sz="3100" b="1" dirty="0">
                <a:latin typeface="Times New Roman" pitchFamily="18" charset="0"/>
                <a:cs typeface="Times New Roman" pitchFamily="18" charset="0"/>
              </a:rPr>
              <a:t> </a:t>
            </a:r>
            <a:r>
              <a:rPr lang="en-US" sz="3100" b="1" dirty="0" err="1">
                <a:latin typeface="Times New Roman" pitchFamily="18" charset="0"/>
                <a:cs typeface="Times New Roman" pitchFamily="18" charset="0"/>
              </a:rPr>
              <a:t>lập</a:t>
            </a:r>
            <a:r>
              <a:rPr lang="en-US" sz="3100" b="1" dirty="0">
                <a:latin typeface="Times New Roman" pitchFamily="18" charset="0"/>
                <a:cs typeface="Times New Roman" pitchFamily="18" charset="0"/>
              </a:rPr>
              <a:t> </a:t>
            </a:r>
            <a:r>
              <a:rPr lang="en-US" sz="3100" b="1" dirty="0" err="1">
                <a:latin typeface="Times New Roman" pitchFamily="18" charset="0"/>
                <a:cs typeface="Times New Roman" pitchFamily="18" charset="0"/>
              </a:rPr>
              <a:t>dự</a:t>
            </a:r>
            <a:r>
              <a:rPr lang="en-US" sz="3100" b="1" dirty="0">
                <a:latin typeface="Times New Roman" pitchFamily="18" charset="0"/>
                <a:cs typeface="Times New Roman" pitchFamily="18" charset="0"/>
              </a:rPr>
              <a:t> </a:t>
            </a:r>
            <a:r>
              <a:rPr lang="en-US" sz="3100" b="1" dirty="0" err="1">
                <a:latin typeface="Times New Roman" pitchFamily="18" charset="0"/>
                <a:cs typeface="Times New Roman" pitchFamily="18" charset="0"/>
              </a:rPr>
              <a:t>toán</a:t>
            </a:r>
            <a:r>
              <a:rPr lang="en-US" sz="3100" b="1" dirty="0">
                <a:latin typeface="Times New Roman" pitchFamily="18" charset="0"/>
                <a:cs typeface="Times New Roman" pitchFamily="18" charset="0"/>
              </a:rPr>
              <a:t> NSNN</a:t>
            </a:r>
          </a:p>
          <a:p>
            <a:pPr marL="0" indent="0" algn="just">
              <a:lnSpc>
                <a:spcPct val="150000"/>
              </a:lnSpc>
              <a:buFont typeface="Arial" panose="020B0604020202020204" pitchFamily="34" charset="0"/>
              <a:buNone/>
            </a:pPr>
            <a:r>
              <a:rPr lang="en-US" sz="3100" b="1" dirty="0">
                <a:latin typeface="Times New Roman" pitchFamily="18" charset="0"/>
                <a:cs typeface="Times New Roman" pitchFamily="18" charset="0"/>
              </a:rPr>
              <a:t>	</a:t>
            </a:r>
            <a:r>
              <a:rPr lang="en-US" sz="3100" b="1" dirty="0" err="1">
                <a:latin typeface="Times New Roman" pitchFamily="18" charset="0"/>
                <a:cs typeface="Times New Roman" pitchFamily="18" charset="0"/>
              </a:rPr>
              <a:t>Bước</a:t>
            </a:r>
            <a:r>
              <a:rPr lang="en-US" sz="3100" b="1" dirty="0">
                <a:latin typeface="Times New Roman" pitchFamily="18" charset="0"/>
                <a:cs typeface="Times New Roman" pitchFamily="18" charset="0"/>
              </a:rPr>
              <a:t> 2: </a:t>
            </a:r>
            <a:r>
              <a:rPr lang="en-US" sz="3100" b="1" dirty="0" err="1">
                <a:latin typeface="Times New Roman" pitchFamily="18" charset="0"/>
                <a:cs typeface="Times New Roman" pitchFamily="18" charset="0"/>
              </a:rPr>
              <a:t>Xây</a:t>
            </a:r>
            <a:r>
              <a:rPr lang="en-US" sz="3100" b="1" dirty="0">
                <a:latin typeface="Times New Roman" pitchFamily="18" charset="0"/>
                <a:cs typeface="Times New Roman" pitchFamily="18" charset="0"/>
              </a:rPr>
              <a:t> </a:t>
            </a:r>
            <a:r>
              <a:rPr lang="en-US" sz="3100" b="1" dirty="0" err="1">
                <a:latin typeface="Times New Roman" pitchFamily="18" charset="0"/>
                <a:cs typeface="Times New Roman" pitchFamily="18" charset="0"/>
              </a:rPr>
              <a:t>dựng</a:t>
            </a:r>
            <a:r>
              <a:rPr lang="en-US" sz="3100" b="1" dirty="0">
                <a:latin typeface="Times New Roman" pitchFamily="18" charset="0"/>
                <a:cs typeface="Times New Roman" pitchFamily="18" charset="0"/>
              </a:rPr>
              <a:t> </a:t>
            </a:r>
            <a:r>
              <a:rPr lang="en-US" sz="3100" b="1" dirty="0" err="1">
                <a:latin typeface="Times New Roman" pitchFamily="18" charset="0"/>
                <a:cs typeface="Times New Roman" pitchFamily="18" charset="0"/>
              </a:rPr>
              <a:t>và</a:t>
            </a:r>
            <a:r>
              <a:rPr lang="en-US" sz="3100" b="1" dirty="0">
                <a:latin typeface="Times New Roman" pitchFamily="18" charset="0"/>
                <a:cs typeface="Times New Roman" pitchFamily="18" charset="0"/>
              </a:rPr>
              <a:t> </a:t>
            </a:r>
            <a:r>
              <a:rPr lang="en-US" sz="3100" b="1" dirty="0" err="1">
                <a:latin typeface="Times New Roman" pitchFamily="18" charset="0"/>
                <a:cs typeface="Times New Roman" pitchFamily="18" charset="0"/>
              </a:rPr>
              <a:t>tổng</a:t>
            </a:r>
            <a:r>
              <a:rPr lang="en-US" sz="3100" b="1" dirty="0">
                <a:latin typeface="Times New Roman" pitchFamily="18" charset="0"/>
                <a:cs typeface="Times New Roman" pitchFamily="18" charset="0"/>
              </a:rPr>
              <a:t> </a:t>
            </a:r>
            <a:r>
              <a:rPr lang="en-US" sz="3100" b="1" dirty="0" err="1">
                <a:latin typeface="Times New Roman" pitchFamily="18" charset="0"/>
                <a:cs typeface="Times New Roman" pitchFamily="18" charset="0"/>
              </a:rPr>
              <a:t>hợp</a:t>
            </a:r>
            <a:r>
              <a:rPr lang="en-US" sz="3100" b="1" dirty="0">
                <a:latin typeface="Times New Roman" pitchFamily="18" charset="0"/>
                <a:cs typeface="Times New Roman" pitchFamily="18" charset="0"/>
              </a:rPr>
              <a:t> </a:t>
            </a:r>
            <a:r>
              <a:rPr lang="en-US" sz="3100" b="1" dirty="0" err="1">
                <a:latin typeface="Times New Roman" pitchFamily="18" charset="0"/>
                <a:cs typeface="Times New Roman" pitchFamily="18" charset="0"/>
              </a:rPr>
              <a:t>dự</a:t>
            </a:r>
            <a:r>
              <a:rPr lang="en-US" sz="3100" b="1" dirty="0">
                <a:latin typeface="Times New Roman" pitchFamily="18" charset="0"/>
                <a:cs typeface="Times New Roman" pitchFamily="18" charset="0"/>
              </a:rPr>
              <a:t> </a:t>
            </a:r>
            <a:r>
              <a:rPr lang="en-US" sz="3100" b="1" dirty="0" err="1">
                <a:latin typeface="Times New Roman" pitchFamily="18" charset="0"/>
                <a:cs typeface="Times New Roman" pitchFamily="18" charset="0"/>
              </a:rPr>
              <a:t>toán</a:t>
            </a:r>
            <a:r>
              <a:rPr lang="en-US" sz="3100" b="1" dirty="0">
                <a:latin typeface="Times New Roman" pitchFamily="18" charset="0"/>
                <a:cs typeface="Times New Roman" pitchFamily="18" charset="0"/>
              </a:rPr>
              <a:t> NSNN</a:t>
            </a:r>
          </a:p>
          <a:p>
            <a:pPr marL="0" indent="0" algn="just">
              <a:lnSpc>
                <a:spcPct val="150000"/>
              </a:lnSpc>
              <a:buFont typeface="Arial" panose="020B0604020202020204" pitchFamily="34" charset="0"/>
              <a:buNone/>
            </a:pPr>
            <a:r>
              <a:rPr lang="en-US" sz="3100" dirty="0">
                <a:latin typeface="Times New Roman" pitchFamily="18" charset="0"/>
                <a:cs typeface="Times New Roman" pitchFamily="18" charset="0"/>
              </a:rPr>
              <a:t>	</a:t>
            </a:r>
            <a:r>
              <a:rPr lang="en-US" sz="3100" b="1" dirty="0" err="1">
                <a:latin typeface="Times New Roman" pitchFamily="18" charset="0"/>
                <a:cs typeface="Times New Roman" pitchFamily="18" charset="0"/>
              </a:rPr>
              <a:t>Bước</a:t>
            </a:r>
            <a:r>
              <a:rPr lang="en-US" sz="3100" b="1" dirty="0">
                <a:latin typeface="Times New Roman" pitchFamily="18" charset="0"/>
                <a:cs typeface="Times New Roman" pitchFamily="18" charset="0"/>
              </a:rPr>
              <a:t> 3: </a:t>
            </a:r>
            <a:r>
              <a:rPr lang="en-US" sz="3100" b="1" dirty="0" err="1">
                <a:latin typeface="Times New Roman" pitchFamily="18" charset="0"/>
                <a:cs typeface="Times New Roman" pitchFamily="18" charset="0"/>
              </a:rPr>
              <a:t>Quyết</a:t>
            </a:r>
            <a:r>
              <a:rPr lang="en-US" sz="3100" b="1" dirty="0">
                <a:latin typeface="Times New Roman" pitchFamily="18" charset="0"/>
                <a:cs typeface="Times New Roman" pitchFamily="18" charset="0"/>
              </a:rPr>
              <a:t> </a:t>
            </a:r>
            <a:r>
              <a:rPr lang="en-US" sz="3100" b="1" dirty="0" err="1">
                <a:latin typeface="Times New Roman" pitchFamily="18" charset="0"/>
                <a:cs typeface="Times New Roman" pitchFamily="18" charset="0"/>
              </a:rPr>
              <a:t>dịnh</a:t>
            </a:r>
            <a:r>
              <a:rPr lang="en-US" sz="3100" b="1" dirty="0">
                <a:latin typeface="Times New Roman" pitchFamily="18" charset="0"/>
                <a:cs typeface="Times New Roman" pitchFamily="18" charset="0"/>
              </a:rPr>
              <a:t> </a:t>
            </a:r>
            <a:r>
              <a:rPr lang="en-US" sz="3100" b="1" dirty="0" err="1">
                <a:latin typeface="Times New Roman" pitchFamily="18" charset="0"/>
                <a:cs typeface="Times New Roman" pitchFamily="18" charset="0"/>
              </a:rPr>
              <a:t>dự</a:t>
            </a:r>
            <a:r>
              <a:rPr lang="en-US" sz="3100" b="1" dirty="0">
                <a:latin typeface="Times New Roman" pitchFamily="18" charset="0"/>
                <a:cs typeface="Times New Roman" pitchFamily="18" charset="0"/>
              </a:rPr>
              <a:t> </a:t>
            </a:r>
            <a:r>
              <a:rPr lang="en-US" sz="3100" b="1" dirty="0" err="1">
                <a:latin typeface="Times New Roman" pitchFamily="18" charset="0"/>
                <a:cs typeface="Times New Roman" pitchFamily="18" charset="0"/>
              </a:rPr>
              <a:t>toán</a:t>
            </a:r>
            <a:r>
              <a:rPr lang="en-US" sz="3100" b="1" dirty="0">
                <a:latin typeface="Times New Roman" pitchFamily="18" charset="0"/>
                <a:cs typeface="Times New Roman" pitchFamily="18" charset="0"/>
              </a:rPr>
              <a:t> NSNN</a:t>
            </a:r>
          </a:p>
          <a:p>
            <a:pPr marL="0" indent="0" algn="just">
              <a:lnSpc>
                <a:spcPct val="150000"/>
              </a:lnSpc>
              <a:buFont typeface="Arial" panose="020B0604020202020204" pitchFamily="34" charset="0"/>
              <a:buNone/>
            </a:pPr>
            <a:r>
              <a:rPr lang="en-US" sz="3100" b="1" dirty="0">
                <a:latin typeface="Times New Roman" pitchFamily="18" charset="0"/>
                <a:cs typeface="Times New Roman" pitchFamily="18" charset="0"/>
              </a:rPr>
              <a:t>	</a:t>
            </a:r>
            <a:r>
              <a:rPr lang="en-US" sz="3100" b="1" dirty="0" err="1">
                <a:latin typeface="Times New Roman" pitchFamily="18" charset="0"/>
                <a:cs typeface="Times New Roman" pitchFamily="18" charset="0"/>
              </a:rPr>
              <a:t>Bước</a:t>
            </a:r>
            <a:r>
              <a:rPr lang="en-US" sz="3100" b="1" dirty="0">
                <a:latin typeface="Times New Roman" pitchFamily="18" charset="0"/>
                <a:cs typeface="Times New Roman" pitchFamily="18" charset="0"/>
              </a:rPr>
              <a:t> 4: Giao </a:t>
            </a:r>
            <a:r>
              <a:rPr lang="en-US" sz="3100" b="1" dirty="0" err="1">
                <a:latin typeface="Times New Roman" pitchFamily="18" charset="0"/>
                <a:cs typeface="Times New Roman" pitchFamily="18" charset="0"/>
              </a:rPr>
              <a:t>dự</a:t>
            </a:r>
            <a:r>
              <a:rPr lang="en-US" sz="3100" b="1" dirty="0">
                <a:latin typeface="Times New Roman" pitchFamily="18" charset="0"/>
                <a:cs typeface="Times New Roman" pitchFamily="18" charset="0"/>
              </a:rPr>
              <a:t> </a:t>
            </a:r>
            <a:r>
              <a:rPr lang="en-US" sz="3100" b="1" dirty="0" err="1">
                <a:latin typeface="Times New Roman" pitchFamily="18" charset="0"/>
                <a:cs typeface="Times New Roman" pitchFamily="18" charset="0"/>
              </a:rPr>
              <a:t>toán</a:t>
            </a:r>
            <a:r>
              <a:rPr lang="en-US" sz="3100" b="1" dirty="0">
                <a:latin typeface="Times New Roman" pitchFamily="18" charset="0"/>
                <a:cs typeface="Times New Roman" pitchFamily="18" charset="0"/>
              </a:rPr>
              <a:t> NSNN</a:t>
            </a:r>
          </a:p>
          <a:p>
            <a:pPr marL="0" indent="0" algn="just">
              <a:lnSpc>
                <a:spcPct val="150000"/>
              </a:lnSpc>
              <a:buFont typeface="Arial" panose="020B0604020202020204" pitchFamily="34" charset="0"/>
              <a:buNone/>
            </a:pPr>
            <a:r>
              <a:rPr lang="vi-VN" sz="3100" b="1" dirty="0">
                <a:latin typeface="Times New Roman" pitchFamily="18" charset="0"/>
                <a:cs typeface="Times New Roman" pitchFamily="18" charset="0"/>
              </a:rPr>
              <a:t>	</a:t>
            </a:r>
            <a:endParaRPr lang="en-US" dirty="0"/>
          </a:p>
        </p:txBody>
      </p:sp>
    </p:spTree>
    <p:extLst>
      <p:ext uri="{BB962C8B-B14F-4D97-AF65-F5344CB8AC3E}">
        <p14:creationId xmlns:p14="http://schemas.microsoft.com/office/powerpoint/2010/main" val="29683311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2780C-400C-57FB-39DF-C76B83A403A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6B2A6E2-88F3-8DDE-0CD8-A62F44E9461F}"/>
              </a:ext>
            </a:extLst>
          </p:cNvPr>
          <p:cNvSpPr>
            <a:spLocks noGrp="1" noRot="1" noMove="1" noResize="1" noEditPoints="1" noAdjustHandles="1" noChangeArrowheads="1" noChangeShapeType="1"/>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2.3.1. LẬP DỰ TOÁN</a:t>
            </a:r>
          </a:p>
        </p:txBody>
      </p:sp>
      <p:sp>
        <p:nvSpPr>
          <p:cNvPr id="3" name="Content Placeholder 2">
            <a:extLst>
              <a:ext uri="{FF2B5EF4-FFF2-40B4-BE49-F238E27FC236}">
                <a16:creationId xmlns:a16="http://schemas.microsoft.com/office/drawing/2014/main" id="{40FA9B8F-8E16-4A05-7C40-6A6C0DE8D7EF}"/>
              </a:ext>
            </a:extLst>
          </p:cNvPr>
          <p:cNvSpPr txBox="1">
            <a:spLocks/>
          </p:cNvSpPr>
          <p:nvPr/>
        </p:nvSpPr>
        <p:spPr>
          <a:xfrm>
            <a:off x="178025" y="1297316"/>
            <a:ext cx="11871016" cy="5547267"/>
          </a:xfrm>
          <a:prstGeom prst="rect">
            <a:avLst/>
          </a:prstGeom>
        </p:spPr>
        <p:txBody>
          <a:bodyPr>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vi-VN" sz="3200" b="1" dirty="0">
                <a:solidFill>
                  <a:srgbClr val="C00000"/>
                </a:solidFill>
                <a:latin typeface="+mj-lt"/>
              </a:rPr>
              <a:t> </a:t>
            </a:r>
            <a:r>
              <a:rPr lang="vi-VN" sz="3100" b="1" dirty="0">
                <a:solidFill>
                  <a:srgbClr val="C00000"/>
                </a:solidFill>
                <a:latin typeface="+mj-lt"/>
              </a:rPr>
              <a:t>Các hoạt động trong khâu lập dự toán NSNN</a:t>
            </a:r>
            <a:endParaRPr lang="en-US" sz="3100" b="1" dirty="0">
              <a:solidFill>
                <a:srgbClr val="C00000"/>
              </a:solidFill>
              <a:latin typeface="+mj-lt"/>
            </a:endParaRPr>
          </a:p>
          <a:p>
            <a:pPr marL="0" indent="0" algn="just">
              <a:lnSpc>
                <a:spcPct val="150000"/>
              </a:lnSpc>
              <a:buNone/>
            </a:pPr>
            <a:r>
              <a:rPr lang="vi-VN" sz="3200" b="1" dirty="0">
                <a:latin typeface="Times New Roman" pitchFamily="18" charset="0"/>
                <a:cs typeface="Times New Roman" pitchFamily="18" charset="0"/>
              </a:rPr>
              <a:t>Bước 1: </a:t>
            </a:r>
            <a:r>
              <a:rPr lang="en-US" sz="3200" b="1" dirty="0" err="1">
                <a:latin typeface="Times New Roman" pitchFamily="18" charset="0"/>
                <a:cs typeface="Times New Roman" pitchFamily="18" charset="0"/>
              </a:rPr>
              <a:t>Hướng</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dẫn</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lập</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dự</a:t>
            </a:r>
            <a:r>
              <a:rPr lang="en-US" sz="3200" b="1" dirty="0">
                <a:latin typeface="Times New Roman" pitchFamily="18" charset="0"/>
                <a:cs typeface="Times New Roman" pitchFamily="18" charset="0"/>
              </a:rPr>
              <a:t> </a:t>
            </a:r>
            <a:r>
              <a:rPr lang="en-US" sz="3200" b="1" dirty="0" err="1">
                <a:latin typeface="Times New Roman" pitchFamily="18" charset="0"/>
                <a:cs typeface="Times New Roman" pitchFamily="18" charset="0"/>
              </a:rPr>
              <a:t>toán</a:t>
            </a:r>
            <a:r>
              <a:rPr lang="en-US" sz="3200" b="1" dirty="0">
                <a:latin typeface="Times New Roman" pitchFamily="18" charset="0"/>
                <a:cs typeface="Times New Roman" pitchFamily="18" charset="0"/>
              </a:rPr>
              <a:t> NSNN</a:t>
            </a:r>
          </a:p>
          <a:p>
            <a:pPr marL="0" indent="0" algn="just">
              <a:lnSpc>
                <a:spcPct val="150000"/>
              </a:lnSpc>
              <a:buNone/>
            </a:pPr>
            <a:r>
              <a:rPr lang="en-US" sz="3200" b="1" dirty="0">
                <a:latin typeface="Times New Roman" pitchFamily="18" charset="0"/>
                <a:cs typeface="Times New Roman" pitchFamily="18" charset="0"/>
              </a:rPr>
              <a:t>- </a:t>
            </a:r>
            <a:r>
              <a:rPr lang="vi-VN" sz="3200" dirty="0">
                <a:latin typeface="Times New Roman" panose="02020603050405020304" pitchFamily="18" charset="0"/>
                <a:cs typeface="Times New Roman" panose="02020603050405020304" pitchFamily="18" charset="0"/>
              </a:rPr>
              <a:t>Thủ tướng Chính phủ ban hành quy định về việc xây dựng kế hoạch phát triển kinh tế - xã hội, dự toán </a:t>
            </a:r>
            <a:r>
              <a:rPr lang="en-US" sz="3200" dirty="0">
                <a:latin typeface="Times New Roman" panose="02020603050405020304" pitchFamily="18" charset="0"/>
                <a:cs typeface="Times New Roman" panose="02020603050405020304" pitchFamily="18" charset="0"/>
              </a:rPr>
              <a:t>NSNN </a:t>
            </a:r>
            <a:r>
              <a:rPr lang="vi-VN" sz="3200" dirty="0">
                <a:latin typeface="Times New Roman" panose="02020603050405020304" pitchFamily="18" charset="0"/>
                <a:cs typeface="Times New Roman" panose="02020603050405020304" pitchFamily="18" charset="0"/>
              </a:rPr>
              <a:t>năm sau.</a:t>
            </a:r>
            <a:endParaRPr lang="en-US" sz="3200" dirty="0">
              <a:latin typeface="Times New Roman" panose="02020603050405020304" pitchFamily="18" charset="0"/>
              <a:cs typeface="Times New Roman" panose="02020603050405020304" pitchFamily="18" charset="0"/>
            </a:endParaRPr>
          </a:p>
          <a:p>
            <a:pPr marL="0" indent="0" algn="just">
              <a:lnSpc>
                <a:spcPct val="150000"/>
              </a:lnSpc>
              <a:buNone/>
            </a:pP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Bộ</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tài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chính</a:t>
            </a:r>
            <a:r>
              <a:rPr lang="en-US" sz="3200" dirty="0">
                <a:latin typeface="Times New Roman" panose="02020603050405020304" pitchFamily="18" charset="0"/>
                <a:cs typeface="Times New Roman" panose="02020603050405020304" pitchFamily="18" charset="0"/>
              </a:rPr>
              <a:t> ban </a:t>
            </a:r>
            <a:r>
              <a:rPr lang="en-US" sz="3200" dirty="0" err="1">
                <a:latin typeface="Times New Roman" panose="02020603050405020304" pitchFamily="18" charset="0"/>
                <a:cs typeface="Times New Roman" panose="02020603050405020304" pitchFamily="18" charset="0"/>
              </a:rPr>
              <a:t>hành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văn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bản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hướng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dẫn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về</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xây</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dựng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kế</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hoạch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phát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triển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kinh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tế</a:t>
            </a:r>
            <a:r>
              <a:rPr lang="en-US" sz="3200" dirty="0">
                <a:latin typeface="Times New Roman" panose="02020603050405020304" pitchFamily="18" charset="0"/>
                <a:cs typeface="Times New Roman" panose="02020603050405020304" pitchFamily="18" charset="0"/>
              </a:rPr>
              <a:t> - </a:t>
            </a:r>
            <a:r>
              <a:rPr lang="en-US" sz="3200" dirty="0" err="1">
                <a:latin typeface="Times New Roman" panose="02020603050405020304" pitchFamily="18" charset="0"/>
                <a:cs typeface="Times New Roman" panose="02020603050405020304" pitchFamily="18" charset="0"/>
              </a:rPr>
              <a:t>xã</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hội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dự</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toán</a:t>
            </a:r>
            <a:r>
              <a:rPr lang="en-US" sz="3200" dirty="0">
                <a:latin typeface="Times New Roman" panose="02020603050405020304" pitchFamily="18" charset="0"/>
                <a:cs typeface="Times New Roman" panose="02020603050405020304" pitchFamily="18" charset="0"/>
              </a:rPr>
              <a:t> NSNN </a:t>
            </a:r>
            <a:r>
              <a:rPr lang="en-US" sz="3200" dirty="0" err="1">
                <a:latin typeface="Times New Roman" panose="02020603050405020304" pitchFamily="18" charset="0"/>
                <a:cs typeface="Times New Roman" panose="02020603050405020304" pitchFamily="18" charset="0"/>
              </a:rPr>
              <a:t>năm</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sau</a:t>
            </a:r>
            <a:r>
              <a:rPr lang="en-US" sz="3200" dirty="0">
                <a:latin typeface="Times New Roman" panose="02020603050405020304" pitchFamily="18" charset="0"/>
                <a:cs typeface="Times New Roman" panose="02020603050405020304" pitchFamily="18" charset="0"/>
              </a:rPr>
              <a:t>.</a:t>
            </a:r>
          </a:p>
          <a:p>
            <a:pPr marL="0" indent="0" algn="just">
              <a:lnSpc>
                <a:spcPct val="150000"/>
              </a:lnSpc>
              <a:buNone/>
            </a:pP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Căn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cứ</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hướng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dẫn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của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Bộ</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tài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chính</a:t>
            </a:r>
            <a:r>
              <a:rPr lang="en-US" sz="3200" dirty="0">
                <a:latin typeface="Times New Roman" panose="02020603050405020304" pitchFamily="18" charset="0"/>
                <a:cs typeface="Times New Roman" panose="02020603050405020304" pitchFamily="18" charset="0"/>
              </a:rPr>
              <a:t>: </a:t>
            </a:r>
          </a:p>
          <a:p>
            <a:pPr marL="0" indent="0" algn="just">
              <a:lnSpc>
                <a:spcPct val="150000"/>
              </a:lnSpc>
              <a:buNone/>
            </a:pPr>
            <a:r>
              <a:rPr lang="en-US" sz="3200" dirty="0">
                <a:latin typeface="Times New Roman" panose="02020603050405020304" pitchFamily="18" charset="0"/>
                <a:cs typeface="Times New Roman" panose="02020603050405020304" pitchFamily="18" charset="0"/>
              </a:rPr>
              <a:t>+ </a:t>
            </a:r>
            <a:r>
              <a:rPr lang="vi-VN" sz="3200" dirty="0">
                <a:latin typeface="Times New Roman" panose="02020603050405020304" pitchFamily="18" charset="0"/>
                <a:cs typeface="Times New Roman" panose="02020603050405020304" pitchFamily="18" charset="0"/>
              </a:rPr>
              <a:t>Các </a:t>
            </a:r>
            <a:r>
              <a:rPr lang="en-US" sz="3200" dirty="0">
                <a:latin typeface="Times New Roman" panose="02020603050405020304" pitchFamily="18" charset="0"/>
                <a:cs typeface="Times New Roman" panose="02020603050405020304" pitchFamily="18" charset="0"/>
              </a:rPr>
              <a:t>B</a:t>
            </a:r>
            <a:r>
              <a:rPr lang="vi-VN" sz="3200" dirty="0">
                <a:latin typeface="Times New Roman" panose="02020603050405020304" pitchFamily="18" charset="0"/>
                <a:cs typeface="Times New Roman" panose="02020603050405020304" pitchFamily="18" charset="0"/>
              </a:rPr>
              <a:t>ộ, cơ quan ngang </a:t>
            </a:r>
            <a:r>
              <a:rPr lang="en-US" sz="3200" dirty="0">
                <a:latin typeface="Times New Roman" panose="02020603050405020304" pitchFamily="18" charset="0"/>
                <a:cs typeface="Times New Roman" panose="02020603050405020304" pitchFamily="18" charset="0"/>
              </a:rPr>
              <a:t>B</a:t>
            </a:r>
            <a:r>
              <a:rPr lang="vi-VN" sz="3200" dirty="0">
                <a:latin typeface="Times New Roman" panose="02020603050405020304" pitchFamily="18" charset="0"/>
                <a:cs typeface="Times New Roman" panose="02020603050405020304" pitchFamily="18" charset="0"/>
              </a:rPr>
              <a:t>ộ, cơ quan thuộc Chính phủ, cơ quan khác ở trung ương hướng dẫn xây dựng dự toán ngân sách năm sau trong phạm vi được giao quản lý</a:t>
            </a:r>
            <a:r>
              <a:rPr lang="en-US" sz="3200" dirty="0">
                <a:latin typeface="Times New Roman" panose="02020603050405020304" pitchFamily="18" charset="0"/>
                <a:cs typeface="Times New Roman" panose="02020603050405020304" pitchFamily="18" charset="0"/>
              </a:rPr>
              <a:t>;</a:t>
            </a:r>
          </a:p>
          <a:p>
            <a:pPr marL="0" indent="0" algn="just">
              <a:lnSpc>
                <a:spcPct val="150000"/>
              </a:lnSpc>
              <a:buNone/>
            </a:pPr>
            <a:r>
              <a:rPr lang="en-US" sz="3200" dirty="0">
                <a:latin typeface="Times New Roman" panose="02020603050405020304" pitchFamily="18" charset="0"/>
                <a:cs typeface="Times New Roman" panose="02020603050405020304" pitchFamily="18" charset="0"/>
              </a:rPr>
              <a:t>+ </a:t>
            </a:r>
            <a:r>
              <a:rPr lang="vi-VN" sz="3200" dirty="0">
                <a:latin typeface="Times New Roman" panose="02020603050405020304" pitchFamily="18" charset="0"/>
                <a:cs typeface="Times New Roman" panose="02020603050405020304" pitchFamily="18" charset="0"/>
              </a:rPr>
              <a:t>Ủy ban nhân dân cấp tỉnh hướng dẫn xây dựng dự toán ngân sách năm sau ở địa phương phù hợp với yêu cầu, nội dung và thời gian lập dự toán ngân sách tỉnh, thành phố trực thuộc trung ương.</a:t>
            </a:r>
            <a:r>
              <a:rPr lang="vi-VN" sz="3200" b="1" dirty="0">
                <a:latin typeface="Times New Roman" panose="02020603050405020304" pitchFamily="18" charset="0"/>
                <a:cs typeface="Times New Roman" pitchFamily="18" charset="0"/>
              </a:rPr>
              <a:t>	</a:t>
            </a:r>
            <a:endParaRPr lang="en-US" sz="3200" dirty="0">
              <a:latin typeface="Times New Roman" panose="02020603050405020304" pitchFamily="18" charset="0"/>
              <a:cs typeface="Times New Roman" panose="02020603050405020304" pitchFamily="18" charset="0"/>
            </a:endParaRPr>
          </a:p>
          <a:p>
            <a:pPr>
              <a:lnSpc>
                <a:spcPct val="100000"/>
              </a:lnSpc>
              <a:buFont typeface="Wingdings" panose="05000000000000000000" pitchFamily="2" charset="2"/>
              <a:buChar char="v"/>
            </a:pPr>
            <a:endParaRPr lang="vi-VN" sz="3100" b="1" i="1" dirty="0">
              <a:solidFill>
                <a:srgbClr val="C00000"/>
              </a:solidFill>
              <a:latin typeface="+mj-lt"/>
            </a:endParaRPr>
          </a:p>
        </p:txBody>
      </p:sp>
    </p:spTree>
    <p:extLst>
      <p:ext uri="{BB962C8B-B14F-4D97-AF65-F5344CB8AC3E}">
        <p14:creationId xmlns:p14="http://schemas.microsoft.com/office/powerpoint/2010/main" val="40464643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2E26C-F80B-3025-288F-AF38A713AEF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46BFBA4-40F9-D39B-3671-5C26B14712F5}"/>
              </a:ext>
            </a:extLst>
          </p:cNvPr>
          <p:cNvSpPr>
            <a:spLocks noGrp="1" noRot="1" noMove="1" noResize="1" noEditPoints="1" noAdjustHandles="1" noChangeArrowheads="1" noChangeShapeType="1"/>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2.3.1. LẬP DỰ TOÁN</a:t>
            </a:r>
          </a:p>
        </p:txBody>
      </p:sp>
      <p:sp>
        <p:nvSpPr>
          <p:cNvPr id="3" name="Content Placeholder 2">
            <a:extLst>
              <a:ext uri="{FF2B5EF4-FFF2-40B4-BE49-F238E27FC236}">
                <a16:creationId xmlns:a16="http://schemas.microsoft.com/office/drawing/2014/main" id="{79EF02B4-9ED3-2D01-B253-8527DF4BC7C4}"/>
              </a:ext>
            </a:extLst>
          </p:cNvPr>
          <p:cNvSpPr txBox="1">
            <a:spLocks/>
          </p:cNvSpPr>
          <p:nvPr/>
        </p:nvSpPr>
        <p:spPr>
          <a:xfrm>
            <a:off x="178025" y="1297316"/>
            <a:ext cx="11871016" cy="5547267"/>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vi-VN" sz="2200" b="1" dirty="0">
                <a:solidFill>
                  <a:srgbClr val="C00000"/>
                </a:solidFill>
                <a:latin typeface="+mj-lt"/>
              </a:rPr>
              <a:t> Các hoạt động trong khâu lập dự toán NSNN</a:t>
            </a:r>
            <a:endParaRPr lang="en-US" sz="2200" b="1" dirty="0">
              <a:solidFill>
                <a:srgbClr val="C00000"/>
              </a:solidFill>
              <a:latin typeface="+mj-lt"/>
            </a:endParaRPr>
          </a:p>
          <a:p>
            <a:pPr marL="0" indent="0" algn="just">
              <a:lnSpc>
                <a:spcPct val="150000"/>
              </a:lnSpc>
              <a:buNone/>
            </a:pPr>
            <a:r>
              <a:rPr lang="en-US" sz="2200" b="1" dirty="0" err="1">
                <a:latin typeface="Times New Roman" pitchFamily="18" charset="0"/>
                <a:cs typeface="Times New Roman" pitchFamily="18" charset="0"/>
              </a:rPr>
              <a:t>Bước</a:t>
            </a:r>
            <a:r>
              <a:rPr lang="en-US" sz="2200" b="1" dirty="0">
                <a:latin typeface="Times New Roman" pitchFamily="18" charset="0"/>
                <a:cs typeface="Times New Roman" pitchFamily="18" charset="0"/>
              </a:rPr>
              <a:t> 2: </a:t>
            </a:r>
            <a:r>
              <a:rPr lang="en-US" sz="2200" b="1" dirty="0" err="1">
                <a:latin typeface="Times New Roman" pitchFamily="18" charset="0"/>
                <a:cs typeface="Times New Roman" pitchFamily="18" charset="0"/>
              </a:rPr>
              <a:t>Xây</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dựng</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và</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tổng</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hợp</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dự</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toán</a:t>
            </a:r>
            <a:r>
              <a:rPr lang="en-US" sz="2200" b="1" dirty="0">
                <a:latin typeface="Times New Roman" pitchFamily="18" charset="0"/>
                <a:cs typeface="Times New Roman" pitchFamily="18" charset="0"/>
              </a:rPr>
              <a:t> NSNN </a:t>
            </a:r>
          </a:p>
          <a:p>
            <a:pPr algn="just">
              <a:lnSpc>
                <a:spcPct val="150000"/>
              </a:lnSpc>
              <a:buFontTx/>
              <a:buChar char="-"/>
            </a:pPr>
            <a:r>
              <a:rPr lang="vi-VN" sz="2200" dirty="0">
                <a:solidFill>
                  <a:schemeClr val="accent6">
                    <a:lumMod val="75000"/>
                  </a:schemeClr>
                </a:solidFill>
              </a:rPr>
              <a:t>Các </a:t>
            </a:r>
            <a:r>
              <a:rPr lang="en-US" sz="2200" dirty="0">
                <a:solidFill>
                  <a:schemeClr val="accent6">
                    <a:lumMod val="75000"/>
                  </a:schemeClr>
                </a:solidFill>
              </a:rPr>
              <a:t>B</a:t>
            </a:r>
            <a:r>
              <a:rPr lang="vi-VN" sz="2200" dirty="0">
                <a:solidFill>
                  <a:schemeClr val="accent6">
                    <a:lumMod val="75000"/>
                  </a:schemeClr>
                </a:solidFill>
              </a:rPr>
              <a:t>ộ, cơ quan ngang </a:t>
            </a:r>
            <a:r>
              <a:rPr lang="en-US" sz="2200" dirty="0">
                <a:solidFill>
                  <a:schemeClr val="accent6">
                    <a:lumMod val="75000"/>
                  </a:schemeClr>
                </a:solidFill>
              </a:rPr>
              <a:t>B</a:t>
            </a:r>
            <a:r>
              <a:rPr lang="vi-VN" sz="2200" dirty="0">
                <a:solidFill>
                  <a:schemeClr val="accent6">
                    <a:lumMod val="75000"/>
                  </a:schemeClr>
                </a:solidFill>
              </a:rPr>
              <a:t>ộ, cơ quan thuộc Chính phủ, cơ quan khác ở trung ương </a:t>
            </a:r>
            <a:r>
              <a:rPr lang="vi-VN" sz="2200" dirty="0"/>
              <a:t>lập </a:t>
            </a:r>
            <a:r>
              <a:rPr lang="vi-VN" sz="2200" dirty="0">
                <a:solidFill>
                  <a:srgbClr val="FFC000"/>
                </a:solidFill>
              </a:rPr>
              <a:t>dự toán thu, chi ngân sách, phương án phân bổ ngân sách năm sau </a:t>
            </a:r>
            <a:r>
              <a:rPr lang="vi-VN" sz="2200" dirty="0">
                <a:solidFill>
                  <a:srgbClr val="0070C0"/>
                </a:solidFill>
              </a:rPr>
              <a:t>chi tiết theo từng lĩnh vực </a:t>
            </a:r>
            <a:r>
              <a:rPr lang="vi-VN" sz="2200" dirty="0"/>
              <a:t>và </a:t>
            </a:r>
            <a:r>
              <a:rPr lang="vi-VN" sz="2200" dirty="0">
                <a:solidFill>
                  <a:srgbClr val="0070C0"/>
                </a:solidFill>
              </a:rPr>
              <a:t>chi tiết tới từng đơn vị sử dụng ngân sách</a:t>
            </a:r>
            <a:r>
              <a:rPr lang="vi-VN" sz="2200" dirty="0"/>
              <a:t>, gửi </a:t>
            </a:r>
            <a:r>
              <a:rPr lang="vi-VN" sz="2200" dirty="0">
                <a:solidFill>
                  <a:srgbClr val="FF0000"/>
                </a:solidFill>
              </a:rPr>
              <a:t>Bộ Tài chính</a:t>
            </a:r>
            <a:r>
              <a:rPr lang="vi-VN" sz="2200" dirty="0"/>
              <a:t>, </a:t>
            </a:r>
            <a:r>
              <a:rPr lang="vi-VN" sz="2200" dirty="0">
                <a:solidFill>
                  <a:srgbClr val="FF0000"/>
                </a:solidFill>
              </a:rPr>
              <a:t>Bộ Khoa học và Công nghệ </a:t>
            </a:r>
            <a:r>
              <a:rPr lang="vi-VN" sz="2200" dirty="0"/>
              <a:t>(đối với phần chi khoa học, công nghệ, đổi mới sáng tạo và chuyển đổi số), </a:t>
            </a:r>
            <a:r>
              <a:rPr lang="vi-VN" sz="2200" dirty="0">
                <a:solidFill>
                  <a:srgbClr val="FF0000"/>
                </a:solidFill>
              </a:rPr>
              <a:t>các cơ quan chủ chương trình mục tiêu quốc gia</a:t>
            </a:r>
            <a:r>
              <a:rPr lang="vi-VN" sz="2200" dirty="0"/>
              <a:t> (đối với phần chi chương trình mục tiêu quốc gia);</a:t>
            </a:r>
            <a:endParaRPr lang="en-US" sz="3100" i="1" dirty="0">
              <a:solidFill>
                <a:srgbClr val="C00000"/>
              </a:solidFill>
              <a:latin typeface="+mj-lt"/>
            </a:endParaRPr>
          </a:p>
          <a:p>
            <a:pPr algn="just">
              <a:lnSpc>
                <a:spcPct val="150000"/>
              </a:lnSpc>
              <a:buFontTx/>
              <a:buChar char="-"/>
            </a:pPr>
            <a:r>
              <a:rPr lang="vi-VN" sz="2200" dirty="0">
                <a:solidFill>
                  <a:schemeClr val="accent6">
                    <a:lumMod val="75000"/>
                  </a:schemeClr>
                </a:solidFill>
              </a:rPr>
              <a:t>Ủy ban nhân dân cấp tỉnh</a:t>
            </a:r>
            <a:r>
              <a:rPr lang="vi-VN" sz="2200" dirty="0"/>
              <a:t> lập, tổng hợp </a:t>
            </a:r>
            <a:r>
              <a:rPr lang="vi-VN" sz="2200" dirty="0">
                <a:solidFill>
                  <a:srgbClr val="FFC000"/>
                </a:solidFill>
              </a:rPr>
              <a:t>dự toán ngân sách địa phương năm sau </a:t>
            </a:r>
            <a:r>
              <a:rPr lang="vi-VN" sz="2200" dirty="0"/>
              <a:t>gửi </a:t>
            </a:r>
            <a:r>
              <a:rPr lang="vi-VN" sz="2200" dirty="0">
                <a:solidFill>
                  <a:srgbClr val="FF0000"/>
                </a:solidFill>
              </a:rPr>
              <a:t>Bộ Tài chính</a:t>
            </a:r>
            <a:r>
              <a:rPr lang="vi-VN" sz="2200" dirty="0"/>
              <a:t>, </a:t>
            </a:r>
            <a:r>
              <a:rPr lang="vi-VN" sz="2200" dirty="0">
                <a:solidFill>
                  <a:srgbClr val="FF0000"/>
                </a:solidFill>
              </a:rPr>
              <a:t>Bộ Khoa học và Công nghệ </a:t>
            </a:r>
            <a:r>
              <a:rPr lang="vi-VN" sz="2200" dirty="0"/>
              <a:t>(đối với phần chi khoa học, công nghệ, đổi mới sáng tạo và chuyển đổi số), </a:t>
            </a:r>
            <a:r>
              <a:rPr lang="en-US" sz="2200" dirty="0">
                <a:solidFill>
                  <a:srgbClr val="FF0000"/>
                </a:solidFill>
              </a:rPr>
              <a:t>c</a:t>
            </a:r>
            <a:r>
              <a:rPr lang="vi-VN" sz="2200" dirty="0">
                <a:solidFill>
                  <a:srgbClr val="FF0000"/>
                </a:solidFill>
              </a:rPr>
              <a:t>ác cơ quan chủ chương trình mục tiêu quốc gia </a:t>
            </a:r>
            <a:r>
              <a:rPr lang="vi-VN" sz="2200" dirty="0"/>
              <a:t>(phần dự toán chi chương trình mục tiêu quốc gia);</a:t>
            </a:r>
            <a:endParaRPr lang="en-US" sz="2200" dirty="0"/>
          </a:p>
          <a:p>
            <a:pPr algn="just">
              <a:lnSpc>
                <a:spcPct val="150000"/>
              </a:lnSpc>
              <a:buFontTx/>
              <a:buChar char="-"/>
            </a:pPr>
            <a:endParaRPr lang="en-US" sz="2200" dirty="0"/>
          </a:p>
        </p:txBody>
      </p:sp>
    </p:spTree>
    <p:extLst>
      <p:ext uri="{BB962C8B-B14F-4D97-AF65-F5344CB8AC3E}">
        <p14:creationId xmlns:p14="http://schemas.microsoft.com/office/powerpoint/2010/main" val="16108918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6C058-690C-FB8C-3643-1B17F41C9CE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5B51476-E8D0-1741-FD51-EE0CF243361D}"/>
              </a:ext>
            </a:extLst>
          </p:cNvPr>
          <p:cNvSpPr>
            <a:spLocks noGrp="1" noRot="1" noMove="1" noResize="1" noEditPoints="1" noAdjustHandles="1" noChangeArrowheads="1" noChangeShapeType="1"/>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2.3.1. LẬP DỰ TOÁN</a:t>
            </a:r>
          </a:p>
        </p:txBody>
      </p:sp>
      <p:sp>
        <p:nvSpPr>
          <p:cNvPr id="3" name="Content Placeholder 2">
            <a:extLst>
              <a:ext uri="{FF2B5EF4-FFF2-40B4-BE49-F238E27FC236}">
                <a16:creationId xmlns:a16="http://schemas.microsoft.com/office/drawing/2014/main" id="{13E55ADE-0FE4-093A-3F03-D499FD492ACF}"/>
              </a:ext>
            </a:extLst>
          </p:cNvPr>
          <p:cNvSpPr txBox="1">
            <a:spLocks/>
          </p:cNvSpPr>
          <p:nvPr/>
        </p:nvSpPr>
        <p:spPr>
          <a:xfrm>
            <a:off x="178025" y="1297316"/>
            <a:ext cx="11871016" cy="554726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vi-VN" sz="2200" b="1" dirty="0">
                <a:solidFill>
                  <a:srgbClr val="C00000"/>
                </a:solidFill>
                <a:latin typeface="+mj-lt"/>
              </a:rPr>
              <a:t> Các hoạt động trong khâu lập dự toán NSNN</a:t>
            </a:r>
            <a:endParaRPr lang="en-US" sz="2200" b="1" dirty="0">
              <a:solidFill>
                <a:srgbClr val="C00000"/>
              </a:solidFill>
              <a:latin typeface="+mj-lt"/>
            </a:endParaRPr>
          </a:p>
          <a:p>
            <a:pPr marL="0" indent="0" algn="just">
              <a:lnSpc>
                <a:spcPct val="150000"/>
              </a:lnSpc>
              <a:buNone/>
            </a:pPr>
            <a:r>
              <a:rPr lang="en-US" sz="2200" b="1" dirty="0" err="1">
                <a:latin typeface="Times New Roman" pitchFamily="18" charset="0"/>
                <a:cs typeface="Times New Roman" pitchFamily="18" charset="0"/>
              </a:rPr>
              <a:t>Bước</a:t>
            </a:r>
            <a:r>
              <a:rPr lang="en-US" sz="2200" b="1" dirty="0">
                <a:latin typeface="Times New Roman" pitchFamily="18" charset="0"/>
                <a:cs typeface="Times New Roman" pitchFamily="18" charset="0"/>
              </a:rPr>
              <a:t> 2: </a:t>
            </a:r>
            <a:r>
              <a:rPr lang="en-US" sz="2200" b="1" dirty="0" err="1">
                <a:latin typeface="Times New Roman" pitchFamily="18" charset="0"/>
                <a:cs typeface="Times New Roman" pitchFamily="18" charset="0"/>
              </a:rPr>
              <a:t>Xây</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dựng</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và</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tổng</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hợp</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dự</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toán</a:t>
            </a:r>
            <a:r>
              <a:rPr lang="en-US" sz="2200" b="1" dirty="0">
                <a:latin typeface="Times New Roman" pitchFamily="18" charset="0"/>
                <a:cs typeface="Times New Roman" pitchFamily="18" charset="0"/>
              </a:rPr>
              <a:t> NSNN </a:t>
            </a:r>
          </a:p>
          <a:p>
            <a:pPr algn="just">
              <a:lnSpc>
                <a:spcPct val="150000"/>
              </a:lnSpc>
              <a:buFontTx/>
              <a:buChar char="-"/>
            </a:pPr>
            <a:r>
              <a:rPr lang="en-US" sz="2200" dirty="0">
                <a:latin typeface="Arial" panose="020B0604020202020204" pitchFamily="34" charset="0"/>
                <a:cs typeface="Arial" panose="020B0604020202020204" pitchFamily="34" charset="0"/>
              </a:rPr>
              <a:t>Các </a:t>
            </a:r>
            <a:r>
              <a:rPr lang="en-US" sz="2200" dirty="0" err="1">
                <a:latin typeface="Arial" panose="020B0604020202020204" pitchFamily="34" charset="0"/>
                <a:cs typeface="Arial" panose="020B0604020202020204" pitchFamily="34" charset="0"/>
              </a:rPr>
              <a:t>Bộ</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cơ</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quan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chủ</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chương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trình</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mục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tiêu</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quốc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gia</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chủ</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trì</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phối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hợp</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với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Bộ</a:t>
            </a:r>
            <a:r>
              <a:rPr lang="en-US" sz="2200" dirty="0">
                <a:latin typeface="Arial" panose="020B0604020202020204" pitchFamily="34" charset="0"/>
                <a:cs typeface="Arial" panose="020B0604020202020204" pitchFamily="34" charset="0"/>
              </a:rPr>
              <a:t> Tài </a:t>
            </a:r>
            <a:r>
              <a:rPr lang="en-US" sz="2200" dirty="0" err="1">
                <a:latin typeface="Arial" panose="020B0604020202020204" pitchFamily="34" charset="0"/>
                <a:cs typeface="Arial" panose="020B0604020202020204" pitchFamily="34" charset="0"/>
              </a:rPr>
              <a:t>chính</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dự</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kiến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tổng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mức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kinh</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phí</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cho</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từng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chương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trình</a:t>
            </a:r>
            <a:r>
              <a:rPr lang="en-US" sz="2200" dirty="0">
                <a:latin typeface="Arial" panose="020B0604020202020204" pitchFamily="34" charset="0"/>
                <a:cs typeface="Arial" panose="020B0604020202020204" pitchFamily="34" charset="0"/>
              </a:rPr>
              <a:t>, chi </a:t>
            </a:r>
            <a:r>
              <a:rPr lang="en-US" sz="2200" dirty="0" err="1">
                <a:latin typeface="Arial" panose="020B0604020202020204" pitchFamily="34" charset="0"/>
                <a:cs typeface="Arial" panose="020B0604020202020204" pitchFamily="34" charset="0"/>
              </a:rPr>
              <a:t>tiết</a:t>
            </a:r>
            <a:r>
              <a:rPr lang="en-US" sz="2200" dirty="0">
                <a:latin typeface="Arial" panose="020B0604020202020204" pitchFamily="34" charset="0"/>
                <a:cs typeface="Arial" panose="020B0604020202020204" pitchFamily="34" charset="0"/>
              </a:rPr>
              <a:t> chi </a:t>
            </a:r>
            <a:r>
              <a:rPr lang="en-US" sz="2200" dirty="0" err="1">
                <a:latin typeface="Arial" panose="020B0604020202020204" pitchFamily="34" charset="0"/>
                <a:cs typeface="Arial" panose="020B0604020202020204" pitchFamily="34" charset="0"/>
              </a:rPr>
              <a:t>đầu</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tư</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phát</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triển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và</a:t>
            </a:r>
            <a:r>
              <a:rPr lang="en-US" sz="2200" dirty="0">
                <a:latin typeface="Arial" panose="020B0604020202020204" pitchFamily="34" charset="0"/>
                <a:cs typeface="Arial" panose="020B0604020202020204" pitchFamily="34" charset="0"/>
              </a:rPr>
              <a:t> chi </a:t>
            </a:r>
            <a:r>
              <a:rPr lang="en-US" sz="2200" dirty="0" err="1">
                <a:latin typeface="Arial" panose="020B0604020202020204" pitchFamily="34" charset="0"/>
                <a:cs typeface="Arial" panose="020B0604020202020204" pitchFamily="34" charset="0"/>
              </a:rPr>
              <a:t>thường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xuyên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bảo</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đảm</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trong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phạm</a:t>
            </a:r>
            <a:r>
              <a:rPr lang="en-US" sz="2200" dirty="0">
                <a:latin typeface="Arial" panose="020B0604020202020204" pitchFamily="34" charset="0"/>
                <a:cs typeface="Arial" panose="020B0604020202020204" pitchFamily="34" charset="0"/>
              </a:rPr>
              <a:t> vi </a:t>
            </a:r>
            <a:r>
              <a:rPr lang="en-US" sz="2200" dirty="0" err="1">
                <a:latin typeface="Arial" panose="020B0604020202020204" pitchFamily="34" charset="0"/>
                <a:cs typeface="Arial" panose="020B0604020202020204" pitchFamily="34" charset="0"/>
              </a:rPr>
              <a:t>tổng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mức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kinh</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phí</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đã</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được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phê</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duyệt</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và</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khả</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năng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thực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hiện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Bộ</a:t>
            </a:r>
            <a:r>
              <a:rPr lang="en-US" sz="2200" dirty="0">
                <a:latin typeface="Arial" panose="020B0604020202020204" pitchFamily="34" charset="0"/>
                <a:cs typeface="Arial" panose="020B0604020202020204" pitchFamily="34" charset="0"/>
              </a:rPr>
              <a:t> Khoa </a:t>
            </a:r>
            <a:r>
              <a:rPr lang="en-US" sz="2200" dirty="0" err="1">
                <a:latin typeface="Arial" panose="020B0604020202020204" pitchFamily="34" charset="0"/>
                <a:cs typeface="Arial" panose="020B0604020202020204" pitchFamily="34" charset="0"/>
              </a:rPr>
              <a:t>học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và</a:t>
            </a:r>
            <a:r>
              <a:rPr lang="en-US" sz="2200" dirty="0">
                <a:latin typeface="Arial" panose="020B0604020202020204" pitchFamily="34" charset="0"/>
                <a:cs typeface="Arial" panose="020B0604020202020204" pitchFamily="34" charset="0"/>
              </a:rPr>
              <a:t> Công </a:t>
            </a:r>
            <a:r>
              <a:rPr lang="en-US" sz="2200" dirty="0" err="1">
                <a:latin typeface="Arial" panose="020B0604020202020204" pitchFamily="34" charset="0"/>
                <a:cs typeface="Arial" panose="020B0604020202020204" pitchFamily="34" charset="0"/>
              </a:rPr>
              <a:t>nghệ</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chủ</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trì</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phối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hợp</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với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Bộ</a:t>
            </a:r>
            <a:r>
              <a:rPr lang="en-US" sz="2200" dirty="0">
                <a:latin typeface="Arial" panose="020B0604020202020204" pitchFamily="34" charset="0"/>
                <a:cs typeface="Arial" panose="020B0604020202020204" pitchFamily="34" charset="0"/>
              </a:rPr>
              <a:t> Tài </a:t>
            </a:r>
            <a:r>
              <a:rPr lang="en-US" sz="2200" dirty="0" err="1">
                <a:latin typeface="Arial" panose="020B0604020202020204" pitchFamily="34" charset="0"/>
                <a:cs typeface="Arial" panose="020B0604020202020204" pitchFamily="34" charset="0"/>
              </a:rPr>
              <a:t>chính</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dự</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kiến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tổng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mức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kinh</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phí</a:t>
            </a:r>
            <a:r>
              <a:rPr lang="en-US" sz="2200" dirty="0">
                <a:latin typeface="Arial" panose="020B0604020202020204" pitchFamily="34" charset="0"/>
                <a:cs typeface="Arial" panose="020B0604020202020204" pitchFamily="34" charset="0"/>
              </a:rPr>
              <a:t>, chi </a:t>
            </a:r>
            <a:r>
              <a:rPr lang="en-US" sz="2200" dirty="0" err="1">
                <a:latin typeface="Arial" panose="020B0604020202020204" pitchFamily="34" charset="0"/>
                <a:cs typeface="Arial" panose="020B0604020202020204" pitchFamily="34" charset="0"/>
              </a:rPr>
              <a:t>tiết</a:t>
            </a:r>
            <a:r>
              <a:rPr lang="en-US" sz="2200" dirty="0">
                <a:latin typeface="Arial" panose="020B0604020202020204" pitchFamily="34" charset="0"/>
                <a:cs typeface="Arial" panose="020B0604020202020204" pitchFamily="34" charset="0"/>
              </a:rPr>
              <a:t> chi </a:t>
            </a:r>
            <a:r>
              <a:rPr lang="en-US" sz="2200" dirty="0" err="1">
                <a:latin typeface="Arial" panose="020B0604020202020204" pitchFamily="34" charset="0"/>
                <a:cs typeface="Arial" panose="020B0604020202020204" pitchFamily="34" charset="0"/>
              </a:rPr>
              <a:t>đầu</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tư</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phát</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triển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và</a:t>
            </a:r>
            <a:r>
              <a:rPr lang="en-US" sz="2200" dirty="0">
                <a:latin typeface="Arial" panose="020B0604020202020204" pitchFamily="34" charset="0"/>
                <a:cs typeface="Arial" panose="020B0604020202020204" pitchFamily="34" charset="0"/>
              </a:rPr>
              <a:t> chi </a:t>
            </a:r>
            <a:r>
              <a:rPr lang="en-US" sz="2200" dirty="0" err="1">
                <a:latin typeface="Arial" panose="020B0604020202020204" pitchFamily="34" charset="0"/>
                <a:cs typeface="Arial" panose="020B0604020202020204" pitchFamily="34" charset="0"/>
              </a:rPr>
              <a:t>thường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xuyên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nguồn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ngân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sách</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trung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ương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và</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ngân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sách</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địa</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phương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của</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lĩnh</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vực</a:t>
            </a:r>
            <a:r>
              <a:rPr lang="en-US" sz="2200" dirty="0">
                <a:latin typeface="Arial" panose="020B0604020202020204" pitchFamily="34" charset="0"/>
                <a:cs typeface="Arial" panose="020B0604020202020204" pitchFamily="34" charset="0"/>
              </a:rPr>
              <a:t> chi khoa </a:t>
            </a:r>
            <a:r>
              <a:rPr lang="en-US" sz="2200" dirty="0" err="1">
                <a:latin typeface="Arial" panose="020B0604020202020204" pitchFamily="34" charset="0"/>
                <a:cs typeface="Arial" panose="020B0604020202020204" pitchFamily="34" charset="0"/>
              </a:rPr>
              <a:t>học</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công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nghệ</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đổi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mới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sáng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tạo</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và</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chuyển</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đổi</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số</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bảo</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đảm</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theo</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chủ</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trương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của</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Đảng</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và</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pháp</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luật</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của</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Nhà</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nước</a:t>
            </a:r>
            <a:r>
              <a:rPr lang="en-US" dirty="0"/>
              <a:t>.</a:t>
            </a:r>
            <a:endParaRPr lang="en-US" sz="2200" dirty="0"/>
          </a:p>
        </p:txBody>
      </p:sp>
    </p:spTree>
    <p:extLst>
      <p:ext uri="{BB962C8B-B14F-4D97-AF65-F5344CB8AC3E}">
        <p14:creationId xmlns:p14="http://schemas.microsoft.com/office/powerpoint/2010/main" val="18703385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47503-7983-1BAD-7FC8-305E2271DE7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E09F50E-CD71-9347-61C0-3E47B930C7C4}"/>
              </a:ext>
            </a:extLst>
          </p:cNvPr>
          <p:cNvSpPr>
            <a:spLocks noGrp="1" noRot="1" noMove="1" noResize="1" noEditPoints="1" noAdjustHandles="1" noChangeArrowheads="1" noChangeShapeType="1"/>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2.3.1. LẬP DỰ TOÁN</a:t>
            </a:r>
          </a:p>
        </p:txBody>
      </p:sp>
      <p:sp>
        <p:nvSpPr>
          <p:cNvPr id="3" name="Content Placeholder 2">
            <a:extLst>
              <a:ext uri="{FF2B5EF4-FFF2-40B4-BE49-F238E27FC236}">
                <a16:creationId xmlns:a16="http://schemas.microsoft.com/office/drawing/2014/main" id="{4D3700A7-1BB6-A1E5-D953-B8C9F6BFBE82}"/>
              </a:ext>
            </a:extLst>
          </p:cNvPr>
          <p:cNvSpPr txBox="1">
            <a:spLocks/>
          </p:cNvSpPr>
          <p:nvPr/>
        </p:nvSpPr>
        <p:spPr>
          <a:xfrm>
            <a:off x="160491" y="1205345"/>
            <a:ext cx="11871016" cy="5547267"/>
          </a:xfrm>
          <a:prstGeom prst="rect">
            <a:avLst/>
          </a:prstGeom>
        </p:spPr>
        <p:txBody>
          <a:bodyPr>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vi-VN" sz="2200" b="1" dirty="0">
                <a:solidFill>
                  <a:srgbClr val="C00000"/>
                </a:solidFill>
                <a:latin typeface="+mj-lt"/>
              </a:rPr>
              <a:t> </a:t>
            </a:r>
            <a:r>
              <a:rPr lang="vi-VN" sz="3600" b="1" dirty="0">
                <a:solidFill>
                  <a:srgbClr val="C00000"/>
                </a:solidFill>
                <a:latin typeface="Times New Roman" panose="02020603050405020304" pitchFamily="18" charset="0"/>
                <a:cs typeface="Times New Roman" panose="02020603050405020304" pitchFamily="18" charset="0"/>
              </a:rPr>
              <a:t>Các hoạt động trong khâu lập dự toán NSNN</a:t>
            </a:r>
            <a:endParaRPr lang="en-US" sz="3600" b="1" dirty="0">
              <a:solidFill>
                <a:srgbClr val="C00000"/>
              </a:solidFill>
              <a:latin typeface="Times New Roman" panose="02020603050405020304" pitchFamily="18" charset="0"/>
              <a:cs typeface="Times New Roman" panose="02020603050405020304" pitchFamily="18" charset="0"/>
            </a:endParaRPr>
          </a:p>
          <a:p>
            <a:pPr marL="0" indent="0" algn="just">
              <a:lnSpc>
                <a:spcPct val="150000"/>
              </a:lnSpc>
              <a:buNone/>
            </a:pPr>
            <a:r>
              <a:rPr lang="en-US" sz="3600" b="1" dirty="0" err="1">
                <a:latin typeface="Times New Roman" panose="02020603050405020304" pitchFamily="18" charset="0"/>
                <a:cs typeface="Times New Roman" pitchFamily="18" charset="0"/>
              </a:rPr>
              <a:t>Bước</a:t>
            </a:r>
            <a:r>
              <a:rPr lang="en-US" sz="3600" b="1" dirty="0">
                <a:latin typeface="Times New Roman" panose="02020603050405020304" pitchFamily="18" charset="0"/>
                <a:cs typeface="Times New Roman" pitchFamily="18" charset="0"/>
              </a:rPr>
              <a:t> 2: </a:t>
            </a:r>
            <a:r>
              <a:rPr lang="en-US" sz="3600" b="1" dirty="0" err="1">
                <a:latin typeface="Times New Roman" panose="02020603050405020304" pitchFamily="18" charset="0"/>
                <a:cs typeface="Times New Roman" pitchFamily="18" charset="0"/>
              </a:rPr>
              <a:t>Xây</a:t>
            </a:r>
            <a:r>
              <a:rPr lang="en-US" sz="3600" b="1" dirty="0">
                <a:latin typeface="Times New Roman" panose="02020603050405020304" pitchFamily="18" charset="0"/>
                <a:cs typeface="Times New Roman" pitchFamily="18" charset="0"/>
              </a:rPr>
              <a:t> </a:t>
            </a:r>
            <a:r>
              <a:rPr lang="en-US" sz="3600" b="1" dirty="0" err="1">
                <a:latin typeface="Times New Roman" panose="02020603050405020304" pitchFamily="18" charset="0"/>
                <a:cs typeface="Times New Roman" pitchFamily="18" charset="0"/>
              </a:rPr>
              <a:t>dựng</a:t>
            </a:r>
            <a:r>
              <a:rPr lang="en-US" sz="3600" b="1" dirty="0">
                <a:latin typeface="Times New Roman" panose="02020603050405020304" pitchFamily="18" charset="0"/>
                <a:cs typeface="Times New Roman" pitchFamily="18" charset="0"/>
              </a:rPr>
              <a:t> </a:t>
            </a:r>
            <a:r>
              <a:rPr lang="en-US" sz="3600" b="1" dirty="0" err="1">
                <a:latin typeface="Times New Roman" panose="02020603050405020304" pitchFamily="18" charset="0"/>
                <a:cs typeface="Times New Roman" pitchFamily="18" charset="0"/>
              </a:rPr>
              <a:t>và</a:t>
            </a:r>
            <a:r>
              <a:rPr lang="en-US" sz="3600" b="1" dirty="0">
                <a:latin typeface="Times New Roman" panose="02020603050405020304" pitchFamily="18" charset="0"/>
                <a:cs typeface="Times New Roman" pitchFamily="18" charset="0"/>
              </a:rPr>
              <a:t> </a:t>
            </a:r>
            <a:r>
              <a:rPr lang="en-US" sz="3600" b="1" dirty="0" err="1">
                <a:latin typeface="Times New Roman" panose="02020603050405020304" pitchFamily="18" charset="0"/>
                <a:cs typeface="Times New Roman" pitchFamily="18" charset="0"/>
              </a:rPr>
              <a:t>tổng</a:t>
            </a:r>
            <a:r>
              <a:rPr lang="en-US" sz="3600" b="1" dirty="0">
                <a:latin typeface="Times New Roman" panose="02020603050405020304" pitchFamily="18" charset="0"/>
                <a:cs typeface="Times New Roman" pitchFamily="18" charset="0"/>
              </a:rPr>
              <a:t> </a:t>
            </a:r>
            <a:r>
              <a:rPr lang="en-US" sz="3600" b="1" dirty="0" err="1">
                <a:latin typeface="Times New Roman" panose="02020603050405020304" pitchFamily="18" charset="0"/>
                <a:cs typeface="Times New Roman" pitchFamily="18" charset="0"/>
              </a:rPr>
              <a:t>hợp</a:t>
            </a:r>
            <a:r>
              <a:rPr lang="en-US" sz="3600" b="1" dirty="0">
                <a:latin typeface="Times New Roman" panose="02020603050405020304" pitchFamily="18" charset="0"/>
                <a:cs typeface="Times New Roman" pitchFamily="18" charset="0"/>
              </a:rPr>
              <a:t> </a:t>
            </a:r>
            <a:r>
              <a:rPr lang="en-US" sz="3600" b="1" dirty="0" err="1">
                <a:latin typeface="Times New Roman" panose="02020603050405020304" pitchFamily="18" charset="0"/>
                <a:cs typeface="Times New Roman" pitchFamily="18" charset="0"/>
              </a:rPr>
              <a:t>dự</a:t>
            </a:r>
            <a:r>
              <a:rPr lang="en-US" sz="3600" b="1" dirty="0">
                <a:latin typeface="Times New Roman" panose="02020603050405020304" pitchFamily="18" charset="0"/>
                <a:cs typeface="Times New Roman" pitchFamily="18" charset="0"/>
              </a:rPr>
              <a:t> </a:t>
            </a:r>
            <a:r>
              <a:rPr lang="en-US" sz="3600" b="1" dirty="0" err="1">
                <a:latin typeface="Times New Roman" panose="02020603050405020304" pitchFamily="18" charset="0"/>
                <a:cs typeface="Times New Roman" pitchFamily="18" charset="0"/>
              </a:rPr>
              <a:t>toán</a:t>
            </a:r>
            <a:r>
              <a:rPr lang="en-US" sz="3600" b="1" dirty="0">
                <a:latin typeface="Times New Roman" panose="02020603050405020304" pitchFamily="18" charset="0"/>
                <a:cs typeface="Times New Roman" pitchFamily="18" charset="0"/>
              </a:rPr>
              <a:t> NSNN </a:t>
            </a:r>
          </a:p>
          <a:p>
            <a:pPr marL="0" indent="0" algn="just">
              <a:lnSpc>
                <a:spcPct val="150000"/>
              </a:lnSpc>
              <a:buNone/>
            </a:pPr>
            <a:r>
              <a:rPr lang="en-US" sz="3600" dirty="0" err="1">
                <a:solidFill>
                  <a:srgbClr val="FF0000"/>
                </a:solidFill>
                <a:latin typeface="Times New Roman" panose="02020603050405020304" pitchFamily="18" charset="0"/>
                <a:cs typeface="Times New Roman" panose="02020603050405020304" pitchFamily="18" charset="0"/>
              </a:rPr>
              <a:t>Bộ</a:t>
            </a:r>
            <a:r>
              <a:rPr lang="en-US" sz="3600" dirty="0">
                <a:solidFill>
                  <a:srgbClr val="FF0000"/>
                </a:solidFill>
                <a:latin typeface="Times New Roman" panose="02020603050405020304" pitchFamily="18" charset="0"/>
                <a:cs typeface="Times New Roman" panose="02020603050405020304" pitchFamily="18" charset="0"/>
              </a:rPr>
              <a:t> Tài </a:t>
            </a:r>
            <a:r>
              <a:rPr lang="en-US" sz="3600" dirty="0" err="1">
                <a:solidFill>
                  <a:srgbClr val="FF0000"/>
                </a:solidFill>
                <a:latin typeface="Times New Roman" panose="02020603050405020304" pitchFamily="18" charset="0"/>
                <a:cs typeface="Times New Roman" panose="02020603050405020304" pitchFamily="18" charset="0"/>
              </a:rPr>
              <a:t>chính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báo</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cáo</a:t>
            </a:r>
            <a:r>
              <a:rPr lang="en-US" sz="3600" dirty="0">
                <a:latin typeface="Times New Roman" panose="02020603050405020304" pitchFamily="18" charset="0"/>
                <a:cs typeface="Times New Roman" panose="02020603050405020304" pitchFamily="18" charset="0"/>
              </a:rPr>
              <a:t> </a:t>
            </a:r>
            <a:r>
              <a:rPr lang="en-US" sz="3600" dirty="0" err="1">
                <a:solidFill>
                  <a:srgbClr val="FF0000"/>
                </a:solidFill>
                <a:latin typeface="Times New Roman" panose="02020603050405020304" pitchFamily="18" charset="0"/>
                <a:cs typeface="Times New Roman" panose="02020603050405020304" pitchFamily="18" charset="0"/>
              </a:rPr>
              <a:t>Thủ</a:t>
            </a:r>
            <a:r>
              <a:rPr lang="en-US" sz="3600" dirty="0">
                <a:solidFill>
                  <a:srgbClr val="FF0000"/>
                </a:solidFill>
                <a:latin typeface="Times New Roman" panose="02020603050405020304" pitchFamily="18" charset="0"/>
                <a:cs typeface="Times New Roman" panose="02020603050405020304" pitchFamily="18" charset="0"/>
              </a:rPr>
              <a:t> </a:t>
            </a:r>
            <a:r>
              <a:rPr lang="en-US" sz="3600" dirty="0" err="1">
                <a:solidFill>
                  <a:srgbClr val="FF0000"/>
                </a:solidFill>
                <a:latin typeface="Times New Roman" panose="02020603050405020304" pitchFamily="18" charset="0"/>
                <a:cs typeface="Times New Roman" panose="02020603050405020304" pitchFamily="18" charset="0"/>
              </a:rPr>
              <a:t>tướng</a:t>
            </a:r>
            <a:r>
              <a:rPr lang="en-US" sz="3600" dirty="0">
                <a:solidFill>
                  <a:srgbClr val="FF0000"/>
                </a:solidFill>
                <a:latin typeface="Times New Roman" panose="02020603050405020304" pitchFamily="18" charset="0"/>
                <a:cs typeface="Times New Roman" panose="02020603050405020304" pitchFamily="18" charset="0"/>
              </a:rPr>
              <a:t> </a:t>
            </a:r>
            <a:r>
              <a:rPr lang="en-US" sz="3600" dirty="0" err="1">
                <a:solidFill>
                  <a:srgbClr val="FF0000"/>
                </a:solidFill>
                <a:latin typeface="Times New Roman" panose="02020603050405020304" pitchFamily="18" charset="0"/>
                <a:cs typeface="Times New Roman" panose="02020603050405020304" pitchFamily="18" charset="0"/>
              </a:rPr>
              <a:t>Chính</a:t>
            </a:r>
            <a:r>
              <a:rPr lang="en-US" sz="3600" dirty="0">
                <a:solidFill>
                  <a:srgbClr val="FF0000"/>
                </a:solidFill>
                <a:latin typeface="Times New Roman" panose="02020603050405020304" pitchFamily="18" charset="0"/>
                <a:cs typeface="Times New Roman" panose="02020603050405020304" pitchFamily="18" charset="0"/>
              </a:rPr>
              <a:t> </a:t>
            </a:r>
            <a:r>
              <a:rPr lang="en-US" sz="3600" dirty="0" err="1">
                <a:solidFill>
                  <a:srgbClr val="FF0000"/>
                </a:solidFill>
                <a:latin typeface="Times New Roman" panose="02020603050405020304" pitchFamily="18" charset="0"/>
                <a:cs typeface="Times New Roman" panose="02020603050405020304" pitchFamily="18" charset="0"/>
              </a:rPr>
              <a:t>phủ</a:t>
            </a:r>
            <a:r>
              <a:rPr lang="en-US" sz="3600" dirty="0">
                <a:solidFill>
                  <a:srgbClr val="FF0000"/>
                </a:solidFill>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về</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dự</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toán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thu</a:t>
            </a:r>
            <a:r>
              <a:rPr lang="en-US" sz="3600" dirty="0">
                <a:latin typeface="Times New Roman" panose="02020603050405020304" pitchFamily="18" charset="0"/>
                <a:cs typeface="Times New Roman" panose="02020603050405020304" pitchFamily="18" charset="0"/>
              </a:rPr>
              <a:t>, chi </a:t>
            </a:r>
            <a:r>
              <a:rPr lang="en-US" sz="3600" dirty="0" err="1">
                <a:latin typeface="Times New Roman" panose="02020603050405020304" pitchFamily="18" charset="0"/>
                <a:cs typeface="Times New Roman" panose="02020603050405020304" pitchFamily="18" charset="0"/>
              </a:rPr>
              <a:t>ngân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sách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nhà</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nước</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năm</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sau</a:t>
            </a:r>
            <a:r>
              <a:rPr lang="en-US" sz="3600" dirty="0">
                <a:latin typeface="Times New Roman" panose="02020603050405020304" pitchFamily="18" charset="0"/>
                <a:cs typeface="Times New Roman" panose="02020603050405020304" pitchFamily="18" charset="0"/>
              </a:rPr>
              <a:t>.</a:t>
            </a:r>
          </a:p>
          <a:p>
            <a:pPr marL="0" indent="0" algn="just">
              <a:lnSpc>
                <a:spcPct val="150000"/>
              </a:lnSpc>
              <a:buNone/>
            </a:pPr>
            <a:r>
              <a:rPr lang="en-US" sz="3600" dirty="0">
                <a:solidFill>
                  <a:srgbClr val="FF0000"/>
                </a:solidFill>
                <a:latin typeface="Times New Roman" panose="02020603050405020304" pitchFamily="18" charset="0"/>
                <a:cs typeface="Times New Roman" panose="02020603050405020304" pitchFamily="18" charset="0"/>
              </a:rPr>
              <a:t>C</a:t>
            </a:r>
            <a:r>
              <a:rPr lang="vi-VN" sz="3600" dirty="0">
                <a:solidFill>
                  <a:srgbClr val="FF0000"/>
                </a:solidFill>
                <a:latin typeface="Times New Roman" panose="02020603050405020304" pitchFamily="18" charset="0"/>
                <a:cs typeface="Times New Roman" panose="02020603050405020304" pitchFamily="18" charset="0"/>
              </a:rPr>
              <a:t>ác </a:t>
            </a:r>
            <a:r>
              <a:rPr lang="en-US" sz="3600" dirty="0">
                <a:solidFill>
                  <a:srgbClr val="FF0000"/>
                </a:solidFill>
                <a:latin typeface="Times New Roman" panose="02020603050405020304" pitchFamily="18" charset="0"/>
                <a:cs typeface="Times New Roman" panose="02020603050405020304" pitchFamily="18" charset="0"/>
              </a:rPr>
              <a:t>B</a:t>
            </a:r>
            <a:r>
              <a:rPr lang="vi-VN" sz="3600" dirty="0">
                <a:solidFill>
                  <a:srgbClr val="FF0000"/>
                </a:solidFill>
                <a:latin typeface="Times New Roman" panose="02020603050405020304" pitchFamily="18" charset="0"/>
                <a:cs typeface="Times New Roman" panose="02020603050405020304" pitchFamily="18" charset="0"/>
              </a:rPr>
              <a:t>ộ, cơ quan chủ chương trình mục tiêu quốc gia </a:t>
            </a:r>
            <a:r>
              <a:rPr lang="vi-VN" sz="3600" dirty="0">
                <a:latin typeface="Times New Roman" panose="02020603050405020304" pitchFamily="18" charset="0"/>
                <a:cs typeface="Times New Roman" panose="02020603050405020304" pitchFamily="18" charset="0"/>
              </a:rPr>
              <a:t>chủ trì lập dự toán chi năm sau của chương trình mục tiêu quốc gia</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cho</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từng</a:t>
            </a:r>
            <a:r>
              <a:rPr lang="en-US" sz="3600" dirty="0">
                <a:latin typeface="Times New Roman" panose="02020603050405020304" pitchFamily="18" charset="0"/>
                <a:cs typeface="Times New Roman" panose="02020603050405020304" pitchFamily="18" charset="0"/>
              </a:rPr>
              <a:t> B</a:t>
            </a:r>
            <a:r>
              <a:rPr lang="vi-VN" sz="3600" dirty="0">
                <a:latin typeface="Times New Roman" panose="02020603050405020304" pitchFamily="18" charset="0"/>
                <a:cs typeface="Times New Roman" panose="02020603050405020304" pitchFamily="18" charset="0"/>
              </a:rPr>
              <a:t>ộ, cơ quan ngang </a:t>
            </a:r>
            <a:r>
              <a:rPr lang="en-US" sz="3600" dirty="0">
                <a:latin typeface="Times New Roman" panose="02020603050405020304" pitchFamily="18" charset="0"/>
                <a:cs typeface="Times New Roman" panose="02020603050405020304" pitchFamily="18" charset="0"/>
              </a:rPr>
              <a:t>B</a:t>
            </a:r>
            <a:r>
              <a:rPr lang="vi-VN" sz="3600" dirty="0">
                <a:latin typeface="Times New Roman" panose="02020603050405020304" pitchFamily="18" charset="0"/>
                <a:cs typeface="Times New Roman" panose="02020603050405020304" pitchFamily="18" charset="0"/>
              </a:rPr>
              <a:t>ộ, cơ quan thuộc Chính phủ, cơ quan khác ở trung ương</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và</a:t>
            </a:r>
            <a:r>
              <a:rPr lang="en-US" sz="3600" dirty="0">
                <a:latin typeface="Times New Roman" panose="02020603050405020304" pitchFamily="18" charset="0"/>
                <a:cs typeface="Times New Roman" panose="02020603050405020304" pitchFamily="18" charset="0"/>
              </a:rPr>
              <a:t> </a:t>
            </a:r>
            <a:r>
              <a:rPr lang="vi-VN" sz="3600" dirty="0">
                <a:latin typeface="Times New Roman" panose="02020603050405020304" pitchFamily="18" charset="0"/>
                <a:cs typeface="Times New Roman" panose="02020603050405020304" pitchFamily="18" charset="0"/>
              </a:rPr>
              <a:t>từng tỉnh, thành phố trực thuộc trung ương</a:t>
            </a:r>
            <a:r>
              <a:rPr lang="en-US" sz="3600" dirty="0">
                <a:latin typeface="Times New Roman" panose="02020603050405020304" pitchFamily="18" charset="0"/>
                <a:cs typeface="Times New Roman" panose="02020603050405020304" pitchFamily="18" charset="0"/>
              </a:rPr>
              <a:t>;</a:t>
            </a:r>
            <a:r>
              <a:rPr lang="vi-VN" sz="3600" dirty="0">
                <a:latin typeface="Times New Roman" panose="02020603050405020304" pitchFamily="18" charset="0"/>
                <a:cs typeface="Times New Roman" panose="02020603050405020304" pitchFamily="18" charset="0"/>
              </a:rPr>
              <a:t> </a:t>
            </a:r>
            <a:r>
              <a:rPr lang="vi-VN" sz="3600" dirty="0">
                <a:solidFill>
                  <a:srgbClr val="FF0000"/>
                </a:solidFill>
                <a:latin typeface="Times New Roman" panose="02020603050405020304" pitchFamily="18" charset="0"/>
                <a:cs typeface="Times New Roman" panose="02020603050405020304" pitchFamily="18" charset="0"/>
              </a:rPr>
              <a:t>Bộ Khoa học và Công nghệ </a:t>
            </a:r>
            <a:r>
              <a:rPr lang="vi-VN" sz="3600" dirty="0">
                <a:latin typeface="Times New Roman" panose="02020603050405020304" pitchFamily="18" charset="0"/>
                <a:cs typeface="Times New Roman" panose="02020603050405020304" pitchFamily="18" charset="0"/>
              </a:rPr>
              <a:t>lập dự toán chi ngân sách nhà nước cho lĩnh vực chi khoa học, công nghệ, đổi mới sáng tạo và chuyển đổi số</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cho</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từng</a:t>
            </a:r>
            <a:r>
              <a:rPr lang="en-US" sz="3600" dirty="0">
                <a:latin typeface="Times New Roman" panose="02020603050405020304" pitchFamily="18" charset="0"/>
                <a:cs typeface="Times New Roman" panose="02020603050405020304" pitchFamily="18" charset="0"/>
              </a:rPr>
              <a:t> B</a:t>
            </a:r>
            <a:r>
              <a:rPr lang="vi-VN" sz="3600" dirty="0">
                <a:latin typeface="Times New Roman" panose="02020603050405020304" pitchFamily="18" charset="0"/>
                <a:cs typeface="Times New Roman" panose="02020603050405020304" pitchFamily="18" charset="0"/>
              </a:rPr>
              <a:t>ộ, cơ quan ngang </a:t>
            </a:r>
            <a:r>
              <a:rPr lang="en-US" sz="3600" dirty="0">
                <a:latin typeface="Times New Roman" panose="02020603050405020304" pitchFamily="18" charset="0"/>
                <a:cs typeface="Times New Roman" panose="02020603050405020304" pitchFamily="18" charset="0"/>
              </a:rPr>
              <a:t>B</a:t>
            </a:r>
            <a:r>
              <a:rPr lang="vi-VN" sz="3600" dirty="0">
                <a:latin typeface="Times New Roman" panose="02020603050405020304" pitchFamily="18" charset="0"/>
                <a:cs typeface="Times New Roman" panose="02020603050405020304" pitchFamily="18" charset="0"/>
              </a:rPr>
              <a:t>ộ, cơ quan thuộc Chính phủ, cơ quan khác ở trung ương</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và</a:t>
            </a:r>
            <a:r>
              <a:rPr lang="en-US" sz="3600" dirty="0">
                <a:latin typeface="Times New Roman" panose="02020603050405020304" pitchFamily="18" charset="0"/>
                <a:cs typeface="Times New Roman" panose="02020603050405020304" pitchFamily="18" charset="0"/>
              </a:rPr>
              <a:t> </a:t>
            </a:r>
            <a:r>
              <a:rPr lang="vi-VN" sz="3600" dirty="0">
                <a:latin typeface="Times New Roman" panose="02020603050405020304" pitchFamily="18" charset="0"/>
                <a:cs typeface="Times New Roman" panose="02020603050405020304" pitchFamily="18" charset="0"/>
              </a:rPr>
              <a:t>từng tỉnh, thành phố trực thuộc trung ương, gửi Bộ Tài chính</a:t>
            </a:r>
            <a:endParaRPr lang="en-US" sz="3600" dirty="0">
              <a:latin typeface="Times New Roman" panose="02020603050405020304" pitchFamily="18" charset="0"/>
              <a:cs typeface="Times New Roman" panose="02020603050405020304" pitchFamily="18" charset="0"/>
            </a:endParaRPr>
          </a:p>
          <a:p>
            <a:pPr marL="0" indent="0" algn="just">
              <a:lnSpc>
                <a:spcPct val="150000"/>
              </a:lnSpc>
              <a:buNone/>
            </a:pPr>
            <a:r>
              <a:rPr lang="en-US" sz="3600" dirty="0" err="1">
                <a:latin typeface="Times New Roman" panose="02020603050405020304" pitchFamily="18" charset="0"/>
                <a:cs typeface="Times New Roman" panose="02020603050405020304" pitchFamily="18" charset="0"/>
              </a:rPr>
              <a:t>Trên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cơ</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sở</a:t>
            </a:r>
            <a:r>
              <a:rPr lang="en-US" sz="3600" dirty="0">
                <a:latin typeface="Times New Roman" panose="02020603050405020304" pitchFamily="18" charset="0"/>
                <a:cs typeface="Times New Roman" panose="02020603050405020304" pitchFamily="18" charset="0"/>
              </a:rPr>
              <a:t> ý </a:t>
            </a:r>
            <a:r>
              <a:rPr lang="en-US" sz="3600" dirty="0" err="1">
                <a:latin typeface="Times New Roman" panose="02020603050405020304" pitchFamily="18" charset="0"/>
                <a:cs typeface="Times New Roman" panose="02020603050405020304" pitchFamily="18" charset="0"/>
              </a:rPr>
              <a:t>kiến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của</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Thủ</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tướng</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Chính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phủ</a:t>
            </a:r>
            <a:r>
              <a:rPr lang="en-US" sz="3600" dirty="0">
                <a:latin typeface="Times New Roman" panose="02020603050405020304" pitchFamily="18" charset="0"/>
                <a:cs typeface="Times New Roman" panose="02020603050405020304" pitchFamily="18" charset="0"/>
              </a:rPr>
              <a:t>, </a:t>
            </a:r>
            <a:r>
              <a:rPr lang="en-US" sz="3600" dirty="0" err="1">
                <a:solidFill>
                  <a:srgbClr val="FF0000"/>
                </a:solidFill>
                <a:latin typeface="Times New Roman" panose="02020603050405020304" pitchFamily="18" charset="0"/>
                <a:cs typeface="Times New Roman" panose="02020603050405020304" pitchFamily="18" charset="0"/>
              </a:rPr>
              <a:t>Bộ</a:t>
            </a:r>
            <a:r>
              <a:rPr lang="en-US" sz="3600" dirty="0">
                <a:solidFill>
                  <a:srgbClr val="FF0000"/>
                </a:solidFill>
                <a:latin typeface="Times New Roman" panose="02020603050405020304" pitchFamily="18" charset="0"/>
                <a:cs typeface="Times New Roman" panose="02020603050405020304" pitchFamily="18" charset="0"/>
              </a:rPr>
              <a:t> Tài </a:t>
            </a:r>
            <a:r>
              <a:rPr lang="en-US" sz="3600" dirty="0" err="1">
                <a:solidFill>
                  <a:srgbClr val="FF0000"/>
                </a:solidFill>
                <a:latin typeface="Times New Roman" panose="02020603050405020304" pitchFamily="18" charset="0"/>
                <a:cs typeface="Times New Roman" panose="02020603050405020304" pitchFamily="18" charset="0"/>
              </a:rPr>
              <a:t>chính</a:t>
            </a:r>
            <a:r>
              <a:rPr lang="en-US" sz="3600" dirty="0">
                <a:solidFill>
                  <a:srgbClr val="FF0000"/>
                </a:solidFill>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chủ</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trì</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hoàn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thiện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báo</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cáo</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dự</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toán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thu</a:t>
            </a:r>
            <a:r>
              <a:rPr lang="en-US" sz="3600" dirty="0">
                <a:latin typeface="Times New Roman" panose="02020603050405020304" pitchFamily="18" charset="0"/>
                <a:cs typeface="Times New Roman" panose="02020603050405020304" pitchFamily="18" charset="0"/>
              </a:rPr>
              <a:t>, chi </a:t>
            </a:r>
            <a:r>
              <a:rPr lang="en-US" sz="3600" dirty="0" err="1">
                <a:latin typeface="Times New Roman" panose="02020603050405020304" pitchFamily="18" charset="0"/>
                <a:cs typeface="Times New Roman" panose="02020603050405020304" pitchFamily="18" charset="0"/>
              </a:rPr>
              <a:t>ngân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sách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nhà</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nước</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xây</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dựng</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phương</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án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phân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bổ</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ngân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sách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trung</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ương</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năm</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sau</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báo</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cáo</a:t>
            </a:r>
            <a:r>
              <a:rPr lang="en-US" sz="3600" dirty="0">
                <a:latin typeface="Times New Roman" panose="02020603050405020304" pitchFamily="18" charset="0"/>
                <a:cs typeface="Times New Roman" panose="02020603050405020304" pitchFamily="18" charset="0"/>
              </a:rPr>
              <a:t> </a:t>
            </a:r>
            <a:r>
              <a:rPr lang="vi-VN" sz="3600" dirty="0">
                <a:solidFill>
                  <a:srgbClr val="FF0000"/>
                </a:solidFill>
                <a:latin typeface="Times New Roman" panose="02020603050405020304" pitchFamily="18" charset="0"/>
                <a:cs typeface="Times New Roman" panose="02020603050405020304" pitchFamily="18" charset="0"/>
              </a:rPr>
              <a:t>Chính phủ </a:t>
            </a:r>
            <a:r>
              <a:rPr lang="vi-VN" sz="3600" dirty="0">
                <a:latin typeface="Times New Roman" panose="02020603050405020304" pitchFamily="18" charset="0"/>
                <a:cs typeface="Times New Roman" panose="02020603050405020304" pitchFamily="18" charset="0"/>
              </a:rPr>
              <a:t>để trình </a:t>
            </a:r>
            <a:r>
              <a:rPr lang="vi-VN" sz="3600" dirty="0">
                <a:solidFill>
                  <a:srgbClr val="FF0000"/>
                </a:solidFill>
                <a:latin typeface="Times New Roman" panose="02020603050405020304" pitchFamily="18" charset="0"/>
                <a:cs typeface="Times New Roman" panose="02020603050405020304" pitchFamily="18" charset="0"/>
              </a:rPr>
              <a:t>Ủy ban thường vụ Quốc hội</a:t>
            </a:r>
            <a:r>
              <a:rPr lang="vi-VN" sz="3600" dirty="0">
                <a:latin typeface="Times New Roman" panose="02020603050405020304" pitchFamily="18" charset="0"/>
                <a:cs typeface="Times New Roman" panose="02020603050405020304" pitchFamily="18" charset="0"/>
              </a:rPr>
              <a:t> cho ý kiến</a:t>
            </a:r>
            <a:r>
              <a:rPr lang="en-US" sz="3600" dirty="0">
                <a:latin typeface="Times New Roman" panose="02020603050405020304" pitchFamily="18" charset="0"/>
                <a:cs typeface="Times New Roman" panose="02020603050405020304" pitchFamily="18" charset="0"/>
              </a:rPr>
              <a:t>.</a:t>
            </a:r>
          </a:p>
          <a:p>
            <a:pPr marL="0" indent="0" algn="just">
              <a:lnSpc>
                <a:spcPct val="150000"/>
              </a:lnSpc>
              <a:buNone/>
            </a:pPr>
            <a:r>
              <a:rPr lang="vi-VN" sz="3600" dirty="0">
                <a:latin typeface="Times New Roman" panose="02020603050405020304" pitchFamily="18" charset="0"/>
                <a:cs typeface="Times New Roman" panose="02020603050405020304" pitchFamily="18" charset="0"/>
              </a:rPr>
              <a:t>Trên cơ sở ý kiến thẩm tra của các cơ quan của Quốc hội, Bộ Tài chính chủ trì hoàn thiện báo cáo đánh giá tình hình thực hiện ngân sách nhà nước năm hiện hành, dự toán ngân sách nhà nước, báo cáo phân bổ ngân sách trung ương năm sau trình Chính phủ để gửi đến các </a:t>
            </a:r>
            <a:r>
              <a:rPr lang="vi-VN" sz="3600" dirty="0">
                <a:solidFill>
                  <a:srgbClr val="FF0000"/>
                </a:solidFill>
                <a:latin typeface="Times New Roman" panose="02020603050405020304" pitchFamily="18" charset="0"/>
                <a:cs typeface="Times New Roman" panose="02020603050405020304" pitchFamily="18" charset="0"/>
              </a:rPr>
              <a:t>Đại biểu Quốc hội chậm nhất là 20 ngày, trước ngày khai mạc kỳ họp Quốc hội cuối năm</a:t>
            </a:r>
            <a:r>
              <a:rPr lang="en-US" sz="3600" dirty="0">
                <a:latin typeface="Times New Roman" panose="02020603050405020304" pitchFamily="18" charset="0"/>
                <a:cs typeface="Times New Roman" panose="02020603050405020304" pitchFamily="18" charset="0"/>
              </a:rPr>
              <a:t>.</a:t>
            </a:r>
            <a:endParaRPr lang="en-US" sz="3600" b="1" dirty="0">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23093276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319BF-A95F-3606-88C8-FC21A791541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800B629-B50C-8F00-8695-AC6046D25EA8}"/>
              </a:ext>
            </a:extLst>
          </p:cNvPr>
          <p:cNvSpPr>
            <a:spLocks noGrp="1" noRot="1" noMove="1" noResize="1" noEditPoints="1" noAdjustHandles="1" noChangeArrowheads="1" noChangeShapeType="1"/>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2.3.1. LẬP DỰ TOÁN</a:t>
            </a:r>
          </a:p>
        </p:txBody>
      </p:sp>
      <p:sp>
        <p:nvSpPr>
          <p:cNvPr id="3" name="Content Placeholder 2">
            <a:extLst>
              <a:ext uri="{FF2B5EF4-FFF2-40B4-BE49-F238E27FC236}">
                <a16:creationId xmlns:a16="http://schemas.microsoft.com/office/drawing/2014/main" id="{283C2351-0E42-2B07-EE7D-993C422E9490}"/>
              </a:ext>
            </a:extLst>
          </p:cNvPr>
          <p:cNvSpPr txBox="1">
            <a:spLocks/>
          </p:cNvSpPr>
          <p:nvPr/>
        </p:nvSpPr>
        <p:spPr>
          <a:xfrm>
            <a:off x="178025" y="1297316"/>
            <a:ext cx="11871016" cy="5547267"/>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vi-VN" sz="2200" b="1" dirty="0">
                <a:solidFill>
                  <a:srgbClr val="C00000"/>
                </a:solidFill>
                <a:latin typeface="+mj-lt"/>
              </a:rPr>
              <a:t> Các hoạt động trong khâu lập dự toán NSNN</a:t>
            </a:r>
            <a:endParaRPr lang="en-US" sz="2200" b="1" dirty="0">
              <a:solidFill>
                <a:srgbClr val="C00000"/>
              </a:solidFill>
              <a:latin typeface="+mj-lt"/>
            </a:endParaRPr>
          </a:p>
          <a:p>
            <a:pPr marL="0" indent="0" algn="just">
              <a:lnSpc>
                <a:spcPct val="150000"/>
              </a:lnSpc>
              <a:buNone/>
            </a:pPr>
            <a:r>
              <a:rPr lang="en-US" sz="2200" b="1" dirty="0" err="1">
                <a:latin typeface="Times New Roman" pitchFamily="18" charset="0"/>
                <a:cs typeface="Times New Roman" pitchFamily="18" charset="0"/>
              </a:rPr>
              <a:t>Bước</a:t>
            </a:r>
            <a:r>
              <a:rPr lang="en-US" sz="2200" b="1" dirty="0">
                <a:latin typeface="Times New Roman" pitchFamily="18" charset="0"/>
                <a:cs typeface="Times New Roman" pitchFamily="18" charset="0"/>
              </a:rPr>
              <a:t> 3: </a:t>
            </a:r>
            <a:r>
              <a:rPr lang="en-US" sz="2200" b="1" dirty="0" err="1">
                <a:latin typeface="Times New Roman" pitchFamily="18" charset="0"/>
                <a:cs typeface="Times New Roman" pitchFamily="18" charset="0"/>
              </a:rPr>
              <a:t>Quyết</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định</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dự</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toán</a:t>
            </a:r>
            <a:r>
              <a:rPr lang="en-US" sz="2200" b="1" dirty="0">
                <a:latin typeface="Times New Roman" pitchFamily="18" charset="0"/>
                <a:cs typeface="Times New Roman" pitchFamily="18" charset="0"/>
              </a:rPr>
              <a:t> NSNN </a:t>
            </a:r>
          </a:p>
          <a:p>
            <a:pPr marL="0" indent="0" algn="just">
              <a:lnSpc>
                <a:spcPct val="150000"/>
              </a:lnSpc>
              <a:buNone/>
            </a:pPr>
            <a:r>
              <a:rPr lang="en-US" sz="2200" dirty="0">
                <a:latin typeface="Times New Roman" pitchFamily="18" charset="0"/>
                <a:cs typeface="Times New Roman" pitchFamily="18" charset="0"/>
              </a:rPr>
              <a:t>Quốc </a:t>
            </a:r>
            <a:r>
              <a:rPr lang="en-US" sz="2200" dirty="0" err="1">
                <a:latin typeface="Times New Roman" pitchFamily="18" charset="0"/>
                <a:cs typeface="Times New Roman" pitchFamily="18" charset="0"/>
              </a:rPr>
              <a:t>hội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quyết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định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dự</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toán</a:t>
            </a:r>
            <a:r>
              <a:rPr lang="en-US" sz="2200" dirty="0">
                <a:latin typeface="Times New Roman" pitchFamily="18" charset="0"/>
                <a:cs typeface="Times New Roman" pitchFamily="18" charset="0"/>
              </a:rPr>
              <a:t> NSNN, </a:t>
            </a:r>
            <a:r>
              <a:rPr lang="en-US" sz="2200" dirty="0" err="1">
                <a:latin typeface="Times New Roman" pitchFamily="18" charset="0"/>
                <a:cs typeface="Times New Roman" pitchFamily="18" charset="0"/>
              </a:rPr>
              <a:t>phương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án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phân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bổ</a:t>
            </a:r>
            <a:r>
              <a:rPr lang="en-US" sz="2200" dirty="0">
                <a:latin typeface="Times New Roman" pitchFamily="18" charset="0"/>
                <a:cs typeface="Times New Roman" pitchFamily="18" charset="0"/>
              </a:rPr>
              <a:t> NSTW.</a:t>
            </a:r>
          </a:p>
          <a:p>
            <a:pPr algn="just"/>
            <a:r>
              <a:rPr lang="vi-VN" sz="2400" dirty="0">
                <a:latin typeface="Times New Roman" panose="02020603050405020304" pitchFamily="18" charset="0"/>
                <a:cs typeface="Times New Roman" panose="02020603050405020304" pitchFamily="18" charset="0"/>
              </a:rPr>
              <a:t>Căn cứ quyết định giao dự toán ngân sách của Thủ tướng Chính phủ, Bộ Tài chính, Ủy ban nhân dân cấp tỉnh trình Hội đồng nhân dân cùng cấp quyết định dự toán ngân sách địa phương, phương án phân bổ dự toán ngân sách cấp tỉnh, mức bổ sung từ ngân sách cấp tỉnh cho ngân sách cấp xã và tỷ lệ phần trăm (%) phân chia các khoản thu giữa ngân sách cấp tỉnh và ngân sách cấp xã trước ngày 10 tháng 12 năm trước; báo cáo Bộ Tài chính dự toán ngân sách địa phương và kết quả phân bổ dự toán ngân sách cấp tỉnh đã được Hội đồng nhân dân cấp tỉnh quyết định.</a:t>
            </a:r>
            <a:endParaRPr lang="en-US" sz="2400" dirty="0">
              <a:latin typeface="Times New Roman" panose="02020603050405020304" pitchFamily="18" charset="0"/>
              <a:cs typeface="Times New Roman" panose="02020603050405020304" pitchFamily="18" charset="0"/>
            </a:endParaRPr>
          </a:p>
          <a:p>
            <a:pPr algn="just"/>
            <a:r>
              <a:rPr lang="en-US" sz="2400" dirty="0" err="1">
                <a:latin typeface="Times New Roman" panose="02020603050405020304" pitchFamily="18" charset="0"/>
                <a:cs typeface="Times New Roman" panose="02020603050405020304" pitchFamily="18" charset="0"/>
              </a:rPr>
              <a:t>Căn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cứ</a:t>
            </a:r>
            <a:r>
              <a:rPr lang="vi-VN" sz="2400" dirty="0">
                <a:latin typeface="Times New Roman" panose="02020603050405020304" pitchFamily="18" charset="0"/>
                <a:cs typeface="Times New Roman" panose="02020603050405020304" pitchFamily="18" charset="0"/>
              </a:rPr>
              <a:t> quyết định giao dự toán ngân sách của Ủy ban nhân dân cấp tỉnh, Ủy ban nhân dân xã trình Hội đồng nhân dân cùng cấp quyết định dự toán thu, chi ngân sách xã, Ủy ban nhân dân xã quyết định giao dự toán thu, chi ngân sách cho từng cơ quan, đơn vị trước ngày 31 tháng 12 năm trước, báo cáo Ủy ban nhân dân tỉnh và Sở Tài chính về dự toán ngân sách đã được Hội đồng nhân dân quyết định</a:t>
            </a:r>
            <a:r>
              <a:rPr lang="vi-VN" sz="2400" dirty="0"/>
              <a:t>.</a:t>
            </a:r>
            <a:endParaRPr lang="en-US" sz="2400" dirty="0">
              <a:latin typeface="Times New Roman" panose="02020603050405020304" pitchFamily="18" charset="0"/>
              <a:cs typeface="Times New Roman" panose="02020603050405020304" pitchFamily="18" charset="0"/>
            </a:endParaRPr>
          </a:p>
          <a:p>
            <a:pPr marL="0" indent="0" algn="just">
              <a:lnSpc>
                <a:spcPct val="150000"/>
              </a:lnSpc>
              <a:buNone/>
            </a:pPr>
            <a:endParaRPr lang="en-US" sz="2200" dirty="0">
              <a:latin typeface="Times New Roman" pitchFamily="18" charset="0"/>
              <a:cs typeface="Times New Roman" pitchFamily="18" charset="0"/>
            </a:endParaRPr>
          </a:p>
        </p:txBody>
      </p:sp>
    </p:spTree>
    <p:extLst>
      <p:ext uri="{BB962C8B-B14F-4D97-AF65-F5344CB8AC3E}">
        <p14:creationId xmlns:p14="http://schemas.microsoft.com/office/powerpoint/2010/main" val="31700704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7F446-B0FA-9DB2-5FA1-85D23E76967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2D4DCF8-789C-9F90-E632-F5BEDB2376B3}"/>
              </a:ext>
            </a:extLst>
          </p:cNvPr>
          <p:cNvSpPr>
            <a:spLocks noGrp="1" noRot="1" noMove="1" noResize="1" noEditPoints="1" noAdjustHandles="1" noChangeArrowheads="1" noChangeShapeType="1"/>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2.3.1. LẬP DỰ TOÁN</a:t>
            </a:r>
          </a:p>
        </p:txBody>
      </p:sp>
      <p:sp>
        <p:nvSpPr>
          <p:cNvPr id="3" name="Content Placeholder 2">
            <a:extLst>
              <a:ext uri="{FF2B5EF4-FFF2-40B4-BE49-F238E27FC236}">
                <a16:creationId xmlns:a16="http://schemas.microsoft.com/office/drawing/2014/main" id="{8F0185C9-3904-7B88-9EF2-E7C12E23AA7E}"/>
              </a:ext>
            </a:extLst>
          </p:cNvPr>
          <p:cNvSpPr txBox="1">
            <a:spLocks/>
          </p:cNvSpPr>
          <p:nvPr/>
        </p:nvSpPr>
        <p:spPr>
          <a:xfrm>
            <a:off x="178025" y="1297316"/>
            <a:ext cx="11871016" cy="554726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vi-VN" sz="2200" b="1" dirty="0">
                <a:solidFill>
                  <a:srgbClr val="C00000"/>
                </a:solidFill>
                <a:latin typeface="+mj-lt"/>
              </a:rPr>
              <a:t> Các hoạt động trong khâu lập dự toán NSNN</a:t>
            </a:r>
            <a:endParaRPr lang="en-US" sz="2200" b="1" dirty="0">
              <a:solidFill>
                <a:srgbClr val="C00000"/>
              </a:solidFill>
              <a:latin typeface="+mj-lt"/>
            </a:endParaRPr>
          </a:p>
          <a:p>
            <a:pPr marL="0" indent="0" algn="just">
              <a:lnSpc>
                <a:spcPct val="150000"/>
              </a:lnSpc>
              <a:buNone/>
            </a:pPr>
            <a:r>
              <a:rPr lang="en-US" sz="2200" b="1" dirty="0" err="1">
                <a:latin typeface="Times New Roman" pitchFamily="18" charset="0"/>
                <a:cs typeface="Times New Roman" pitchFamily="18" charset="0"/>
              </a:rPr>
              <a:t>Bước</a:t>
            </a:r>
            <a:r>
              <a:rPr lang="en-US" sz="2200" b="1" dirty="0">
                <a:latin typeface="Times New Roman" pitchFamily="18" charset="0"/>
                <a:cs typeface="Times New Roman" pitchFamily="18" charset="0"/>
              </a:rPr>
              <a:t> 4: Giao </a:t>
            </a:r>
            <a:r>
              <a:rPr lang="en-US" sz="2200" b="1" dirty="0" err="1">
                <a:latin typeface="Times New Roman" pitchFamily="18" charset="0"/>
                <a:cs typeface="Times New Roman" pitchFamily="18" charset="0"/>
              </a:rPr>
              <a:t>dự</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toán</a:t>
            </a:r>
            <a:r>
              <a:rPr lang="en-US" sz="2200" b="1" dirty="0">
                <a:latin typeface="Times New Roman" pitchFamily="18" charset="0"/>
                <a:cs typeface="Times New Roman" pitchFamily="18" charset="0"/>
              </a:rPr>
              <a:t> NSNN </a:t>
            </a:r>
          </a:p>
          <a:p>
            <a:pPr algn="just"/>
            <a:r>
              <a:rPr lang="vi-VN" sz="2400" dirty="0">
                <a:latin typeface="Times New Roman" panose="02020603050405020304" pitchFamily="18" charset="0"/>
                <a:cs typeface="Times New Roman" panose="02020603050405020304" pitchFamily="18" charset="0"/>
              </a:rPr>
              <a:t>Căn cứ nghị quyết của Quốc hội về dự toán ngân 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trung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ương</a:t>
            </a:r>
            <a:r>
              <a:rPr lang="vi-VN" sz="2400" dirty="0">
                <a:latin typeface="Times New Roman" panose="02020603050405020304" pitchFamily="18" charset="0"/>
                <a:cs typeface="Times New Roman" panose="02020603050405020304" pitchFamily="18" charset="0"/>
              </a:rPr>
              <a:t>, Thủ tướng Chính phủ giao dự toán thu, chi ngân sách cho từng </a:t>
            </a:r>
            <a:r>
              <a:rPr lang="en-US" sz="2400" dirty="0">
                <a:latin typeface="Times New Roman" panose="02020603050405020304" pitchFamily="18" charset="0"/>
                <a:cs typeface="Times New Roman" panose="02020603050405020304" pitchFamily="18" charset="0"/>
              </a:rPr>
              <a:t>B</a:t>
            </a:r>
            <a:r>
              <a:rPr lang="vi-VN" sz="2400" dirty="0">
                <a:latin typeface="Times New Roman" panose="02020603050405020304" pitchFamily="18" charset="0"/>
                <a:cs typeface="Times New Roman" panose="02020603050405020304" pitchFamily="18" charset="0"/>
              </a:rPr>
              <a:t>ộ, cơ quan ngang </a:t>
            </a:r>
            <a:r>
              <a:rPr lang="en-US" sz="2400" dirty="0">
                <a:latin typeface="Times New Roman" panose="02020603050405020304" pitchFamily="18" charset="0"/>
                <a:cs typeface="Times New Roman" panose="02020603050405020304" pitchFamily="18" charset="0"/>
              </a:rPr>
              <a:t>B</a:t>
            </a:r>
            <a:r>
              <a:rPr lang="vi-VN" sz="2400" dirty="0">
                <a:latin typeface="Times New Roman" panose="02020603050405020304" pitchFamily="18" charset="0"/>
                <a:cs typeface="Times New Roman" panose="02020603050405020304" pitchFamily="18" charset="0"/>
              </a:rPr>
              <a:t>ộ, cơ quan thuộc Chính phủ, cơ quan khác ở trung ương theo từng lĩnh vực; nhiệm vụ thu, chi, bội chi, vay và mức bổ sung từ ngân sách trung ương cho từng tỉnh, thành phố trực thuộc trung ương theo nội dung quy định tại các điểm a, b, c và d khoản 4, điểm c khoản 5 Điều 19 của Luật </a:t>
            </a:r>
            <a:r>
              <a:rPr lang="en-US" sz="2400" dirty="0">
                <a:latin typeface="Times New Roman" panose="02020603050405020304" pitchFamily="18" charset="0"/>
                <a:cs typeface="Times New Roman" panose="02020603050405020304" pitchFamily="18" charset="0"/>
              </a:rPr>
              <a:t>Ngân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nước</a:t>
            </a:r>
            <a:r>
              <a:rPr lang="vi-VN" sz="2400" dirty="0">
                <a:latin typeface="Times New Roman" panose="02020603050405020304" pitchFamily="18" charset="0"/>
                <a:cs typeface="Times New Roman" panose="02020603050405020304" pitchFamily="18" charset="0"/>
              </a:rPr>
              <a:t>, trong đó chi đầu tư phát triển, chi thường xuyên chi tiết lĩnh vực giáo dục - đào tạo và dạy nghề, lĩnh vực khoa học, công nghệ, đổi mới sáng tạo và chuyển đổi số</a:t>
            </a:r>
            <a:r>
              <a:rPr lang="en-US" sz="2400" dirty="0">
                <a:latin typeface="Times New Roman" panose="02020603050405020304" pitchFamily="18" charset="0"/>
                <a:cs typeface="Times New Roman" panose="02020603050405020304" pitchFamily="18" charset="0"/>
              </a:rPr>
              <a:t>.</a:t>
            </a:r>
          </a:p>
          <a:p>
            <a:pPr algn="just"/>
            <a:r>
              <a:rPr lang="vi-VN" sz="2400" dirty="0">
                <a:latin typeface="Times New Roman" panose="02020603050405020304" pitchFamily="18" charset="0"/>
                <a:cs typeface="Times New Roman" panose="02020603050405020304" pitchFamily="18" charset="0"/>
              </a:rPr>
              <a:t>Bộ Tài chính giao chi tiết nhiệm vụ thu, chi ngân sách nhà nước theo quyết định của Thủ tướng Chính phủ và chi tiết nhiệm vụ thu, chi ngân sách nhà nước để thực hiện chức năng, nhiệm vụ quản lý ngành cho từng </a:t>
            </a:r>
            <a:r>
              <a:rPr lang="en-US" sz="2400" dirty="0">
                <a:latin typeface="Times New Roman" panose="02020603050405020304" pitchFamily="18" charset="0"/>
                <a:cs typeface="Times New Roman" panose="02020603050405020304" pitchFamily="18" charset="0"/>
              </a:rPr>
              <a:t>B</a:t>
            </a:r>
            <a:r>
              <a:rPr lang="vi-VN" sz="2400" dirty="0">
                <a:latin typeface="Times New Roman" panose="02020603050405020304" pitchFamily="18" charset="0"/>
                <a:cs typeface="Times New Roman" panose="02020603050405020304" pitchFamily="18" charset="0"/>
              </a:rPr>
              <a:t>ộ, cơ quan ngang </a:t>
            </a:r>
            <a:r>
              <a:rPr lang="en-US" sz="2400" dirty="0">
                <a:latin typeface="Times New Roman" panose="02020603050405020304" pitchFamily="18" charset="0"/>
                <a:cs typeface="Times New Roman" panose="02020603050405020304" pitchFamily="18" charset="0"/>
              </a:rPr>
              <a:t>B</a:t>
            </a:r>
            <a:r>
              <a:rPr lang="vi-VN" sz="2400" dirty="0">
                <a:latin typeface="Times New Roman" panose="02020603050405020304" pitchFamily="18" charset="0"/>
                <a:cs typeface="Times New Roman" panose="02020603050405020304" pitchFamily="18" charset="0"/>
              </a:rPr>
              <a:t>ộ, cơ quan thuộc Chính phủ, cơ quan khác ở trung ương và từng tỉnh, thành phố trực thuộc trung ương</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58466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D25E1-075D-075E-A97D-263483FFCAD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57C327E-704D-EF41-55B2-37BB788E62DA}"/>
              </a:ext>
            </a:extLst>
          </p:cNvPr>
          <p:cNvSpPr>
            <a:spLocks noGrp="1" noRot="1" noMove="1" noResize="1" noEditPoints="1" noAdjustHandles="1" noChangeArrowheads="1" noChangeShapeType="1"/>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2.3.1. LẬP DỰ TOÁN</a:t>
            </a:r>
          </a:p>
        </p:txBody>
      </p:sp>
      <p:sp>
        <p:nvSpPr>
          <p:cNvPr id="3" name="Content Placeholder 2">
            <a:extLst>
              <a:ext uri="{FF2B5EF4-FFF2-40B4-BE49-F238E27FC236}">
                <a16:creationId xmlns:a16="http://schemas.microsoft.com/office/drawing/2014/main" id="{FEB35985-59A0-E893-1186-F5985E85A3B7}"/>
              </a:ext>
            </a:extLst>
          </p:cNvPr>
          <p:cNvSpPr txBox="1">
            <a:spLocks/>
          </p:cNvSpPr>
          <p:nvPr/>
        </p:nvSpPr>
        <p:spPr>
          <a:xfrm>
            <a:off x="178025" y="1297316"/>
            <a:ext cx="11871016" cy="5547267"/>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vi-VN" sz="2200" b="1" dirty="0">
                <a:solidFill>
                  <a:srgbClr val="C00000"/>
                </a:solidFill>
                <a:latin typeface="+mj-lt"/>
              </a:rPr>
              <a:t> Các hoạt động trong khâu lập dự toán NSNN</a:t>
            </a:r>
            <a:endParaRPr lang="en-US" sz="2200" b="1" dirty="0">
              <a:solidFill>
                <a:srgbClr val="C00000"/>
              </a:solidFill>
              <a:latin typeface="+mj-lt"/>
            </a:endParaRPr>
          </a:p>
          <a:p>
            <a:pPr marL="0" indent="0" algn="just">
              <a:lnSpc>
                <a:spcPct val="150000"/>
              </a:lnSpc>
              <a:buNone/>
            </a:pPr>
            <a:r>
              <a:rPr lang="en-US" sz="2200" b="1" dirty="0" err="1">
                <a:latin typeface="Times New Roman" pitchFamily="18" charset="0"/>
                <a:cs typeface="Times New Roman" pitchFamily="18" charset="0"/>
              </a:rPr>
              <a:t>Bước</a:t>
            </a:r>
            <a:r>
              <a:rPr lang="en-US" sz="2200" b="1" dirty="0">
                <a:latin typeface="Times New Roman" pitchFamily="18" charset="0"/>
                <a:cs typeface="Times New Roman" pitchFamily="18" charset="0"/>
              </a:rPr>
              <a:t> 4: Giao </a:t>
            </a:r>
            <a:r>
              <a:rPr lang="en-US" sz="2200" b="1" dirty="0" err="1">
                <a:latin typeface="Times New Roman" pitchFamily="18" charset="0"/>
                <a:cs typeface="Times New Roman" pitchFamily="18" charset="0"/>
              </a:rPr>
              <a:t>dự</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toán</a:t>
            </a:r>
            <a:r>
              <a:rPr lang="en-US" sz="2200" b="1" dirty="0">
                <a:latin typeface="Times New Roman" pitchFamily="18" charset="0"/>
                <a:cs typeface="Times New Roman" pitchFamily="18" charset="0"/>
              </a:rPr>
              <a:t> NSNN </a:t>
            </a:r>
          </a:p>
          <a:p>
            <a:pPr algn="just"/>
            <a:r>
              <a:rPr lang="vi-VN" sz="2600" dirty="0">
                <a:latin typeface="Times New Roman" panose="02020603050405020304" pitchFamily="18" charset="0"/>
                <a:cs typeface="Times New Roman" panose="02020603050405020304" pitchFamily="18" charset="0"/>
              </a:rPr>
              <a:t>Căn cứ quyết định giao dự toán ngân sách của Thủ tướng Chính phủ, Bộ Tài chính, Ủy ban nhân dân cấp tỉnh trình Hội đồng nhân dân cùng cấp quyết định dự toán ngân sách địa phương, phương án phân bổ dự toán ngân sách cấp tỉnh, mức bổ sung từ ngân sách cấp tỉnh cho ngân sách cấp xã và tỷ lệ phần trăm (%) phân chia các khoản thu giữa ngân sách cấp tỉnh và ngân sách cấp xã trước ngày 10 tháng 12 năm trước; báo cáo Bộ Tài chính dự toán ngân sách địa phương và kết quả phân bổ dự toán ngân sách cấp tỉnh đã được Hội đồng nhân dân cấp tỉnh quyết định.</a:t>
            </a:r>
            <a:endParaRPr lang="en-US" sz="2600" dirty="0">
              <a:latin typeface="Times New Roman" panose="02020603050405020304" pitchFamily="18" charset="0"/>
              <a:cs typeface="Times New Roman" panose="02020603050405020304" pitchFamily="18" charset="0"/>
            </a:endParaRPr>
          </a:p>
          <a:p>
            <a:pPr algn="just"/>
            <a:r>
              <a:rPr lang="en-US" sz="2600" dirty="0" err="1">
                <a:latin typeface="Times New Roman" panose="02020603050405020304" pitchFamily="18" charset="0"/>
                <a:cs typeface="Times New Roman" panose="02020603050405020304" pitchFamily="18" charset="0"/>
              </a:rPr>
              <a:t>Căn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cứ</a:t>
            </a:r>
            <a:r>
              <a:rPr lang="vi-VN" sz="2600" dirty="0">
                <a:latin typeface="Times New Roman" panose="02020603050405020304" pitchFamily="18" charset="0"/>
                <a:cs typeface="Times New Roman" panose="02020603050405020304" pitchFamily="18" charset="0"/>
              </a:rPr>
              <a:t> quyết định giao dự toán ngân sách của Ủy ban nhân dân cấp tỉnh, Ủy ban nhân dân xã trình Hội đồng nhân dân cùng cấp quyết định dự toán thu, chi ngân sách xã, Ủy ban nhân dân xã quyết định giao dự toán thu, chi ngân sách cho từng cơ quan, đơn vị trước ngày 31 tháng 12 năm trước, báo cáo Ủy ban nhân dân tỉnh và Sở Tài chính về dự toán ngân sách đã được Hội đồng nhân dân quyết định</a:t>
            </a:r>
            <a:r>
              <a:rPr lang="vi-VN" dirty="0"/>
              <a:t>.</a:t>
            </a: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10012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51B09-7ACB-CACE-C23E-7D4C2108530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BE69E8A-A76C-D4FB-E06A-D1CEB2ABF535}"/>
              </a:ext>
            </a:extLst>
          </p:cNvPr>
          <p:cNvSpPr>
            <a:spLocks noGrp="1" noRot="1" noMove="1" noResize="1" noEditPoints="1" noAdjustHandles="1" noChangeArrowheads="1" noChangeShapeType="1"/>
          </p:cNvSpPr>
          <p:nvPr/>
        </p:nvSpPr>
        <p:spPr>
          <a:xfrm>
            <a:off x="-1" y="0"/>
            <a:ext cx="12192000" cy="1205345"/>
          </a:xfrm>
          <a:prstGeom prst="rect">
            <a:avLst/>
          </a:prstGeom>
          <a:solidFill>
            <a:schemeClr val="accent2">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2.3.1. LẬP DỰ TOÁN</a:t>
            </a:r>
          </a:p>
        </p:txBody>
      </p:sp>
      <p:sp>
        <p:nvSpPr>
          <p:cNvPr id="3" name="Content Placeholder 2">
            <a:extLst>
              <a:ext uri="{FF2B5EF4-FFF2-40B4-BE49-F238E27FC236}">
                <a16:creationId xmlns:a16="http://schemas.microsoft.com/office/drawing/2014/main" id="{FFB93084-0093-86A5-CE02-B3E20DCADDFB}"/>
              </a:ext>
            </a:extLst>
          </p:cNvPr>
          <p:cNvSpPr txBox="1">
            <a:spLocks/>
          </p:cNvSpPr>
          <p:nvPr/>
        </p:nvSpPr>
        <p:spPr>
          <a:xfrm>
            <a:off x="178025" y="1297316"/>
            <a:ext cx="11871016" cy="554726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vi-VN" sz="2200" b="1" dirty="0">
                <a:solidFill>
                  <a:srgbClr val="C00000"/>
                </a:solidFill>
                <a:latin typeface="+mj-lt"/>
              </a:rPr>
              <a:t> Các hoạt động trong khâu lập dự toán NSNN</a:t>
            </a:r>
            <a:endParaRPr lang="en-US" sz="2200" b="1" dirty="0">
              <a:solidFill>
                <a:srgbClr val="C00000"/>
              </a:solidFill>
              <a:latin typeface="+mj-lt"/>
            </a:endParaRPr>
          </a:p>
          <a:p>
            <a:pPr marL="0" indent="0" algn="just">
              <a:lnSpc>
                <a:spcPct val="150000"/>
              </a:lnSpc>
              <a:buNone/>
            </a:pPr>
            <a:r>
              <a:rPr lang="en-US" sz="2200" b="1" dirty="0" err="1">
                <a:latin typeface="Times New Roman" pitchFamily="18" charset="0"/>
                <a:cs typeface="Times New Roman" pitchFamily="18" charset="0"/>
              </a:rPr>
              <a:t>Bước</a:t>
            </a:r>
            <a:r>
              <a:rPr lang="en-US" sz="2200" b="1" dirty="0">
                <a:latin typeface="Times New Roman" pitchFamily="18" charset="0"/>
                <a:cs typeface="Times New Roman" pitchFamily="18" charset="0"/>
              </a:rPr>
              <a:t> 4: Giao </a:t>
            </a:r>
            <a:r>
              <a:rPr lang="en-US" sz="2200" b="1" dirty="0" err="1">
                <a:latin typeface="Times New Roman" pitchFamily="18" charset="0"/>
                <a:cs typeface="Times New Roman" pitchFamily="18" charset="0"/>
              </a:rPr>
              <a:t>dự</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toán</a:t>
            </a:r>
            <a:r>
              <a:rPr lang="en-US" sz="2200" b="1" dirty="0">
                <a:latin typeface="Times New Roman" pitchFamily="18" charset="0"/>
                <a:cs typeface="Times New Roman" pitchFamily="18" charset="0"/>
              </a:rPr>
              <a:t> NSNN </a:t>
            </a:r>
          </a:p>
          <a:p>
            <a:pPr marL="0" indent="0" algn="just">
              <a:lnSpc>
                <a:spcPct val="150000"/>
              </a:lnSpc>
              <a:buNone/>
            </a:pPr>
            <a:r>
              <a:rPr lang="vi-VN" sz="2400" dirty="0">
                <a:latin typeface="Times New Roman" panose="02020603050405020304" pitchFamily="18" charset="0"/>
                <a:cs typeface="Times New Roman" panose="02020603050405020304" pitchFamily="18" charset="0"/>
              </a:rPr>
              <a:t>Trước ngày 31 tháng 12, các </a:t>
            </a:r>
            <a:r>
              <a:rPr lang="en-US" sz="2400" dirty="0">
                <a:latin typeface="Times New Roman" panose="02020603050405020304" pitchFamily="18" charset="0"/>
                <a:cs typeface="Times New Roman" panose="02020603050405020304" pitchFamily="18" charset="0"/>
              </a:rPr>
              <a:t>B</a:t>
            </a:r>
            <a:r>
              <a:rPr lang="vi-VN" sz="2400" dirty="0">
                <a:latin typeface="Times New Roman" panose="02020603050405020304" pitchFamily="18" charset="0"/>
                <a:cs typeface="Times New Roman" panose="02020603050405020304" pitchFamily="18" charset="0"/>
              </a:rPr>
              <a:t>ộ, cơ quan ngang </a:t>
            </a:r>
            <a:r>
              <a:rPr lang="en-US" sz="2400" dirty="0">
                <a:latin typeface="Times New Roman" panose="02020603050405020304" pitchFamily="18" charset="0"/>
                <a:cs typeface="Times New Roman" panose="02020603050405020304" pitchFamily="18" charset="0"/>
              </a:rPr>
              <a:t>B</a:t>
            </a:r>
            <a:r>
              <a:rPr lang="vi-VN" sz="2400" dirty="0">
                <a:latin typeface="Times New Roman" panose="02020603050405020304" pitchFamily="18" charset="0"/>
                <a:cs typeface="Times New Roman" panose="02020603050405020304" pitchFamily="18" charset="0"/>
              </a:rPr>
              <a:t>ộ, cơ quan thuộc Chính phủ, cơ quan khác ở trung ương, Ủy ban nhân dân các cấp phải hoàn thành việc giao dự toán ngân sách cho từng cơ quan, đơn vị trực thuộc và Ủy ban nhân dân cấp dưới, trừ trường hợp quy định tại Điều </a:t>
            </a:r>
            <a:r>
              <a:rPr lang="en-US" sz="2400" dirty="0">
                <a:latin typeface="Times New Roman" panose="02020603050405020304" pitchFamily="18" charset="0"/>
                <a:cs typeface="Times New Roman" panose="02020603050405020304" pitchFamily="18" charset="0"/>
              </a:rPr>
              <a:t>14 </a:t>
            </a:r>
            <a:r>
              <a:rPr lang="vi-VN" sz="2400" dirty="0">
                <a:latin typeface="Times New Roman" panose="02020603050405020304" pitchFamily="18" charset="0"/>
                <a:cs typeface="Times New Roman" panose="02020603050405020304" pitchFamily="18" charset="0"/>
              </a:rPr>
              <a:t>của Nghị định này</a:t>
            </a:r>
            <a:r>
              <a:rPr lang="en-US" sz="2400" dirty="0">
                <a:latin typeface="Times New Roman" panose="02020603050405020304" pitchFamily="18" charset="0"/>
                <a:cs typeface="Times New Roman" panose="02020603050405020304" pitchFamily="18" charset="0"/>
              </a:rPr>
              <a:t>.</a:t>
            </a:r>
            <a:endParaRPr lang="en-US" sz="2400" b="1" dirty="0">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23464903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idx="4294967295"/>
          </p:nvPr>
        </p:nvSpPr>
        <p:spPr>
          <a:xfrm>
            <a:off x="109056" y="274638"/>
            <a:ext cx="7587143" cy="868362"/>
          </a:xfrm>
        </p:spPr>
        <p:txBody>
          <a:bodyPr>
            <a:normAutofit/>
          </a:bodyPr>
          <a:lstStyle/>
          <a:p>
            <a:pPr algn="ctr"/>
            <a:r>
              <a:rPr lang="vi-VN" sz="3600" b="1" i="1" dirty="0">
                <a:solidFill>
                  <a:srgbClr val="002060"/>
                </a:solidFill>
                <a:latin typeface="Times" panose="02020603050405020304" pitchFamily="18" charset="0"/>
                <a:cs typeface="Times" panose="02020603050405020304" pitchFamily="18" charset="0"/>
              </a:rPr>
              <a:t>Phương pháp lập dự toán NSNN</a:t>
            </a:r>
            <a:endParaRPr lang="en-US" sz="3600" b="1" i="1" dirty="0">
              <a:solidFill>
                <a:srgbClr val="002060"/>
              </a:solidFill>
              <a:latin typeface=".VnTime" pitchFamily="34" charset="0"/>
            </a:endParaRPr>
          </a:p>
        </p:txBody>
      </p:sp>
      <p:sp>
        <p:nvSpPr>
          <p:cNvPr id="50179" name="Rectangle 3"/>
          <p:cNvSpPr>
            <a:spLocks noChangeArrowheads="1"/>
          </p:cNvSpPr>
          <p:nvPr/>
        </p:nvSpPr>
        <p:spPr bwMode="auto">
          <a:xfrm>
            <a:off x="1473957" y="3124200"/>
            <a:ext cx="3855493" cy="609600"/>
          </a:xfrm>
          <a:prstGeom prst="rect">
            <a:avLst/>
          </a:prstGeom>
          <a:solidFill>
            <a:schemeClr val="bg1"/>
          </a:solidFill>
          <a:ln w="9525">
            <a:solidFill>
              <a:schemeClr val="tx1"/>
            </a:solidFill>
            <a:miter lim="800000"/>
            <a:headEnd/>
            <a:tailEnd/>
          </a:ln>
        </p:spPr>
        <p:txBody>
          <a:bodyPr wrap="none" anchor="ctr"/>
          <a:lstStyle/>
          <a:p>
            <a:pPr algn="ctr"/>
            <a:r>
              <a:rPr lang="vi-VN" sz="2400" b="1" dirty="0">
                <a:latin typeface="Times" panose="02020603050405020304" pitchFamily="18" charset="0"/>
                <a:cs typeface="Times" panose="02020603050405020304" pitchFamily="18" charset="0"/>
              </a:rPr>
              <a:t>Dự toán thu, chi NSNN</a:t>
            </a:r>
            <a:endParaRPr lang="en-US" sz="2400" b="1" dirty="0">
              <a:latin typeface=".VnTime" pitchFamily="34" charset="0"/>
            </a:endParaRPr>
          </a:p>
        </p:txBody>
      </p:sp>
      <p:sp>
        <p:nvSpPr>
          <p:cNvPr id="50180" name="Rectangle 4"/>
          <p:cNvSpPr>
            <a:spLocks noChangeArrowheads="1"/>
          </p:cNvSpPr>
          <p:nvPr/>
        </p:nvSpPr>
        <p:spPr bwMode="auto">
          <a:xfrm>
            <a:off x="6324600" y="3200400"/>
            <a:ext cx="3733800" cy="609600"/>
          </a:xfrm>
          <a:prstGeom prst="rect">
            <a:avLst/>
          </a:prstGeom>
          <a:solidFill>
            <a:schemeClr val="bg1"/>
          </a:solidFill>
          <a:ln w="9525">
            <a:solidFill>
              <a:schemeClr val="tx1"/>
            </a:solidFill>
            <a:miter lim="800000"/>
            <a:headEnd/>
            <a:tailEnd/>
          </a:ln>
        </p:spPr>
        <p:txBody>
          <a:bodyPr wrap="none" anchor="ctr"/>
          <a:lstStyle/>
          <a:p>
            <a:pPr algn="ctr"/>
            <a:r>
              <a:rPr lang="vi-VN" sz="2400" b="1" dirty="0">
                <a:latin typeface="Times" panose="02020603050405020304" pitchFamily="18" charset="0"/>
                <a:cs typeface="Times" panose="02020603050405020304" pitchFamily="18" charset="0"/>
              </a:rPr>
              <a:t>Dự toán thu, chi NSNN</a:t>
            </a:r>
            <a:endParaRPr lang="en-US" sz="2400" b="1" dirty="0">
              <a:latin typeface=".VnTime" pitchFamily="34" charset="0"/>
            </a:endParaRPr>
          </a:p>
        </p:txBody>
      </p:sp>
      <p:sp>
        <p:nvSpPr>
          <p:cNvPr id="50181" name="Rectangle 5"/>
          <p:cNvSpPr>
            <a:spLocks noChangeArrowheads="1"/>
          </p:cNvSpPr>
          <p:nvPr/>
        </p:nvSpPr>
        <p:spPr bwMode="auto">
          <a:xfrm>
            <a:off x="4648200" y="4267200"/>
            <a:ext cx="2133600" cy="609600"/>
          </a:xfrm>
          <a:prstGeom prst="rect">
            <a:avLst/>
          </a:prstGeom>
          <a:solidFill>
            <a:schemeClr val="bg1"/>
          </a:solidFill>
          <a:ln w="9525">
            <a:solidFill>
              <a:schemeClr val="tx1"/>
            </a:solidFill>
            <a:miter lim="800000"/>
            <a:headEnd/>
            <a:tailEnd/>
          </a:ln>
        </p:spPr>
        <p:txBody>
          <a:bodyPr wrap="none" anchor="ctr"/>
          <a:lstStyle/>
          <a:p>
            <a:pPr algn="ctr"/>
            <a:r>
              <a:rPr lang="vi-VN" sz="2400" b="1" dirty="0">
                <a:latin typeface="Times" panose="02020603050405020304" pitchFamily="18" charset="0"/>
                <a:cs typeface="Times" panose="02020603050405020304" pitchFamily="18" charset="0"/>
              </a:rPr>
              <a:t>So sánh</a:t>
            </a:r>
            <a:endParaRPr lang="en-US" sz="2400" b="1" dirty="0">
              <a:latin typeface=".VnTime" pitchFamily="34" charset="0"/>
            </a:endParaRPr>
          </a:p>
        </p:txBody>
      </p:sp>
      <p:sp>
        <p:nvSpPr>
          <p:cNvPr id="50182" name="Rectangle 6"/>
          <p:cNvSpPr>
            <a:spLocks noChangeArrowheads="1"/>
          </p:cNvSpPr>
          <p:nvPr/>
        </p:nvSpPr>
        <p:spPr bwMode="auto">
          <a:xfrm>
            <a:off x="4876800" y="5410200"/>
            <a:ext cx="1905000" cy="609600"/>
          </a:xfrm>
          <a:prstGeom prst="rect">
            <a:avLst/>
          </a:prstGeom>
          <a:solidFill>
            <a:schemeClr val="bg1"/>
          </a:solidFill>
          <a:ln w="9525">
            <a:solidFill>
              <a:schemeClr val="tx1"/>
            </a:solidFill>
            <a:miter lim="800000"/>
            <a:headEnd/>
            <a:tailEnd/>
          </a:ln>
        </p:spPr>
        <p:txBody>
          <a:bodyPr wrap="none" anchor="ctr"/>
          <a:lstStyle/>
          <a:p>
            <a:pPr algn="ctr"/>
            <a:r>
              <a:rPr lang="vi-VN" sz="2400" b="1" dirty="0">
                <a:latin typeface="Times" panose="02020603050405020304" pitchFamily="18" charset="0"/>
                <a:cs typeface="Times" panose="02020603050405020304" pitchFamily="18" charset="0"/>
              </a:rPr>
              <a:t>Chênh lệch</a:t>
            </a:r>
            <a:endParaRPr lang="en-US" sz="2400" b="1" dirty="0">
              <a:latin typeface="Times" panose="02020603050405020304" pitchFamily="18" charset="0"/>
              <a:cs typeface="Times" panose="02020603050405020304" pitchFamily="18" charset="0"/>
            </a:endParaRPr>
          </a:p>
        </p:txBody>
      </p:sp>
      <p:sp>
        <p:nvSpPr>
          <p:cNvPr id="50183" name="AutoShape 7"/>
          <p:cNvSpPr>
            <a:spLocks noChangeArrowheads="1"/>
          </p:cNvSpPr>
          <p:nvPr/>
        </p:nvSpPr>
        <p:spPr bwMode="auto">
          <a:xfrm>
            <a:off x="6934200" y="5257800"/>
            <a:ext cx="3124200" cy="1143000"/>
          </a:xfrm>
          <a:prstGeom prst="leftArrowCallout">
            <a:avLst>
              <a:gd name="adj1" fmla="val 25000"/>
              <a:gd name="adj2" fmla="val 25000"/>
              <a:gd name="adj3" fmla="val 45556"/>
              <a:gd name="adj4" fmla="val 66667"/>
            </a:avLst>
          </a:prstGeom>
          <a:solidFill>
            <a:srgbClr val="FFFF00"/>
          </a:solidFill>
          <a:ln w="9525">
            <a:solidFill>
              <a:schemeClr val="tx1"/>
            </a:solidFill>
            <a:miter lim="800000"/>
            <a:headEnd/>
            <a:tailEnd/>
          </a:ln>
        </p:spPr>
        <p:txBody>
          <a:bodyPr wrap="none" anchor="ctr"/>
          <a:lstStyle/>
          <a:p>
            <a:pPr algn="ctr"/>
            <a:r>
              <a:rPr lang="vi-VN" sz="2400" b="1" dirty="0">
                <a:latin typeface="Times" panose="02020603050405020304" pitchFamily="18" charset="0"/>
                <a:cs typeface="Times" panose="02020603050405020304" pitchFamily="18" charset="0"/>
              </a:rPr>
              <a:t>Các biện pháp </a:t>
            </a:r>
          </a:p>
          <a:p>
            <a:pPr algn="ctr"/>
            <a:r>
              <a:rPr lang="vi-VN" sz="2400" b="1" dirty="0">
                <a:latin typeface="Times" panose="02020603050405020304" pitchFamily="18" charset="0"/>
                <a:cs typeface="Times" panose="02020603050405020304" pitchFamily="18" charset="0"/>
              </a:rPr>
              <a:t>xử lý</a:t>
            </a:r>
            <a:endParaRPr lang="en-US" sz="2400" b="1" dirty="0">
              <a:latin typeface="Times" panose="02020603050405020304" pitchFamily="18" charset="0"/>
              <a:cs typeface="Times" panose="02020603050405020304" pitchFamily="18" charset="0"/>
            </a:endParaRPr>
          </a:p>
        </p:txBody>
      </p:sp>
      <p:sp>
        <p:nvSpPr>
          <p:cNvPr id="50184" name="Oval 8"/>
          <p:cNvSpPr>
            <a:spLocks noChangeArrowheads="1"/>
          </p:cNvSpPr>
          <p:nvPr/>
        </p:nvSpPr>
        <p:spPr bwMode="auto">
          <a:xfrm>
            <a:off x="6324600" y="1524000"/>
            <a:ext cx="3581400" cy="1143000"/>
          </a:xfrm>
          <a:prstGeom prst="ellipse">
            <a:avLst/>
          </a:prstGeom>
          <a:solidFill>
            <a:schemeClr val="bg1"/>
          </a:solidFill>
          <a:ln w="9525">
            <a:solidFill>
              <a:schemeClr val="tx1"/>
            </a:solidFill>
            <a:round/>
            <a:headEnd/>
            <a:tailEnd/>
          </a:ln>
        </p:spPr>
        <p:txBody>
          <a:bodyPr wrap="none" anchor="ctr"/>
          <a:lstStyle/>
          <a:p>
            <a:pPr algn="ctr"/>
            <a:r>
              <a:rPr lang="vi-VN" sz="2800" b="1" dirty="0">
                <a:latin typeface="Times" panose="02020603050405020304" pitchFamily="18" charset="0"/>
                <a:cs typeface="Times" panose="02020603050405020304" pitchFamily="18" charset="0"/>
              </a:rPr>
              <a:t>Cách tiếp cận </a:t>
            </a:r>
          </a:p>
          <a:p>
            <a:pPr algn="ctr"/>
            <a:r>
              <a:rPr lang="vi-VN" sz="2800" b="1" dirty="0">
                <a:latin typeface="Times" panose="02020603050405020304" pitchFamily="18" charset="0"/>
                <a:cs typeface="Times" panose="02020603050405020304" pitchFamily="18" charset="0"/>
              </a:rPr>
              <a:t> từ dưới lên</a:t>
            </a:r>
          </a:p>
        </p:txBody>
      </p:sp>
      <p:sp>
        <p:nvSpPr>
          <p:cNvPr id="95241" name="Oval 9"/>
          <p:cNvSpPr>
            <a:spLocks noChangeArrowheads="1"/>
          </p:cNvSpPr>
          <p:nvPr/>
        </p:nvSpPr>
        <p:spPr bwMode="auto">
          <a:xfrm>
            <a:off x="1828800" y="1383126"/>
            <a:ext cx="3581400" cy="1207674"/>
          </a:xfrm>
          <a:prstGeom prst="ellipse">
            <a:avLst/>
          </a:prstGeom>
          <a:solidFill>
            <a:schemeClr val="bg1"/>
          </a:solidFill>
          <a:ln w="9525">
            <a:solidFill>
              <a:schemeClr val="tx1"/>
            </a:solidFill>
            <a:round/>
            <a:headEnd/>
            <a:tailEnd/>
          </a:ln>
        </p:spPr>
        <p:txBody>
          <a:bodyPr wrap="none" anchor="ctr"/>
          <a:lstStyle/>
          <a:p>
            <a:pPr algn="ctr"/>
            <a:endParaRPr lang="en-US" sz="2400">
              <a:latin typeface=".VnTime" pitchFamily="34" charset="0"/>
            </a:endParaRPr>
          </a:p>
        </p:txBody>
      </p:sp>
      <p:sp>
        <p:nvSpPr>
          <p:cNvPr id="50186" name="AutoShape 10"/>
          <p:cNvSpPr>
            <a:spLocks noChangeArrowheads="1"/>
          </p:cNvSpPr>
          <p:nvPr/>
        </p:nvSpPr>
        <p:spPr bwMode="auto">
          <a:xfrm>
            <a:off x="3352800" y="2667000"/>
            <a:ext cx="609600" cy="381000"/>
          </a:xfrm>
          <a:prstGeom prst="downArrow">
            <a:avLst>
              <a:gd name="adj1" fmla="val 50000"/>
              <a:gd name="adj2" fmla="val 25000"/>
            </a:avLst>
          </a:prstGeom>
          <a:solidFill>
            <a:schemeClr val="accent1"/>
          </a:solidFill>
          <a:ln w="9525">
            <a:solidFill>
              <a:schemeClr val="tx1"/>
            </a:solidFill>
            <a:miter lim="800000"/>
            <a:headEnd/>
            <a:tailEnd/>
          </a:ln>
        </p:spPr>
        <p:txBody>
          <a:bodyPr wrap="none" anchor="ctr"/>
          <a:lstStyle/>
          <a:p>
            <a:endParaRPr lang="en-US"/>
          </a:p>
        </p:txBody>
      </p:sp>
      <p:sp>
        <p:nvSpPr>
          <p:cNvPr id="50187" name="AutoShape 11"/>
          <p:cNvSpPr>
            <a:spLocks noChangeArrowheads="1"/>
          </p:cNvSpPr>
          <p:nvPr/>
        </p:nvSpPr>
        <p:spPr bwMode="auto">
          <a:xfrm>
            <a:off x="7696200" y="2743200"/>
            <a:ext cx="609600" cy="381000"/>
          </a:xfrm>
          <a:prstGeom prst="downArrow">
            <a:avLst>
              <a:gd name="adj1" fmla="val 50000"/>
              <a:gd name="adj2" fmla="val 25000"/>
            </a:avLst>
          </a:prstGeom>
          <a:solidFill>
            <a:schemeClr val="accent1"/>
          </a:solidFill>
          <a:ln w="9525">
            <a:solidFill>
              <a:schemeClr val="tx1"/>
            </a:solidFill>
            <a:miter lim="800000"/>
            <a:headEnd/>
            <a:tailEnd/>
          </a:ln>
        </p:spPr>
        <p:txBody>
          <a:bodyPr wrap="none" anchor="ctr"/>
          <a:lstStyle/>
          <a:p>
            <a:endParaRPr lang="en-US"/>
          </a:p>
        </p:txBody>
      </p:sp>
      <p:sp>
        <p:nvSpPr>
          <p:cNvPr id="50188" name="AutoShape 12"/>
          <p:cNvSpPr>
            <a:spLocks noChangeArrowheads="1"/>
          </p:cNvSpPr>
          <p:nvPr/>
        </p:nvSpPr>
        <p:spPr bwMode="auto">
          <a:xfrm>
            <a:off x="6858000" y="3810000"/>
            <a:ext cx="838200" cy="914400"/>
          </a:xfrm>
          <a:prstGeom prst="curvedLeftArrow">
            <a:avLst>
              <a:gd name="adj1" fmla="val 21818"/>
              <a:gd name="adj2" fmla="val 43636"/>
              <a:gd name="adj3" fmla="val 33333"/>
            </a:avLst>
          </a:prstGeom>
          <a:solidFill>
            <a:schemeClr val="accent1"/>
          </a:solidFill>
          <a:ln w="9525">
            <a:solidFill>
              <a:schemeClr val="tx1"/>
            </a:solidFill>
            <a:miter lim="800000"/>
            <a:headEnd/>
            <a:tailEnd/>
          </a:ln>
        </p:spPr>
        <p:txBody>
          <a:bodyPr wrap="none" anchor="ctr"/>
          <a:lstStyle/>
          <a:p>
            <a:endParaRPr lang="en-US"/>
          </a:p>
        </p:txBody>
      </p:sp>
      <p:sp>
        <p:nvSpPr>
          <p:cNvPr id="50189" name="AutoShape 13"/>
          <p:cNvSpPr>
            <a:spLocks noChangeArrowheads="1"/>
          </p:cNvSpPr>
          <p:nvPr/>
        </p:nvSpPr>
        <p:spPr bwMode="auto">
          <a:xfrm>
            <a:off x="3581400" y="3733800"/>
            <a:ext cx="914400" cy="1066800"/>
          </a:xfrm>
          <a:prstGeom prst="curvedRightArrow">
            <a:avLst>
              <a:gd name="adj1" fmla="val 23333"/>
              <a:gd name="adj2" fmla="val 46667"/>
              <a:gd name="adj3" fmla="val 33333"/>
            </a:avLst>
          </a:prstGeom>
          <a:solidFill>
            <a:schemeClr val="accent1"/>
          </a:solidFill>
          <a:ln w="9525">
            <a:solidFill>
              <a:schemeClr val="tx1"/>
            </a:solidFill>
            <a:miter lim="800000"/>
            <a:headEnd/>
            <a:tailEnd/>
          </a:ln>
        </p:spPr>
        <p:txBody>
          <a:bodyPr wrap="none" anchor="ctr"/>
          <a:lstStyle/>
          <a:p>
            <a:endParaRPr lang="en-US"/>
          </a:p>
        </p:txBody>
      </p:sp>
      <p:sp>
        <p:nvSpPr>
          <p:cNvPr id="50190" name="AutoShape 14"/>
          <p:cNvSpPr>
            <a:spLocks noChangeArrowheads="1"/>
          </p:cNvSpPr>
          <p:nvPr/>
        </p:nvSpPr>
        <p:spPr bwMode="auto">
          <a:xfrm>
            <a:off x="5715000" y="4876800"/>
            <a:ext cx="152400" cy="457200"/>
          </a:xfrm>
          <a:prstGeom prst="downArrow">
            <a:avLst>
              <a:gd name="adj1" fmla="val 50000"/>
              <a:gd name="adj2" fmla="val 75000"/>
            </a:avLst>
          </a:prstGeom>
          <a:solidFill>
            <a:schemeClr val="accent1"/>
          </a:solidFill>
          <a:ln w="9525">
            <a:solidFill>
              <a:schemeClr val="tx1"/>
            </a:solidFill>
            <a:miter lim="800000"/>
            <a:headEnd/>
            <a:tailEnd/>
          </a:ln>
        </p:spPr>
        <p:txBody>
          <a:bodyPr wrap="none" anchor="ctr"/>
          <a:lstStyle/>
          <a:p>
            <a:endParaRPr lang="en-US"/>
          </a:p>
        </p:txBody>
      </p:sp>
      <p:sp>
        <p:nvSpPr>
          <p:cNvPr id="50191" name="Text Box 15"/>
          <p:cNvSpPr txBox="1">
            <a:spLocks noChangeArrowheads="1"/>
          </p:cNvSpPr>
          <p:nvPr/>
        </p:nvSpPr>
        <p:spPr bwMode="auto">
          <a:xfrm>
            <a:off x="2507241" y="1446193"/>
            <a:ext cx="2369559" cy="954107"/>
          </a:xfrm>
          <a:prstGeom prst="rect">
            <a:avLst/>
          </a:prstGeom>
          <a:noFill/>
          <a:ln w="9525">
            <a:noFill/>
            <a:miter lim="800000"/>
            <a:headEnd/>
            <a:tailEnd/>
          </a:ln>
        </p:spPr>
        <p:txBody>
          <a:bodyPr wrap="none">
            <a:spAutoFit/>
          </a:bodyPr>
          <a:lstStyle/>
          <a:p>
            <a:pPr algn="ctr"/>
            <a:r>
              <a:rPr lang="vi-VN" sz="2800" b="1" dirty="0">
                <a:latin typeface="Times" panose="02020603050405020304" pitchFamily="18" charset="0"/>
                <a:cs typeface="Times" panose="02020603050405020304" pitchFamily="18" charset="0"/>
              </a:rPr>
              <a:t>Cách tiếp cận </a:t>
            </a:r>
          </a:p>
          <a:p>
            <a:pPr algn="ctr"/>
            <a:r>
              <a:rPr lang="vi-VN" sz="2800" b="1" dirty="0">
                <a:latin typeface="Times" panose="02020603050405020304" pitchFamily="18" charset="0"/>
                <a:cs typeface="Times" panose="02020603050405020304" pitchFamily="18" charset="0"/>
              </a:rPr>
              <a:t> từ trên xuống</a:t>
            </a:r>
          </a:p>
        </p:txBody>
      </p:sp>
    </p:spTree>
    <p:extLst>
      <p:ext uri="{BB962C8B-B14F-4D97-AF65-F5344CB8AC3E}">
        <p14:creationId xmlns:p14="http://schemas.microsoft.com/office/powerpoint/2010/main" val="3398609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0178"/>
                                        </p:tgtEl>
                                        <p:attrNameLst>
                                          <p:attrName>style.visibility</p:attrName>
                                        </p:attrNameLst>
                                      </p:cBhvr>
                                      <p:to>
                                        <p:strVal val="visible"/>
                                      </p:to>
                                    </p:set>
                                    <p:animEffect transition="in" filter="blinds(horizontal)">
                                      <p:cBhvr>
                                        <p:cTn id="7" dur="500"/>
                                        <p:tgtEl>
                                          <p:spTgt spid="5017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0191"/>
                                        </p:tgtEl>
                                        <p:attrNameLst>
                                          <p:attrName>style.visibility</p:attrName>
                                        </p:attrNameLst>
                                      </p:cBhvr>
                                      <p:to>
                                        <p:strVal val="visible"/>
                                      </p:to>
                                    </p:set>
                                    <p:animEffect transition="in" filter="blinds(horizontal)">
                                      <p:cBhvr>
                                        <p:cTn id="12" dur="500"/>
                                        <p:tgtEl>
                                          <p:spTgt spid="5019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0186"/>
                                        </p:tgtEl>
                                        <p:attrNameLst>
                                          <p:attrName>style.visibility</p:attrName>
                                        </p:attrNameLst>
                                      </p:cBhvr>
                                      <p:to>
                                        <p:strVal val="visible"/>
                                      </p:to>
                                    </p:set>
                                    <p:animEffect transition="in" filter="blinds(horizontal)">
                                      <p:cBhvr>
                                        <p:cTn id="17" dur="500"/>
                                        <p:tgtEl>
                                          <p:spTgt spid="5018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0179"/>
                                        </p:tgtEl>
                                        <p:attrNameLst>
                                          <p:attrName>style.visibility</p:attrName>
                                        </p:attrNameLst>
                                      </p:cBhvr>
                                      <p:to>
                                        <p:strVal val="visible"/>
                                      </p:to>
                                    </p:set>
                                    <p:animEffect transition="in" filter="blinds(horizontal)">
                                      <p:cBhvr>
                                        <p:cTn id="22" dur="500"/>
                                        <p:tgtEl>
                                          <p:spTgt spid="5017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0184"/>
                                        </p:tgtEl>
                                        <p:attrNameLst>
                                          <p:attrName>style.visibility</p:attrName>
                                        </p:attrNameLst>
                                      </p:cBhvr>
                                      <p:to>
                                        <p:strVal val="visible"/>
                                      </p:to>
                                    </p:set>
                                    <p:animEffect transition="in" filter="blinds(horizontal)">
                                      <p:cBhvr>
                                        <p:cTn id="27" dur="500"/>
                                        <p:tgtEl>
                                          <p:spTgt spid="5018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0187"/>
                                        </p:tgtEl>
                                        <p:attrNameLst>
                                          <p:attrName>style.visibility</p:attrName>
                                        </p:attrNameLst>
                                      </p:cBhvr>
                                      <p:to>
                                        <p:strVal val="visible"/>
                                      </p:to>
                                    </p:set>
                                    <p:animEffect transition="in" filter="blinds(horizontal)">
                                      <p:cBhvr>
                                        <p:cTn id="32" dur="500"/>
                                        <p:tgtEl>
                                          <p:spTgt spid="5018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50180"/>
                                        </p:tgtEl>
                                        <p:attrNameLst>
                                          <p:attrName>style.visibility</p:attrName>
                                        </p:attrNameLst>
                                      </p:cBhvr>
                                      <p:to>
                                        <p:strVal val="visible"/>
                                      </p:to>
                                    </p:set>
                                    <p:animEffect transition="in" filter="blinds(horizontal)">
                                      <p:cBhvr>
                                        <p:cTn id="37" dur="500"/>
                                        <p:tgtEl>
                                          <p:spTgt spid="50180"/>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50189"/>
                                        </p:tgtEl>
                                        <p:attrNameLst>
                                          <p:attrName>style.visibility</p:attrName>
                                        </p:attrNameLst>
                                      </p:cBhvr>
                                      <p:to>
                                        <p:strVal val="visible"/>
                                      </p:to>
                                    </p:set>
                                    <p:animEffect transition="in" filter="blinds(horizontal)">
                                      <p:cBhvr>
                                        <p:cTn id="42" dur="500"/>
                                        <p:tgtEl>
                                          <p:spTgt spid="50189"/>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50188"/>
                                        </p:tgtEl>
                                        <p:attrNameLst>
                                          <p:attrName>style.visibility</p:attrName>
                                        </p:attrNameLst>
                                      </p:cBhvr>
                                      <p:to>
                                        <p:strVal val="visible"/>
                                      </p:to>
                                    </p:set>
                                    <p:animEffect transition="in" filter="blinds(horizontal)">
                                      <p:cBhvr>
                                        <p:cTn id="47" dur="500"/>
                                        <p:tgtEl>
                                          <p:spTgt spid="50188"/>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50181"/>
                                        </p:tgtEl>
                                        <p:attrNameLst>
                                          <p:attrName>style.visibility</p:attrName>
                                        </p:attrNameLst>
                                      </p:cBhvr>
                                      <p:to>
                                        <p:strVal val="visible"/>
                                      </p:to>
                                    </p:set>
                                    <p:animEffect transition="in" filter="blinds(horizontal)">
                                      <p:cBhvr>
                                        <p:cTn id="52" dur="500"/>
                                        <p:tgtEl>
                                          <p:spTgt spid="50181"/>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50190"/>
                                        </p:tgtEl>
                                        <p:attrNameLst>
                                          <p:attrName>style.visibility</p:attrName>
                                        </p:attrNameLst>
                                      </p:cBhvr>
                                      <p:to>
                                        <p:strVal val="visible"/>
                                      </p:to>
                                    </p:set>
                                    <p:animEffect transition="in" filter="blinds(horizontal)">
                                      <p:cBhvr>
                                        <p:cTn id="57" dur="500"/>
                                        <p:tgtEl>
                                          <p:spTgt spid="50190"/>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50182"/>
                                        </p:tgtEl>
                                        <p:attrNameLst>
                                          <p:attrName>style.visibility</p:attrName>
                                        </p:attrNameLst>
                                      </p:cBhvr>
                                      <p:to>
                                        <p:strVal val="visible"/>
                                      </p:to>
                                    </p:set>
                                    <p:animEffect transition="in" filter="blinds(horizontal)">
                                      <p:cBhvr>
                                        <p:cTn id="62" dur="500"/>
                                        <p:tgtEl>
                                          <p:spTgt spid="50182"/>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50183"/>
                                        </p:tgtEl>
                                        <p:attrNameLst>
                                          <p:attrName>style.visibility</p:attrName>
                                        </p:attrNameLst>
                                      </p:cBhvr>
                                      <p:to>
                                        <p:strVal val="visible"/>
                                      </p:to>
                                    </p:set>
                                    <p:animEffect transition="in" filter="blinds(horizontal)">
                                      <p:cBhvr>
                                        <p:cTn id="67" dur="500"/>
                                        <p:tgtEl>
                                          <p:spTgt spid="50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8" grpId="0"/>
      <p:bldP spid="50179" grpId="0" animBg="1"/>
      <p:bldP spid="50180" grpId="0" animBg="1"/>
      <p:bldP spid="50181" grpId="0" animBg="1"/>
      <p:bldP spid="50182" grpId="0" animBg="1"/>
      <p:bldP spid="50183" grpId="0" animBg="1"/>
      <p:bldP spid="50184" grpId="0" animBg="1"/>
      <p:bldP spid="50186" grpId="0" animBg="1"/>
      <p:bldP spid="50187" grpId="0" animBg="1"/>
      <p:bldP spid="50188" grpId="0" animBg="1"/>
      <p:bldP spid="50189" grpId="0" animBg="1"/>
      <p:bldP spid="50190" grpId="0" animBg="1"/>
      <p:bldP spid="50191"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5091</TotalTime>
  <Words>4448</Words>
  <Application>Microsoft Office PowerPoint</Application>
  <PresentationFormat>Widescreen</PresentationFormat>
  <Paragraphs>211</Paragraphs>
  <Slides>26</Slides>
  <Notes>26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.VnArial Narrow</vt:lpstr>
      <vt:lpstr>.VnTime</vt:lpstr>
      <vt:lpstr>Aptos</vt:lpstr>
      <vt:lpstr>Aptos Display</vt:lpstr>
      <vt:lpstr>Arial</vt:lpstr>
      <vt:lpstr>Times</vt:lpstr>
      <vt:lpstr>Times New Roman</vt:lpstr>
      <vt:lpstr>Wingdings</vt:lpstr>
      <vt:lpstr>Office Theme</vt:lpstr>
      <vt:lpstr>PowerPoint Presentation</vt:lpstr>
      <vt:lpstr>PowerPoint Presentation</vt:lpstr>
      <vt:lpstr>Ba khâu của một chu trình NS</vt:lpstr>
      <vt:lpstr>Các hoạt động của một chu trình 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Phương pháp lập dự toán NSNN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595</dc:creator>
  <cp:lastModifiedBy>Thang Tran Thanh</cp:lastModifiedBy>
  <cp:revision>37</cp:revision>
  <dcterms:created xsi:type="dcterms:W3CDTF">2025-05-08T12:26:13Z</dcterms:created>
  <dcterms:modified xsi:type="dcterms:W3CDTF">2026-03-05T03:15:09Z</dcterms:modified>
</cp:coreProperties>
</file>