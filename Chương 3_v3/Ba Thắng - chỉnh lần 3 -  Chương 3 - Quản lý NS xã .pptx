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Lst>
  <p:notesMasterIdLst>
    <p:notesMasterId r:id="rId88"/>
  </p:notesMasterIdLst>
  <p:sldIdLst>
    <p:sldId id="3773" r:id="rId2"/>
    <p:sldId id="3774" r:id="rId3"/>
    <p:sldId id="3845" r:id="rId4"/>
    <p:sldId id="3775" r:id="rId5"/>
    <p:sldId id="3776" r:id="rId6"/>
    <p:sldId id="3781" r:id="rId7"/>
    <p:sldId id="3777" r:id="rId8"/>
    <p:sldId id="3782" r:id="rId9"/>
    <p:sldId id="3783" r:id="rId10"/>
    <p:sldId id="3784" r:id="rId11"/>
    <p:sldId id="3785" r:id="rId12"/>
    <p:sldId id="3786" r:id="rId13"/>
    <p:sldId id="3787" r:id="rId14"/>
    <p:sldId id="3788" r:id="rId15"/>
    <p:sldId id="3791" r:id="rId16"/>
    <p:sldId id="3789" r:id="rId17"/>
    <p:sldId id="3794" r:id="rId18"/>
    <p:sldId id="3792" r:id="rId19"/>
    <p:sldId id="3793" r:id="rId20"/>
    <p:sldId id="3795" r:id="rId21"/>
    <p:sldId id="3778" r:id="rId22"/>
    <p:sldId id="3779" r:id="rId23"/>
    <p:sldId id="3839" r:id="rId24"/>
    <p:sldId id="3837" r:id="rId25"/>
    <p:sldId id="3796" r:id="rId26"/>
    <p:sldId id="3797" r:id="rId27"/>
    <p:sldId id="3801" r:id="rId28"/>
    <p:sldId id="3802" r:id="rId29"/>
    <p:sldId id="3803" r:id="rId30"/>
    <p:sldId id="3804" r:id="rId31"/>
    <p:sldId id="3805" r:id="rId32"/>
    <p:sldId id="3806" r:id="rId33"/>
    <p:sldId id="3798" r:id="rId34"/>
    <p:sldId id="3840" r:id="rId35"/>
    <p:sldId id="3841" r:id="rId36"/>
    <p:sldId id="3799" r:id="rId37"/>
    <p:sldId id="3816" r:id="rId38"/>
    <p:sldId id="3807" r:id="rId39"/>
    <p:sldId id="3814" r:id="rId40"/>
    <p:sldId id="3815" r:id="rId41"/>
    <p:sldId id="3810" r:id="rId42"/>
    <p:sldId id="3860" r:id="rId43"/>
    <p:sldId id="3812" r:id="rId44"/>
    <p:sldId id="3813" r:id="rId45"/>
    <p:sldId id="3817" r:id="rId46"/>
    <p:sldId id="3818" r:id="rId47"/>
    <p:sldId id="3819" r:id="rId48"/>
    <p:sldId id="3820" r:id="rId49"/>
    <p:sldId id="3821" r:id="rId50"/>
    <p:sldId id="3822" r:id="rId51"/>
    <p:sldId id="3823" r:id="rId52"/>
    <p:sldId id="3832" r:id="rId53"/>
    <p:sldId id="3834" r:id="rId54"/>
    <p:sldId id="3835" r:id="rId55"/>
    <p:sldId id="3827" r:id="rId56"/>
    <p:sldId id="3831" r:id="rId57"/>
    <p:sldId id="3842" r:id="rId58"/>
    <p:sldId id="3843" r:id="rId59"/>
    <p:sldId id="3844" r:id="rId60"/>
    <p:sldId id="3846" r:id="rId61"/>
    <p:sldId id="3847" r:id="rId62"/>
    <p:sldId id="3848" r:id="rId63"/>
    <p:sldId id="3849" r:id="rId64"/>
    <p:sldId id="3850" r:id="rId65"/>
    <p:sldId id="3851" r:id="rId66"/>
    <p:sldId id="3852" r:id="rId67"/>
    <p:sldId id="3853" r:id="rId68"/>
    <p:sldId id="3854" r:id="rId69"/>
    <p:sldId id="3855" r:id="rId70"/>
    <p:sldId id="3871" r:id="rId71"/>
    <p:sldId id="3872" r:id="rId72"/>
    <p:sldId id="3828" r:id="rId73"/>
    <p:sldId id="3856" r:id="rId74"/>
    <p:sldId id="3861" r:id="rId75"/>
    <p:sldId id="3862" r:id="rId76"/>
    <p:sldId id="3863" r:id="rId77"/>
    <p:sldId id="3857" r:id="rId78"/>
    <p:sldId id="3864" r:id="rId79"/>
    <p:sldId id="3865" r:id="rId80"/>
    <p:sldId id="3858" r:id="rId81"/>
    <p:sldId id="3866" r:id="rId82"/>
    <p:sldId id="3859" r:id="rId83"/>
    <p:sldId id="3867" r:id="rId84"/>
    <p:sldId id="3868" r:id="rId85"/>
    <p:sldId id="3869" r:id="rId86"/>
    <p:sldId id="3870" r:id="rId87"/>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2B7D"/>
    <a:srgbClr val="E8E9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79" autoAdjust="0"/>
    <p:restoredTop sz="78252" autoAdjust="0"/>
  </p:normalViewPr>
  <p:slideViewPr>
    <p:cSldViewPr snapToGrid="0">
      <p:cViewPr varScale="1">
        <p:scale>
          <a:sx n="51" d="100"/>
          <a:sy n="51" d="100"/>
        </p:scale>
        <p:origin x="130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D8B486-9AF6-447A-B481-CD9D34CDA034}"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EA8E1DFA-DDDE-443F-99CB-69431BA60D05}">
      <dgm:prSet custT="1"/>
      <dgm:spPr/>
      <dgm:t>
        <a:bodyPr/>
        <a:lstStyle/>
        <a:p>
          <a:r>
            <a:rPr lang="en-US" sz="2800" b="1" dirty="0" err="1">
              <a:solidFill>
                <a:schemeClr val="bg1"/>
              </a:solidFill>
              <a:latin typeface="Arial" panose="020B0604020202020204" pitchFamily="34" charset="0"/>
              <a:cs typeface="Arial" panose="020B0604020202020204" pitchFamily="34" charset="0"/>
            </a:rPr>
            <a:t>Khái</a:t>
          </a:r>
          <a:r>
            <a:rPr lang="en-US" sz="2800" b="1" dirty="0">
              <a:solidFill>
                <a:schemeClr val="bg1"/>
              </a:solidFill>
              <a:latin typeface="Arial" panose="020B0604020202020204" pitchFamily="34" charset="0"/>
              <a:cs typeface="Arial" panose="020B0604020202020204" pitchFamily="34" charset="0"/>
            </a:rPr>
            <a:t> </a:t>
          </a:r>
          <a:r>
            <a:rPr lang="en-US" sz="2800" b="1" dirty="0" err="1">
              <a:solidFill>
                <a:schemeClr val="bg1"/>
              </a:solidFill>
              <a:latin typeface="Arial" panose="020B0604020202020204" pitchFamily="34" charset="0"/>
              <a:cs typeface="Arial" panose="020B0604020202020204" pitchFamily="34" charset="0"/>
            </a:rPr>
            <a:t>niệm</a:t>
          </a:r>
          <a:r>
            <a:rPr lang="vi-VN" sz="2800" b="1" dirty="0">
              <a:solidFill>
                <a:schemeClr val="bg1"/>
              </a:solidFill>
              <a:latin typeface="Arial" panose="020B0604020202020204" pitchFamily="34" charset="0"/>
              <a:cs typeface="Arial" panose="020B0604020202020204" pitchFamily="34" charset="0"/>
            </a:rPr>
            <a:t> lập dự toán</a:t>
          </a:r>
          <a:endParaRPr lang="en-US" sz="2800" b="1" dirty="0">
            <a:solidFill>
              <a:schemeClr val="bg1"/>
            </a:solidFill>
            <a:latin typeface="Arial" panose="020B0604020202020204" pitchFamily="34" charset="0"/>
            <a:cs typeface="Arial" panose="020B0604020202020204" pitchFamily="34" charset="0"/>
          </a:endParaRPr>
        </a:p>
      </dgm:t>
    </dgm:pt>
    <dgm:pt modelId="{47DDDEEE-21C6-4AB0-92A6-BE0C51240F8A}" type="parTrans" cxnId="{580409B7-D20A-4174-8689-84C1D8ADCECB}">
      <dgm:prSet/>
      <dgm:spPr/>
      <dgm:t>
        <a:bodyPr/>
        <a:lstStyle/>
        <a:p>
          <a:endParaRPr lang="en-US" sz="2800">
            <a:solidFill>
              <a:schemeClr val="bg1"/>
            </a:solidFill>
            <a:latin typeface="Arial" panose="020B0604020202020204" pitchFamily="34" charset="0"/>
            <a:cs typeface="Arial" panose="020B0604020202020204" pitchFamily="34" charset="0"/>
          </a:endParaRPr>
        </a:p>
      </dgm:t>
    </dgm:pt>
    <dgm:pt modelId="{D1B8FE40-73CE-4B62-982E-6440A22D71A8}" type="sibTrans" cxnId="{580409B7-D20A-4174-8689-84C1D8ADCECB}">
      <dgm:prSet/>
      <dgm:spPr/>
      <dgm:t>
        <a:bodyPr/>
        <a:lstStyle/>
        <a:p>
          <a:endParaRPr lang="en-US" sz="2800">
            <a:solidFill>
              <a:schemeClr val="bg1"/>
            </a:solidFill>
            <a:latin typeface="Arial" panose="020B0604020202020204" pitchFamily="34" charset="0"/>
            <a:cs typeface="Arial" panose="020B0604020202020204" pitchFamily="34" charset="0"/>
          </a:endParaRPr>
        </a:p>
      </dgm:t>
    </dgm:pt>
    <dgm:pt modelId="{FCA15F28-E905-4D35-89F0-7C40881F740D}">
      <dgm:prSet custT="1"/>
      <dgm:spPr/>
      <dgm:t>
        <a:bodyPr/>
        <a:lstStyle/>
        <a:p>
          <a:r>
            <a:rPr lang="en-US" sz="2800" b="1" dirty="0" err="1">
              <a:solidFill>
                <a:schemeClr val="bg1"/>
              </a:solidFill>
              <a:latin typeface="Arial" panose="020B0604020202020204" pitchFamily="34" charset="0"/>
              <a:cs typeface="Arial" panose="020B0604020202020204" pitchFamily="34" charset="0"/>
            </a:rPr>
            <a:t>Căn</a:t>
          </a:r>
          <a:r>
            <a:rPr lang="en-US" sz="2800" b="1" dirty="0">
              <a:solidFill>
                <a:schemeClr val="bg1"/>
              </a:solidFill>
              <a:latin typeface="Arial" panose="020B0604020202020204" pitchFamily="34" charset="0"/>
              <a:cs typeface="Arial" panose="020B0604020202020204" pitchFamily="34" charset="0"/>
            </a:rPr>
            <a:t> </a:t>
          </a:r>
          <a:r>
            <a:rPr lang="en-US" sz="2800" b="1" dirty="0" err="1">
              <a:solidFill>
                <a:schemeClr val="bg1"/>
              </a:solidFill>
              <a:latin typeface="Arial" panose="020B0604020202020204" pitchFamily="34" charset="0"/>
              <a:cs typeface="Arial" panose="020B0604020202020204" pitchFamily="34" charset="0"/>
            </a:rPr>
            <a:t>cứ</a:t>
          </a:r>
          <a:r>
            <a:rPr lang="vi-VN" sz="2800" b="1" dirty="0">
              <a:solidFill>
                <a:schemeClr val="bg1"/>
              </a:solidFill>
              <a:latin typeface="Arial" panose="020B0604020202020204" pitchFamily="34" charset="0"/>
              <a:cs typeface="Arial" panose="020B0604020202020204" pitchFamily="34" charset="0"/>
            </a:rPr>
            <a:t> lập dự toán</a:t>
          </a:r>
          <a:endParaRPr lang="en-US" sz="2800" b="1" dirty="0">
            <a:solidFill>
              <a:schemeClr val="bg1"/>
            </a:solidFill>
            <a:latin typeface="Arial" panose="020B0604020202020204" pitchFamily="34" charset="0"/>
            <a:cs typeface="Arial" panose="020B0604020202020204" pitchFamily="34" charset="0"/>
          </a:endParaRPr>
        </a:p>
      </dgm:t>
    </dgm:pt>
    <dgm:pt modelId="{E946A7FC-7FA4-4BB2-8A0B-88FAEB4AFB55}" type="parTrans" cxnId="{546D85A4-6456-4D1F-885A-1696A660ED54}">
      <dgm:prSet/>
      <dgm:spPr/>
      <dgm:t>
        <a:bodyPr/>
        <a:lstStyle/>
        <a:p>
          <a:endParaRPr lang="en-US" sz="2800">
            <a:solidFill>
              <a:schemeClr val="bg1"/>
            </a:solidFill>
            <a:latin typeface="Arial" panose="020B0604020202020204" pitchFamily="34" charset="0"/>
            <a:cs typeface="Arial" panose="020B0604020202020204" pitchFamily="34" charset="0"/>
          </a:endParaRPr>
        </a:p>
      </dgm:t>
    </dgm:pt>
    <dgm:pt modelId="{6B74FA26-0A00-4D56-9897-457130655466}" type="sibTrans" cxnId="{546D85A4-6456-4D1F-885A-1696A660ED54}">
      <dgm:prSet/>
      <dgm:spPr/>
      <dgm:t>
        <a:bodyPr/>
        <a:lstStyle/>
        <a:p>
          <a:endParaRPr lang="en-US" sz="2800">
            <a:solidFill>
              <a:schemeClr val="bg1"/>
            </a:solidFill>
            <a:latin typeface="Arial" panose="020B0604020202020204" pitchFamily="34" charset="0"/>
            <a:cs typeface="Arial" panose="020B0604020202020204" pitchFamily="34" charset="0"/>
          </a:endParaRPr>
        </a:p>
      </dgm:t>
    </dgm:pt>
    <dgm:pt modelId="{D9A7A830-1D25-45E3-B75D-08F6928797E5}">
      <dgm:prSet custT="1"/>
      <dgm:spPr/>
      <dgm:t>
        <a:bodyPr/>
        <a:lstStyle/>
        <a:p>
          <a:r>
            <a:rPr lang="en-US" sz="2800" b="1" dirty="0" err="1">
              <a:solidFill>
                <a:schemeClr val="bg1"/>
              </a:solidFill>
              <a:latin typeface="Arial" panose="020B0604020202020204" pitchFamily="34" charset="0"/>
              <a:cs typeface="Arial" panose="020B0604020202020204" pitchFamily="34" charset="0"/>
            </a:rPr>
            <a:t>Yêu</a:t>
          </a:r>
          <a:r>
            <a:rPr lang="en-US" sz="2800" b="1" dirty="0">
              <a:solidFill>
                <a:schemeClr val="bg1"/>
              </a:solidFill>
              <a:latin typeface="Arial" panose="020B0604020202020204" pitchFamily="34" charset="0"/>
              <a:cs typeface="Arial" panose="020B0604020202020204" pitchFamily="34" charset="0"/>
            </a:rPr>
            <a:t> </a:t>
          </a:r>
          <a:r>
            <a:rPr lang="en-US" sz="2800" b="1" dirty="0" err="1">
              <a:solidFill>
                <a:schemeClr val="bg1"/>
              </a:solidFill>
              <a:latin typeface="Arial" panose="020B0604020202020204" pitchFamily="34" charset="0"/>
              <a:cs typeface="Arial" panose="020B0604020202020204" pitchFamily="34" charset="0"/>
            </a:rPr>
            <a:t>cầu</a:t>
          </a:r>
          <a:r>
            <a:rPr lang="vi-VN" sz="2800" b="1" dirty="0">
              <a:solidFill>
                <a:schemeClr val="bg1"/>
              </a:solidFill>
              <a:latin typeface="Arial" panose="020B0604020202020204" pitchFamily="34" charset="0"/>
              <a:cs typeface="Arial" panose="020B0604020202020204" pitchFamily="34" charset="0"/>
            </a:rPr>
            <a:t> lập dự toán</a:t>
          </a:r>
          <a:endParaRPr lang="en-US" sz="2800" b="1" dirty="0">
            <a:solidFill>
              <a:schemeClr val="bg1"/>
            </a:solidFill>
            <a:latin typeface="Arial" panose="020B0604020202020204" pitchFamily="34" charset="0"/>
            <a:cs typeface="Arial" panose="020B0604020202020204" pitchFamily="34" charset="0"/>
          </a:endParaRPr>
        </a:p>
      </dgm:t>
    </dgm:pt>
    <dgm:pt modelId="{255AFFED-B4EE-40AE-806A-58594C8BD438}" type="parTrans" cxnId="{A7574F0D-2222-47FF-BC99-610272E63811}">
      <dgm:prSet/>
      <dgm:spPr/>
      <dgm:t>
        <a:bodyPr/>
        <a:lstStyle/>
        <a:p>
          <a:endParaRPr lang="en-US" sz="2800">
            <a:solidFill>
              <a:schemeClr val="bg1"/>
            </a:solidFill>
            <a:latin typeface="Arial" panose="020B0604020202020204" pitchFamily="34" charset="0"/>
            <a:cs typeface="Arial" panose="020B0604020202020204" pitchFamily="34" charset="0"/>
          </a:endParaRPr>
        </a:p>
      </dgm:t>
    </dgm:pt>
    <dgm:pt modelId="{8997485A-F21C-45F1-8B0F-C37F9D03F477}" type="sibTrans" cxnId="{A7574F0D-2222-47FF-BC99-610272E63811}">
      <dgm:prSet/>
      <dgm:spPr/>
      <dgm:t>
        <a:bodyPr/>
        <a:lstStyle/>
        <a:p>
          <a:endParaRPr lang="en-US" sz="2800">
            <a:solidFill>
              <a:schemeClr val="bg1"/>
            </a:solidFill>
            <a:latin typeface="Arial" panose="020B0604020202020204" pitchFamily="34" charset="0"/>
            <a:cs typeface="Arial" panose="020B0604020202020204" pitchFamily="34" charset="0"/>
          </a:endParaRPr>
        </a:p>
      </dgm:t>
    </dgm:pt>
    <dgm:pt modelId="{FD51EF04-5764-47F3-9157-C3D679174A53}">
      <dgm:prSet custT="1"/>
      <dgm:spPr/>
      <dgm:t>
        <a:bodyPr/>
        <a:lstStyle/>
        <a:p>
          <a:r>
            <a:rPr lang="en-US" sz="2800" b="1" dirty="0">
              <a:solidFill>
                <a:schemeClr val="bg1"/>
              </a:solidFill>
              <a:latin typeface="Arial" panose="020B0604020202020204" pitchFamily="34" charset="0"/>
              <a:cs typeface="Arial" panose="020B0604020202020204" pitchFamily="34" charset="0"/>
            </a:rPr>
            <a:t>Quy </a:t>
          </a:r>
          <a:r>
            <a:rPr lang="en-US" sz="2800" b="1" dirty="0" err="1">
              <a:solidFill>
                <a:schemeClr val="bg1"/>
              </a:solidFill>
              <a:latin typeface="Arial" panose="020B0604020202020204" pitchFamily="34" charset="0"/>
              <a:cs typeface="Arial" panose="020B0604020202020204" pitchFamily="34" charset="0"/>
            </a:rPr>
            <a:t>trình</a:t>
          </a:r>
          <a:r>
            <a:rPr lang="en-US" sz="2800" b="1" dirty="0">
              <a:solidFill>
                <a:schemeClr val="bg1"/>
              </a:solidFill>
              <a:latin typeface="Arial" panose="020B0604020202020204" pitchFamily="34" charset="0"/>
              <a:cs typeface="Arial" panose="020B0604020202020204" pitchFamily="34" charset="0"/>
            </a:rPr>
            <a:t> </a:t>
          </a:r>
          <a:r>
            <a:rPr lang="en-US" sz="2800" b="1" dirty="0" err="1">
              <a:solidFill>
                <a:schemeClr val="bg1"/>
              </a:solidFill>
              <a:latin typeface="Arial" panose="020B0604020202020204" pitchFamily="34" charset="0"/>
              <a:cs typeface="Arial" panose="020B0604020202020204" pitchFamily="34" charset="0"/>
            </a:rPr>
            <a:t>lập</a:t>
          </a:r>
          <a:r>
            <a:rPr lang="vi-VN" sz="2800" b="1" dirty="0">
              <a:solidFill>
                <a:schemeClr val="bg1"/>
              </a:solidFill>
              <a:latin typeface="Arial" panose="020B0604020202020204" pitchFamily="34" charset="0"/>
              <a:cs typeface="Arial" panose="020B0604020202020204" pitchFamily="34" charset="0"/>
            </a:rPr>
            <a:t> dự toán</a:t>
          </a:r>
          <a:endParaRPr lang="en-US" sz="2800" b="1" dirty="0">
            <a:solidFill>
              <a:schemeClr val="bg1"/>
            </a:solidFill>
            <a:latin typeface="Arial" panose="020B0604020202020204" pitchFamily="34" charset="0"/>
            <a:cs typeface="Arial" panose="020B0604020202020204" pitchFamily="34" charset="0"/>
          </a:endParaRPr>
        </a:p>
      </dgm:t>
    </dgm:pt>
    <dgm:pt modelId="{C447556A-37D1-4B50-A1E5-5C32480F3F85}" type="parTrans" cxnId="{BCA52C84-FDB9-4FC4-8B51-988068A6E12F}">
      <dgm:prSet/>
      <dgm:spPr/>
      <dgm:t>
        <a:bodyPr/>
        <a:lstStyle/>
        <a:p>
          <a:endParaRPr lang="en-US" sz="2800">
            <a:solidFill>
              <a:schemeClr val="bg1"/>
            </a:solidFill>
            <a:latin typeface="Arial" panose="020B0604020202020204" pitchFamily="34" charset="0"/>
            <a:cs typeface="Arial" panose="020B0604020202020204" pitchFamily="34" charset="0"/>
          </a:endParaRPr>
        </a:p>
      </dgm:t>
    </dgm:pt>
    <dgm:pt modelId="{FC5E6598-D600-400C-9742-E3FA6175E4F6}" type="sibTrans" cxnId="{BCA52C84-FDB9-4FC4-8B51-988068A6E12F}">
      <dgm:prSet/>
      <dgm:spPr/>
      <dgm:t>
        <a:bodyPr/>
        <a:lstStyle/>
        <a:p>
          <a:endParaRPr lang="en-US" sz="2800">
            <a:solidFill>
              <a:schemeClr val="bg1"/>
            </a:solidFill>
            <a:latin typeface="Arial" panose="020B0604020202020204" pitchFamily="34" charset="0"/>
            <a:cs typeface="Arial" panose="020B0604020202020204" pitchFamily="34" charset="0"/>
          </a:endParaRPr>
        </a:p>
      </dgm:t>
    </dgm:pt>
    <dgm:pt modelId="{84056C22-1C8F-4B78-8369-5E55E71D9E13}" type="pres">
      <dgm:prSet presAssocID="{52D8B486-9AF6-447A-B481-CD9D34CDA034}" presName="linear" presStyleCnt="0">
        <dgm:presLayoutVars>
          <dgm:dir/>
          <dgm:animLvl val="lvl"/>
          <dgm:resizeHandles val="exact"/>
        </dgm:presLayoutVars>
      </dgm:prSet>
      <dgm:spPr/>
    </dgm:pt>
    <dgm:pt modelId="{A284C16A-F149-4D20-9F82-6EDBE5BD8132}" type="pres">
      <dgm:prSet presAssocID="{EA8E1DFA-DDDE-443F-99CB-69431BA60D05}" presName="parentLin" presStyleCnt="0"/>
      <dgm:spPr/>
    </dgm:pt>
    <dgm:pt modelId="{5CEA7413-DAE5-47E2-A620-DAD49C788BD8}" type="pres">
      <dgm:prSet presAssocID="{EA8E1DFA-DDDE-443F-99CB-69431BA60D05}" presName="parentLeftMargin" presStyleLbl="node1" presStyleIdx="0" presStyleCnt="4"/>
      <dgm:spPr/>
    </dgm:pt>
    <dgm:pt modelId="{65042512-3D74-45F5-A966-09A6813012C6}" type="pres">
      <dgm:prSet presAssocID="{EA8E1DFA-DDDE-443F-99CB-69431BA60D05}" presName="parentText" presStyleLbl="node1" presStyleIdx="0" presStyleCnt="4">
        <dgm:presLayoutVars>
          <dgm:chMax val="0"/>
          <dgm:bulletEnabled val="1"/>
        </dgm:presLayoutVars>
      </dgm:prSet>
      <dgm:spPr/>
    </dgm:pt>
    <dgm:pt modelId="{C911133B-E0D0-44D1-9947-8E605F378780}" type="pres">
      <dgm:prSet presAssocID="{EA8E1DFA-DDDE-443F-99CB-69431BA60D05}" presName="negativeSpace" presStyleCnt="0"/>
      <dgm:spPr/>
    </dgm:pt>
    <dgm:pt modelId="{12B6CB8E-47F7-46A3-BF4D-78C107E76838}" type="pres">
      <dgm:prSet presAssocID="{EA8E1DFA-DDDE-443F-99CB-69431BA60D05}" presName="childText" presStyleLbl="conFgAcc1" presStyleIdx="0" presStyleCnt="4">
        <dgm:presLayoutVars>
          <dgm:bulletEnabled val="1"/>
        </dgm:presLayoutVars>
      </dgm:prSet>
      <dgm:spPr/>
    </dgm:pt>
    <dgm:pt modelId="{B71D121A-AF0B-4A2B-9E9E-409593B0EF16}" type="pres">
      <dgm:prSet presAssocID="{D1B8FE40-73CE-4B62-982E-6440A22D71A8}" presName="spaceBetweenRectangles" presStyleCnt="0"/>
      <dgm:spPr/>
    </dgm:pt>
    <dgm:pt modelId="{476DC09F-5D54-408A-B684-13600B8CF4B5}" type="pres">
      <dgm:prSet presAssocID="{FCA15F28-E905-4D35-89F0-7C40881F740D}" presName="parentLin" presStyleCnt="0"/>
      <dgm:spPr/>
    </dgm:pt>
    <dgm:pt modelId="{DAED5A19-9994-48B5-8B95-CB0FF3563A35}" type="pres">
      <dgm:prSet presAssocID="{FCA15F28-E905-4D35-89F0-7C40881F740D}" presName="parentLeftMargin" presStyleLbl="node1" presStyleIdx="0" presStyleCnt="4"/>
      <dgm:spPr/>
    </dgm:pt>
    <dgm:pt modelId="{A770C11E-DC3C-461E-B0A7-C64E2C233F8D}" type="pres">
      <dgm:prSet presAssocID="{FCA15F28-E905-4D35-89F0-7C40881F740D}" presName="parentText" presStyleLbl="node1" presStyleIdx="1" presStyleCnt="4">
        <dgm:presLayoutVars>
          <dgm:chMax val="0"/>
          <dgm:bulletEnabled val="1"/>
        </dgm:presLayoutVars>
      </dgm:prSet>
      <dgm:spPr/>
    </dgm:pt>
    <dgm:pt modelId="{1169FB9A-A01A-4FD9-BC86-B4932A2E6D9B}" type="pres">
      <dgm:prSet presAssocID="{FCA15F28-E905-4D35-89F0-7C40881F740D}" presName="negativeSpace" presStyleCnt="0"/>
      <dgm:spPr/>
    </dgm:pt>
    <dgm:pt modelId="{5B2031C5-30FE-4815-87D9-174DECC64C21}" type="pres">
      <dgm:prSet presAssocID="{FCA15F28-E905-4D35-89F0-7C40881F740D}" presName="childText" presStyleLbl="conFgAcc1" presStyleIdx="1" presStyleCnt="4">
        <dgm:presLayoutVars>
          <dgm:bulletEnabled val="1"/>
        </dgm:presLayoutVars>
      </dgm:prSet>
      <dgm:spPr/>
    </dgm:pt>
    <dgm:pt modelId="{53ADCCFF-EDBF-4C50-B418-4B6B6154B088}" type="pres">
      <dgm:prSet presAssocID="{6B74FA26-0A00-4D56-9897-457130655466}" presName="spaceBetweenRectangles" presStyleCnt="0"/>
      <dgm:spPr/>
    </dgm:pt>
    <dgm:pt modelId="{F8FEBDA5-A647-439D-AFA7-6784E301B5FB}" type="pres">
      <dgm:prSet presAssocID="{D9A7A830-1D25-45E3-B75D-08F6928797E5}" presName="parentLin" presStyleCnt="0"/>
      <dgm:spPr/>
    </dgm:pt>
    <dgm:pt modelId="{BCD4C53C-7F36-4359-BE30-0AF09E3CC2DC}" type="pres">
      <dgm:prSet presAssocID="{D9A7A830-1D25-45E3-B75D-08F6928797E5}" presName="parentLeftMargin" presStyleLbl="node1" presStyleIdx="1" presStyleCnt="4"/>
      <dgm:spPr/>
    </dgm:pt>
    <dgm:pt modelId="{BD0F7E4C-229A-471E-BF54-0C9877728746}" type="pres">
      <dgm:prSet presAssocID="{D9A7A830-1D25-45E3-B75D-08F6928797E5}" presName="parentText" presStyleLbl="node1" presStyleIdx="2" presStyleCnt="4">
        <dgm:presLayoutVars>
          <dgm:chMax val="0"/>
          <dgm:bulletEnabled val="1"/>
        </dgm:presLayoutVars>
      </dgm:prSet>
      <dgm:spPr/>
    </dgm:pt>
    <dgm:pt modelId="{CD3B4C67-0F7B-49EE-A250-4E212F2968CA}" type="pres">
      <dgm:prSet presAssocID="{D9A7A830-1D25-45E3-B75D-08F6928797E5}" presName="negativeSpace" presStyleCnt="0"/>
      <dgm:spPr/>
    </dgm:pt>
    <dgm:pt modelId="{963CC4D4-8832-42C7-B542-BDC447BC3BB1}" type="pres">
      <dgm:prSet presAssocID="{D9A7A830-1D25-45E3-B75D-08F6928797E5}" presName="childText" presStyleLbl="conFgAcc1" presStyleIdx="2" presStyleCnt="4">
        <dgm:presLayoutVars>
          <dgm:bulletEnabled val="1"/>
        </dgm:presLayoutVars>
      </dgm:prSet>
      <dgm:spPr/>
    </dgm:pt>
    <dgm:pt modelId="{C4EB32D3-D95C-4809-A329-96B046A75BCE}" type="pres">
      <dgm:prSet presAssocID="{8997485A-F21C-45F1-8B0F-C37F9D03F477}" presName="spaceBetweenRectangles" presStyleCnt="0"/>
      <dgm:spPr/>
    </dgm:pt>
    <dgm:pt modelId="{FADFE37E-23F3-444F-B59A-7F2E52473332}" type="pres">
      <dgm:prSet presAssocID="{FD51EF04-5764-47F3-9157-C3D679174A53}" presName="parentLin" presStyleCnt="0"/>
      <dgm:spPr/>
    </dgm:pt>
    <dgm:pt modelId="{EE5EC474-118F-4C75-BA75-840C472D866A}" type="pres">
      <dgm:prSet presAssocID="{FD51EF04-5764-47F3-9157-C3D679174A53}" presName="parentLeftMargin" presStyleLbl="node1" presStyleIdx="2" presStyleCnt="4"/>
      <dgm:spPr/>
    </dgm:pt>
    <dgm:pt modelId="{BB2D3384-1450-4001-9A1E-40675559BA1F}" type="pres">
      <dgm:prSet presAssocID="{FD51EF04-5764-47F3-9157-C3D679174A53}" presName="parentText" presStyleLbl="node1" presStyleIdx="3" presStyleCnt="4">
        <dgm:presLayoutVars>
          <dgm:chMax val="0"/>
          <dgm:bulletEnabled val="1"/>
        </dgm:presLayoutVars>
      </dgm:prSet>
      <dgm:spPr/>
    </dgm:pt>
    <dgm:pt modelId="{1334728C-E5DA-4379-9CC6-A03844D9BCDD}" type="pres">
      <dgm:prSet presAssocID="{FD51EF04-5764-47F3-9157-C3D679174A53}" presName="negativeSpace" presStyleCnt="0"/>
      <dgm:spPr/>
    </dgm:pt>
    <dgm:pt modelId="{9FE2C92F-76AE-4781-B0FE-1C7FA378A75B}" type="pres">
      <dgm:prSet presAssocID="{FD51EF04-5764-47F3-9157-C3D679174A53}" presName="childText" presStyleLbl="conFgAcc1" presStyleIdx="3" presStyleCnt="4">
        <dgm:presLayoutVars>
          <dgm:bulletEnabled val="1"/>
        </dgm:presLayoutVars>
      </dgm:prSet>
      <dgm:spPr/>
    </dgm:pt>
  </dgm:ptLst>
  <dgm:cxnLst>
    <dgm:cxn modelId="{088BD400-04E3-4D62-B1CC-F8EBAC2EA77F}" type="presOf" srcId="{EA8E1DFA-DDDE-443F-99CB-69431BA60D05}" destId="{65042512-3D74-45F5-A966-09A6813012C6}" srcOrd="1" destOrd="0" presId="urn:microsoft.com/office/officeart/2005/8/layout/list1"/>
    <dgm:cxn modelId="{4E370B02-2279-4FFD-B029-B230AE1BDA30}" type="presOf" srcId="{FCA15F28-E905-4D35-89F0-7C40881F740D}" destId="{DAED5A19-9994-48B5-8B95-CB0FF3563A35}" srcOrd="0" destOrd="0" presId="urn:microsoft.com/office/officeart/2005/8/layout/list1"/>
    <dgm:cxn modelId="{A7574F0D-2222-47FF-BC99-610272E63811}" srcId="{52D8B486-9AF6-447A-B481-CD9D34CDA034}" destId="{D9A7A830-1D25-45E3-B75D-08F6928797E5}" srcOrd="2" destOrd="0" parTransId="{255AFFED-B4EE-40AE-806A-58594C8BD438}" sibTransId="{8997485A-F21C-45F1-8B0F-C37F9D03F477}"/>
    <dgm:cxn modelId="{2ACF8F14-0634-44F8-B2F8-D351DF4916C1}" type="presOf" srcId="{FD51EF04-5764-47F3-9157-C3D679174A53}" destId="{BB2D3384-1450-4001-9A1E-40675559BA1F}" srcOrd="1" destOrd="0" presId="urn:microsoft.com/office/officeart/2005/8/layout/list1"/>
    <dgm:cxn modelId="{C24C2A19-F433-439D-A844-E508EA926A98}" type="presOf" srcId="{FCA15F28-E905-4D35-89F0-7C40881F740D}" destId="{A770C11E-DC3C-461E-B0A7-C64E2C233F8D}" srcOrd="1" destOrd="0" presId="urn:microsoft.com/office/officeart/2005/8/layout/list1"/>
    <dgm:cxn modelId="{5D456867-E295-4867-9838-0F6564A195EF}" type="presOf" srcId="{D9A7A830-1D25-45E3-B75D-08F6928797E5}" destId="{BCD4C53C-7F36-4359-BE30-0AF09E3CC2DC}" srcOrd="0" destOrd="0" presId="urn:microsoft.com/office/officeart/2005/8/layout/list1"/>
    <dgm:cxn modelId="{8A78257B-338C-43DB-B4A1-63F4532AA012}" type="presOf" srcId="{D9A7A830-1D25-45E3-B75D-08F6928797E5}" destId="{BD0F7E4C-229A-471E-BF54-0C9877728746}" srcOrd="1" destOrd="0" presId="urn:microsoft.com/office/officeart/2005/8/layout/list1"/>
    <dgm:cxn modelId="{BCA52C84-FDB9-4FC4-8B51-988068A6E12F}" srcId="{52D8B486-9AF6-447A-B481-CD9D34CDA034}" destId="{FD51EF04-5764-47F3-9157-C3D679174A53}" srcOrd="3" destOrd="0" parTransId="{C447556A-37D1-4B50-A1E5-5C32480F3F85}" sibTransId="{FC5E6598-D600-400C-9742-E3FA6175E4F6}"/>
    <dgm:cxn modelId="{546D85A4-6456-4D1F-885A-1696A660ED54}" srcId="{52D8B486-9AF6-447A-B481-CD9D34CDA034}" destId="{FCA15F28-E905-4D35-89F0-7C40881F740D}" srcOrd="1" destOrd="0" parTransId="{E946A7FC-7FA4-4BB2-8A0B-88FAEB4AFB55}" sibTransId="{6B74FA26-0A00-4D56-9897-457130655466}"/>
    <dgm:cxn modelId="{1EDA0CAA-0DFB-43CF-A527-FD015288DEEE}" type="presOf" srcId="{FD51EF04-5764-47F3-9157-C3D679174A53}" destId="{EE5EC474-118F-4C75-BA75-840C472D866A}" srcOrd="0" destOrd="0" presId="urn:microsoft.com/office/officeart/2005/8/layout/list1"/>
    <dgm:cxn modelId="{227BD6B3-BDE6-49FE-94DA-18AB2C0DFA29}" type="presOf" srcId="{52D8B486-9AF6-447A-B481-CD9D34CDA034}" destId="{84056C22-1C8F-4B78-8369-5E55E71D9E13}" srcOrd="0" destOrd="0" presId="urn:microsoft.com/office/officeart/2005/8/layout/list1"/>
    <dgm:cxn modelId="{580409B7-D20A-4174-8689-84C1D8ADCECB}" srcId="{52D8B486-9AF6-447A-B481-CD9D34CDA034}" destId="{EA8E1DFA-DDDE-443F-99CB-69431BA60D05}" srcOrd="0" destOrd="0" parTransId="{47DDDEEE-21C6-4AB0-92A6-BE0C51240F8A}" sibTransId="{D1B8FE40-73CE-4B62-982E-6440A22D71A8}"/>
    <dgm:cxn modelId="{B6CDF2E3-8546-4E4F-98FD-746974833C65}" type="presOf" srcId="{EA8E1DFA-DDDE-443F-99CB-69431BA60D05}" destId="{5CEA7413-DAE5-47E2-A620-DAD49C788BD8}" srcOrd="0" destOrd="0" presId="urn:microsoft.com/office/officeart/2005/8/layout/list1"/>
    <dgm:cxn modelId="{BE4BF824-4908-4C2E-B3F1-3028B426410D}" type="presParOf" srcId="{84056C22-1C8F-4B78-8369-5E55E71D9E13}" destId="{A284C16A-F149-4D20-9F82-6EDBE5BD8132}" srcOrd="0" destOrd="0" presId="urn:microsoft.com/office/officeart/2005/8/layout/list1"/>
    <dgm:cxn modelId="{775BD783-CCE7-4E03-A016-E71D279B0ECB}" type="presParOf" srcId="{A284C16A-F149-4D20-9F82-6EDBE5BD8132}" destId="{5CEA7413-DAE5-47E2-A620-DAD49C788BD8}" srcOrd="0" destOrd="0" presId="urn:microsoft.com/office/officeart/2005/8/layout/list1"/>
    <dgm:cxn modelId="{D3A85253-D817-4CCE-B8D9-50926F425DB9}" type="presParOf" srcId="{A284C16A-F149-4D20-9F82-6EDBE5BD8132}" destId="{65042512-3D74-45F5-A966-09A6813012C6}" srcOrd="1" destOrd="0" presId="urn:microsoft.com/office/officeart/2005/8/layout/list1"/>
    <dgm:cxn modelId="{2004115A-14C0-4A3E-BAF5-D660C084B3BE}" type="presParOf" srcId="{84056C22-1C8F-4B78-8369-5E55E71D9E13}" destId="{C911133B-E0D0-44D1-9947-8E605F378780}" srcOrd="1" destOrd="0" presId="urn:microsoft.com/office/officeart/2005/8/layout/list1"/>
    <dgm:cxn modelId="{13FFEE59-E24B-4C54-9EF3-B0F8BA2733E5}" type="presParOf" srcId="{84056C22-1C8F-4B78-8369-5E55E71D9E13}" destId="{12B6CB8E-47F7-46A3-BF4D-78C107E76838}" srcOrd="2" destOrd="0" presId="urn:microsoft.com/office/officeart/2005/8/layout/list1"/>
    <dgm:cxn modelId="{5FE9C866-A4A8-47D0-8AFF-F68F51D0871D}" type="presParOf" srcId="{84056C22-1C8F-4B78-8369-5E55E71D9E13}" destId="{B71D121A-AF0B-4A2B-9E9E-409593B0EF16}" srcOrd="3" destOrd="0" presId="urn:microsoft.com/office/officeart/2005/8/layout/list1"/>
    <dgm:cxn modelId="{DA00A36D-4E26-4580-A233-E76C57A45E3E}" type="presParOf" srcId="{84056C22-1C8F-4B78-8369-5E55E71D9E13}" destId="{476DC09F-5D54-408A-B684-13600B8CF4B5}" srcOrd="4" destOrd="0" presId="urn:microsoft.com/office/officeart/2005/8/layout/list1"/>
    <dgm:cxn modelId="{399BCC5B-6E5E-4ECE-B315-36F4C3CF9765}" type="presParOf" srcId="{476DC09F-5D54-408A-B684-13600B8CF4B5}" destId="{DAED5A19-9994-48B5-8B95-CB0FF3563A35}" srcOrd="0" destOrd="0" presId="urn:microsoft.com/office/officeart/2005/8/layout/list1"/>
    <dgm:cxn modelId="{E2334B66-9A08-46E5-AE77-EAF7CEF044BD}" type="presParOf" srcId="{476DC09F-5D54-408A-B684-13600B8CF4B5}" destId="{A770C11E-DC3C-461E-B0A7-C64E2C233F8D}" srcOrd="1" destOrd="0" presId="urn:microsoft.com/office/officeart/2005/8/layout/list1"/>
    <dgm:cxn modelId="{FE50E8E8-70D3-4586-B986-370DB9F59B1E}" type="presParOf" srcId="{84056C22-1C8F-4B78-8369-5E55E71D9E13}" destId="{1169FB9A-A01A-4FD9-BC86-B4932A2E6D9B}" srcOrd="5" destOrd="0" presId="urn:microsoft.com/office/officeart/2005/8/layout/list1"/>
    <dgm:cxn modelId="{34F3406F-F064-4830-9F08-4C7D7FB8FB65}" type="presParOf" srcId="{84056C22-1C8F-4B78-8369-5E55E71D9E13}" destId="{5B2031C5-30FE-4815-87D9-174DECC64C21}" srcOrd="6" destOrd="0" presId="urn:microsoft.com/office/officeart/2005/8/layout/list1"/>
    <dgm:cxn modelId="{8E3B924C-80D9-4926-837B-95059FB2338A}" type="presParOf" srcId="{84056C22-1C8F-4B78-8369-5E55E71D9E13}" destId="{53ADCCFF-EDBF-4C50-B418-4B6B6154B088}" srcOrd="7" destOrd="0" presId="urn:microsoft.com/office/officeart/2005/8/layout/list1"/>
    <dgm:cxn modelId="{5CAEDA9D-3F76-4431-AAE6-AF507D0A329A}" type="presParOf" srcId="{84056C22-1C8F-4B78-8369-5E55E71D9E13}" destId="{F8FEBDA5-A647-439D-AFA7-6784E301B5FB}" srcOrd="8" destOrd="0" presId="urn:microsoft.com/office/officeart/2005/8/layout/list1"/>
    <dgm:cxn modelId="{6BFD20C6-E79A-433B-8A80-A72382450D85}" type="presParOf" srcId="{F8FEBDA5-A647-439D-AFA7-6784E301B5FB}" destId="{BCD4C53C-7F36-4359-BE30-0AF09E3CC2DC}" srcOrd="0" destOrd="0" presId="urn:microsoft.com/office/officeart/2005/8/layout/list1"/>
    <dgm:cxn modelId="{F32C8997-07D3-432A-B026-9A79462DFFEF}" type="presParOf" srcId="{F8FEBDA5-A647-439D-AFA7-6784E301B5FB}" destId="{BD0F7E4C-229A-471E-BF54-0C9877728746}" srcOrd="1" destOrd="0" presId="urn:microsoft.com/office/officeart/2005/8/layout/list1"/>
    <dgm:cxn modelId="{F8611BEB-4C40-4884-ACCA-F5C15B5E49F3}" type="presParOf" srcId="{84056C22-1C8F-4B78-8369-5E55E71D9E13}" destId="{CD3B4C67-0F7B-49EE-A250-4E212F2968CA}" srcOrd="9" destOrd="0" presId="urn:microsoft.com/office/officeart/2005/8/layout/list1"/>
    <dgm:cxn modelId="{4689AC79-F5B9-45E1-A750-F254C0B5A0FF}" type="presParOf" srcId="{84056C22-1C8F-4B78-8369-5E55E71D9E13}" destId="{963CC4D4-8832-42C7-B542-BDC447BC3BB1}" srcOrd="10" destOrd="0" presId="urn:microsoft.com/office/officeart/2005/8/layout/list1"/>
    <dgm:cxn modelId="{4F293D37-29E6-40E6-A98D-89E1B0D937F6}" type="presParOf" srcId="{84056C22-1C8F-4B78-8369-5E55E71D9E13}" destId="{C4EB32D3-D95C-4809-A329-96B046A75BCE}" srcOrd="11" destOrd="0" presId="urn:microsoft.com/office/officeart/2005/8/layout/list1"/>
    <dgm:cxn modelId="{166B32AA-2181-4E62-9983-F9A405F48508}" type="presParOf" srcId="{84056C22-1C8F-4B78-8369-5E55E71D9E13}" destId="{FADFE37E-23F3-444F-B59A-7F2E52473332}" srcOrd="12" destOrd="0" presId="urn:microsoft.com/office/officeart/2005/8/layout/list1"/>
    <dgm:cxn modelId="{120DD37C-8DFD-4F59-9E73-E3F867BEA543}" type="presParOf" srcId="{FADFE37E-23F3-444F-B59A-7F2E52473332}" destId="{EE5EC474-118F-4C75-BA75-840C472D866A}" srcOrd="0" destOrd="0" presId="urn:microsoft.com/office/officeart/2005/8/layout/list1"/>
    <dgm:cxn modelId="{8E65441D-C7C8-4885-B547-C7E0D74C5044}" type="presParOf" srcId="{FADFE37E-23F3-444F-B59A-7F2E52473332}" destId="{BB2D3384-1450-4001-9A1E-40675559BA1F}" srcOrd="1" destOrd="0" presId="urn:microsoft.com/office/officeart/2005/8/layout/list1"/>
    <dgm:cxn modelId="{8142C2C4-34C0-47F6-8B6F-4D0FD3029522}" type="presParOf" srcId="{84056C22-1C8F-4B78-8369-5E55E71D9E13}" destId="{1334728C-E5DA-4379-9CC6-A03844D9BCDD}" srcOrd="13" destOrd="0" presId="urn:microsoft.com/office/officeart/2005/8/layout/list1"/>
    <dgm:cxn modelId="{9E4984FF-ACC6-47DD-95C5-B71233520EEE}" type="presParOf" srcId="{84056C22-1C8F-4B78-8369-5E55E71D9E13}" destId="{9FE2C92F-76AE-4781-B0FE-1C7FA378A75B}"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09D87CC-6D34-4690-96D8-B227354F3195}" type="doc">
      <dgm:prSet loTypeId="urn:microsoft.com/office/officeart/2008/layout/VerticalCurvedList" loCatId="list" qsTypeId="urn:microsoft.com/office/officeart/2005/8/quickstyle/simple1" qsCatId="simple" csTypeId="urn:microsoft.com/office/officeart/2005/8/colors/colorful4" csCatId="colorful" phldr="1"/>
      <dgm:spPr/>
      <dgm:t>
        <a:bodyPr/>
        <a:lstStyle/>
        <a:p>
          <a:endParaRPr lang="en-US"/>
        </a:p>
      </dgm:t>
    </dgm:pt>
    <dgm:pt modelId="{352D49D9-F84C-4474-B7C5-3B284E2B40A6}">
      <dgm:prSet custT="1"/>
      <dgm:spPr/>
      <dgm:t>
        <a:bodyPr/>
        <a:lstStyle/>
        <a:p>
          <a:r>
            <a:rPr lang="en-US" sz="3600" b="1" dirty="0" err="1">
              <a:solidFill>
                <a:schemeClr val="bg1"/>
              </a:solidFill>
              <a:latin typeface="Times New Roman" panose="02020603050405020304" pitchFamily="18" charset="0"/>
              <a:cs typeface="Times New Roman" panose="02020603050405020304" pitchFamily="18" charset="0"/>
            </a:rPr>
            <a:t>Phân</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bổ</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và</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giao</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dự</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toán</a:t>
          </a:r>
          <a:r>
            <a:rPr lang="en-US" sz="3600" b="1" dirty="0">
              <a:solidFill>
                <a:schemeClr val="bg1"/>
              </a:solidFill>
              <a:latin typeface="Times New Roman" panose="02020603050405020304" pitchFamily="18" charset="0"/>
              <a:cs typeface="Times New Roman" panose="02020603050405020304" pitchFamily="18" charset="0"/>
            </a:rPr>
            <a:t> </a:t>
          </a:r>
          <a:endParaRPr lang="en-US" sz="3600" dirty="0">
            <a:solidFill>
              <a:schemeClr val="bg1"/>
            </a:solidFill>
            <a:latin typeface="Times New Roman" panose="02020603050405020304" pitchFamily="18" charset="0"/>
            <a:cs typeface="Times New Roman" panose="02020603050405020304" pitchFamily="18" charset="0"/>
          </a:endParaRPr>
        </a:p>
      </dgm:t>
    </dgm:pt>
    <dgm:pt modelId="{D29EB098-2771-470E-BBDF-D7D5B7194A00}" type="sibTrans" cxnId="{46F3767F-7117-4DC5-807A-6109AF6EEFF3}">
      <dgm:prSet/>
      <dgm:spPr/>
      <dgm:t>
        <a:bodyPr/>
        <a:lstStyle/>
        <a:p>
          <a:endParaRPr lang="en-US"/>
        </a:p>
      </dgm:t>
    </dgm:pt>
    <dgm:pt modelId="{075777BC-3D72-4BA1-AA3B-B50BBFDC4FAF}" type="parTrans" cxnId="{46F3767F-7117-4DC5-807A-6109AF6EEFF3}">
      <dgm:prSet/>
      <dgm:spPr/>
      <dgm:t>
        <a:bodyPr/>
        <a:lstStyle/>
        <a:p>
          <a:endParaRPr lang="en-US"/>
        </a:p>
      </dgm:t>
    </dgm:pt>
    <dgm:pt modelId="{E98DB2B7-AB8D-4879-BF1C-7E16EC51C8AC}">
      <dgm:prSet custT="1"/>
      <dgm:spPr/>
      <dgm:t>
        <a:bodyPr/>
        <a:lstStyle/>
        <a:p>
          <a:r>
            <a:rPr lang="vi-VN" sz="3600" b="1" dirty="0">
              <a:solidFill>
                <a:schemeClr val="bg1"/>
              </a:solidFill>
              <a:latin typeface="Times New Roman" panose="02020603050405020304" pitchFamily="18" charset="0"/>
              <a:cs typeface="Times New Roman" panose="02020603050405020304" pitchFamily="18" charset="0"/>
            </a:rPr>
            <a:t>Tổ chức chấp hành dự toán thu</a:t>
          </a:r>
          <a:endParaRPr lang="en-US" sz="3600" dirty="0">
            <a:solidFill>
              <a:schemeClr val="bg1"/>
            </a:solidFill>
            <a:latin typeface="Times New Roman" panose="02020603050405020304" pitchFamily="18" charset="0"/>
            <a:cs typeface="Times New Roman" panose="02020603050405020304" pitchFamily="18" charset="0"/>
          </a:endParaRPr>
        </a:p>
      </dgm:t>
    </dgm:pt>
    <dgm:pt modelId="{05468D8A-C264-4962-95AF-FA23FBEBEE67}" type="sibTrans" cxnId="{268083DE-0AA4-4937-BF5F-DFC85D582B95}">
      <dgm:prSet/>
      <dgm:spPr/>
      <dgm:t>
        <a:bodyPr/>
        <a:lstStyle/>
        <a:p>
          <a:endParaRPr lang="en-US"/>
        </a:p>
      </dgm:t>
    </dgm:pt>
    <dgm:pt modelId="{3E30074F-710D-42F0-BF72-BB28462FBA8C}" type="parTrans" cxnId="{268083DE-0AA4-4937-BF5F-DFC85D582B95}">
      <dgm:prSet/>
      <dgm:spPr/>
      <dgm:t>
        <a:bodyPr/>
        <a:lstStyle/>
        <a:p>
          <a:endParaRPr lang="en-US"/>
        </a:p>
      </dgm:t>
    </dgm:pt>
    <dgm:pt modelId="{37C2FB8C-A6D7-4133-8366-84497A63CBA3}">
      <dgm:prSet custT="1"/>
      <dgm:spPr/>
      <dgm:t>
        <a:bodyPr/>
        <a:lstStyle/>
        <a:p>
          <a:r>
            <a:rPr lang="en-US" sz="3600" b="1" dirty="0">
              <a:solidFill>
                <a:schemeClr val="bg1"/>
              </a:solidFill>
              <a:latin typeface="Times New Roman" panose="02020603050405020304" pitchFamily="18" charset="0"/>
              <a:cs typeface="Times New Roman" panose="02020603050405020304" pitchFamily="18" charset="0"/>
            </a:rPr>
            <a:t>Công </a:t>
          </a:r>
          <a:r>
            <a:rPr lang="en-US" sz="3600" b="1" dirty="0" err="1">
              <a:solidFill>
                <a:schemeClr val="bg1"/>
              </a:solidFill>
              <a:latin typeface="Times New Roman" panose="02020603050405020304" pitchFamily="18" charset="0"/>
              <a:cs typeface="Times New Roman" panose="02020603050405020304" pitchFamily="18" charset="0"/>
            </a:rPr>
            <a:t>khai</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tình</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hình</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thực</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hiện</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dự</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toán</a:t>
          </a:r>
          <a:r>
            <a:rPr lang="en-US" sz="3600" b="1" dirty="0">
              <a:solidFill>
                <a:schemeClr val="bg1"/>
              </a:solidFill>
              <a:latin typeface="Times New Roman" panose="02020603050405020304" pitchFamily="18" charset="0"/>
              <a:cs typeface="Times New Roman" panose="02020603050405020304" pitchFamily="18" charset="0"/>
            </a:rPr>
            <a:t> NS </a:t>
          </a:r>
          <a:r>
            <a:rPr lang="en-US" sz="3600" b="1" dirty="0" err="1">
              <a:solidFill>
                <a:schemeClr val="bg1"/>
              </a:solidFill>
              <a:latin typeface="Times New Roman" panose="02020603050405020304" pitchFamily="18" charset="0"/>
              <a:cs typeface="Times New Roman" panose="02020603050405020304" pitchFamily="18" charset="0"/>
            </a:rPr>
            <a:t>xã</a:t>
          </a:r>
          <a:endParaRPr lang="en-US" sz="3600" dirty="0">
            <a:solidFill>
              <a:schemeClr val="bg1"/>
            </a:solidFill>
            <a:latin typeface="Times New Roman" panose="02020603050405020304" pitchFamily="18" charset="0"/>
            <a:cs typeface="Times New Roman" panose="02020603050405020304" pitchFamily="18" charset="0"/>
          </a:endParaRPr>
        </a:p>
      </dgm:t>
    </dgm:pt>
    <dgm:pt modelId="{D57AE061-6943-4916-81D5-20786ED23606}" type="parTrans" cxnId="{45735C27-F9E4-400F-ABD7-D9F3AEBA8270}">
      <dgm:prSet/>
      <dgm:spPr/>
      <dgm:t>
        <a:bodyPr/>
        <a:lstStyle/>
        <a:p>
          <a:endParaRPr lang="en-US"/>
        </a:p>
      </dgm:t>
    </dgm:pt>
    <dgm:pt modelId="{7CAF5423-8DF1-43F3-B53C-05530B89FECC}" type="sibTrans" cxnId="{45735C27-F9E4-400F-ABD7-D9F3AEBA8270}">
      <dgm:prSet/>
      <dgm:spPr/>
      <dgm:t>
        <a:bodyPr/>
        <a:lstStyle/>
        <a:p>
          <a:endParaRPr lang="en-US"/>
        </a:p>
      </dgm:t>
    </dgm:pt>
    <dgm:pt modelId="{386B5509-B5A9-4E11-9B6D-1618A6FAE7B1}">
      <dgm:prSet custT="1"/>
      <dgm:spPr/>
      <dgm:t>
        <a:bodyPr/>
        <a:lstStyle/>
        <a:p>
          <a:r>
            <a:rPr lang="en-US" sz="3600" b="1" dirty="0" err="1">
              <a:latin typeface="Times New Roman" panose="02020603050405020304" pitchFamily="18" charset="0"/>
              <a:cs typeface="Times New Roman" panose="02020603050405020304" pitchFamily="18" charset="0"/>
            </a:rPr>
            <a:t>Khái</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niệm</a:t>
          </a:r>
          <a:endParaRPr lang="en-US" sz="3600" b="1" dirty="0">
            <a:latin typeface="Times New Roman" panose="02020603050405020304" pitchFamily="18" charset="0"/>
            <a:cs typeface="Times New Roman" panose="02020603050405020304" pitchFamily="18" charset="0"/>
          </a:endParaRPr>
        </a:p>
      </dgm:t>
    </dgm:pt>
    <dgm:pt modelId="{1DD4AC9C-7396-4AC6-9A52-A99B8687A504}" type="parTrans" cxnId="{DE7FCA20-88D8-46DA-9FE6-B91A601FBF4F}">
      <dgm:prSet/>
      <dgm:spPr/>
      <dgm:t>
        <a:bodyPr/>
        <a:lstStyle/>
        <a:p>
          <a:endParaRPr lang="en-US"/>
        </a:p>
      </dgm:t>
    </dgm:pt>
    <dgm:pt modelId="{878B788A-1695-4112-98DB-2972B755164D}" type="sibTrans" cxnId="{DE7FCA20-88D8-46DA-9FE6-B91A601FBF4F}">
      <dgm:prSet/>
      <dgm:spPr/>
      <dgm:t>
        <a:bodyPr/>
        <a:lstStyle/>
        <a:p>
          <a:endParaRPr lang="en-US"/>
        </a:p>
      </dgm:t>
    </dgm:pt>
    <dgm:pt modelId="{4B03E58D-C2AE-4040-A666-340FE2D7A602}">
      <dgm:prSet/>
      <dgm:spPr/>
      <dgm:t>
        <a:bodyPr/>
        <a:lstStyle/>
        <a:p>
          <a:r>
            <a:rPr lang="en-US" b="1" dirty="0" err="1">
              <a:latin typeface="Times New Roman" panose="02020603050405020304" pitchFamily="18" charset="0"/>
              <a:cs typeface="Times New Roman" panose="02020603050405020304" pitchFamily="18" charset="0"/>
            </a:rPr>
            <a:t>Tổ</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chức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chấp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hành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toán</a:t>
          </a:r>
          <a:r>
            <a:rPr lang="en-US" b="1" dirty="0">
              <a:latin typeface="Times New Roman" panose="02020603050405020304" pitchFamily="18" charset="0"/>
              <a:cs typeface="Times New Roman" panose="02020603050405020304" pitchFamily="18" charset="0"/>
            </a:rPr>
            <a:t> chi</a:t>
          </a:r>
        </a:p>
      </dgm:t>
    </dgm:pt>
    <dgm:pt modelId="{DEC2C717-79A5-4D9B-A6C0-475C5989D074}" type="parTrans" cxnId="{C744467E-2C21-4845-BB8E-3D5D00933933}">
      <dgm:prSet/>
      <dgm:spPr/>
      <dgm:t>
        <a:bodyPr/>
        <a:lstStyle/>
        <a:p>
          <a:endParaRPr lang="en-US"/>
        </a:p>
      </dgm:t>
    </dgm:pt>
    <dgm:pt modelId="{6CFDE540-05B2-4218-BDB9-689C61B6AD83}" type="sibTrans" cxnId="{C744467E-2C21-4845-BB8E-3D5D00933933}">
      <dgm:prSet/>
      <dgm:spPr/>
      <dgm:t>
        <a:bodyPr/>
        <a:lstStyle/>
        <a:p>
          <a:endParaRPr lang="en-US"/>
        </a:p>
      </dgm:t>
    </dgm:pt>
    <dgm:pt modelId="{843D7521-A466-4659-93E7-16A2C5B31958}">
      <dgm:prSet custT="1"/>
      <dgm:spPr/>
      <dgm:t>
        <a:bodyPr/>
        <a:lstStyle/>
        <a:p>
          <a:r>
            <a:rPr lang="en-US" sz="3600" b="1" dirty="0" err="1">
              <a:latin typeface="Times New Roman" panose="02020603050405020304" pitchFamily="18" charset="0"/>
              <a:cs typeface="Times New Roman" panose="02020603050405020304" pitchFamily="18" charset="0"/>
            </a:rPr>
            <a:t>Yêu</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cầu</a:t>
          </a:r>
          <a:endParaRPr lang="en-US" sz="3600" b="1" dirty="0">
            <a:latin typeface="Times New Roman" panose="02020603050405020304" pitchFamily="18" charset="0"/>
            <a:cs typeface="Times New Roman" panose="02020603050405020304" pitchFamily="18" charset="0"/>
          </a:endParaRPr>
        </a:p>
      </dgm:t>
    </dgm:pt>
    <dgm:pt modelId="{4BA95B39-47B7-40B7-8D52-69811B4DD768}" type="parTrans" cxnId="{647A8B62-56E0-44BD-8D14-3559B53FD399}">
      <dgm:prSet/>
      <dgm:spPr/>
      <dgm:t>
        <a:bodyPr/>
        <a:lstStyle/>
        <a:p>
          <a:endParaRPr lang="en-US"/>
        </a:p>
      </dgm:t>
    </dgm:pt>
    <dgm:pt modelId="{ABA8AE44-6EE5-4875-B151-E74BC609D204}" type="sibTrans" cxnId="{647A8B62-56E0-44BD-8D14-3559B53FD399}">
      <dgm:prSet/>
      <dgm:spPr/>
      <dgm:t>
        <a:bodyPr/>
        <a:lstStyle/>
        <a:p>
          <a:endParaRPr lang="en-US"/>
        </a:p>
      </dgm:t>
    </dgm:pt>
    <dgm:pt modelId="{235C2AE9-07B1-47AD-8510-2F4ED2CE3553}" type="pres">
      <dgm:prSet presAssocID="{209D87CC-6D34-4690-96D8-B227354F3195}" presName="Name0" presStyleCnt="0">
        <dgm:presLayoutVars>
          <dgm:chMax val="7"/>
          <dgm:chPref val="7"/>
          <dgm:dir/>
        </dgm:presLayoutVars>
      </dgm:prSet>
      <dgm:spPr/>
    </dgm:pt>
    <dgm:pt modelId="{91C1220B-D9D2-4B19-B21D-50703F8DA018}" type="pres">
      <dgm:prSet presAssocID="{209D87CC-6D34-4690-96D8-B227354F3195}" presName="Name1" presStyleCnt="0"/>
      <dgm:spPr/>
    </dgm:pt>
    <dgm:pt modelId="{56A7872C-BF12-4BCB-BA25-7648B55E0071}" type="pres">
      <dgm:prSet presAssocID="{209D87CC-6D34-4690-96D8-B227354F3195}" presName="cycle" presStyleCnt="0"/>
      <dgm:spPr/>
    </dgm:pt>
    <dgm:pt modelId="{BFC3BB5F-D7F1-43F4-A063-7AF806389AFA}" type="pres">
      <dgm:prSet presAssocID="{209D87CC-6D34-4690-96D8-B227354F3195}" presName="srcNode" presStyleLbl="node1" presStyleIdx="0" presStyleCnt="5"/>
      <dgm:spPr/>
    </dgm:pt>
    <dgm:pt modelId="{65BE597A-B87E-436A-AD8F-6E84BE353021}" type="pres">
      <dgm:prSet presAssocID="{209D87CC-6D34-4690-96D8-B227354F3195}" presName="conn" presStyleLbl="parChTrans1D2" presStyleIdx="0" presStyleCnt="1"/>
      <dgm:spPr/>
    </dgm:pt>
    <dgm:pt modelId="{5861BE83-C008-46E0-8525-26DF6DB8C5FB}" type="pres">
      <dgm:prSet presAssocID="{209D87CC-6D34-4690-96D8-B227354F3195}" presName="extraNode" presStyleLbl="node1" presStyleIdx="0" presStyleCnt="5"/>
      <dgm:spPr/>
    </dgm:pt>
    <dgm:pt modelId="{978FAD90-71F7-4042-A9C6-15D77E5254E8}" type="pres">
      <dgm:prSet presAssocID="{209D87CC-6D34-4690-96D8-B227354F3195}" presName="dstNode" presStyleLbl="node1" presStyleIdx="0" presStyleCnt="5"/>
      <dgm:spPr/>
    </dgm:pt>
    <dgm:pt modelId="{0CDBC8BB-B2BC-405B-B589-07326939E333}" type="pres">
      <dgm:prSet presAssocID="{386B5509-B5A9-4E11-9B6D-1618A6FAE7B1}" presName="text_1" presStyleLbl="node1" presStyleIdx="0" presStyleCnt="5">
        <dgm:presLayoutVars>
          <dgm:bulletEnabled val="1"/>
        </dgm:presLayoutVars>
      </dgm:prSet>
      <dgm:spPr/>
    </dgm:pt>
    <dgm:pt modelId="{74841A20-298B-498F-9293-F04B74934FDF}" type="pres">
      <dgm:prSet presAssocID="{386B5509-B5A9-4E11-9B6D-1618A6FAE7B1}" presName="accent_1" presStyleCnt="0"/>
      <dgm:spPr/>
    </dgm:pt>
    <dgm:pt modelId="{545E2705-FDFC-4F54-80E6-0166452A47B1}" type="pres">
      <dgm:prSet presAssocID="{386B5509-B5A9-4E11-9B6D-1618A6FAE7B1}" presName="accentRepeatNode" presStyleLbl="solidFgAcc1" presStyleIdx="0" presStyleCnt="5"/>
      <dgm:spPr/>
    </dgm:pt>
    <dgm:pt modelId="{98620C39-FFBA-414F-AC07-A021EF8AD798}" type="pres">
      <dgm:prSet presAssocID="{843D7521-A466-4659-93E7-16A2C5B31958}" presName="text_2" presStyleLbl="node1" presStyleIdx="1" presStyleCnt="5">
        <dgm:presLayoutVars>
          <dgm:bulletEnabled val="1"/>
        </dgm:presLayoutVars>
      </dgm:prSet>
      <dgm:spPr/>
    </dgm:pt>
    <dgm:pt modelId="{596DC98F-8800-4CAA-8979-384CCB3FF3B2}" type="pres">
      <dgm:prSet presAssocID="{843D7521-A466-4659-93E7-16A2C5B31958}" presName="accent_2" presStyleCnt="0"/>
      <dgm:spPr/>
    </dgm:pt>
    <dgm:pt modelId="{01C234E1-25E6-47D1-9477-87F5524F009D}" type="pres">
      <dgm:prSet presAssocID="{843D7521-A466-4659-93E7-16A2C5B31958}" presName="accentRepeatNode" presStyleLbl="solidFgAcc1" presStyleIdx="1" presStyleCnt="5"/>
      <dgm:spPr/>
    </dgm:pt>
    <dgm:pt modelId="{E4602C91-5B46-49F1-BE77-F075080DCB2C}" type="pres">
      <dgm:prSet presAssocID="{352D49D9-F84C-4474-B7C5-3B284E2B40A6}" presName="text_3" presStyleLbl="node1" presStyleIdx="2" presStyleCnt="5">
        <dgm:presLayoutVars>
          <dgm:bulletEnabled val="1"/>
        </dgm:presLayoutVars>
      </dgm:prSet>
      <dgm:spPr/>
    </dgm:pt>
    <dgm:pt modelId="{2F021AD1-3582-4E29-9F70-BCDD5155DA5E}" type="pres">
      <dgm:prSet presAssocID="{352D49D9-F84C-4474-B7C5-3B284E2B40A6}" presName="accent_3" presStyleCnt="0"/>
      <dgm:spPr/>
    </dgm:pt>
    <dgm:pt modelId="{95108641-1C1A-4CC0-AAC7-2CA44F499011}" type="pres">
      <dgm:prSet presAssocID="{352D49D9-F84C-4474-B7C5-3B284E2B40A6}" presName="accentRepeatNode" presStyleLbl="solidFgAcc1" presStyleIdx="2" presStyleCnt="5"/>
      <dgm:spPr/>
    </dgm:pt>
    <dgm:pt modelId="{DCBE11C3-CF40-411E-B85F-40FA2B957908}" type="pres">
      <dgm:prSet presAssocID="{E98DB2B7-AB8D-4879-BF1C-7E16EC51C8AC}" presName="text_4" presStyleLbl="node1" presStyleIdx="3" presStyleCnt="5">
        <dgm:presLayoutVars>
          <dgm:bulletEnabled val="1"/>
        </dgm:presLayoutVars>
      </dgm:prSet>
      <dgm:spPr/>
    </dgm:pt>
    <dgm:pt modelId="{67A044B3-2240-4DE0-9324-8BEABE94C534}" type="pres">
      <dgm:prSet presAssocID="{E98DB2B7-AB8D-4879-BF1C-7E16EC51C8AC}" presName="accent_4" presStyleCnt="0"/>
      <dgm:spPr/>
    </dgm:pt>
    <dgm:pt modelId="{C07C97EB-BCAB-45B0-800D-263543D5EEED}" type="pres">
      <dgm:prSet presAssocID="{E98DB2B7-AB8D-4879-BF1C-7E16EC51C8AC}" presName="accentRepeatNode" presStyleLbl="solidFgAcc1" presStyleIdx="3" presStyleCnt="5" custLinFactNeighborX="-2686" custLinFactNeighborY="537"/>
      <dgm:spPr/>
    </dgm:pt>
    <dgm:pt modelId="{5F8F4823-0FF6-45CF-AD9F-0703B1901021}" type="pres">
      <dgm:prSet presAssocID="{4B03E58D-C2AE-4040-A666-340FE2D7A602}" presName="text_5" presStyleLbl="node1" presStyleIdx="4" presStyleCnt="5">
        <dgm:presLayoutVars>
          <dgm:bulletEnabled val="1"/>
        </dgm:presLayoutVars>
      </dgm:prSet>
      <dgm:spPr/>
    </dgm:pt>
    <dgm:pt modelId="{178F7686-6766-48FF-A719-E8356292715C}" type="pres">
      <dgm:prSet presAssocID="{4B03E58D-C2AE-4040-A666-340FE2D7A602}" presName="accent_5" presStyleCnt="0"/>
      <dgm:spPr/>
    </dgm:pt>
    <dgm:pt modelId="{EBE6C455-2CFB-413E-9493-3E0F2DE2B66A}" type="pres">
      <dgm:prSet presAssocID="{4B03E58D-C2AE-4040-A666-340FE2D7A602}" presName="accentRepeatNode" presStyleLbl="solidFgAcc1" presStyleIdx="4" presStyleCnt="5"/>
      <dgm:spPr/>
    </dgm:pt>
  </dgm:ptLst>
  <dgm:cxnLst>
    <dgm:cxn modelId="{DE7FCA20-88D8-46DA-9FE6-B91A601FBF4F}" srcId="{209D87CC-6D34-4690-96D8-B227354F3195}" destId="{386B5509-B5A9-4E11-9B6D-1618A6FAE7B1}" srcOrd="0" destOrd="0" parTransId="{1DD4AC9C-7396-4AC6-9A52-A99B8687A504}" sibTransId="{878B788A-1695-4112-98DB-2972B755164D}"/>
    <dgm:cxn modelId="{45735C27-F9E4-400F-ABD7-D9F3AEBA8270}" srcId="{4B03E58D-C2AE-4040-A666-340FE2D7A602}" destId="{37C2FB8C-A6D7-4133-8366-84497A63CBA3}" srcOrd="0" destOrd="0" parTransId="{D57AE061-6943-4916-81D5-20786ED23606}" sibTransId="{7CAF5423-8DF1-43F3-B53C-05530B89FECC}"/>
    <dgm:cxn modelId="{647A8B62-56E0-44BD-8D14-3559B53FD399}" srcId="{209D87CC-6D34-4690-96D8-B227354F3195}" destId="{843D7521-A466-4659-93E7-16A2C5B31958}" srcOrd="1" destOrd="0" parTransId="{4BA95B39-47B7-40B7-8D52-69811B4DD768}" sibTransId="{ABA8AE44-6EE5-4875-B151-E74BC609D204}"/>
    <dgm:cxn modelId="{2CFD7C66-FDC2-4E69-B235-6390679836BD}" type="presOf" srcId="{4B03E58D-C2AE-4040-A666-340FE2D7A602}" destId="{5F8F4823-0FF6-45CF-AD9F-0703B1901021}" srcOrd="0" destOrd="0" presId="urn:microsoft.com/office/officeart/2008/layout/VerticalCurvedList"/>
    <dgm:cxn modelId="{3C42D769-8646-49E3-9DF6-8416281DD37C}" type="presOf" srcId="{878B788A-1695-4112-98DB-2972B755164D}" destId="{65BE597A-B87E-436A-AD8F-6E84BE353021}" srcOrd="0" destOrd="0" presId="urn:microsoft.com/office/officeart/2008/layout/VerticalCurvedList"/>
    <dgm:cxn modelId="{C744467E-2C21-4845-BB8E-3D5D00933933}" srcId="{209D87CC-6D34-4690-96D8-B227354F3195}" destId="{4B03E58D-C2AE-4040-A666-340FE2D7A602}" srcOrd="4" destOrd="0" parTransId="{DEC2C717-79A5-4D9B-A6C0-475C5989D074}" sibTransId="{6CFDE540-05B2-4218-BDB9-689C61B6AD83}"/>
    <dgm:cxn modelId="{46F3767F-7117-4DC5-807A-6109AF6EEFF3}" srcId="{209D87CC-6D34-4690-96D8-B227354F3195}" destId="{352D49D9-F84C-4474-B7C5-3B284E2B40A6}" srcOrd="2" destOrd="0" parTransId="{075777BC-3D72-4BA1-AA3B-B50BBFDC4FAF}" sibTransId="{D29EB098-2771-470E-BBDF-D7D5B7194A00}"/>
    <dgm:cxn modelId="{58727D96-53BA-4DB0-A968-0D35EF5D3B9D}" type="presOf" srcId="{209D87CC-6D34-4690-96D8-B227354F3195}" destId="{235C2AE9-07B1-47AD-8510-2F4ED2CE3553}" srcOrd="0" destOrd="0" presId="urn:microsoft.com/office/officeart/2008/layout/VerticalCurvedList"/>
    <dgm:cxn modelId="{6991F397-39A5-49B4-B9B2-EDE38A64BDB0}" type="presOf" srcId="{386B5509-B5A9-4E11-9B6D-1618A6FAE7B1}" destId="{0CDBC8BB-B2BC-405B-B589-07326939E333}" srcOrd="0" destOrd="0" presId="urn:microsoft.com/office/officeart/2008/layout/VerticalCurvedList"/>
    <dgm:cxn modelId="{2B81D0A7-4950-4B23-A6BE-CAE269F39644}" type="presOf" srcId="{843D7521-A466-4659-93E7-16A2C5B31958}" destId="{98620C39-FFBA-414F-AC07-A021EF8AD798}" srcOrd="0" destOrd="0" presId="urn:microsoft.com/office/officeart/2008/layout/VerticalCurvedList"/>
    <dgm:cxn modelId="{651DEEC7-26D5-485E-93E9-927DBA715BDC}" type="presOf" srcId="{352D49D9-F84C-4474-B7C5-3B284E2B40A6}" destId="{E4602C91-5B46-49F1-BE77-F075080DCB2C}" srcOrd="0" destOrd="0" presId="urn:microsoft.com/office/officeart/2008/layout/VerticalCurvedList"/>
    <dgm:cxn modelId="{6AF00FCC-FC59-4A2B-B385-EADD6BBF1B63}" type="presOf" srcId="{37C2FB8C-A6D7-4133-8366-84497A63CBA3}" destId="{5F8F4823-0FF6-45CF-AD9F-0703B1901021}" srcOrd="0" destOrd="1" presId="urn:microsoft.com/office/officeart/2008/layout/VerticalCurvedList"/>
    <dgm:cxn modelId="{268083DE-0AA4-4937-BF5F-DFC85D582B95}" srcId="{209D87CC-6D34-4690-96D8-B227354F3195}" destId="{E98DB2B7-AB8D-4879-BF1C-7E16EC51C8AC}" srcOrd="3" destOrd="0" parTransId="{3E30074F-710D-42F0-BF72-BB28462FBA8C}" sibTransId="{05468D8A-C264-4962-95AF-FA23FBEBEE67}"/>
    <dgm:cxn modelId="{B47407FC-B7AB-47E5-B4BD-DDA3DDFCA132}" type="presOf" srcId="{E98DB2B7-AB8D-4879-BF1C-7E16EC51C8AC}" destId="{DCBE11C3-CF40-411E-B85F-40FA2B957908}" srcOrd="0" destOrd="0" presId="urn:microsoft.com/office/officeart/2008/layout/VerticalCurvedList"/>
    <dgm:cxn modelId="{459E4FE1-1B08-4E00-8E1A-6A6DF2B086AD}" type="presParOf" srcId="{235C2AE9-07B1-47AD-8510-2F4ED2CE3553}" destId="{91C1220B-D9D2-4B19-B21D-50703F8DA018}" srcOrd="0" destOrd="0" presId="urn:microsoft.com/office/officeart/2008/layout/VerticalCurvedList"/>
    <dgm:cxn modelId="{AE91E3FE-5DC3-4A4C-BB62-FEEF770EEE4B}" type="presParOf" srcId="{91C1220B-D9D2-4B19-B21D-50703F8DA018}" destId="{56A7872C-BF12-4BCB-BA25-7648B55E0071}" srcOrd="0" destOrd="0" presId="urn:microsoft.com/office/officeart/2008/layout/VerticalCurvedList"/>
    <dgm:cxn modelId="{CA4D3F50-6D74-478B-A412-4F14DACFEF7D}" type="presParOf" srcId="{56A7872C-BF12-4BCB-BA25-7648B55E0071}" destId="{BFC3BB5F-D7F1-43F4-A063-7AF806389AFA}" srcOrd="0" destOrd="0" presId="urn:microsoft.com/office/officeart/2008/layout/VerticalCurvedList"/>
    <dgm:cxn modelId="{619ABC93-3082-454B-8671-8D4582F85ADF}" type="presParOf" srcId="{56A7872C-BF12-4BCB-BA25-7648B55E0071}" destId="{65BE597A-B87E-436A-AD8F-6E84BE353021}" srcOrd="1" destOrd="0" presId="urn:microsoft.com/office/officeart/2008/layout/VerticalCurvedList"/>
    <dgm:cxn modelId="{11DB9A9B-6729-4A56-9D4B-9CCC32E5AF32}" type="presParOf" srcId="{56A7872C-BF12-4BCB-BA25-7648B55E0071}" destId="{5861BE83-C008-46E0-8525-26DF6DB8C5FB}" srcOrd="2" destOrd="0" presId="urn:microsoft.com/office/officeart/2008/layout/VerticalCurvedList"/>
    <dgm:cxn modelId="{5A92A186-8C7D-4D2E-A7F8-487D841DCB75}" type="presParOf" srcId="{56A7872C-BF12-4BCB-BA25-7648B55E0071}" destId="{978FAD90-71F7-4042-A9C6-15D77E5254E8}" srcOrd="3" destOrd="0" presId="urn:microsoft.com/office/officeart/2008/layout/VerticalCurvedList"/>
    <dgm:cxn modelId="{FB8D6890-A1B8-4872-B8BE-6057A77FA8C0}" type="presParOf" srcId="{91C1220B-D9D2-4B19-B21D-50703F8DA018}" destId="{0CDBC8BB-B2BC-405B-B589-07326939E333}" srcOrd="1" destOrd="0" presId="urn:microsoft.com/office/officeart/2008/layout/VerticalCurvedList"/>
    <dgm:cxn modelId="{E616DDE5-E873-43F0-AE92-478A3555A050}" type="presParOf" srcId="{91C1220B-D9D2-4B19-B21D-50703F8DA018}" destId="{74841A20-298B-498F-9293-F04B74934FDF}" srcOrd="2" destOrd="0" presId="urn:microsoft.com/office/officeart/2008/layout/VerticalCurvedList"/>
    <dgm:cxn modelId="{52C29318-2D8A-47F7-BA22-8344E94109F4}" type="presParOf" srcId="{74841A20-298B-498F-9293-F04B74934FDF}" destId="{545E2705-FDFC-4F54-80E6-0166452A47B1}" srcOrd="0" destOrd="0" presId="urn:microsoft.com/office/officeart/2008/layout/VerticalCurvedList"/>
    <dgm:cxn modelId="{31018985-6E41-4AEA-A7F0-A654B567D6AF}" type="presParOf" srcId="{91C1220B-D9D2-4B19-B21D-50703F8DA018}" destId="{98620C39-FFBA-414F-AC07-A021EF8AD798}" srcOrd="3" destOrd="0" presId="urn:microsoft.com/office/officeart/2008/layout/VerticalCurvedList"/>
    <dgm:cxn modelId="{C2B10300-E92B-4B34-859F-90231EB914D1}" type="presParOf" srcId="{91C1220B-D9D2-4B19-B21D-50703F8DA018}" destId="{596DC98F-8800-4CAA-8979-384CCB3FF3B2}" srcOrd="4" destOrd="0" presId="urn:microsoft.com/office/officeart/2008/layout/VerticalCurvedList"/>
    <dgm:cxn modelId="{EF0357F4-2118-4B4C-897B-22A66A565AD1}" type="presParOf" srcId="{596DC98F-8800-4CAA-8979-384CCB3FF3B2}" destId="{01C234E1-25E6-47D1-9477-87F5524F009D}" srcOrd="0" destOrd="0" presId="urn:microsoft.com/office/officeart/2008/layout/VerticalCurvedList"/>
    <dgm:cxn modelId="{B86EDDBF-AD58-4BB0-B657-A40657893244}" type="presParOf" srcId="{91C1220B-D9D2-4B19-B21D-50703F8DA018}" destId="{E4602C91-5B46-49F1-BE77-F075080DCB2C}" srcOrd="5" destOrd="0" presId="urn:microsoft.com/office/officeart/2008/layout/VerticalCurvedList"/>
    <dgm:cxn modelId="{69D00856-15A2-4A16-A371-94FABE4E5FB8}" type="presParOf" srcId="{91C1220B-D9D2-4B19-B21D-50703F8DA018}" destId="{2F021AD1-3582-4E29-9F70-BCDD5155DA5E}" srcOrd="6" destOrd="0" presId="urn:microsoft.com/office/officeart/2008/layout/VerticalCurvedList"/>
    <dgm:cxn modelId="{54E9E553-8435-4A3B-A6CF-F9BCBF237EE4}" type="presParOf" srcId="{2F021AD1-3582-4E29-9F70-BCDD5155DA5E}" destId="{95108641-1C1A-4CC0-AAC7-2CA44F499011}" srcOrd="0" destOrd="0" presId="urn:microsoft.com/office/officeart/2008/layout/VerticalCurvedList"/>
    <dgm:cxn modelId="{488E92B6-B756-4E00-A731-4C58B76214ED}" type="presParOf" srcId="{91C1220B-D9D2-4B19-B21D-50703F8DA018}" destId="{DCBE11C3-CF40-411E-B85F-40FA2B957908}" srcOrd="7" destOrd="0" presId="urn:microsoft.com/office/officeart/2008/layout/VerticalCurvedList"/>
    <dgm:cxn modelId="{808E8DA3-B76C-49CA-B5CF-88A7B061CE05}" type="presParOf" srcId="{91C1220B-D9D2-4B19-B21D-50703F8DA018}" destId="{67A044B3-2240-4DE0-9324-8BEABE94C534}" srcOrd="8" destOrd="0" presId="urn:microsoft.com/office/officeart/2008/layout/VerticalCurvedList"/>
    <dgm:cxn modelId="{025F1682-5974-4D59-9089-EDE492F1EA23}" type="presParOf" srcId="{67A044B3-2240-4DE0-9324-8BEABE94C534}" destId="{C07C97EB-BCAB-45B0-800D-263543D5EEED}" srcOrd="0" destOrd="0" presId="urn:microsoft.com/office/officeart/2008/layout/VerticalCurvedList"/>
    <dgm:cxn modelId="{00234C9C-49FC-42B6-AE38-E757A408A036}" type="presParOf" srcId="{91C1220B-D9D2-4B19-B21D-50703F8DA018}" destId="{5F8F4823-0FF6-45CF-AD9F-0703B1901021}" srcOrd="9" destOrd="0" presId="urn:microsoft.com/office/officeart/2008/layout/VerticalCurvedList"/>
    <dgm:cxn modelId="{6F2C0B78-063B-4C63-B1F4-D5674AC3F872}" type="presParOf" srcId="{91C1220B-D9D2-4B19-B21D-50703F8DA018}" destId="{178F7686-6766-48FF-A719-E8356292715C}" srcOrd="10" destOrd="0" presId="urn:microsoft.com/office/officeart/2008/layout/VerticalCurvedList"/>
    <dgm:cxn modelId="{8F297424-BA62-4AEE-9F54-BE1957A88888}" type="presParOf" srcId="{178F7686-6766-48FF-A719-E8356292715C}" destId="{EBE6C455-2CFB-413E-9493-3E0F2DE2B66A}"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3ADE9BC-A719-4C18-88BA-52E7F909A2BD}" type="doc">
      <dgm:prSet loTypeId="urn:microsoft.com/office/officeart/2008/layout/VerticalCurvedList" loCatId="list" qsTypeId="urn:microsoft.com/office/officeart/2005/8/quickstyle/simple1" qsCatId="simple" csTypeId="urn:microsoft.com/office/officeart/2005/8/colors/colorful4" csCatId="colorful" phldr="1"/>
      <dgm:spPr/>
      <dgm:t>
        <a:bodyPr/>
        <a:lstStyle/>
        <a:p>
          <a:endParaRPr lang="en-US"/>
        </a:p>
      </dgm:t>
    </dgm:pt>
    <dgm:pt modelId="{36E73B32-160D-4DBA-A0E3-7B4294ACDA14}">
      <dgm:prSet/>
      <dgm:spPr/>
      <dgm:t>
        <a:bodyPr/>
        <a:lstStyle/>
        <a:p>
          <a:r>
            <a:rPr lang="en-US" b="1" dirty="0" err="1">
              <a:solidFill>
                <a:schemeClr val="bg1"/>
              </a:solidFill>
              <a:latin typeface="Times New Roman" panose="02020603050405020304" pitchFamily="18" charset="0"/>
              <a:cs typeface="Times New Roman" panose="02020603050405020304" pitchFamily="18" charset="0"/>
            </a:rPr>
            <a:t>Khái</a:t>
          </a:r>
          <a:r>
            <a:rPr lang="en-US" b="1" dirty="0">
              <a:solidFill>
                <a:schemeClr val="bg1"/>
              </a:solidFill>
              <a:latin typeface="Times New Roman" panose="02020603050405020304" pitchFamily="18" charset="0"/>
              <a:cs typeface="Times New Roman" panose="02020603050405020304" pitchFamily="18" charset="0"/>
            </a:rPr>
            <a:t> </a:t>
          </a:r>
          <a:r>
            <a:rPr lang="en-US" b="1" dirty="0" err="1">
              <a:solidFill>
                <a:schemeClr val="bg1"/>
              </a:solidFill>
              <a:latin typeface="Times New Roman" panose="02020603050405020304" pitchFamily="18" charset="0"/>
              <a:cs typeface="Times New Roman" panose="02020603050405020304" pitchFamily="18" charset="0"/>
            </a:rPr>
            <a:t>niệm</a:t>
          </a:r>
          <a:endParaRPr lang="en-US" b="1" dirty="0">
            <a:solidFill>
              <a:schemeClr val="bg1"/>
            </a:solidFill>
            <a:latin typeface="Times New Roman" panose="02020603050405020304" pitchFamily="18" charset="0"/>
            <a:cs typeface="Times New Roman" panose="02020603050405020304" pitchFamily="18" charset="0"/>
          </a:endParaRPr>
        </a:p>
      </dgm:t>
    </dgm:pt>
    <dgm:pt modelId="{44B0FB7B-8E35-4A2B-92FE-3C8C2757D1DE}" type="parTrans" cxnId="{E7318588-7A78-419B-808E-CAA71EC267B9}">
      <dgm:prSet/>
      <dgm:spPr/>
      <dgm:t>
        <a:bodyPr/>
        <a:lstStyle/>
        <a:p>
          <a:endParaRPr lang="en-US">
            <a:solidFill>
              <a:schemeClr val="bg1"/>
            </a:solidFill>
            <a:latin typeface="Times New Roman" panose="02020603050405020304" pitchFamily="18" charset="0"/>
            <a:cs typeface="Times New Roman" panose="02020603050405020304" pitchFamily="18" charset="0"/>
          </a:endParaRPr>
        </a:p>
      </dgm:t>
    </dgm:pt>
    <dgm:pt modelId="{FF421C2C-4268-49C1-A7D8-743AC513E94B}" type="sibTrans" cxnId="{E7318588-7A78-419B-808E-CAA71EC267B9}">
      <dgm:prSet/>
      <dgm:spPr/>
      <dgm:t>
        <a:bodyPr/>
        <a:lstStyle/>
        <a:p>
          <a:endParaRPr lang="en-US">
            <a:solidFill>
              <a:schemeClr val="bg1"/>
            </a:solidFill>
            <a:latin typeface="Times New Roman" panose="02020603050405020304" pitchFamily="18" charset="0"/>
            <a:cs typeface="Times New Roman" panose="02020603050405020304" pitchFamily="18" charset="0"/>
          </a:endParaRPr>
        </a:p>
      </dgm:t>
    </dgm:pt>
    <dgm:pt modelId="{443C17D0-3A3B-4487-B751-ED75758674F7}">
      <dgm:prSet/>
      <dgm:spPr/>
      <dgm:t>
        <a:bodyPr/>
        <a:lstStyle/>
        <a:p>
          <a:r>
            <a:rPr lang="vi-VN" b="1" dirty="0">
              <a:solidFill>
                <a:schemeClr val="bg1"/>
              </a:solidFill>
              <a:latin typeface="Times New Roman" panose="02020603050405020304" pitchFamily="18" charset="0"/>
              <a:cs typeface="Times New Roman" panose="02020603050405020304" pitchFamily="18" charset="0"/>
            </a:rPr>
            <a:t>Yêu cầu</a:t>
          </a:r>
          <a:endParaRPr lang="en-US" b="1" dirty="0">
            <a:solidFill>
              <a:schemeClr val="bg1"/>
            </a:solidFill>
            <a:latin typeface="Times New Roman" panose="02020603050405020304" pitchFamily="18" charset="0"/>
            <a:cs typeface="Times New Roman" panose="02020603050405020304" pitchFamily="18" charset="0"/>
          </a:endParaRPr>
        </a:p>
      </dgm:t>
    </dgm:pt>
    <dgm:pt modelId="{F08BE660-0C9B-4B88-BD67-2C6113550597}" type="parTrans" cxnId="{B8178BAF-DA40-425B-94B0-B3098112F7E7}">
      <dgm:prSet/>
      <dgm:spPr/>
      <dgm:t>
        <a:bodyPr/>
        <a:lstStyle/>
        <a:p>
          <a:endParaRPr lang="en-US">
            <a:solidFill>
              <a:schemeClr val="bg1"/>
            </a:solidFill>
            <a:latin typeface="Times New Roman" panose="02020603050405020304" pitchFamily="18" charset="0"/>
            <a:cs typeface="Times New Roman" panose="02020603050405020304" pitchFamily="18" charset="0"/>
          </a:endParaRPr>
        </a:p>
      </dgm:t>
    </dgm:pt>
    <dgm:pt modelId="{445FFB23-B9DC-4841-A48E-9824E3D37052}" type="sibTrans" cxnId="{B8178BAF-DA40-425B-94B0-B3098112F7E7}">
      <dgm:prSet/>
      <dgm:spPr/>
      <dgm:t>
        <a:bodyPr/>
        <a:lstStyle/>
        <a:p>
          <a:endParaRPr lang="en-US">
            <a:solidFill>
              <a:schemeClr val="bg1"/>
            </a:solidFill>
            <a:latin typeface="Times New Roman" panose="02020603050405020304" pitchFamily="18" charset="0"/>
            <a:cs typeface="Times New Roman" panose="02020603050405020304" pitchFamily="18" charset="0"/>
          </a:endParaRPr>
        </a:p>
      </dgm:t>
    </dgm:pt>
    <dgm:pt modelId="{8483BCE8-3B52-49A2-A013-46CA88D7F769}">
      <dgm:prSet/>
      <dgm:spPr/>
      <dgm:t>
        <a:bodyPr/>
        <a:lstStyle/>
        <a:p>
          <a:r>
            <a:rPr lang="en-US" b="1" dirty="0">
              <a:solidFill>
                <a:schemeClr val="bg1"/>
              </a:solidFill>
              <a:latin typeface="Times New Roman" panose="02020603050405020304" pitchFamily="18" charset="0"/>
              <a:cs typeface="Times New Roman" panose="02020603050405020304" pitchFamily="18" charset="0"/>
            </a:rPr>
            <a:t>Quy </a:t>
          </a:r>
          <a:r>
            <a:rPr lang="en-US" b="1" dirty="0" err="1">
              <a:solidFill>
                <a:schemeClr val="bg1"/>
              </a:solidFill>
              <a:latin typeface="Times New Roman" panose="02020603050405020304" pitchFamily="18" charset="0"/>
              <a:cs typeface="Times New Roman" panose="02020603050405020304" pitchFamily="18" charset="0"/>
            </a:rPr>
            <a:t>trình</a:t>
          </a:r>
          <a:endParaRPr lang="en-US" b="1" dirty="0">
            <a:solidFill>
              <a:schemeClr val="bg1"/>
            </a:solidFill>
            <a:latin typeface="Times New Roman" panose="02020603050405020304" pitchFamily="18" charset="0"/>
            <a:cs typeface="Times New Roman" panose="02020603050405020304" pitchFamily="18" charset="0"/>
          </a:endParaRPr>
        </a:p>
      </dgm:t>
    </dgm:pt>
    <dgm:pt modelId="{B3AE937F-1EF5-47E6-B9A6-F0A9B3EB9C39}" type="parTrans" cxnId="{9783ECD9-2F70-4263-A087-3690E84CC9A9}">
      <dgm:prSet/>
      <dgm:spPr/>
      <dgm:t>
        <a:bodyPr/>
        <a:lstStyle/>
        <a:p>
          <a:endParaRPr lang="en-US">
            <a:solidFill>
              <a:schemeClr val="bg1"/>
            </a:solidFill>
            <a:latin typeface="Times New Roman" panose="02020603050405020304" pitchFamily="18" charset="0"/>
            <a:cs typeface="Times New Roman" panose="02020603050405020304" pitchFamily="18" charset="0"/>
          </a:endParaRPr>
        </a:p>
      </dgm:t>
    </dgm:pt>
    <dgm:pt modelId="{4DD47B04-2D38-45F6-9D46-188103DAD747}" type="sibTrans" cxnId="{9783ECD9-2F70-4263-A087-3690E84CC9A9}">
      <dgm:prSet/>
      <dgm:spPr/>
      <dgm:t>
        <a:bodyPr/>
        <a:lstStyle/>
        <a:p>
          <a:endParaRPr lang="en-US">
            <a:solidFill>
              <a:schemeClr val="bg1"/>
            </a:solidFill>
            <a:latin typeface="Times New Roman" panose="02020603050405020304" pitchFamily="18" charset="0"/>
            <a:cs typeface="Times New Roman" panose="02020603050405020304" pitchFamily="18" charset="0"/>
          </a:endParaRPr>
        </a:p>
      </dgm:t>
    </dgm:pt>
    <dgm:pt modelId="{C8BF8BA9-9212-4B88-BF57-9C641B03B46B}">
      <dgm:prSet/>
      <dgm:spPr/>
      <dgm:t>
        <a:bodyPr/>
        <a:lstStyle/>
        <a:p>
          <a:r>
            <a:rPr lang="vi-VN" b="1" dirty="0">
              <a:solidFill>
                <a:schemeClr val="bg1"/>
              </a:solidFill>
              <a:latin typeface="Times New Roman" panose="02020603050405020304" pitchFamily="18" charset="0"/>
              <a:cs typeface="Times New Roman" panose="02020603050405020304" pitchFamily="18" charset="0"/>
            </a:rPr>
            <a:t>Công khai quyết toán NSX</a:t>
          </a:r>
          <a:endParaRPr lang="en-US" b="1" dirty="0">
            <a:solidFill>
              <a:schemeClr val="bg1"/>
            </a:solidFill>
            <a:latin typeface="Times New Roman" panose="02020603050405020304" pitchFamily="18" charset="0"/>
            <a:cs typeface="Times New Roman" panose="02020603050405020304" pitchFamily="18" charset="0"/>
          </a:endParaRPr>
        </a:p>
      </dgm:t>
    </dgm:pt>
    <dgm:pt modelId="{01045E3A-C33E-4885-9215-9F4E82B63561}" type="sibTrans" cxnId="{EB7FBC5B-B059-4657-AF37-C757D8FF8CFB}">
      <dgm:prSet/>
      <dgm:spPr/>
      <dgm:t>
        <a:bodyPr/>
        <a:lstStyle/>
        <a:p>
          <a:endParaRPr lang="en-US">
            <a:solidFill>
              <a:schemeClr val="bg1"/>
            </a:solidFill>
            <a:latin typeface="Times New Roman" panose="02020603050405020304" pitchFamily="18" charset="0"/>
            <a:cs typeface="Times New Roman" panose="02020603050405020304" pitchFamily="18" charset="0"/>
          </a:endParaRPr>
        </a:p>
      </dgm:t>
    </dgm:pt>
    <dgm:pt modelId="{36CED6C7-DF8D-4771-9032-9E75A97C0AB4}" type="parTrans" cxnId="{EB7FBC5B-B059-4657-AF37-C757D8FF8CFB}">
      <dgm:prSet/>
      <dgm:spPr/>
      <dgm:t>
        <a:bodyPr/>
        <a:lstStyle/>
        <a:p>
          <a:endParaRPr lang="en-US">
            <a:solidFill>
              <a:schemeClr val="bg1"/>
            </a:solidFill>
            <a:latin typeface="Times New Roman" panose="02020603050405020304" pitchFamily="18" charset="0"/>
            <a:cs typeface="Times New Roman" panose="02020603050405020304" pitchFamily="18" charset="0"/>
          </a:endParaRPr>
        </a:p>
      </dgm:t>
    </dgm:pt>
    <dgm:pt modelId="{33EA0567-D9BB-412F-827F-8A613D9DAA0A}" type="pres">
      <dgm:prSet presAssocID="{03ADE9BC-A719-4C18-88BA-52E7F909A2BD}" presName="Name0" presStyleCnt="0">
        <dgm:presLayoutVars>
          <dgm:chMax val="7"/>
          <dgm:chPref val="7"/>
          <dgm:dir/>
        </dgm:presLayoutVars>
      </dgm:prSet>
      <dgm:spPr/>
    </dgm:pt>
    <dgm:pt modelId="{5D592585-B28A-4A07-BFDC-548A51732C4E}" type="pres">
      <dgm:prSet presAssocID="{03ADE9BC-A719-4C18-88BA-52E7F909A2BD}" presName="Name1" presStyleCnt="0"/>
      <dgm:spPr/>
    </dgm:pt>
    <dgm:pt modelId="{25C2611E-DA72-4128-AD1D-BE06096C9400}" type="pres">
      <dgm:prSet presAssocID="{03ADE9BC-A719-4C18-88BA-52E7F909A2BD}" presName="cycle" presStyleCnt="0"/>
      <dgm:spPr/>
    </dgm:pt>
    <dgm:pt modelId="{50A7C073-8C3E-43B7-AC17-5E9FDABB702C}" type="pres">
      <dgm:prSet presAssocID="{03ADE9BC-A719-4C18-88BA-52E7F909A2BD}" presName="srcNode" presStyleLbl="node1" presStyleIdx="0" presStyleCnt="4"/>
      <dgm:spPr/>
    </dgm:pt>
    <dgm:pt modelId="{80A265B4-435B-40B1-A683-11C6906BCAED}" type="pres">
      <dgm:prSet presAssocID="{03ADE9BC-A719-4C18-88BA-52E7F909A2BD}" presName="conn" presStyleLbl="parChTrans1D2" presStyleIdx="0" presStyleCnt="1"/>
      <dgm:spPr/>
    </dgm:pt>
    <dgm:pt modelId="{B5F70C18-2B5F-421B-A2C5-8E030D225023}" type="pres">
      <dgm:prSet presAssocID="{03ADE9BC-A719-4C18-88BA-52E7F909A2BD}" presName="extraNode" presStyleLbl="node1" presStyleIdx="0" presStyleCnt="4"/>
      <dgm:spPr/>
    </dgm:pt>
    <dgm:pt modelId="{2A2A4AE5-984A-4E9B-A75E-C3B3CFADEACD}" type="pres">
      <dgm:prSet presAssocID="{03ADE9BC-A719-4C18-88BA-52E7F909A2BD}" presName="dstNode" presStyleLbl="node1" presStyleIdx="0" presStyleCnt="4"/>
      <dgm:spPr/>
    </dgm:pt>
    <dgm:pt modelId="{72EBE424-3005-4DC3-AA5E-DDA3E8B1CD67}" type="pres">
      <dgm:prSet presAssocID="{36E73B32-160D-4DBA-A0E3-7B4294ACDA14}" presName="text_1" presStyleLbl="node1" presStyleIdx="0" presStyleCnt="4">
        <dgm:presLayoutVars>
          <dgm:bulletEnabled val="1"/>
        </dgm:presLayoutVars>
      </dgm:prSet>
      <dgm:spPr/>
    </dgm:pt>
    <dgm:pt modelId="{2C98DC6E-C5A1-4606-B6B5-BAD972C31DD2}" type="pres">
      <dgm:prSet presAssocID="{36E73B32-160D-4DBA-A0E3-7B4294ACDA14}" presName="accent_1" presStyleCnt="0"/>
      <dgm:spPr/>
    </dgm:pt>
    <dgm:pt modelId="{1EB16B41-C793-4899-849E-97E82A7D139B}" type="pres">
      <dgm:prSet presAssocID="{36E73B32-160D-4DBA-A0E3-7B4294ACDA14}" presName="accentRepeatNode" presStyleLbl="solidFgAcc1" presStyleIdx="0" presStyleCnt="4"/>
      <dgm:spPr/>
    </dgm:pt>
    <dgm:pt modelId="{6568DDD7-A85E-4304-9F9D-4B62FEC31870}" type="pres">
      <dgm:prSet presAssocID="{443C17D0-3A3B-4487-B751-ED75758674F7}" presName="text_2" presStyleLbl="node1" presStyleIdx="1" presStyleCnt="4">
        <dgm:presLayoutVars>
          <dgm:bulletEnabled val="1"/>
        </dgm:presLayoutVars>
      </dgm:prSet>
      <dgm:spPr/>
    </dgm:pt>
    <dgm:pt modelId="{3D3BBDB5-6551-4834-870F-1F67D940B402}" type="pres">
      <dgm:prSet presAssocID="{443C17D0-3A3B-4487-B751-ED75758674F7}" presName="accent_2" presStyleCnt="0"/>
      <dgm:spPr/>
    </dgm:pt>
    <dgm:pt modelId="{26CC5F90-D168-431F-8A51-D755454C4C27}" type="pres">
      <dgm:prSet presAssocID="{443C17D0-3A3B-4487-B751-ED75758674F7}" presName="accentRepeatNode" presStyleLbl="solidFgAcc1" presStyleIdx="1" presStyleCnt="4"/>
      <dgm:spPr/>
    </dgm:pt>
    <dgm:pt modelId="{F6230DD9-7938-4AD6-8828-032FA64851A5}" type="pres">
      <dgm:prSet presAssocID="{8483BCE8-3B52-49A2-A013-46CA88D7F769}" presName="text_3" presStyleLbl="node1" presStyleIdx="2" presStyleCnt="4">
        <dgm:presLayoutVars>
          <dgm:bulletEnabled val="1"/>
        </dgm:presLayoutVars>
      </dgm:prSet>
      <dgm:spPr/>
    </dgm:pt>
    <dgm:pt modelId="{55C1D246-0204-4234-B32F-1242D549178B}" type="pres">
      <dgm:prSet presAssocID="{8483BCE8-3B52-49A2-A013-46CA88D7F769}" presName="accent_3" presStyleCnt="0"/>
      <dgm:spPr/>
    </dgm:pt>
    <dgm:pt modelId="{169A11C5-97A5-44EB-B004-FDF7BD71A394}" type="pres">
      <dgm:prSet presAssocID="{8483BCE8-3B52-49A2-A013-46CA88D7F769}" presName="accentRepeatNode" presStyleLbl="solidFgAcc1" presStyleIdx="2" presStyleCnt="4"/>
      <dgm:spPr/>
    </dgm:pt>
    <dgm:pt modelId="{36FFEA02-8E29-423D-AEBC-66F184D73AE1}" type="pres">
      <dgm:prSet presAssocID="{C8BF8BA9-9212-4B88-BF57-9C641B03B46B}" presName="text_4" presStyleLbl="node1" presStyleIdx="3" presStyleCnt="4">
        <dgm:presLayoutVars>
          <dgm:bulletEnabled val="1"/>
        </dgm:presLayoutVars>
      </dgm:prSet>
      <dgm:spPr/>
    </dgm:pt>
    <dgm:pt modelId="{BF3DBCE0-0E35-4F44-BE62-84A1778B6CFD}" type="pres">
      <dgm:prSet presAssocID="{C8BF8BA9-9212-4B88-BF57-9C641B03B46B}" presName="accent_4" presStyleCnt="0"/>
      <dgm:spPr/>
    </dgm:pt>
    <dgm:pt modelId="{204BA2A8-2460-4192-9F58-2B637CBDB6AD}" type="pres">
      <dgm:prSet presAssocID="{C8BF8BA9-9212-4B88-BF57-9C641B03B46B}" presName="accentRepeatNode" presStyleLbl="solidFgAcc1" presStyleIdx="3" presStyleCnt="4"/>
      <dgm:spPr/>
    </dgm:pt>
  </dgm:ptLst>
  <dgm:cxnLst>
    <dgm:cxn modelId="{42739300-7C3F-4B02-977F-983FF8BB17EF}" type="presOf" srcId="{FF421C2C-4268-49C1-A7D8-743AC513E94B}" destId="{80A265B4-435B-40B1-A683-11C6906BCAED}" srcOrd="0" destOrd="0" presId="urn:microsoft.com/office/officeart/2008/layout/VerticalCurvedList"/>
    <dgm:cxn modelId="{8BF61013-297A-4BF6-8868-9F822366F6D3}" type="presOf" srcId="{03ADE9BC-A719-4C18-88BA-52E7F909A2BD}" destId="{33EA0567-D9BB-412F-827F-8A613D9DAA0A}" srcOrd="0" destOrd="0" presId="urn:microsoft.com/office/officeart/2008/layout/VerticalCurvedList"/>
    <dgm:cxn modelId="{F2B8EF2C-7F51-40AE-BA9B-F369F1A77D99}" type="presOf" srcId="{C8BF8BA9-9212-4B88-BF57-9C641B03B46B}" destId="{36FFEA02-8E29-423D-AEBC-66F184D73AE1}" srcOrd="0" destOrd="0" presId="urn:microsoft.com/office/officeart/2008/layout/VerticalCurvedList"/>
    <dgm:cxn modelId="{EB7FBC5B-B059-4657-AF37-C757D8FF8CFB}" srcId="{03ADE9BC-A719-4C18-88BA-52E7F909A2BD}" destId="{C8BF8BA9-9212-4B88-BF57-9C641B03B46B}" srcOrd="3" destOrd="0" parTransId="{36CED6C7-DF8D-4771-9032-9E75A97C0AB4}" sibTransId="{01045E3A-C33E-4885-9215-9F4E82B63561}"/>
    <dgm:cxn modelId="{79FE954B-DE12-428D-8E51-B86831809508}" type="presOf" srcId="{8483BCE8-3B52-49A2-A013-46CA88D7F769}" destId="{F6230DD9-7938-4AD6-8828-032FA64851A5}" srcOrd="0" destOrd="0" presId="urn:microsoft.com/office/officeart/2008/layout/VerticalCurvedList"/>
    <dgm:cxn modelId="{E7318588-7A78-419B-808E-CAA71EC267B9}" srcId="{03ADE9BC-A719-4C18-88BA-52E7F909A2BD}" destId="{36E73B32-160D-4DBA-A0E3-7B4294ACDA14}" srcOrd="0" destOrd="0" parTransId="{44B0FB7B-8E35-4A2B-92FE-3C8C2757D1DE}" sibTransId="{FF421C2C-4268-49C1-A7D8-743AC513E94B}"/>
    <dgm:cxn modelId="{2B55A7AB-B4B2-40B8-A415-3D83A1958BE0}" type="presOf" srcId="{443C17D0-3A3B-4487-B751-ED75758674F7}" destId="{6568DDD7-A85E-4304-9F9D-4B62FEC31870}" srcOrd="0" destOrd="0" presId="urn:microsoft.com/office/officeart/2008/layout/VerticalCurvedList"/>
    <dgm:cxn modelId="{B8178BAF-DA40-425B-94B0-B3098112F7E7}" srcId="{03ADE9BC-A719-4C18-88BA-52E7F909A2BD}" destId="{443C17D0-3A3B-4487-B751-ED75758674F7}" srcOrd="1" destOrd="0" parTransId="{F08BE660-0C9B-4B88-BD67-2C6113550597}" sibTransId="{445FFB23-B9DC-4841-A48E-9824E3D37052}"/>
    <dgm:cxn modelId="{BA47EDBE-FE3E-49E6-BD72-3120A8E3C16A}" type="presOf" srcId="{36E73B32-160D-4DBA-A0E3-7B4294ACDA14}" destId="{72EBE424-3005-4DC3-AA5E-DDA3E8B1CD67}" srcOrd="0" destOrd="0" presId="urn:microsoft.com/office/officeart/2008/layout/VerticalCurvedList"/>
    <dgm:cxn modelId="{9783ECD9-2F70-4263-A087-3690E84CC9A9}" srcId="{03ADE9BC-A719-4C18-88BA-52E7F909A2BD}" destId="{8483BCE8-3B52-49A2-A013-46CA88D7F769}" srcOrd="2" destOrd="0" parTransId="{B3AE937F-1EF5-47E6-B9A6-F0A9B3EB9C39}" sibTransId="{4DD47B04-2D38-45F6-9D46-188103DAD747}"/>
    <dgm:cxn modelId="{104B4EE7-F3CD-4DAC-8F61-697BE82E0CF4}" type="presParOf" srcId="{33EA0567-D9BB-412F-827F-8A613D9DAA0A}" destId="{5D592585-B28A-4A07-BFDC-548A51732C4E}" srcOrd="0" destOrd="0" presId="urn:microsoft.com/office/officeart/2008/layout/VerticalCurvedList"/>
    <dgm:cxn modelId="{499F30DD-0E98-4D8B-95D8-3D755128825C}" type="presParOf" srcId="{5D592585-B28A-4A07-BFDC-548A51732C4E}" destId="{25C2611E-DA72-4128-AD1D-BE06096C9400}" srcOrd="0" destOrd="0" presId="urn:microsoft.com/office/officeart/2008/layout/VerticalCurvedList"/>
    <dgm:cxn modelId="{1E746A67-57F9-4CFF-82AD-1BE6BF8FBC71}" type="presParOf" srcId="{25C2611E-DA72-4128-AD1D-BE06096C9400}" destId="{50A7C073-8C3E-43B7-AC17-5E9FDABB702C}" srcOrd="0" destOrd="0" presId="urn:microsoft.com/office/officeart/2008/layout/VerticalCurvedList"/>
    <dgm:cxn modelId="{B44881C6-DE92-45EF-B58B-2C8D6FC662DF}" type="presParOf" srcId="{25C2611E-DA72-4128-AD1D-BE06096C9400}" destId="{80A265B4-435B-40B1-A683-11C6906BCAED}" srcOrd="1" destOrd="0" presId="urn:microsoft.com/office/officeart/2008/layout/VerticalCurvedList"/>
    <dgm:cxn modelId="{CC407938-59C0-49EB-86BB-EC1AD929873C}" type="presParOf" srcId="{25C2611E-DA72-4128-AD1D-BE06096C9400}" destId="{B5F70C18-2B5F-421B-A2C5-8E030D225023}" srcOrd="2" destOrd="0" presId="urn:microsoft.com/office/officeart/2008/layout/VerticalCurvedList"/>
    <dgm:cxn modelId="{79EB0B75-AAB4-4F2E-AA85-5433F27035D7}" type="presParOf" srcId="{25C2611E-DA72-4128-AD1D-BE06096C9400}" destId="{2A2A4AE5-984A-4E9B-A75E-C3B3CFADEACD}" srcOrd="3" destOrd="0" presId="urn:microsoft.com/office/officeart/2008/layout/VerticalCurvedList"/>
    <dgm:cxn modelId="{C5E58D6B-B9A2-4C06-94F9-8197880F5F37}" type="presParOf" srcId="{5D592585-B28A-4A07-BFDC-548A51732C4E}" destId="{72EBE424-3005-4DC3-AA5E-DDA3E8B1CD67}" srcOrd="1" destOrd="0" presId="urn:microsoft.com/office/officeart/2008/layout/VerticalCurvedList"/>
    <dgm:cxn modelId="{CF78623F-1186-4AA1-A6AA-F1D1CE2F935B}" type="presParOf" srcId="{5D592585-B28A-4A07-BFDC-548A51732C4E}" destId="{2C98DC6E-C5A1-4606-B6B5-BAD972C31DD2}" srcOrd="2" destOrd="0" presId="urn:microsoft.com/office/officeart/2008/layout/VerticalCurvedList"/>
    <dgm:cxn modelId="{23F5F289-288B-4CA1-B00C-74258625B522}" type="presParOf" srcId="{2C98DC6E-C5A1-4606-B6B5-BAD972C31DD2}" destId="{1EB16B41-C793-4899-849E-97E82A7D139B}" srcOrd="0" destOrd="0" presId="urn:microsoft.com/office/officeart/2008/layout/VerticalCurvedList"/>
    <dgm:cxn modelId="{50DB54FB-38BC-4F86-B1B7-C8C31F26D68B}" type="presParOf" srcId="{5D592585-B28A-4A07-BFDC-548A51732C4E}" destId="{6568DDD7-A85E-4304-9F9D-4B62FEC31870}" srcOrd="3" destOrd="0" presId="urn:microsoft.com/office/officeart/2008/layout/VerticalCurvedList"/>
    <dgm:cxn modelId="{91C1BDF3-AE81-4F95-8F9F-96D735BE5354}" type="presParOf" srcId="{5D592585-B28A-4A07-BFDC-548A51732C4E}" destId="{3D3BBDB5-6551-4834-870F-1F67D940B402}" srcOrd="4" destOrd="0" presId="urn:microsoft.com/office/officeart/2008/layout/VerticalCurvedList"/>
    <dgm:cxn modelId="{22F1BE90-C0CA-4B2A-9F67-0EFE97DECB99}" type="presParOf" srcId="{3D3BBDB5-6551-4834-870F-1F67D940B402}" destId="{26CC5F90-D168-431F-8A51-D755454C4C27}" srcOrd="0" destOrd="0" presId="urn:microsoft.com/office/officeart/2008/layout/VerticalCurvedList"/>
    <dgm:cxn modelId="{606320C1-AB96-455D-B51C-4AAAB044E8D2}" type="presParOf" srcId="{5D592585-B28A-4A07-BFDC-548A51732C4E}" destId="{F6230DD9-7938-4AD6-8828-032FA64851A5}" srcOrd="5" destOrd="0" presId="urn:microsoft.com/office/officeart/2008/layout/VerticalCurvedList"/>
    <dgm:cxn modelId="{F2F27095-DAC1-4724-B7ED-6694C9E97A9F}" type="presParOf" srcId="{5D592585-B28A-4A07-BFDC-548A51732C4E}" destId="{55C1D246-0204-4234-B32F-1242D549178B}" srcOrd="6" destOrd="0" presId="urn:microsoft.com/office/officeart/2008/layout/VerticalCurvedList"/>
    <dgm:cxn modelId="{1C252774-E9F1-420F-A3A9-79C73DC83080}" type="presParOf" srcId="{55C1D246-0204-4234-B32F-1242D549178B}" destId="{169A11C5-97A5-44EB-B004-FDF7BD71A394}" srcOrd="0" destOrd="0" presId="urn:microsoft.com/office/officeart/2008/layout/VerticalCurvedList"/>
    <dgm:cxn modelId="{12DFDC3E-D37F-499E-888C-EB9452CEEB1E}" type="presParOf" srcId="{5D592585-B28A-4A07-BFDC-548A51732C4E}" destId="{36FFEA02-8E29-423D-AEBC-66F184D73AE1}" srcOrd="7" destOrd="0" presId="urn:microsoft.com/office/officeart/2008/layout/VerticalCurvedList"/>
    <dgm:cxn modelId="{E34D2AAA-1388-49AC-9DAF-69F9C9D7EC2D}" type="presParOf" srcId="{5D592585-B28A-4A07-BFDC-548A51732C4E}" destId="{BF3DBCE0-0E35-4F44-BE62-84A1778B6CFD}" srcOrd="8" destOrd="0" presId="urn:microsoft.com/office/officeart/2008/layout/VerticalCurvedList"/>
    <dgm:cxn modelId="{D6D46451-C6CE-4D94-BC36-F65EF05142D5}" type="presParOf" srcId="{BF3DBCE0-0E35-4F44-BE62-84A1778B6CFD}" destId="{204BA2A8-2460-4192-9F58-2B637CBDB6A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C06D688-D175-4D1C-A96D-79B44A0BF4C5}" type="doc">
      <dgm:prSet loTypeId="urn:microsoft.com/office/officeart/2005/8/layout/hierarchy2" loCatId="hierarchy" qsTypeId="urn:microsoft.com/office/officeart/2005/8/quickstyle/simple1" qsCatId="simple" csTypeId="urn:microsoft.com/office/officeart/2005/8/colors/colorful5" csCatId="colorful" phldr="1"/>
      <dgm:spPr/>
      <dgm:t>
        <a:bodyPr/>
        <a:lstStyle/>
        <a:p>
          <a:endParaRPr lang="en-US"/>
        </a:p>
      </dgm:t>
    </dgm:pt>
    <dgm:pt modelId="{77757520-03F7-4CC9-A5A1-9FEA1C40E2AD}">
      <dgm:prSet custT="1"/>
      <dgm:spPr/>
      <dgm:t>
        <a:bodyPr/>
        <a:lstStyle/>
        <a:p>
          <a:r>
            <a:rPr lang="vi-VN" sz="2400" b="1" dirty="0">
              <a:solidFill>
                <a:schemeClr val="tx1"/>
              </a:solidFill>
              <a:latin typeface="Arial" panose="020B0604020202020204" pitchFamily="34" charset="0"/>
              <a:cs typeface="Arial" panose="020B0604020202020204" pitchFamily="34" charset="0"/>
            </a:rPr>
            <a:t>Trách nhiệm và quyền hạn của các cơ quan liên quan trong quản lý NSX</a:t>
          </a:r>
        </a:p>
      </dgm:t>
    </dgm:pt>
    <dgm:pt modelId="{23B5344C-8F0D-497A-A9E6-E0D65331345A}" type="parTrans" cxnId="{93EFE080-2FBD-4BCD-B48E-8BD332D31F84}">
      <dgm:prSet/>
      <dgm:spPr/>
      <dgm:t>
        <a:bodyPr/>
        <a:lstStyle/>
        <a:p>
          <a:endParaRPr lang="en-US" sz="2400">
            <a:latin typeface="Arial" panose="020B0604020202020204" pitchFamily="34" charset="0"/>
            <a:cs typeface="Arial" panose="020B0604020202020204" pitchFamily="34" charset="0"/>
          </a:endParaRPr>
        </a:p>
      </dgm:t>
    </dgm:pt>
    <dgm:pt modelId="{85ADC0DC-0ACD-4319-A347-9C06CD0FB90B}" type="sibTrans" cxnId="{93EFE080-2FBD-4BCD-B48E-8BD332D31F84}">
      <dgm:prSet/>
      <dgm:spPr/>
      <dgm:t>
        <a:bodyPr/>
        <a:lstStyle/>
        <a:p>
          <a:endParaRPr lang="en-US" sz="2400">
            <a:latin typeface="Arial" panose="020B0604020202020204" pitchFamily="34" charset="0"/>
            <a:cs typeface="Arial" panose="020B0604020202020204" pitchFamily="34" charset="0"/>
          </a:endParaRPr>
        </a:p>
      </dgm:t>
    </dgm:pt>
    <dgm:pt modelId="{2DB4FCDD-B2E9-4F16-B122-F95D86934A78}">
      <dgm:prSet custT="1"/>
      <dgm:spPr/>
      <dgm:t>
        <a:bodyPr/>
        <a:lstStyle/>
        <a:p>
          <a:r>
            <a:rPr lang="vi-VN" sz="2400" b="1" dirty="0">
              <a:solidFill>
                <a:schemeClr val="bg1"/>
              </a:solidFill>
              <a:latin typeface="Arial" panose="020B0604020202020204" pitchFamily="34" charset="0"/>
              <a:cs typeface="Arial" panose="020B0604020202020204" pitchFamily="34" charset="0"/>
            </a:rPr>
            <a:t> </a:t>
          </a:r>
          <a:r>
            <a:rPr lang="en-US" sz="2400" b="1" dirty="0">
              <a:solidFill>
                <a:schemeClr val="bg1"/>
              </a:solidFill>
              <a:latin typeface="Arial" panose="020B0604020202020204" pitchFamily="34" charset="0"/>
              <a:cs typeface="Arial" panose="020B0604020202020204" pitchFamily="34" charset="0"/>
            </a:rPr>
            <a:t>HĐND </a:t>
          </a:r>
          <a:r>
            <a:rPr lang="en-US" sz="2400" b="1" dirty="0" err="1">
              <a:solidFill>
                <a:schemeClr val="bg1"/>
              </a:solidFill>
              <a:latin typeface="Arial" panose="020B0604020202020204" pitchFamily="34" charset="0"/>
              <a:cs typeface="Arial" panose="020B0604020202020204" pitchFamily="34" charset="0"/>
            </a:rPr>
            <a:t>xã</a:t>
          </a:r>
          <a:endParaRPr lang="en-US" sz="2400" b="1" dirty="0">
            <a:solidFill>
              <a:schemeClr val="bg1"/>
            </a:solidFill>
            <a:latin typeface="Arial" panose="020B0604020202020204" pitchFamily="34" charset="0"/>
            <a:cs typeface="Arial" panose="020B0604020202020204" pitchFamily="34" charset="0"/>
          </a:endParaRPr>
        </a:p>
      </dgm:t>
    </dgm:pt>
    <dgm:pt modelId="{7626D881-F7F0-49A1-B9DF-D4B8DA7E48BB}" type="parTrans" cxnId="{E0B3A257-4D98-481B-B1CE-E37CB44412B5}">
      <dgm:prSet custT="1"/>
      <dgm:spPr/>
      <dgm:t>
        <a:bodyPr/>
        <a:lstStyle/>
        <a:p>
          <a:endParaRPr lang="en-US" sz="2400">
            <a:latin typeface="Arial" panose="020B0604020202020204" pitchFamily="34" charset="0"/>
            <a:cs typeface="Arial" panose="020B0604020202020204" pitchFamily="34" charset="0"/>
          </a:endParaRPr>
        </a:p>
      </dgm:t>
    </dgm:pt>
    <dgm:pt modelId="{74CA7614-F6E3-4A85-B577-455FC40AFAC8}" type="sibTrans" cxnId="{E0B3A257-4D98-481B-B1CE-E37CB44412B5}">
      <dgm:prSet/>
      <dgm:spPr/>
      <dgm:t>
        <a:bodyPr/>
        <a:lstStyle/>
        <a:p>
          <a:endParaRPr lang="en-US" sz="2400">
            <a:latin typeface="Arial" panose="020B0604020202020204" pitchFamily="34" charset="0"/>
            <a:cs typeface="Arial" panose="020B0604020202020204" pitchFamily="34" charset="0"/>
          </a:endParaRPr>
        </a:p>
      </dgm:t>
    </dgm:pt>
    <dgm:pt modelId="{1BC3D4C4-810B-46D0-A0BB-4CB1C312B81C}">
      <dgm:prSet custT="1"/>
      <dgm:spPr/>
      <dgm:t>
        <a:bodyPr/>
        <a:lstStyle/>
        <a:p>
          <a:r>
            <a:rPr lang="en-US" sz="2400" b="1" dirty="0">
              <a:solidFill>
                <a:schemeClr val="bg1"/>
              </a:solidFill>
              <a:latin typeface="Arial" panose="020B0604020202020204" pitchFamily="34" charset="0"/>
              <a:cs typeface="Arial" panose="020B0604020202020204" pitchFamily="34" charset="0"/>
            </a:rPr>
            <a:t>UBND </a:t>
          </a:r>
          <a:r>
            <a:rPr lang="en-US" sz="2400" b="1" dirty="0" err="1">
              <a:solidFill>
                <a:schemeClr val="bg1"/>
              </a:solidFill>
              <a:latin typeface="Arial" panose="020B0604020202020204" pitchFamily="34" charset="0"/>
              <a:cs typeface="Arial" panose="020B0604020202020204" pitchFamily="34" charset="0"/>
            </a:rPr>
            <a:t>xã</a:t>
          </a:r>
          <a:endParaRPr lang="en-US" sz="2400" b="1" dirty="0">
            <a:solidFill>
              <a:schemeClr val="bg1"/>
            </a:solidFill>
            <a:latin typeface="Arial" panose="020B0604020202020204" pitchFamily="34" charset="0"/>
            <a:cs typeface="Arial" panose="020B0604020202020204" pitchFamily="34" charset="0"/>
          </a:endParaRPr>
        </a:p>
      </dgm:t>
    </dgm:pt>
    <dgm:pt modelId="{85300142-0033-4262-915D-370B927E11C4}" type="parTrans" cxnId="{93549A42-C1B0-4F15-AD5A-8CC2E0C30CDF}">
      <dgm:prSet custT="1"/>
      <dgm:spPr/>
      <dgm:t>
        <a:bodyPr/>
        <a:lstStyle/>
        <a:p>
          <a:endParaRPr lang="en-US" sz="2400">
            <a:latin typeface="Arial" panose="020B0604020202020204" pitchFamily="34" charset="0"/>
            <a:cs typeface="Arial" panose="020B0604020202020204" pitchFamily="34" charset="0"/>
          </a:endParaRPr>
        </a:p>
      </dgm:t>
    </dgm:pt>
    <dgm:pt modelId="{3DAC01E0-AB9B-4BA9-9BC9-1F51D37A3688}" type="sibTrans" cxnId="{93549A42-C1B0-4F15-AD5A-8CC2E0C30CDF}">
      <dgm:prSet/>
      <dgm:spPr/>
      <dgm:t>
        <a:bodyPr/>
        <a:lstStyle/>
        <a:p>
          <a:endParaRPr lang="en-US" sz="2400">
            <a:latin typeface="Arial" panose="020B0604020202020204" pitchFamily="34" charset="0"/>
            <a:cs typeface="Arial" panose="020B0604020202020204" pitchFamily="34" charset="0"/>
          </a:endParaRPr>
        </a:p>
      </dgm:t>
    </dgm:pt>
    <dgm:pt modelId="{93868689-03F8-4A02-B9FF-0F58A552B13B}">
      <dgm:prSet custT="1"/>
      <dgm:spPr/>
      <dgm:t>
        <a:bodyPr/>
        <a:lstStyle/>
        <a:p>
          <a:r>
            <a:rPr lang="en-US" sz="2400" b="1" dirty="0">
              <a:solidFill>
                <a:schemeClr val="bg1"/>
              </a:solidFill>
              <a:latin typeface="Arial" panose="020B0604020202020204" pitchFamily="34" charset="0"/>
              <a:cs typeface="Arial" panose="020B0604020202020204" pitchFamily="34" charset="0"/>
            </a:rPr>
            <a:t>Chủ </a:t>
          </a:r>
          <a:r>
            <a:rPr lang="en-US" sz="2400" b="1" dirty="0" err="1">
              <a:solidFill>
                <a:schemeClr val="bg1"/>
              </a:solidFill>
              <a:latin typeface="Arial" panose="020B0604020202020204" pitchFamily="34" charset="0"/>
              <a:cs typeface="Arial" panose="020B0604020202020204" pitchFamily="34" charset="0"/>
            </a:rPr>
            <a:t>tịch</a:t>
          </a:r>
          <a:r>
            <a:rPr lang="en-US" sz="2400" b="1" dirty="0">
              <a:solidFill>
                <a:schemeClr val="bg1"/>
              </a:solidFill>
              <a:latin typeface="Arial" panose="020B0604020202020204" pitchFamily="34" charset="0"/>
              <a:cs typeface="Arial" panose="020B0604020202020204" pitchFamily="34" charset="0"/>
            </a:rPr>
            <a:t> UBND </a:t>
          </a:r>
          <a:r>
            <a:rPr lang="en-US" sz="2400" b="1" dirty="0" err="1">
              <a:solidFill>
                <a:schemeClr val="bg1"/>
              </a:solidFill>
              <a:latin typeface="Arial" panose="020B0604020202020204" pitchFamily="34" charset="0"/>
              <a:cs typeface="Arial" panose="020B0604020202020204" pitchFamily="34" charset="0"/>
            </a:rPr>
            <a:t>xã</a:t>
          </a:r>
          <a:endParaRPr lang="en-US" sz="2400" b="1" dirty="0">
            <a:solidFill>
              <a:schemeClr val="bg1"/>
            </a:solidFill>
            <a:latin typeface="Arial" panose="020B0604020202020204" pitchFamily="34" charset="0"/>
            <a:cs typeface="Arial" panose="020B0604020202020204" pitchFamily="34" charset="0"/>
          </a:endParaRPr>
        </a:p>
      </dgm:t>
    </dgm:pt>
    <dgm:pt modelId="{105A4A21-E475-4F6F-9678-22402CA535BA}" type="parTrans" cxnId="{C6410D76-F12D-471F-AC51-56D427C12F8F}">
      <dgm:prSet custT="1"/>
      <dgm:spPr/>
      <dgm:t>
        <a:bodyPr/>
        <a:lstStyle/>
        <a:p>
          <a:endParaRPr lang="en-US" sz="2400">
            <a:latin typeface="Arial" panose="020B0604020202020204" pitchFamily="34" charset="0"/>
            <a:cs typeface="Arial" panose="020B0604020202020204" pitchFamily="34" charset="0"/>
          </a:endParaRPr>
        </a:p>
      </dgm:t>
    </dgm:pt>
    <dgm:pt modelId="{62A7D2B1-AFAA-4648-BF16-B31A2566AA0B}" type="sibTrans" cxnId="{C6410D76-F12D-471F-AC51-56D427C12F8F}">
      <dgm:prSet/>
      <dgm:spPr/>
      <dgm:t>
        <a:bodyPr/>
        <a:lstStyle/>
        <a:p>
          <a:endParaRPr lang="en-US" sz="2400">
            <a:latin typeface="Arial" panose="020B0604020202020204" pitchFamily="34" charset="0"/>
            <a:cs typeface="Arial" panose="020B0604020202020204" pitchFamily="34" charset="0"/>
          </a:endParaRPr>
        </a:p>
      </dgm:t>
    </dgm:pt>
    <dgm:pt modelId="{E6718EE7-39F3-409C-B7DD-7BF91D6A926E}">
      <dgm:prSet custT="1"/>
      <dgm:spPr/>
      <dgm:t>
        <a:bodyPr/>
        <a:lstStyle/>
        <a:p>
          <a:r>
            <a:rPr lang="en-US" sz="2400" b="1" dirty="0" err="1">
              <a:solidFill>
                <a:schemeClr val="bg1"/>
              </a:solidFill>
              <a:latin typeface="Arial" panose="020B0604020202020204" pitchFamily="34" charset="0"/>
              <a:cs typeface="Arial" panose="020B0604020202020204" pitchFamily="34" charset="0"/>
            </a:rPr>
            <a:t>Cơ</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quan</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chuyên</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môn</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về</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tài</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chính</a:t>
          </a:r>
          <a:r>
            <a:rPr lang="en-US" sz="2400" b="1" dirty="0">
              <a:solidFill>
                <a:schemeClr val="bg1"/>
              </a:solidFill>
              <a:latin typeface="Arial" panose="020B0604020202020204" pitchFamily="34" charset="0"/>
              <a:cs typeface="Arial" panose="020B0604020202020204" pitchFamily="34" charset="0"/>
            </a:rPr>
            <a:t> ở </a:t>
          </a:r>
          <a:r>
            <a:rPr lang="en-US" sz="2400" b="1" dirty="0" err="1">
              <a:solidFill>
                <a:schemeClr val="bg1"/>
              </a:solidFill>
              <a:latin typeface="Arial" panose="020B0604020202020204" pitchFamily="34" charset="0"/>
              <a:cs typeface="Arial" panose="020B0604020202020204" pitchFamily="34" charset="0"/>
            </a:rPr>
            <a:t>cấp</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xã</a:t>
          </a:r>
          <a:endParaRPr lang="en-US" sz="2400" b="1" dirty="0">
            <a:solidFill>
              <a:schemeClr val="bg1"/>
            </a:solidFill>
            <a:latin typeface="Arial" panose="020B0604020202020204" pitchFamily="34" charset="0"/>
            <a:cs typeface="Arial" panose="020B0604020202020204" pitchFamily="34" charset="0"/>
          </a:endParaRPr>
        </a:p>
      </dgm:t>
    </dgm:pt>
    <dgm:pt modelId="{4267764E-E815-44E7-B160-59B59583BA7F}" type="parTrans" cxnId="{3CD62BF7-004E-4892-AB66-ED63A03D1532}">
      <dgm:prSet custT="1"/>
      <dgm:spPr/>
      <dgm:t>
        <a:bodyPr/>
        <a:lstStyle/>
        <a:p>
          <a:endParaRPr lang="en-US" sz="2400">
            <a:latin typeface="Arial" panose="020B0604020202020204" pitchFamily="34" charset="0"/>
            <a:cs typeface="Arial" panose="020B0604020202020204" pitchFamily="34" charset="0"/>
          </a:endParaRPr>
        </a:p>
      </dgm:t>
    </dgm:pt>
    <dgm:pt modelId="{0C22339B-E516-4F3C-87D1-A557DCFB986E}" type="sibTrans" cxnId="{3CD62BF7-004E-4892-AB66-ED63A03D1532}">
      <dgm:prSet/>
      <dgm:spPr/>
      <dgm:t>
        <a:bodyPr/>
        <a:lstStyle/>
        <a:p>
          <a:endParaRPr lang="en-US" sz="2400">
            <a:latin typeface="Arial" panose="020B0604020202020204" pitchFamily="34" charset="0"/>
            <a:cs typeface="Arial" panose="020B0604020202020204" pitchFamily="34" charset="0"/>
          </a:endParaRPr>
        </a:p>
      </dgm:t>
    </dgm:pt>
    <dgm:pt modelId="{15B4BC02-9642-4D60-8FB3-C6365F6B9F0F}">
      <dgm:prSet custT="1"/>
      <dgm:spPr/>
      <dgm:t>
        <a:bodyPr/>
        <a:lstStyle/>
        <a:p>
          <a:r>
            <a:rPr lang="en-US" sz="2400" b="1" dirty="0">
              <a:solidFill>
                <a:schemeClr val="bg1"/>
              </a:solidFill>
              <a:latin typeface="Arial" panose="020B0604020202020204" pitchFamily="34" charset="0"/>
              <a:cs typeface="Arial" panose="020B0604020202020204" pitchFamily="34" charset="0"/>
            </a:rPr>
            <a:t>Các </a:t>
          </a:r>
          <a:r>
            <a:rPr lang="en-US" sz="2400" b="1" dirty="0" err="1">
              <a:solidFill>
                <a:schemeClr val="bg1"/>
              </a:solidFill>
              <a:latin typeface="Arial" panose="020B0604020202020204" pitchFamily="34" charset="0"/>
              <a:cs typeface="Arial" panose="020B0604020202020204" pitchFamily="34" charset="0"/>
            </a:rPr>
            <a:t>đơn</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vị</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dự</a:t>
          </a:r>
          <a:r>
            <a:rPr lang="en-US" sz="2400" b="1" dirty="0">
              <a:solidFill>
                <a:schemeClr val="bg1"/>
              </a:solidFill>
              <a:latin typeface="Arial" panose="020B0604020202020204" pitchFamily="34" charset="0"/>
              <a:cs typeface="Arial" panose="020B0604020202020204" pitchFamily="34" charset="0"/>
            </a:rPr>
            <a:t> </a:t>
          </a:r>
          <a:r>
            <a:rPr lang="en-US" sz="2400" b="1" dirty="0" err="1">
              <a:solidFill>
                <a:schemeClr val="bg1"/>
              </a:solidFill>
              <a:latin typeface="Arial" panose="020B0604020202020204" pitchFamily="34" charset="0"/>
              <a:cs typeface="Arial" panose="020B0604020202020204" pitchFamily="34" charset="0"/>
            </a:rPr>
            <a:t>toán</a:t>
          </a:r>
          <a:endParaRPr lang="en-US" sz="2400" b="1" dirty="0">
            <a:solidFill>
              <a:schemeClr val="bg1"/>
            </a:solidFill>
            <a:latin typeface="Arial" panose="020B0604020202020204" pitchFamily="34" charset="0"/>
            <a:cs typeface="Arial" panose="020B0604020202020204" pitchFamily="34" charset="0"/>
          </a:endParaRPr>
        </a:p>
      </dgm:t>
    </dgm:pt>
    <dgm:pt modelId="{BF2FBF2C-F97E-4753-B7B1-FAAF67DF351F}" type="parTrans" cxnId="{3421005C-BD7C-4C8B-BFC0-BB46EAE49E85}">
      <dgm:prSet custT="1"/>
      <dgm:spPr/>
      <dgm:t>
        <a:bodyPr/>
        <a:lstStyle/>
        <a:p>
          <a:endParaRPr lang="en-US" sz="2400">
            <a:latin typeface="Arial" panose="020B0604020202020204" pitchFamily="34" charset="0"/>
            <a:cs typeface="Arial" panose="020B0604020202020204" pitchFamily="34" charset="0"/>
          </a:endParaRPr>
        </a:p>
      </dgm:t>
    </dgm:pt>
    <dgm:pt modelId="{BD4E83C9-2C99-46F3-B5D3-A144B44C8361}" type="sibTrans" cxnId="{3421005C-BD7C-4C8B-BFC0-BB46EAE49E85}">
      <dgm:prSet/>
      <dgm:spPr/>
      <dgm:t>
        <a:bodyPr/>
        <a:lstStyle/>
        <a:p>
          <a:endParaRPr lang="en-US" sz="2400">
            <a:latin typeface="Arial" panose="020B0604020202020204" pitchFamily="34" charset="0"/>
            <a:cs typeface="Arial" panose="020B0604020202020204" pitchFamily="34" charset="0"/>
          </a:endParaRPr>
        </a:p>
      </dgm:t>
    </dgm:pt>
    <dgm:pt modelId="{84C02A24-8DFA-486E-B299-19E885F91B1C}" type="pres">
      <dgm:prSet presAssocID="{9C06D688-D175-4D1C-A96D-79B44A0BF4C5}" presName="diagram" presStyleCnt="0">
        <dgm:presLayoutVars>
          <dgm:chPref val="1"/>
          <dgm:dir/>
          <dgm:animOne val="branch"/>
          <dgm:animLvl val="lvl"/>
          <dgm:resizeHandles val="exact"/>
        </dgm:presLayoutVars>
      </dgm:prSet>
      <dgm:spPr/>
    </dgm:pt>
    <dgm:pt modelId="{B7FC81EC-E6FF-4D1B-BAEA-42584CB8808B}" type="pres">
      <dgm:prSet presAssocID="{77757520-03F7-4CC9-A5A1-9FEA1C40E2AD}" presName="root1" presStyleCnt="0"/>
      <dgm:spPr/>
    </dgm:pt>
    <dgm:pt modelId="{C6C6EB3F-5945-4582-A3DA-1C5E6A1AA2FA}" type="pres">
      <dgm:prSet presAssocID="{77757520-03F7-4CC9-A5A1-9FEA1C40E2AD}" presName="LevelOneTextNode" presStyleLbl="node0" presStyleIdx="0" presStyleCnt="1" custScaleX="354027" custScaleY="276740">
        <dgm:presLayoutVars>
          <dgm:chPref val="3"/>
        </dgm:presLayoutVars>
      </dgm:prSet>
      <dgm:spPr/>
    </dgm:pt>
    <dgm:pt modelId="{6CEE9D32-B752-45A3-A9D9-9F1909B8871F}" type="pres">
      <dgm:prSet presAssocID="{77757520-03F7-4CC9-A5A1-9FEA1C40E2AD}" presName="level2hierChild" presStyleCnt="0"/>
      <dgm:spPr/>
    </dgm:pt>
    <dgm:pt modelId="{394F2A83-0389-4713-B9FB-73BD66693284}" type="pres">
      <dgm:prSet presAssocID="{7626D881-F7F0-49A1-B9DF-D4B8DA7E48BB}" presName="conn2-1" presStyleLbl="parChTrans1D2" presStyleIdx="0" presStyleCnt="5"/>
      <dgm:spPr/>
    </dgm:pt>
    <dgm:pt modelId="{4154B604-87BA-44C2-9DD5-E5EB7C47186C}" type="pres">
      <dgm:prSet presAssocID="{7626D881-F7F0-49A1-B9DF-D4B8DA7E48BB}" presName="connTx" presStyleLbl="parChTrans1D2" presStyleIdx="0" presStyleCnt="5"/>
      <dgm:spPr/>
    </dgm:pt>
    <dgm:pt modelId="{E07FA48A-DC42-437A-A8AC-C1326ECDB22A}" type="pres">
      <dgm:prSet presAssocID="{2DB4FCDD-B2E9-4F16-B122-F95D86934A78}" presName="root2" presStyleCnt="0"/>
      <dgm:spPr/>
    </dgm:pt>
    <dgm:pt modelId="{747B716A-8776-4FB6-B3B5-6D61FE4F9BD7}" type="pres">
      <dgm:prSet presAssocID="{2DB4FCDD-B2E9-4F16-B122-F95D86934A78}" presName="LevelTwoTextNode" presStyleLbl="node2" presStyleIdx="0" presStyleCnt="5" custScaleX="324818" custScaleY="153472">
        <dgm:presLayoutVars>
          <dgm:chPref val="3"/>
        </dgm:presLayoutVars>
      </dgm:prSet>
      <dgm:spPr/>
    </dgm:pt>
    <dgm:pt modelId="{01F73508-DDA0-4919-8744-447AA96F92A7}" type="pres">
      <dgm:prSet presAssocID="{2DB4FCDD-B2E9-4F16-B122-F95D86934A78}" presName="level3hierChild" presStyleCnt="0"/>
      <dgm:spPr/>
    </dgm:pt>
    <dgm:pt modelId="{F197DF38-DD19-457F-ADFD-3BAF235E7603}" type="pres">
      <dgm:prSet presAssocID="{85300142-0033-4262-915D-370B927E11C4}" presName="conn2-1" presStyleLbl="parChTrans1D2" presStyleIdx="1" presStyleCnt="5"/>
      <dgm:spPr/>
    </dgm:pt>
    <dgm:pt modelId="{0C8326A8-7DC0-4D8E-B077-E8F9194BC6D8}" type="pres">
      <dgm:prSet presAssocID="{85300142-0033-4262-915D-370B927E11C4}" presName="connTx" presStyleLbl="parChTrans1D2" presStyleIdx="1" presStyleCnt="5"/>
      <dgm:spPr/>
    </dgm:pt>
    <dgm:pt modelId="{5E11E45C-A762-4E3A-8980-B5A4F14FA9A6}" type="pres">
      <dgm:prSet presAssocID="{1BC3D4C4-810B-46D0-A0BB-4CB1C312B81C}" presName="root2" presStyleCnt="0"/>
      <dgm:spPr/>
    </dgm:pt>
    <dgm:pt modelId="{7984E059-DB9F-42E3-867E-74C7974EFA68}" type="pres">
      <dgm:prSet presAssocID="{1BC3D4C4-810B-46D0-A0BB-4CB1C312B81C}" presName="LevelTwoTextNode" presStyleLbl="node2" presStyleIdx="1" presStyleCnt="5" custScaleX="324818" custScaleY="153472">
        <dgm:presLayoutVars>
          <dgm:chPref val="3"/>
        </dgm:presLayoutVars>
      </dgm:prSet>
      <dgm:spPr/>
    </dgm:pt>
    <dgm:pt modelId="{F9C00A94-8D5A-468F-A014-11DD3B3934F2}" type="pres">
      <dgm:prSet presAssocID="{1BC3D4C4-810B-46D0-A0BB-4CB1C312B81C}" presName="level3hierChild" presStyleCnt="0"/>
      <dgm:spPr/>
    </dgm:pt>
    <dgm:pt modelId="{FDC52AE2-5425-4A00-83A3-ADE1299C906A}" type="pres">
      <dgm:prSet presAssocID="{105A4A21-E475-4F6F-9678-22402CA535BA}" presName="conn2-1" presStyleLbl="parChTrans1D2" presStyleIdx="2" presStyleCnt="5"/>
      <dgm:spPr/>
    </dgm:pt>
    <dgm:pt modelId="{38C21FBD-6BEA-4790-8363-8BA6DA41D8D4}" type="pres">
      <dgm:prSet presAssocID="{105A4A21-E475-4F6F-9678-22402CA535BA}" presName="connTx" presStyleLbl="parChTrans1D2" presStyleIdx="2" presStyleCnt="5"/>
      <dgm:spPr/>
    </dgm:pt>
    <dgm:pt modelId="{9CFEDA8A-F422-41A1-A32E-A2841ABD92E9}" type="pres">
      <dgm:prSet presAssocID="{93868689-03F8-4A02-B9FF-0F58A552B13B}" presName="root2" presStyleCnt="0"/>
      <dgm:spPr/>
    </dgm:pt>
    <dgm:pt modelId="{90F7F7B1-153C-44A6-9015-B4CACF79ECC4}" type="pres">
      <dgm:prSet presAssocID="{93868689-03F8-4A02-B9FF-0F58A552B13B}" presName="LevelTwoTextNode" presStyleLbl="node2" presStyleIdx="2" presStyleCnt="5" custScaleX="324818" custScaleY="153472">
        <dgm:presLayoutVars>
          <dgm:chPref val="3"/>
        </dgm:presLayoutVars>
      </dgm:prSet>
      <dgm:spPr/>
    </dgm:pt>
    <dgm:pt modelId="{D3B35FC4-187C-41C0-9B3D-2B8C862D2093}" type="pres">
      <dgm:prSet presAssocID="{93868689-03F8-4A02-B9FF-0F58A552B13B}" presName="level3hierChild" presStyleCnt="0"/>
      <dgm:spPr/>
    </dgm:pt>
    <dgm:pt modelId="{ED56D3C3-953E-4E7E-9B9A-FF3FEFD7C0B3}" type="pres">
      <dgm:prSet presAssocID="{BF2FBF2C-F97E-4753-B7B1-FAAF67DF351F}" presName="conn2-1" presStyleLbl="parChTrans1D2" presStyleIdx="3" presStyleCnt="5"/>
      <dgm:spPr/>
    </dgm:pt>
    <dgm:pt modelId="{B0E7F99E-4D11-41F7-8497-95E0D9433D24}" type="pres">
      <dgm:prSet presAssocID="{BF2FBF2C-F97E-4753-B7B1-FAAF67DF351F}" presName="connTx" presStyleLbl="parChTrans1D2" presStyleIdx="3" presStyleCnt="5"/>
      <dgm:spPr/>
    </dgm:pt>
    <dgm:pt modelId="{E7FF3AA0-69A2-4AE6-BC3B-66FC167EE440}" type="pres">
      <dgm:prSet presAssocID="{15B4BC02-9642-4D60-8FB3-C6365F6B9F0F}" presName="root2" presStyleCnt="0"/>
      <dgm:spPr/>
    </dgm:pt>
    <dgm:pt modelId="{9DE30DC8-B340-4C39-A758-C513018AC00F}" type="pres">
      <dgm:prSet presAssocID="{15B4BC02-9642-4D60-8FB3-C6365F6B9F0F}" presName="LevelTwoTextNode" presStyleLbl="node2" presStyleIdx="3" presStyleCnt="5" custScaleX="324818" custScaleY="153472">
        <dgm:presLayoutVars>
          <dgm:chPref val="3"/>
        </dgm:presLayoutVars>
      </dgm:prSet>
      <dgm:spPr/>
    </dgm:pt>
    <dgm:pt modelId="{A178791F-D197-4563-A7E6-884107DA3937}" type="pres">
      <dgm:prSet presAssocID="{15B4BC02-9642-4D60-8FB3-C6365F6B9F0F}" presName="level3hierChild" presStyleCnt="0"/>
      <dgm:spPr/>
    </dgm:pt>
    <dgm:pt modelId="{4A8FFDAC-5E79-4218-84AF-F901718831E8}" type="pres">
      <dgm:prSet presAssocID="{4267764E-E815-44E7-B160-59B59583BA7F}" presName="conn2-1" presStyleLbl="parChTrans1D2" presStyleIdx="4" presStyleCnt="5"/>
      <dgm:spPr/>
    </dgm:pt>
    <dgm:pt modelId="{65308D6E-F181-4E08-99ED-5E8E9C135DB1}" type="pres">
      <dgm:prSet presAssocID="{4267764E-E815-44E7-B160-59B59583BA7F}" presName="connTx" presStyleLbl="parChTrans1D2" presStyleIdx="4" presStyleCnt="5"/>
      <dgm:spPr/>
    </dgm:pt>
    <dgm:pt modelId="{DD5C2B89-155C-4F2A-952D-F354626BCF1E}" type="pres">
      <dgm:prSet presAssocID="{E6718EE7-39F3-409C-B7DD-7BF91D6A926E}" presName="root2" presStyleCnt="0"/>
      <dgm:spPr/>
    </dgm:pt>
    <dgm:pt modelId="{62DAB0CC-C09C-4213-A3DB-ED710C360E52}" type="pres">
      <dgm:prSet presAssocID="{E6718EE7-39F3-409C-B7DD-7BF91D6A926E}" presName="LevelTwoTextNode" presStyleLbl="node2" presStyleIdx="4" presStyleCnt="5" custScaleX="324818" custScaleY="153472">
        <dgm:presLayoutVars>
          <dgm:chPref val="3"/>
        </dgm:presLayoutVars>
      </dgm:prSet>
      <dgm:spPr/>
    </dgm:pt>
    <dgm:pt modelId="{BDE70D1C-9855-428B-83F8-9EB3289D8412}" type="pres">
      <dgm:prSet presAssocID="{E6718EE7-39F3-409C-B7DD-7BF91D6A926E}" presName="level3hierChild" presStyleCnt="0"/>
      <dgm:spPr/>
    </dgm:pt>
  </dgm:ptLst>
  <dgm:cxnLst>
    <dgm:cxn modelId="{A08AB303-84A6-4950-9D73-EFB7560F71F0}" type="presOf" srcId="{7626D881-F7F0-49A1-B9DF-D4B8DA7E48BB}" destId="{4154B604-87BA-44C2-9DD5-E5EB7C47186C}" srcOrd="1" destOrd="0" presId="urn:microsoft.com/office/officeart/2005/8/layout/hierarchy2"/>
    <dgm:cxn modelId="{F7A73C15-F99D-4CF4-8B8C-7E67EAF33B96}" type="presOf" srcId="{105A4A21-E475-4F6F-9678-22402CA535BA}" destId="{38C21FBD-6BEA-4790-8363-8BA6DA41D8D4}" srcOrd="1" destOrd="0" presId="urn:microsoft.com/office/officeart/2005/8/layout/hierarchy2"/>
    <dgm:cxn modelId="{9F6C421F-CCDC-44D4-AA08-5C1BC616EF34}" type="presOf" srcId="{85300142-0033-4262-915D-370B927E11C4}" destId="{0C8326A8-7DC0-4D8E-B077-E8F9194BC6D8}" srcOrd="1" destOrd="0" presId="urn:microsoft.com/office/officeart/2005/8/layout/hierarchy2"/>
    <dgm:cxn modelId="{77BF2826-08A4-4868-B58C-2B98809CE42E}" type="presOf" srcId="{15B4BC02-9642-4D60-8FB3-C6365F6B9F0F}" destId="{9DE30DC8-B340-4C39-A758-C513018AC00F}" srcOrd="0" destOrd="0" presId="urn:microsoft.com/office/officeart/2005/8/layout/hierarchy2"/>
    <dgm:cxn modelId="{A670EC2F-01EA-4D0D-B8EA-7DDBFDFF5D3B}" type="presOf" srcId="{BF2FBF2C-F97E-4753-B7B1-FAAF67DF351F}" destId="{ED56D3C3-953E-4E7E-9B9A-FF3FEFD7C0B3}" srcOrd="0" destOrd="0" presId="urn:microsoft.com/office/officeart/2005/8/layout/hierarchy2"/>
    <dgm:cxn modelId="{B58E4233-42B9-4718-B3F6-4ED6D07C6AED}" type="presOf" srcId="{2DB4FCDD-B2E9-4F16-B122-F95D86934A78}" destId="{747B716A-8776-4FB6-B3B5-6D61FE4F9BD7}" srcOrd="0" destOrd="0" presId="urn:microsoft.com/office/officeart/2005/8/layout/hierarchy2"/>
    <dgm:cxn modelId="{EFF2DD37-0BF5-45A7-9E7F-68350FE5506A}" type="presOf" srcId="{E6718EE7-39F3-409C-B7DD-7BF91D6A926E}" destId="{62DAB0CC-C09C-4213-A3DB-ED710C360E52}" srcOrd="0" destOrd="0" presId="urn:microsoft.com/office/officeart/2005/8/layout/hierarchy2"/>
    <dgm:cxn modelId="{3421005C-BD7C-4C8B-BFC0-BB46EAE49E85}" srcId="{77757520-03F7-4CC9-A5A1-9FEA1C40E2AD}" destId="{15B4BC02-9642-4D60-8FB3-C6365F6B9F0F}" srcOrd="3" destOrd="0" parTransId="{BF2FBF2C-F97E-4753-B7B1-FAAF67DF351F}" sibTransId="{BD4E83C9-2C99-46F3-B5D3-A144B44C8361}"/>
    <dgm:cxn modelId="{CF9BC361-630A-441C-BEFB-1C45EA3FAD55}" type="presOf" srcId="{85300142-0033-4262-915D-370B927E11C4}" destId="{F197DF38-DD19-457F-ADFD-3BAF235E7603}" srcOrd="0" destOrd="0" presId="urn:microsoft.com/office/officeart/2005/8/layout/hierarchy2"/>
    <dgm:cxn modelId="{93549A42-C1B0-4F15-AD5A-8CC2E0C30CDF}" srcId="{77757520-03F7-4CC9-A5A1-9FEA1C40E2AD}" destId="{1BC3D4C4-810B-46D0-A0BB-4CB1C312B81C}" srcOrd="1" destOrd="0" parTransId="{85300142-0033-4262-915D-370B927E11C4}" sibTransId="{3DAC01E0-AB9B-4BA9-9BC9-1F51D37A3688}"/>
    <dgm:cxn modelId="{B792C146-3271-4F0F-BF4E-BB74984A4DC2}" type="presOf" srcId="{4267764E-E815-44E7-B160-59B59583BA7F}" destId="{65308D6E-F181-4E08-99ED-5E8E9C135DB1}" srcOrd="1" destOrd="0" presId="urn:microsoft.com/office/officeart/2005/8/layout/hierarchy2"/>
    <dgm:cxn modelId="{4921F448-438D-4A40-900D-594FC146D344}" type="presOf" srcId="{7626D881-F7F0-49A1-B9DF-D4B8DA7E48BB}" destId="{394F2A83-0389-4713-B9FB-73BD66693284}" srcOrd="0" destOrd="0" presId="urn:microsoft.com/office/officeart/2005/8/layout/hierarchy2"/>
    <dgm:cxn modelId="{F157DF6F-485C-486B-AF53-F8A0F500916F}" type="presOf" srcId="{105A4A21-E475-4F6F-9678-22402CA535BA}" destId="{FDC52AE2-5425-4A00-83A3-ADE1299C906A}" srcOrd="0" destOrd="0" presId="urn:microsoft.com/office/officeart/2005/8/layout/hierarchy2"/>
    <dgm:cxn modelId="{C6410D76-F12D-471F-AC51-56D427C12F8F}" srcId="{77757520-03F7-4CC9-A5A1-9FEA1C40E2AD}" destId="{93868689-03F8-4A02-B9FF-0F58A552B13B}" srcOrd="2" destOrd="0" parTransId="{105A4A21-E475-4F6F-9678-22402CA535BA}" sibTransId="{62A7D2B1-AFAA-4648-BF16-B31A2566AA0B}"/>
    <dgm:cxn modelId="{7B79B356-A82D-425E-91B7-BFCF099A0DE7}" type="presOf" srcId="{1BC3D4C4-810B-46D0-A0BB-4CB1C312B81C}" destId="{7984E059-DB9F-42E3-867E-74C7974EFA68}" srcOrd="0" destOrd="0" presId="urn:microsoft.com/office/officeart/2005/8/layout/hierarchy2"/>
    <dgm:cxn modelId="{E0B3A257-4D98-481B-B1CE-E37CB44412B5}" srcId="{77757520-03F7-4CC9-A5A1-9FEA1C40E2AD}" destId="{2DB4FCDD-B2E9-4F16-B122-F95D86934A78}" srcOrd="0" destOrd="0" parTransId="{7626D881-F7F0-49A1-B9DF-D4B8DA7E48BB}" sibTransId="{74CA7614-F6E3-4A85-B577-455FC40AFAC8}"/>
    <dgm:cxn modelId="{5446077E-FE14-4553-AB2D-BFE882112971}" type="presOf" srcId="{9C06D688-D175-4D1C-A96D-79B44A0BF4C5}" destId="{84C02A24-8DFA-486E-B299-19E885F91B1C}" srcOrd="0" destOrd="0" presId="urn:microsoft.com/office/officeart/2005/8/layout/hierarchy2"/>
    <dgm:cxn modelId="{93EFE080-2FBD-4BCD-B48E-8BD332D31F84}" srcId="{9C06D688-D175-4D1C-A96D-79B44A0BF4C5}" destId="{77757520-03F7-4CC9-A5A1-9FEA1C40E2AD}" srcOrd="0" destOrd="0" parTransId="{23B5344C-8F0D-497A-A9E6-E0D65331345A}" sibTransId="{85ADC0DC-0ACD-4319-A347-9C06CD0FB90B}"/>
    <dgm:cxn modelId="{9B8CBB83-3954-48AA-9770-19936BF26B24}" type="presOf" srcId="{4267764E-E815-44E7-B160-59B59583BA7F}" destId="{4A8FFDAC-5E79-4218-84AF-F901718831E8}" srcOrd="0" destOrd="0" presId="urn:microsoft.com/office/officeart/2005/8/layout/hierarchy2"/>
    <dgm:cxn modelId="{5698A392-632F-48B7-AC0C-F807CFC1ECF9}" type="presOf" srcId="{BF2FBF2C-F97E-4753-B7B1-FAAF67DF351F}" destId="{B0E7F99E-4D11-41F7-8497-95E0D9433D24}" srcOrd="1" destOrd="0" presId="urn:microsoft.com/office/officeart/2005/8/layout/hierarchy2"/>
    <dgm:cxn modelId="{A4E5D9BC-D5D0-445E-ABC6-8DB3223F1367}" type="presOf" srcId="{77757520-03F7-4CC9-A5A1-9FEA1C40E2AD}" destId="{C6C6EB3F-5945-4582-A3DA-1C5E6A1AA2FA}" srcOrd="0" destOrd="0" presId="urn:microsoft.com/office/officeart/2005/8/layout/hierarchy2"/>
    <dgm:cxn modelId="{DA240BEB-5F8E-4F26-B15F-74B30BF7FE48}" type="presOf" srcId="{93868689-03F8-4A02-B9FF-0F58A552B13B}" destId="{90F7F7B1-153C-44A6-9015-B4CACF79ECC4}" srcOrd="0" destOrd="0" presId="urn:microsoft.com/office/officeart/2005/8/layout/hierarchy2"/>
    <dgm:cxn modelId="{3CD62BF7-004E-4892-AB66-ED63A03D1532}" srcId="{77757520-03F7-4CC9-A5A1-9FEA1C40E2AD}" destId="{E6718EE7-39F3-409C-B7DD-7BF91D6A926E}" srcOrd="4" destOrd="0" parTransId="{4267764E-E815-44E7-B160-59B59583BA7F}" sibTransId="{0C22339B-E516-4F3C-87D1-A557DCFB986E}"/>
    <dgm:cxn modelId="{10010B0D-D640-4B61-997F-12FB8FA8D684}" type="presParOf" srcId="{84C02A24-8DFA-486E-B299-19E885F91B1C}" destId="{B7FC81EC-E6FF-4D1B-BAEA-42584CB8808B}" srcOrd="0" destOrd="0" presId="urn:microsoft.com/office/officeart/2005/8/layout/hierarchy2"/>
    <dgm:cxn modelId="{AD5A584A-2DCE-47E2-922C-DB5A4F8CF028}" type="presParOf" srcId="{B7FC81EC-E6FF-4D1B-BAEA-42584CB8808B}" destId="{C6C6EB3F-5945-4582-A3DA-1C5E6A1AA2FA}" srcOrd="0" destOrd="0" presId="urn:microsoft.com/office/officeart/2005/8/layout/hierarchy2"/>
    <dgm:cxn modelId="{FC1BE2FF-A91B-402D-B07C-72D239A4A0A2}" type="presParOf" srcId="{B7FC81EC-E6FF-4D1B-BAEA-42584CB8808B}" destId="{6CEE9D32-B752-45A3-A9D9-9F1909B8871F}" srcOrd="1" destOrd="0" presId="urn:microsoft.com/office/officeart/2005/8/layout/hierarchy2"/>
    <dgm:cxn modelId="{D0B3BC78-7783-4220-80E3-EA6907EDB362}" type="presParOf" srcId="{6CEE9D32-B752-45A3-A9D9-9F1909B8871F}" destId="{394F2A83-0389-4713-B9FB-73BD66693284}" srcOrd="0" destOrd="0" presId="urn:microsoft.com/office/officeart/2005/8/layout/hierarchy2"/>
    <dgm:cxn modelId="{F88CA094-34A3-4743-9894-FFC0DAF63C05}" type="presParOf" srcId="{394F2A83-0389-4713-B9FB-73BD66693284}" destId="{4154B604-87BA-44C2-9DD5-E5EB7C47186C}" srcOrd="0" destOrd="0" presId="urn:microsoft.com/office/officeart/2005/8/layout/hierarchy2"/>
    <dgm:cxn modelId="{2CE6CC30-135A-462B-9277-F6030C15D71D}" type="presParOf" srcId="{6CEE9D32-B752-45A3-A9D9-9F1909B8871F}" destId="{E07FA48A-DC42-437A-A8AC-C1326ECDB22A}" srcOrd="1" destOrd="0" presId="urn:microsoft.com/office/officeart/2005/8/layout/hierarchy2"/>
    <dgm:cxn modelId="{838A5C17-81CB-4065-BF6F-46B772DA8FBC}" type="presParOf" srcId="{E07FA48A-DC42-437A-A8AC-C1326ECDB22A}" destId="{747B716A-8776-4FB6-B3B5-6D61FE4F9BD7}" srcOrd="0" destOrd="0" presId="urn:microsoft.com/office/officeart/2005/8/layout/hierarchy2"/>
    <dgm:cxn modelId="{76DFABF3-479F-4A42-97F6-A26841237D51}" type="presParOf" srcId="{E07FA48A-DC42-437A-A8AC-C1326ECDB22A}" destId="{01F73508-DDA0-4919-8744-447AA96F92A7}" srcOrd="1" destOrd="0" presId="urn:microsoft.com/office/officeart/2005/8/layout/hierarchy2"/>
    <dgm:cxn modelId="{A8C256A4-1A8D-4822-9558-233511B8A04C}" type="presParOf" srcId="{6CEE9D32-B752-45A3-A9D9-9F1909B8871F}" destId="{F197DF38-DD19-457F-ADFD-3BAF235E7603}" srcOrd="2" destOrd="0" presId="urn:microsoft.com/office/officeart/2005/8/layout/hierarchy2"/>
    <dgm:cxn modelId="{028919AB-DE38-456D-969B-555A1BB28BF6}" type="presParOf" srcId="{F197DF38-DD19-457F-ADFD-3BAF235E7603}" destId="{0C8326A8-7DC0-4D8E-B077-E8F9194BC6D8}" srcOrd="0" destOrd="0" presId="urn:microsoft.com/office/officeart/2005/8/layout/hierarchy2"/>
    <dgm:cxn modelId="{348791D7-D6D4-4F85-881F-68223F79F101}" type="presParOf" srcId="{6CEE9D32-B752-45A3-A9D9-9F1909B8871F}" destId="{5E11E45C-A762-4E3A-8980-B5A4F14FA9A6}" srcOrd="3" destOrd="0" presId="urn:microsoft.com/office/officeart/2005/8/layout/hierarchy2"/>
    <dgm:cxn modelId="{47ED71AE-C6CD-48BC-81AD-EAB3C237FCFB}" type="presParOf" srcId="{5E11E45C-A762-4E3A-8980-B5A4F14FA9A6}" destId="{7984E059-DB9F-42E3-867E-74C7974EFA68}" srcOrd="0" destOrd="0" presId="urn:microsoft.com/office/officeart/2005/8/layout/hierarchy2"/>
    <dgm:cxn modelId="{A6DA07E0-F739-4C0C-A411-CED7E0665FE2}" type="presParOf" srcId="{5E11E45C-A762-4E3A-8980-B5A4F14FA9A6}" destId="{F9C00A94-8D5A-468F-A014-11DD3B3934F2}" srcOrd="1" destOrd="0" presId="urn:microsoft.com/office/officeart/2005/8/layout/hierarchy2"/>
    <dgm:cxn modelId="{EDA1246A-ACAC-4BB8-937A-D0CE0F278AC7}" type="presParOf" srcId="{6CEE9D32-B752-45A3-A9D9-9F1909B8871F}" destId="{FDC52AE2-5425-4A00-83A3-ADE1299C906A}" srcOrd="4" destOrd="0" presId="urn:microsoft.com/office/officeart/2005/8/layout/hierarchy2"/>
    <dgm:cxn modelId="{7E628FB1-6293-414E-A25D-BCA0FC9B7047}" type="presParOf" srcId="{FDC52AE2-5425-4A00-83A3-ADE1299C906A}" destId="{38C21FBD-6BEA-4790-8363-8BA6DA41D8D4}" srcOrd="0" destOrd="0" presId="urn:microsoft.com/office/officeart/2005/8/layout/hierarchy2"/>
    <dgm:cxn modelId="{2AFCA804-D421-4C5F-88C1-18DB4B2123BA}" type="presParOf" srcId="{6CEE9D32-B752-45A3-A9D9-9F1909B8871F}" destId="{9CFEDA8A-F422-41A1-A32E-A2841ABD92E9}" srcOrd="5" destOrd="0" presId="urn:microsoft.com/office/officeart/2005/8/layout/hierarchy2"/>
    <dgm:cxn modelId="{5537A0AF-3650-48F6-BAF7-9B8338D50C04}" type="presParOf" srcId="{9CFEDA8A-F422-41A1-A32E-A2841ABD92E9}" destId="{90F7F7B1-153C-44A6-9015-B4CACF79ECC4}" srcOrd="0" destOrd="0" presId="urn:microsoft.com/office/officeart/2005/8/layout/hierarchy2"/>
    <dgm:cxn modelId="{8D4D9E0C-3B47-4CF9-AF83-035779C4DA6E}" type="presParOf" srcId="{9CFEDA8A-F422-41A1-A32E-A2841ABD92E9}" destId="{D3B35FC4-187C-41C0-9B3D-2B8C862D2093}" srcOrd="1" destOrd="0" presId="urn:microsoft.com/office/officeart/2005/8/layout/hierarchy2"/>
    <dgm:cxn modelId="{CC968E54-47BF-48FE-B7AC-F0DEDCDE3292}" type="presParOf" srcId="{6CEE9D32-B752-45A3-A9D9-9F1909B8871F}" destId="{ED56D3C3-953E-4E7E-9B9A-FF3FEFD7C0B3}" srcOrd="6" destOrd="0" presId="urn:microsoft.com/office/officeart/2005/8/layout/hierarchy2"/>
    <dgm:cxn modelId="{1F4C6E83-08B3-45F0-8A9C-5CF879E1B52C}" type="presParOf" srcId="{ED56D3C3-953E-4E7E-9B9A-FF3FEFD7C0B3}" destId="{B0E7F99E-4D11-41F7-8497-95E0D9433D24}" srcOrd="0" destOrd="0" presId="urn:microsoft.com/office/officeart/2005/8/layout/hierarchy2"/>
    <dgm:cxn modelId="{99C21973-BDE7-4E81-96EE-C48BA49017E5}" type="presParOf" srcId="{6CEE9D32-B752-45A3-A9D9-9F1909B8871F}" destId="{E7FF3AA0-69A2-4AE6-BC3B-66FC167EE440}" srcOrd="7" destOrd="0" presId="urn:microsoft.com/office/officeart/2005/8/layout/hierarchy2"/>
    <dgm:cxn modelId="{86F14039-EAEE-4F2E-A844-4C354AD0851F}" type="presParOf" srcId="{E7FF3AA0-69A2-4AE6-BC3B-66FC167EE440}" destId="{9DE30DC8-B340-4C39-A758-C513018AC00F}" srcOrd="0" destOrd="0" presId="urn:microsoft.com/office/officeart/2005/8/layout/hierarchy2"/>
    <dgm:cxn modelId="{72009B55-E99A-4300-8517-03D0D982238C}" type="presParOf" srcId="{E7FF3AA0-69A2-4AE6-BC3B-66FC167EE440}" destId="{A178791F-D197-4563-A7E6-884107DA3937}" srcOrd="1" destOrd="0" presId="urn:microsoft.com/office/officeart/2005/8/layout/hierarchy2"/>
    <dgm:cxn modelId="{5800B345-4E46-431E-88B4-C0C3317859F4}" type="presParOf" srcId="{6CEE9D32-B752-45A3-A9D9-9F1909B8871F}" destId="{4A8FFDAC-5E79-4218-84AF-F901718831E8}" srcOrd="8" destOrd="0" presId="urn:microsoft.com/office/officeart/2005/8/layout/hierarchy2"/>
    <dgm:cxn modelId="{6BBE3BD6-9312-4D64-99CA-A802C05E7CE1}" type="presParOf" srcId="{4A8FFDAC-5E79-4218-84AF-F901718831E8}" destId="{65308D6E-F181-4E08-99ED-5E8E9C135DB1}" srcOrd="0" destOrd="0" presId="urn:microsoft.com/office/officeart/2005/8/layout/hierarchy2"/>
    <dgm:cxn modelId="{CB08F29C-DFF4-4F93-B77C-8641ACE07538}" type="presParOf" srcId="{6CEE9D32-B752-45A3-A9D9-9F1909B8871F}" destId="{DD5C2B89-155C-4F2A-952D-F354626BCF1E}" srcOrd="9" destOrd="0" presId="urn:microsoft.com/office/officeart/2005/8/layout/hierarchy2"/>
    <dgm:cxn modelId="{9B43EB26-19AB-4090-AF4A-68E35289FDB0}" type="presParOf" srcId="{DD5C2B89-155C-4F2A-952D-F354626BCF1E}" destId="{62DAB0CC-C09C-4213-A3DB-ED710C360E52}" srcOrd="0" destOrd="0" presId="urn:microsoft.com/office/officeart/2005/8/layout/hierarchy2"/>
    <dgm:cxn modelId="{1E7FBB86-0D73-465B-BDE1-D8D57FA99A7A}" type="presParOf" srcId="{DD5C2B89-155C-4F2A-952D-F354626BCF1E}" destId="{BDE70D1C-9855-428B-83F8-9EB3289D8412}"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6CB8E-47F7-46A3-BF4D-78C107E76838}">
      <dsp:nvSpPr>
        <dsp:cNvPr id="0" name=""/>
        <dsp:cNvSpPr/>
      </dsp:nvSpPr>
      <dsp:spPr>
        <a:xfrm>
          <a:off x="0" y="447707"/>
          <a:ext cx="10515600" cy="756000"/>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042512-3D74-45F5-A966-09A6813012C6}">
      <dsp:nvSpPr>
        <dsp:cNvPr id="0" name=""/>
        <dsp:cNvSpPr/>
      </dsp:nvSpPr>
      <dsp:spPr>
        <a:xfrm>
          <a:off x="525780" y="4907"/>
          <a:ext cx="7360920" cy="88560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r>
            <a:rPr lang="en-US" sz="2800" b="1" kern="1200" dirty="0" err="1">
              <a:solidFill>
                <a:schemeClr val="bg1"/>
              </a:solidFill>
              <a:latin typeface="Arial" panose="020B0604020202020204" pitchFamily="34" charset="0"/>
              <a:cs typeface="Arial" panose="020B0604020202020204" pitchFamily="34" charset="0"/>
            </a:rPr>
            <a:t>Khái</a:t>
          </a:r>
          <a:r>
            <a:rPr lang="en-US" sz="2800" b="1" kern="1200" dirty="0">
              <a:solidFill>
                <a:schemeClr val="bg1"/>
              </a:solidFill>
              <a:latin typeface="Arial" panose="020B0604020202020204" pitchFamily="34" charset="0"/>
              <a:cs typeface="Arial" panose="020B0604020202020204" pitchFamily="34" charset="0"/>
            </a:rPr>
            <a:t> </a:t>
          </a:r>
          <a:r>
            <a:rPr lang="en-US" sz="2800" b="1" kern="1200" dirty="0" err="1">
              <a:solidFill>
                <a:schemeClr val="bg1"/>
              </a:solidFill>
              <a:latin typeface="Arial" panose="020B0604020202020204" pitchFamily="34" charset="0"/>
              <a:cs typeface="Arial" panose="020B0604020202020204" pitchFamily="34" charset="0"/>
            </a:rPr>
            <a:t>niệm</a:t>
          </a:r>
          <a:r>
            <a:rPr lang="vi-VN" sz="2800" b="1" kern="1200" dirty="0">
              <a:solidFill>
                <a:schemeClr val="bg1"/>
              </a:solidFill>
              <a:latin typeface="Arial" panose="020B0604020202020204" pitchFamily="34" charset="0"/>
              <a:cs typeface="Arial" panose="020B0604020202020204" pitchFamily="34" charset="0"/>
            </a:rPr>
            <a:t> lập dự toán</a:t>
          </a:r>
          <a:endParaRPr lang="en-US" sz="2800" b="1" kern="1200" dirty="0">
            <a:solidFill>
              <a:schemeClr val="bg1"/>
            </a:solidFill>
            <a:latin typeface="Arial" panose="020B0604020202020204" pitchFamily="34" charset="0"/>
            <a:cs typeface="Arial" panose="020B0604020202020204" pitchFamily="34" charset="0"/>
          </a:endParaRPr>
        </a:p>
      </dsp:txBody>
      <dsp:txXfrm>
        <a:off x="569011" y="48138"/>
        <a:ext cx="7274458" cy="799138"/>
      </dsp:txXfrm>
    </dsp:sp>
    <dsp:sp modelId="{5B2031C5-30FE-4815-87D9-174DECC64C21}">
      <dsp:nvSpPr>
        <dsp:cNvPr id="0" name=""/>
        <dsp:cNvSpPr/>
      </dsp:nvSpPr>
      <dsp:spPr>
        <a:xfrm>
          <a:off x="0" y="1808507"/>
          <a:ext cx="10515600" cy="756000"/>
        </a:xfrm>
        <a:prstGeom prst="rect">
          <a:avLst/>
        </a:prstGeom>
        <a:solidFill>
          <a:schemeClr val="lt1">
            <a:alpha val="90000"/>
            <a:hueOff val="0"/>
            <a:satOff val="0"/>
            <a:lumOff val="0"/>
            <a:alphaOff val="0"/>
          </a:schemeClr>
        </a:solidFill>
        <a:ln w="19050" cap="flat" cmpd="sng" algn="ctr">
          <a:solidFill>
            <a:schemeClr val="accent4">
              <a:hueOff val="2199979"/>
              <a:satOff val="-9734"/>
              <a:lumOff val="-1634"/>
              <a:alphaOff val="0"/>
            </a:schemeClr>
          </a:solidFill>
          <a:prstDash val="solid"/>
          <a:miter lim="800000"/>
        </a:ln>
        <a:effectLst/>
      </dsp:spPr>
      <dsp:style>
        <a:lnRef idx="2">
          <a:scrgbClr r="0" g="0" b="0"/>
        </a:lnRef>
        <a:fillRef idx="1">
          <a:scrgbClr r="0" g="0" b="0"/>
        </a:fillRef>
        <a:effectRef idx="0">
          <a:scrgbClr r="0" g="0" b="0"/>
        </a:effectRef>
        <a:fontRef idx="minor"/>
      </dsp:style>
    </dsp:sp>
    <dsp:sp modelId="{A770C11E-DC3C-461E-B0A7-C64E2C233F8D}">
      <dsp:nvSpPr>
        <dsp:cNvPr id="0" name=""/>
        <dsp:cNvSpPr/>
      </dsp:nvSpPr>
      <dsp:spPr>
        <a:xfrm>
          <a:off x="525780" y="1365707"/>
          <a:ext cx="7360920" cy="885600"/>
        </a:xfrm>
        <a:prstGeom prst="roundRect">
          <a:avLst/>
        </a:prstGeom>
        <a:solidFill>
          <a:schemeClr val="accent4">
            <a:hueOff val="2199979"/>
            <a:satOff val="-9734"/>
            <a:lumOff val="-163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r>
            <a:rPr lang="en-US" sz="2800" b="1" kern="1200" dirty="0" err="1">
              <a:solidFill>
                <a:schemeClr val="bg1"/>
              </a:solidFill>
              <a:latin typeface="Arial" panose="020B0604020202020204" pitchFamily="34" charset="0"/>
              <a:cs typeface="Arial" panose="020B0604020202020204" pitchFamily="34" charset="0"/>
            </a:rPr>
            <a:t>Căn</a:t>
          </a:r>
          <a:r>
            <a:rPr lang="en-US" sz="2800" b="1" kern="1200" dirty="0">
              <a:solidFill>
                <a:schemeClr val="bg1"/>
              </a:solidFill>
              <a:latin typeface="Arial" panose="020B0604020202020204" pitchFamily="34" charset="0"/>
              <a:cs typeface="Arial" panose="020B0604020202020204" pitchFamily="34" charset="0"/>
            </a:rPr>
            <a:t> </a:t>
          </a:r>
          <a:r>
            <a:rPr lang="en-US" sz="2800" b="1" kern="1200" dirty="0" err="1">
              <a:solidFill>
                <a:schemeClr val="bg1"/>
              </a:solidFill>
              <a:latin typeface="Arial" panose="020B0604020202020204" pitchFamily="34" charset="0"/>
              <a:cs typeface="Arial" panose="020B0604020202020204" pitchFamily="34" charset="0"/>
            </a:rPr>
            <a:t>cứ</a:t>
          </a:r>
          <a:r>
            <a:rPr lang="vi-VN" sz="2800" b="1" kern="1200" dirty="0">
              <a:solidFill>
                <a:schemeClr val="bg1"/>
              </a:solidFill>
              <a:latin typeface="Arial" panose="020B0604020202020204" pitchFamily="34" charset="0"/>
              <a:cs typeface="Arial" panose="020B0604020202020204" pitchFamily="34" charset="0"/>
            </a:rPr>
            <a:t> lập dự toán</a:t>
          </a:r>
          <a:endParaRPr lang="en-US" sz="2800" b="1" kern="1200" dirty="0">
            <a:solidFill>
              <a:schemeClr val="bg1"/>
            </a:solidFill>
            <a:latin typeface="Arial" panose="020B0604020202020204" pitchFamily="34" charset="0"/>
            <a:cs typeface="Arial" panose="020B0604020202020204" pitchFamily="34" charset="0"/>
          </a:endParaRPr>
        </a:p>
      </dsp:txBody>
      <dsp:txXfrm>
        <a:off x="569011" y="1408938"/>
        <a:ext cx="7274458" cy="799138"/>
      </dsp:txXfrm>
    </dsp:sp>
    <dsp:sp modelId="{963CC4D4-8832-42C7-B542-BDC447BC3BB1}">
      <dsp:nvSpPr>
        <dsp:cNvPr id="0" name=""/>
        <dsp:cNvSpPr/>
      </dsp:nvSpPr>
      <dsp:spPr>
        <a:xfrm>
          <a:off x="0" y="3169307"/>
          <a:ext cx="10515600" cy="756000"/>
        </a:xfrm>
        <a:prstGeom prst="rect">
          <a:avLst/>
        </a:prstGeom>
        <a:solidFill>
          <a:schemeClr val="lt1">
            <a:alpha val="90000"/>
            <a:hueOff val="0"/>
            <a:satOff val="0"/>
            <a:lumOff val="0"/>
            <a:alphaOff val="0"/>
          </a:schemeClr>
        </a:solidFill>
        <a:ln w="19050" cap="flat" cmpd="sng" algn="ctr">
          <a:solidFill>
            <a:schemeClr val="accent4">
              <a:hueOff val="4399958"/>
              <a:satOff val="-19468"/>
              <a:lumOff val="-3269"/>
              <a:alphaOff val="0"/>
            </a:schemeClr>
          </a:solidFill>
          <a:prstDash val="solid"/>
          <a:miter lim="800000"/>
        </a:ln>
        <a:effectLst/>
      </dsp:spPr>
      <dsp:style>
        <a:lnRef idx="2">
          <a:scrgbClr r="0" g="0" b="0"/>
        </a:lnRef>
        <a:fillRef idx="1">
          <a:scrgbClr r="0" g="0" b="0"/>
        </a:fillRef>
        <a:effectRef idx="0">
          <a:scrgbClr r="0" g="0" b="0"/>
        </a:effectRef>
        <a:fontRef idx="minor"/>
      </dsp:style>
    </dsp:sp>
    <dsp:sp modelId="{BD0F7E4C-229A-471E-BF54-0C9877728746}">
      <dsp:nvSpPr>
        <dsp:cNvPr id="0" name=""/>
        <dsp:cNvSpPr/>
      </dsp:nvSpPr>
      <dsp:spPr>
        <a:xfrm>
          <a:off x="525780" y="2726507"/>
          <a:ext cx="7360920" cy="885600"/>
        </a:xfrm>
        <a:prstGeom prst="roundRect">
          <a:avLst/>
        </a:prstGeom>
        <a:solidFill>
          <a:schemeClr val="accent4">
            <a:hueOff val="4399958"/>
            <a:satOff val="-19468"/>
            <a:lumOff val="-32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r>
            <a:rPr lang="en-US" sz="2800" b="1" kern="1200" dirty="0" err="1">
              <a:solidFill>
                <a:schemeClr val="bg1"/>
              </a:solidFill>
              <a:latin typeface="Arial" panose="020B0604020202020204" pitchFamily="34" charset="0"/>
              <a:cs typeface="Arial" panose="020B0604020202020204" pitchFamily="34" charset="0"/>
            </a:rPr>
            <a:t>Yêu</a:t>
          </a:r>
          <a:r>
            <a:rPr lang="en-US" sz="2800" b="1" kern="1200" dirty="0">
              <a:solidFill>
                <a:schemeClr val="bg1"/>
              </a:solidFill>
              <a:latin typeface="Arial" panose="020B0604020202020204" pitchFamily="34" charset="0"/>
              <a:cs typeface="Arial" panose="020B0604020202020204" pitchFamily="34" charset="0"/>
            </a:rPr>
            <a:t> </a:t>
          </a:r>
          <a:r>
            <a:rPr lang="en-US" sz="2800" b="1" kern="1200" dirty="0" err="1">
              <a:solidFill>
                <a:schemeClr val="bg1"/>
              </a:solidFill>
              <a:latin typeface="Arial" panose="020B0604020202020204" pitchFamily="34" charset="0"/>
              <a:cs typeface="Arial" panose="020B0604020202020204" pitchFamily="34" charset="0"/>
            </a:rPr>
            <a:t>cầu</a:t>
          </a:r>
          <a:r>
            <a:rPr lang="vi-VN" sz="2800" b="1" kern="1200" dirty="0">
              <a:solidFill>
                <a:schemeClr val="bg1"/>
              </a:solidFill>
              <a:latin typeface="Arial" panose="020B0604020202020204" pitchFamily="34" charset="0"/>
              <a:cs typeface="Arial" panose="020B0604020202020204" pitchFamily="34" charset="0"/>
            </a:rPr>
            <a:t> lập dự toán</a:t>
          </a:r>
          <a:endParaRPr lang="en-US" sz="2800" b="1" kern="1200" dirty="0">
            <a:solidFill>
              <a:schemeClr val="bg1"/>
            </a:solidFill>
            <a:latin typeface="Arial" panose="020B0604020202020204" pitchFamily="34" charset="0"/>
            <a:cs typeface="Arial" panose="020B0604020202020204" pitchFamily="34" charset="0"/>
          </a:endParaRPr>
        </a:p>
      </dsp:txBody>
      <dsp:txXfrm>
        <a:off x="569011" y="2769738"/>
        <a:ext cx="7274458" cy="799138"/>
      </dsp:txXfrm>
    </dsp:sp>
    <dsp:sp modelId="{9FE2C92F-76AE-4781-B0FE-1C7FA378A75B}">
      <dsp:nvSpPr>
        <dsp:cNvPr id="0" name=""/>
        <dsp:cNvSpPr/>
      </dsp:nvSpPr>
      <dsp:spPr>
        <a:xfrm>
          <a:off x="0" y="4530107"/>
          <a:ext cx="10515600" cy="756000"/>
        </a:xfrm>
        <a:prstGeom prst="rect">
          <a:avLst/>
        </a:prstGeom>
        <a:solidFill>
          <a:schemeClr val="lt1">
            <a:alpha val="90000"/>
            <a:hueOff val="0"/>
            <a:satOff val="0"/>
            <a:lumOff val="0"/>
            <a:alphaOff val="0"/>
          </a:schemeClr>
        </a:solidFill>
        <a:ln w="19050" cap="flat" cmpd="sng" algn="ctr">
          <a:solidFill>
            <a:schemeClr val="accent4">
              <a:hueOff val="6599937"/>
              <a:satOff val="-29202"/>
              <a:lumOff val="-4903"/>
              <a:alphaOff val="0"/>
            </a:schemeClr>
          </a:solidFill>
          <a:prstDash val="solid"/>
          <a:miter lim="800000"/>
        </a:ln>
        <a:effectLst/>
      </dsp:spPr>
      <dsp:style>
        <a:lnRef idx="2">
          <a:scrgbClr r="0" g="0" b="0"/>
        </a:lnRef>
        <a:fillRef idx="1">
          <a:scrgbClr r="0" g="0" b="0"/>
        </a:fillRef>
        <a:effectRef idx="0">
          <a:scrgbClr r="0" g="0" b="0"/>
        </a:effectRef>
        <a:fontRef idx="minor"/>
      </dsp:style>
    </dsp:sp>
    <dsp:sp modelId="{BB2D3384-1450-4001-9A1E-40675559BA1F}">
      <dsp:nvSpPr>
        <dsp:cNvPr id="0" name=""/>
        <dsp:cNvSpPr/>
      </dsp:nvSpPr>
      <dsp:spPr>
        <a:xfrm>
          <a:off x="525780" y="4087307"/>
          <a:ext cx="7360920" cy="885600"/>
        </a:xfrm>
        <a:prstGeom prst="roundRect">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r>
            <a:rPr lang="en-US" sz="2800" b="1" kern="1200" dirty="0">
              <a:solidFill>
                <a:schemeClr val="bg1"/>
              </a:solidFill>
              <a:latin typeface="Arial" panose="020B0604020202020204" pitchFamily="34" charset="0"/>
              <a:cs typeface="Arial" panose="020B0604020202020204" pitchFamily="34" charset="0"/>
            </a:rPr>
            <a:t>Quy </a:t>
          </a:r>
          <a:r>
            <a:rPr lang="en-US" sz="2800" b="1" kern="1200" dirty="0" err="1">
              <a:solidFill>
                <a:schemeClr val="bg1"/>
              </a:solidFill>
              <a:latin typeface="Arial" panose="020B0604020202020204" pitchFamily="34" charset="0"/>
              <a:cs typeface="Arial" panose="020B0604020202020204" pitchFamily="34" charset="0"/>
            </a:rPr>
            <a:t>trình</a:t>
          </a:r>
          <a:r>
            <a:rPr lang="en-US" sz="2800" b="1" kern="1200" dirty="0">
              <a:solidFill>
                <a:schemeClr val="bg1"/>
              </a:solidFill>
              <a:latin typeface="Arial" panose="020B0604020202020204" pitchFamily="34" charset="0"/>
              <a:cs typeface="Arial" panose="020B0604020202020204" pitchFamily="34" charset="0"/>
            </a:rPr>
            <a:t> </a:t>
          </a:r>
          <a:r>
            <a:rPr lang="en-US" sz="2800" b="1" kern="1200" dirty="0" err="1">
              <a:solidFill>
                <a:schemeClr val="bg1"/>
              </a:solidFill>
              <a:latin typeface="Arial" panose="020B0604020202020204" pitchFamily="34" charset="0"/>
              <a:cs typeface="Arial" panose="020B0604020202020204" pitchFamily="34" charset="0"/>
            </a:rPr>
            <a:t>lập</a:t>
          </a:r>
          <a:r>
            <a:rPr lang="vi-VN" sz="2800" b="1" kern="1200" dirty="0">
              <a:solidFill>
                <a:schemeClr val="bg1"/>
              </a:solidFill>
              <a:latin typeface="Arial" panose="020B0604020202020204" pitchFamily="34" charset="0"/>
              <a:cs typeface="Arial" panose="020B0604020202020204" pitchFamily="34" charset="0"/>
            </a:rPr>
            <a:t> dự toán</a:t>
          </a:r>
          <a:endParaRPr lang="en-US" sz="2800" b="1" kern="1200" dirty="0">
            <a:solidFill>
              <a:schemeClr val="bg1"/>
            </a:solidFill>
            <a:latin typeface="Arial" panose="020B0604020202020204" pitchFamily="34" charset="0"/>
            <a:cs typeface="Arial" panose="020B0604020202020204" pitchFamily="34" charset="0"/>
          </a:endParaRPr>
        </a:p>
      </dsp:txBody>
      <dsp:txXfrm>
        <a:off x="569011" y="4130538"/>
        <a:ext cx="7274458" cy="7991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BE597A-B87E-436A-AD8F-6E84BE353021}">
      <dsp:nvSpPr>
        <dsp:cNvPr id="0" name=""/>
        <dsp:cNvSpPr/>
      </dsp:nvSpPr>
      <dsp:spPr>
        <a:xfrm>
          <a:off x="-6468878" y="-989388"/>
          <a:ext cx="7699637" cy="7699637"/>
        </a:xfrm>
        <a:prstGeom prst="blockArc">
          <a:avLst>
            <a:gd name="adj1" fmla="val 18900000"/>
            <a:gd name="adj2" fmla="val 2700000"/>
            <a:gd name="adj3" fmla="val 281"/>
          </a:avLst>
        </a:prstGeom>
        <a:noFill/>
        <a:ln w="1905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DBC8BB-B2BC-405B-B589-07326939E333}">
      <dsp:nvSpPr>
        <dsp:cNvPr id="0" name=""/>
        <dsp:cNvSpPr/>
      </dsp:nvSpPr>
      <dsp:spPr>
        <a:xfrm>
          <a:off x="537642" y="357439"/>
          <a:ext cx="11080632" cy="715336"/>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7798" tIns="91440" rIns="91440" bIns="91440" numCol="1" spcCol="1270" anchor="ctr" anchorCtr="0">
          <a:noAutofit/>
        </a:bodyPr>
        <a:lstStyle/>
        <a:p>
          <a:pPr marL="0" lvl="0" indent="0" algn="l" defTabSz="1600200">
            <a:lnSpc>
              <a:spcPct val="90000"/>
            </a:lnSpc>
            <a:spcBef>
              <a:spcPct val="0"/>
            </a:spcBef>
            <a:spcAft>
              <a:spcPct val="35000"/>
            </a:spcAft>
            <a:buNone/>
          </a:pPr>
          <a:r>
            <a:rPr lang="en-US" sz="3600" b="1" kern="1200" dirty="0" err="1">
              <a:latin typeface="Times New Roman" panose="02020603050405020304" pitchFamily="18" charset="0"/>
              <a:cs typeface="Times New Roman" panose="02020603050405020304" pitchFamily="18" charset="0"/>
            </a:rPr>
            <a:t>Khái</a:t>
          </a:r>
          <a:r>
            <a:rPr lang="en-US" sz="3600" b="1" kern="1200" dirty="0">
              <a:latin typeface="Times New Roman" panose="02020603050405020304" pitchFamily="18" charset="0"/>
              <a:cs typeface="Times New Roman" panose="02020603050405020304" pitchFamily="18" charset="0"/>
            </a:rPr>
            <a:t> </a:t>
          </a:r>
          <a:r>
            <a:rPr lang="en-US" sz="3600" b="1" kern="1200" dirty="0" err="1">
              <a:latin typeface="Times New Roman" panose="02020603050405020304" pitchFamily="18" charset="0"/>
              <a:cs typeface="Times New Roman" panose="02020603050405020304" pitchFamily="18" charset="0"/>
            </a:rPr>
            <a:t>niệm</a:t>
          </a:r>
          <a:endParaRPr lang="en-US" sz="3600" b="1" kern="1200" dirty="0">
            <a:latin typeface="Times New Roman" panose="02020603050405020304" pitchFamily="18" charset="0"/>
            <a:cs typeface="Times New Roman" panose="02020603050405020304" pitchFamily="18" charset="0"/>
          </a:endParaRPr>
        </a:p>
      </dsp:txBody>
      <dsp:txXfrm>
        <a:off x="537642" y="357439"/>
        <a:ext cx="11080632" cy="715336"/>
      </dsp:txXfrm>
    </dsp:sp>
    <dsp:sp modelId="{545E2705-FDFC-4F54-80E6-0166452A47B1}">
      <dsp:nvSpPr>
        <dsp:cNvPr id="0" name=""/>
        <dsp:cNvSpPr/>
      </dsp:nvSpPr>
      <dsp:spPr>
        <a:xfrm>
          <a:off x="90556" y="268022"/>
          <a:ext cx="894170" cy="894170"/>
        </a:xfrm>
        <a:prstGeom prst="ellipse">
          <a:avLst/>
        </a:prstGeom>
        <a:solidFill>
          <a:schemeClr val="lt1">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8620C39-FFBA-414F-AC07-A021EF8AD798}">
      <dsp:nvSpPr>
        <dsp:cNvPr id="0" name=""/>
        <dsp:cNvSpPr/>
      </dsp:nvSpPr>
      <dsp:spPr>
        <a:xfrm>
          <a:off x="1050231" y="1430100"/>
          <a:ext cx="10568043" cy="715336"/>
        </a:xfrm>
        <a:prstGeom prst="rect">
          <a:avLst/>
        </a:prstGeom>
        <a:solidFill>
          <a:schemeClr val="accent4">
            <a:hueOff val="1649984"/>
            <a:satOff val="-7300"/>
            <a:lumOff val="-122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7798" tIns="91440" rIns="91440" bIns="91440" numCol="1" spcCol="1270" anchor="ctr" anchorCtr="0">
          <a:noAutofit/>
        </a:bodyPr>
        <a:lstStyle/>
        <a:p>
          <a:pPr marL="0" lvl="0" indent="0" algn="l" defTabSz="1600200">
            <a:lnSpc>
              <a:spcPct val="90000"/>
            </a:lnSpc>
            <a:spcBef>
              <a:spcPct val="0"/>
            </a:spcBef>
            <a:spcAft>
              <a:spcPct val="35000"/>
            </a:spcAft>
            <a:buNone/>
          </a:pPr>
          <a:r>
            <a:rPr lang="en-US" sz="3600" b="1" kern="1200" dirty="0" err="1">
              <a:latin typeface="Times New Roman" panose="02020603050405020304" pitchFamily="18" charset="0"/>
              <a:cs typeface="Times New Roman" panose="02020603050405020304" pitchFamily="18" charset="0"/>
            </a:rPr>
            <a:t>Yêu</a:t>
          </a:r>
          <a:r>
            <a:rPr lang="en-US" sz="3600" b="1" kern="1200" dirty="0">
              <a:latin typeface="Times New Roman" panose="02020603050405020304" pitchFamily="18" charset="0"/>
              <a:cs typeface="Times New Roman" panose="02020603050405020304" pitchFamily="18" charset="0"/>
            </a:rPr>
            <a:t> </a:t>
          </a:r>
          <a:r>
            <a:rPr lang="en-US" sz="3600" b="1" kern="1200" dirty="0" err="1">
              <a:latin typeface="Times New Roman" panose="02020603050405020304" pitchFamily="18" charset="0"/>
              <a:cs typeface="Times New Roman" panose="02020603050405020304" pitchFamily="18" charset="0"/>
            </a:rPr>
            <a:t>cầu</a:t>
          </a:r>
          <a:endParaRPr lang="en-US" sz="3600" b="1" kern="1200" dirty="0">
            <a:latin typeface="Times New Roman" panose="02020603050405020304" pitchFamily="18" charset="0"/>
            <a:cs typeface="Times New Roman" panose="02020603050405020304" pitchFamily="18" charset="0"/>
          </a:endParaRPr>
        </a:p>
      </dsp:txBody>
      <dsp:txXfrm>
        <a:off x="1050231" y="1430100"/>
        <a:ext cx="10568043" cy="715336"/>
      </dsp:txXfrm>
    </dsp:sp>
    <dsp:sp modelId="{01C234E1-25E6-47D1-9477-87F5524F009D}">
      <dsp:nvSpPr>
        <dsp:cNvPr id="0" name=""/>
        <dsp:cNvSpPr/>
      </dsp:nvSpPr>
      <dsp:spPr>
        <a:xfrm>
          <a:off x="603146" y="1340683"/>
          <a:ext cx="894170" cy="894170"/>
        </a:xfrm>
        <a:prstGeom prst="ellipse">
          <a:avLst/>
        </a:prstGeom>
        <a:solidFill>
          <a:schemeClr val="lt1">
            <a:hueOff val="0"/>
            <a:satOff val="0"/>
            <a:lumOff val="0"/>
            <a:alphaOff val="0"/>
          </a:schemeClr>
        </a:solidFill>
        <a:ln w="19050" cap="flat" cmpd="sng" algn="ctr">
          <a:solidFill>
            <a:schemeClr val="accent4">
              <a:hueOff val="1649984"/>
              <a:satOff val="-7300"/>
              <a:lumOff val="-1226"/>
              <a:alphaOff val="0"/>
            </a:schemeClr>
          </a:solidFill>
          <a:prstDash val="solid"/>
          <a:miter lim="800000"/>
        </a:ln>
        <a:effectLst/>
      </dsp:spPr>
      <dsp:style>
        <a:lnRef idx="2">
          <a:scrgbClr r="0" g="0" b="0"/>
        </a:lnRef>
        <a:fillRef idx="1">
          <a:scrgbClr r="0" g="0" b="0"/>
        </a:fillRef>
        <a:effectRef idx="0">
          <a:scrgbClr r="0" g="0" b="0"/>
        </a:effectRef>
        <a:fontRef idx="minor"/>
      </dsp:style>
    </dsp:sp>
    <dsp:sp modelId="{E4602C91-5B46-49F1-BE77-F075080DCB2C}">
      <dsp:nvSpPr>
        <dsp:cNvPr id="0" name=""/>
        <dsp:cNvSpPr/>
      </dsp:nvSpPr>
      <dsp:spPr>
        <a:xfrm>
          <a:off x="1207555" y="2502762"/>
          <a:ext cx="10410720" cy="715336"/>
        </a:xfrm>
        <a:prstGeom prst="rect">
          <a:avLst/>
        </a:prstGeom>
        <a:solidFill>
          <a:schemeClr val="accent4">
            <a:hueOff val="3299968"/>
            <a:satOff val="-14601"/>
            <a:lumOff val="-245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7798" tIns="91440" rIns="91440" bIns="91440" numCol="1" spcCol="1270" anchor="ctr" anchorCtr="0">
          <a:noAutofit/>
        </a:bodyPr>
        <a:lstStyle/>
        <a:p>
          <a:pPr marL="0" lvl="0" indent="0" algn="l" defTabSz="1600200">
            <a:lnSpc>
              <a:spcPct val="90000"/>
            </a:lnSpc>
            <a:spcBef>
              <a:spcPct val="0"/>
            </a:spcBef>
            <a:spcAft>
              <a:spcPct val="35000"/>
            </a:spcAft>
            <a:buNone/>
          </a:pPr>
          <a:r>
            <a:rPr lang="en-US" sz="3600" b="1" kern="1200" dirty="0" err="1">
              <a:solidFill>
                <a:schemeClr val="bg1"/>
              </a:solidFill>
              <a:latin typeface="Times New Roman" panose="02020603050405020304" pitchFamily="18" charset="0"/>
              <a:cs typeface="Times New Roman" panose="02020603050405020304" pitchFamily="18" charset="0"/>
            </a:rPr>
            <a:t>Phân</a:t>
          </a:r>
          <a:r>
            <a:rPr lang="en-US" sz="3600" b="1" kern="1200" dirty="0">
              <a:solidFill>
                <a:schemeClr val="bg1"/>
              </a:solidFill>
              <a:latin typeface="Times New Roman" panose="02020603050405020304" pitchFamily="18" charset="0"/>
              <a:cs typeface="Times New Roman" panose="02020603050405020304" pitchFamily="18" charset="0"/>
            </a:rPr>
            <a:t> </a:t>
          </a:r>
          <a:r>
            <a:rPr lang="en-US" sz="3600" b="1" kern="1200" dirty="0" err="1">
              <a:solidFill>
                <a:schemeClr val="bg1"/>
              </a:solidFill>
              <a:latin typeface="Times New Roman" panose="02020603050405020304" pitchFamily="18" charset="0"/>
              <a:cs typeface="Times New Roman" panose="02020603050405020304" pitchFamily="18" charset="0"/>
            </a:rPr>
            <a:t>bổ</a:t>
          </a:r>
          <a:r>
            <a:rPr lang="en-US" sz="3600" b="1" kern="1200" dirty="0">
              <a:solidFill>
                <a:schemeClr val="bg1"/>
              </a:solidFill>
              <a:latin typeface="Times New Roman" panose="02020603050405020304" pitchFamily="18" charset="0"/>
              <a:cs typeface="Times New Roman" panose="02020603050405020304" pitchFamily="18" charset="0"/>
            </a:rPr>
            <a:t> </a:t>
          </a:r>
          <a:r>
            <a:rPr lang="en-US" sz="3600" b="1" kern="1200" dirty="0" err="1">
              <a:solidFill>
                <a:schemeClr val="bg1"/>
              </a:solidFill>
              <a:latin typeface="Times New Roman" panose="02020603050405020304" pitchFamily="18" charset="0"/>
              <a:cs typeface="Times New Roman" panose="02020603050405020304" pitchFamily="18" charset="0"/>
            </a:rPr>
            <a:t>và</a:t>
          </a:r>
          <a:r>
            <a:rPr lang="en-US" sz="3600" b="1" kern="1200" dirty="0">
              <a:solidFill>
                <a:schemeClr val="bg1"/>
              </a:solidFill>
              <a:latin typeface="Times New Roman" panose="02020603050405020304" pitchFamily="18" charset="0"/>
              <a:cs typeface="Times New Roman" panose="02020603050405020304" pitchFamily="18" charset="0"/>
            </a:rPr>
            <a:t> </a:t>
          </a:r>
          <a:r>
            <a:rPr lang="en-US" sz="3600" b="1" kern="1200" dirty="0" err="1">
              <a:solidFill>
                <a:schemeClr val="bg1"/>
              </a:solidFill>
              <a:latin typeface="Times New Roman" panose="02020603050405020304" pitchFamily="18" charset="0"/>
              <a:cs typeface="Times New Roman" panose="02020603050405020304" pitchFamily="18" charset="0"/>
            </a:rPr>
            <a:t>giao</a:t>
          </a:r>
          <a:r>
            <a:rPr lang="en-US" sz="3600" b="1" kern="1200" dirty="0">
              <a:solidFill>
                <a:schemeClr val="bg1"/>
              </a:solidFill>
              <a:latin typeface="Times New Roman" panose="02020603050405020304" pitchFamily="18" charset="0"/>
              <a:cs typeface="Times New Roman" panose="02020603050405020304" pitchFamily="18" charset="0"/>
            </a:rPr>
            <a:t> </a:t>
          </a:r>
          <a:r>
            <a:rPr lang="en-US" sz="3600" b="1" kern="1200" dirty="0" err="1">
              <a:solidFill>
                <a:schemeClr val="bg1"/>
              </a:solidFill>
              <a:latin typeface="Times New Roman" panose="02020603050405020304" pitchFamily="18" charset="0"/>
              <a:cs typeface="Times New Roman" panose="02020603050405020304" pitchFamily="18" charset="0"/>
            </a:rPr>
            <a:t>dự</a:t>
          </a:r>
          <a:r>
            <a:rPr lang="en-US" sz="3600" b="1" kern="1200" dirty="0">
              <a:solidFill>
                <a:schemeClr val="bg1"/>
              </a:solidFill>
              <a:latin typeface="Times New Roman" panose="02020603050405020304" pitchFamily="18" charset="0"/>
              <a:cs typeface="Times New Roman" panose="02020603050405020304" pitchFamily="18" charset="0"/>
            </a:rPr>
            <a:t> </a:t>
          </a:r>
          <a:r>
            <a:rPr lang="en-US" sz="3600" b="1" kern="1200" dirty="0" err="1">
              <a:solidFill>
                <a:schemeClr val="bg1"/>
              </a:solidFill>
              <a:latin typeface="Times New Roman" panose="02020603050405020304" pitchFamily="18" charset="0"/>
              <a:cs typeface="Times New Roman" panose="02020603050405020304" pitchFamily="18" charset="0"/>
            </a:rPr>
            <a:t>toán</a:t>
          </a:r>
          <a:r>
            <a:rPr lang="en-US" sz="3600" b="1" kern="1200" dirty="0">
              <a:solidFill>
                <a:schemeClr val="bg1"/>
              </a:solidFill>
              <a:latin typeface="Times New Roman" panose="02020603050405020304" pitchFamily="18" charset="0"/>
              <a:cs typeface="Times New Roman" panose="02020603050405020304" pitchFamily="18" charset="0"/>
            </a:rPr>
            <a:t> </a:t>
          </a:r>
          <a:endParaRPr lang="en-US" sz="3600" kern="1200" dirty="0">
            <a:solidFill>
              <a:schemeClr val="bg1"/>
            </a:solidFill>
            <a:latin typeface="Times New Roman" panose="02020603050405020304" pitchFamily="18" charset="0"/>
            <a:cs typeface="Times New Roman" panose="02020603050405020304" pitchFamily="18" charset="0"/>
          </a:endParaRPr>
        </a:p>
      </dsp:txBody>
      <dsp:txXfrm>
        <a:off x="1207555" y="2502762"/>
        <a:ext cx="10410720" cy="715336"/>
      </dsp:txXfrm>
    </dsp:sp>
    <dsp:sp modelId="{95108641-1C1A-4CC0-AAC7-2CA44F499011}">
      <dsp:nvSpPr>
        <dsp:cNvPr id="0" name=""/>
        <dsp:cNvSpPr/>
      </dsp:nvSpPr>
      <dsp:spPr>
        <a:xfrm>
          <a:off x="760469" y="2413345"/>
          <a:ext cx="894170" cy="894170"/>
        </a:xfrm>
        <a:prstGeom prst="ellipse">
          <a:avLst/>
        </a:prstGeom>
        <a:solidFill>
          <a:schemeClr val="lt1">
            <a:hueOff val="0"/>
            <a:satOff val="0"/>
            <a:lumOff val="0"/>
            <a:alphaOff val="0"/>
          </a:schemeClr>
        </a:solidFill>
        <a:ln w="19050" cap="flat" cmpd="sng" algn="ctr">
          <a:solidFill>
            <a:schemeClr val="accent4">
              <a:hueOff val="3299968"/>
              <a:satOff val="-14601"/>
              <a:lumOff val="-2452"/>
              <a:alphaOff val="0"/>
            </a:schemeClr>
          </a:solidFill>
          <a:prstDash val="solid"/>
          <a:miter lim="800000"/>
        </a:ln>
        <a:effectLst/>
      </dsp:spPr>
      <dsp:style>
        <a:lnRef idx="2">
          <a:scrgbClr r="0" g="0" b="0"/>
        </a:lnRef>
        <a:fillRef idx="1">
          <a:scrgbClr r="0" g="0" b="0"/>
        </a:fillRef>
        <a:effectRef idx="0">
          <a:scrgbClr r="0" g="0" b="0"/>
        </a:effectRef>
        <a:fontRef idx="minor"/>
      </dsp:style>
    </dsp:sp>
    <dsp:sp modelId="{DCBE11C3-CF40-411E-B85F-40FA2B957908}">
      <dsp:nvSpPr>
        <dsp:cNvPr id="0" name=""/>
        <dsp:cNvSpPr/>
      </dsp:nvSpPr>
      <dsp:spPr>
        <a:xfrm>
          <a:off x="1050231" y="3575423"/>
          <a:ext cx="10568043" cy="715336"/>
        </a:xfrm>
        <a:prstGeom prst="rect">
          <a:avLst/>
        </a:prstGeom>
        <a:solidFill>
          <a:schemeClr val="accent4">
            <a:hueOff val="4949952"/>
            <a:satOff val="-21901"/>
            <a:lumOff val="-36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7798" tIns="91440" rIns="91440" bIns="91440" numCol="1" spcCol="1270" anchor="ctr" anchorCtr="0">
          <a:noAutofit/>
        </a:bodyPr>
        <a:lstStyle/>
        <a:p>
          <a:pPr marL="0" lvl="0" indent="0" algn="l" defTabSz="1600200">
            <a:lnSpc>
              <a:spcPct val="90000"/>
            </a:lnSpc>
            <a:spcBef>
              <a:spcPct val="0"/>
            </a:spcBef>
            <a:spcAft>
              <a:spcPct val="35000"/>
            </a:spcAft>
            <a:buNone/>
          </a:pPr>
          <a:r>
            <a:rPr lang="vi-VN" sz="3600" b="1" kern="1200" dirty="0">
              <a:solidFill>
                <a:schemeClr val="bg1"/>
              </a:solidFill>
              <a:latin typeface="Times New Roman" panose="02020603050405020304" pitchFamily="18" charset="0"/>
              <a:cs typeface="Times New Roman" panose="02020603050405020304" pitchFamily="18" charset="0"/>
            </a:rPr>
            <a:t>Tổ chức chấp hành dự toán thu</a:t>
          </a:r>
          <a:endParaRPr lang="en-US" sz="3600" kern="1200" dirty="0">
            <a:solidFill>
              <a:schemeClr val="bg1"/>
            </a:solidFill>
            <a:latin typeface="Times New Roman" panose="02020603050405020304" pitchFamily="18" charset="0"/>
            <a:cs typeface="Times New Roman" panose="02020603050405020304" pitchFamily="18" charset="0"/>
          </a:endParaRPr>
        </a:p>
      </dsp:txBody>
      <dsp:txXfrm>
        <a:off x="1050231" y="3575423"/>
        <a:ext cx="10568043" cy="715336"/>
      </dsp:txXfrm>
    </dsp:sp>
    <dsp:sp modelId="{C07C97EB-BCAB-45B0-800D-263543D5EEED}">
      <dsp:nvSpPr>
        <dsp:cNvPr id="0" name=""/>
        <dsp:cNvSpPr/>
      </dsp:nvSpPr>
      <dsp:spPr>
        <a:xfrm>
          <a:off x="579128" y="3490808"/>
          <a:ext cx="894170" cy="894170"/>
        </a:xfrm>
        <a:prstGeom prst="ellipse">
          <a:avLst/>
        </a:prstGeom>
        <a:solidFill>
          <a:schemeClr val="lt1">
            <a:hueOff val="0"/>
            <a:satOff val="0"/>
            <a:lumOff val="0"/>
            <a:alphaOff val="0"/>
          </a:schemeClr>
        </a:solidFill>
        <a:ln w="19050" cap="flat" cmpd="sng" algn="ctr">
          <a:solidFill>
            <a:schemeClr val="accent4">
              <a:hueOff val="4949952"/>
              <a:satOff val="-21901"/>
              <a:lumOff val="-3677"/>
              <a:alphaOff val="0"/>
            </a:schemeClr>
          </a:solidFill>
          <a:prstDash val="solid"/>
          <a:miter lim="800000"/>
        </a:ln>
        <a:effectLst/>
      </dsp:spPr>
      <dsp:style>
        <a:lnRef idx="2">
          <a:scrgbClr r="0" g="0" b="0"/>
        </a:lnRef>
        <a:fillRef idx="1">
          <a:scrgbClr r="0" g="0" b="0"/>
        </a:fillRef>
        <a:effectRef idx="0">
          <a:scrgbClr r="0" g="0" b="0"/>
        </a:effectRef>
        <a:fontRef idx="minor"/>
      </dsp:style>
    </dsp:sp>
    <dsp:sp modelId="{5F8F4823-0FF6-45CF-AD9F-0703B1901021}">
      <dsp:nvSpPr>
        <dsp:cNvPr id="0" name=""/>
        <dsp:cNvSpPr/>
      </dsp:nvSpPr>
      <dsp:spPr>
        <a:xfrm>
          <a:off x="537642" y="4648085"/>
          <a:ext cx="11080632" cy="715336"/>
        </a:xfrm>
        <a:prstGeom prst="rect">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7798" tIns="91440" rIns="91440" bIns="91440" numCol="1" spcCol="1270" anchor="t" anchorCtr="0">
          <a:noAutofit/>
        </a:bodyPr>
        <a:lstStyle/>
        <a:p>
          <a:pPr marL="0" lvl="0" indent="0" algn="l" defTabSz="1600200">
            <a:lnSpc>
              <a:spcPct val="90000"/>
            </a:lnSpc>
            <a:spcBef>
              <a:spcPct val="0"/>
            </a:spcBef>
            <a:spcAft>
              <a:spcPct val="35000"/>
            </a:spcAft>
            <a:buNone/>
          </a:pPr>
          <a:r>
            <a:rPr lang="en-US" sz="3600" b="1" kern="1200" dirty="0" err="1">
              <a:latin typeface="Times New Roman" panose="02020603050405020304" pitchFamily="18" charset="0"/>
              <a:cs typeface="Times New Roman" panose="02020603050405020304" pitchFamily="18" charset="0"/>
            </a:rPr>
            <a:t>Tổ</a:t>
          </a:r>
          <a:r>
            <a:rPr lang="en-US" sz="3600" b="1" kern="1200" dirty="0">
              <a:latin typeface="Times New Roman" panose="02020603050405020304" pitchFamily="18" charset="0"/>
              <a:cs typeface="Times New Roman" panose="02020603050405020304" pitchFamily="18" charset="0"/>
            </a:rPr>
            <a:t> </a:t>
          </a:r>
          <a:r>
            <a:rPr lang="en-US" sz="3600" b="1" kern="1200" dirty="0" err="1">
              <a:latin typeface="Times New Roman" panose="02020603050405020304" pitchFamily="18" charset="0"/>
              <a:cs typeface="Times New Roman" panose="02020603050405020304" pitchFamily="18" charset="0"/>
            </a:rPr>
            <a:t>chức</a:t>
          </a:r>
          <a:r>
            <a:rPr lang="en-US" sz="3600" b="1" kern="1200" dirty="0">
              <a:latin typeface="Times New Roman" panose="02020603050405020304" pitchFamily="18" charset="0"/>
              <a:cs typeface="Times New Roman" panose="02020603050405020304" pitchFamily="18" charset="0"/>
            </a:rPr>
            <a:t> </a:t>
          </a:r>
          <a:r>
            <a:rPr lang="en-US" sz="3600" b="1" kern="1200" dirty="0" err="1">
              <a:latin typeface="Times New Roman" panose="02020603050405020304" pitchFamily="18" charset="0"/>
              <a:cs typeface="Times New Roman" panose="02020603050405020304" pitchFamily="18" charset="0"/>
            </a:rPr>
            <a:t>chấp</a:t>
          </a:r>
          <a:r>
            <a:rPr lang="en-US" sz="3600" b="1" kern="1200" dirty="0">
              <a:latin typeface="Times New Roman" panose="02020603050405020304" pitchFamily="18" charset="0"/>
              <a:cs typeface="Times New Roman" panose="02020603050405020304" pitchFamily="18" charset="0"/>
            </a:rPr>
            <a:t> </a:t>
          </a:r>
          <a:r>
            <a:rPr lang="en-US" sz="3600" b="1" kern="1200" dirty="0" err="1">
              <a:latin typeface="Times New Roman" panose="02020603050405020304" pitchFamily="18" charset="0"/>
              <a:cs typeface="Times New Roman" panose="02020603050405020304" pitchFamily="18" charset="0"/>
            </a:rPr>
            <a:t>hành</a:t>
          </a:r>
          <a:r>
            <a:rPr lang="en-US" sz="3600" b="1" kern="1200" dirty="0">
              <a:latin typeface="Times New Roman" panose="02020603050405020304" pitchFamily="18" charset="0"/>
              <a:cs typeface="Times New Roman" panose="02020603050405020304" pitchFamily="18" charset="0"/>
            </a:rPr>
            <a:t> </a:t>
          </a:r>
          <a:r>
            <a:rPr lang="en-US" sz="3600" b="1" kern="1200" dirty="0" err="1">
              <a:latin typeface="Times New Roman" panose="02020603050405020304" pitchFamily="18" charset="0"/>
              <a:cs typeface="Times New Roman" panose="02020603050405020304" pitchFamily="18" charset="0"/>
            </a:rPr>
            <a:t>dự</a:t>
          </a:r>
          <a:r>
            <a:rPr lang="en-US" sz="3600" b="1" kern="1200" dirty="0">
              <a:latin typeface="Times New Roman" panose="02020603050405020304" pitchFamily="18" charset="0"/>
              <a:cs typeface="Times New Roman" panose="02020603050405020304" pitchFamily="18" charset="0"/>
            </a:rPr>
            <a:t> </a:t>
          </a:r>
          <a:r>
            <a:rPr lang="en-US" sz="3600" b="1" kern="1200" dirty="0" err="1">
              <a:latin typeface="Times New Roman" panose="02020603050405020304" pitchFamily="18" charset="0"/>
              <a:cs typeface="Times New Roman" panose="02020603050405020304" pitchFamily="18" charset="0"/>
            </a:rPr>
            <a:t>toán</a:t>
          </a:r>
          <a:r>
            <a:rPr lang="en-US" sz="3600" b="1" kern="1200" dirty="0">
              <a:latin typeface="Times New Roman" panose="02020603050405020304" pitchFamily="18" charset="0"/>
              <a:cs typeface="Times New Roman" panose="02020603050405020304" pitchFamily="18" charset="0"/>
            </a:rPr>
            <a:t> chi</a:t>
          </a:r>
        </a:p>
        <a:p>
          <a:pPr marL="285750" lvl="1" indent="-285750" algn="l" defTabSz="1600200">
            <a:lnSpc>
              <a:spcPct val="90000"/>
            </a:lnSpc>
            <a:spcBef>
              <a:spcPct val="0"/>
            </a:spcBef>
            <a:spcAft>
              <a:spcPct val="15000"/>
            </a:spcAft>
            <a:buChar char="•"/>
          </a:pPr>
          <a:r>
            <a:rPr lang="en-US" sz="3600" b="1" kern="1200" dirty="0">
              <a:solidFill>
                <a:schemeClr val="bg1"/>
              </a:solidFill>
              <a:latin typeface="Times New Roman" panose="02020603050405020304" pitchFamily="18" charset="0"/>
              <a:cs typeface="Times New Roman" panose="02020603050405020304" pitchFamily="18" charset="0"/>
            </a:rPr>
            <a:t>Công </a:t>
          </a:r>
          <a:r>
            <a:rPr lang="en-US" sz="3600" b="1" kern="1200" dirty="0" err="1">
              <a:solidFill>
                <a:schemeClr val="bg1"/>
              </a:solidFill>
              <a:latin typeface="Times New Roman" panose="02020603050405020304" pitchFamily="18" charset="0"/>
              <a:cs typeface="Times New Roman" panose="02020603050405020304" pitchFamily="18" charset="0"/>
            </a:rPr>
            <a:t>khai</a:t>
          </a:r>
          <a:r>
            <a:rPr lang="en-US" sz="3600" b="1" kern="1200" dirty="0">
              <a:solidFill>
                <a:schemeClr val="bg1"/>
              </a:solidFill>
              <a:latin typeface="Times New Roman" panose="02020603050405020304" pitchFamily="18" charset="0"/>
              <a:cs typeface="Times New Roman" panose="02020603050405020304" pitchFamily="18" charset="0"/>
            </a:rPr>
            <a:t> </a:t>
          </a:r>
          <a:r>
            <a:rPr lang="en-US" sz="3600" b="1" kern="1200" dirty="0" err="1">
              <a:solidFill>
                <a:schemeClr val="bg1"/>
              </a:solidFill>
              <a:latin typeface="Times New Roman" panose="02020603050405020304" pitchFamily="18" charset="0"/>
              <a:cs typeface="Times New Roman" panose="02020603050405020304" pitchFamily="18" charset="0"/>
            </a:rPr>
            <a:t>tình</a:t>
          </a:r>
          <a:r>
            <a:rPr lang="en-US" sz="3600" b="1" kern="1200" dirty="0">
              <a:solidFill>
                <a:schemeClr val="bg1"/>
              </a:solidFill>
              <a:latin typeface="Times New Roman" panose="02020603050405020304" pitchFamily="18" charset="0"/>
              <a:cs typeface="Times New Roman" panose="02020603050405020304" pitchFamily="18" charset="0"/>
            </a:rPr>
            <a:t> </a:t>
          </a:r>
          <a:r>
            <a:rPr lang="en-US" sz="3600" b="1" kern="1200" dirty="0" err="1">
              <a:solidFill>
                <a:schemeClr val="bg1"/>
              </a:solidFill>
              <a:latin typeface="Times New Roman" panose="02020603050405020304" pitchFamily="18" charset="0"/>
              <a:cs typeface="Times New Roman" panose="02020603050405020304" pitchFamily="18" charset="0"/>
            </a:rPr>
            <a:t>hình</a:t>
          </a:r>
          <a:r>
            <a:rPr lang="en-US" sz="3600" b="1" kern="1200" dirty="0">
              <a:solidFill>
                <a:schemeClr val="bg1"/>
              </a:solidFill>
              <a:latin typeface="Times New Roman" panose="02020603050405020304" pitchFamily="18" charset="0"/>
              <a:cs typeface="Times New Roman" panose="02020603050405020304" pitchFamily="18" charset="0"/>
            </a:rPr>
            <a:t> </a:t>
          </a:r>
          <a:r>
            <a:rPr lang="en-US" sz="3600" b="1" kern="1200" dirty="0" err="1">
              <a:solidFill>
                <a:schemeClr val="bg1"/>
              </a:solidFill>
              <a:latin typeface="Times New Roman" panose="02020603050405020304" pitchFamily="18" charset="0"/>
              <a:cs typeface="Times New Roman" panose="02020603050405020304" pitchFamily="18" charset="0"/>
            </a:rPr>
            <a:t>thực</a:t>
          </a:r>
          <a:r>
            <a:rPr lang="en-US" sz="3600" b="1" kern="1200" dirty="0">
              <a:solidFill>
                <a:schemeClr val="bg1"/>
              </a:solidFill>
              <a:latin typeface="Times New Roman" panose="02020603050405020304" pitchFamily="18" charset="0"/>
              <a:cs typeface="Times New Roman" panose="02020603050405020304" pitchFamily="18" charset="0"/>
            </a:rPr>
            <a:t> </a:t>
          </a:r>
          <a:r>
            <a:rPr lang="en-US" sz="3600" b="1" kern="1200" dirty="0" err="1">
              <a:solidFill>
                <a:schemeClr val="bg1"/>
              </a:solidFill>
              <a:latin typeface="Times New Roman" panose="02020603050405020304" pitchFamily="18" charset="0"/>
              <a:cs typeface="Times New Roman" panose="02020603050405020304" pitchFamily="18" charset="0"/>
            </a:rPr>
            <a:t>hiện</a:t>
          </a:r>
          <a:r>
            <a:rPr lang="en-US" sz="3600" b="1" kern="1200" dirty="0">
              <a:solidFill>
                <a:schemeClr val="bg1"/>
              </a:solidFill>
              <a:latin typeface="Times New Roman" panose="02020603050405020304" pitchFamily="18" charset="0"/>
              <a:cs typeface="Times New Roman" panose="02020603050405020304" pitchFamily="18" charset="0"/>
            </a:rPr>
            <a:t> </a:t>
          </a:r>
          <a:r>
            <a:rPr lang="en-US" sz="3600" b="1" kern="1200" dirty="0" err="1">
              <a:solidFill>
                <a:schemeClr val="bg1"/>
              </a:solidFill>
              <a:latin typeface="Times New Roman" panose="02020603050405020304" pitchFamily="18" charset="0"/>
              <a:cs typeface="Times New Roman" panose="02020603050405020304" pitchFamily="18" charset="0"/>
            </a:rPr>
            <a:t>dự</a:t>
          </a:r>
          <a:r>
            <a:rPr lang="en-US" sz="3600" b="1" kern="1200" dirty="0">
              <a:solidFill>
                <a:schemeClr val="bg1"/>
              </a:solidFill>
              <a:latin typeface="Times New Roman" panose="02020603050405020304" pitchFamily="18" charset="0"/>
              <a:cs typeface="Times New Roman" panose="02020603050405020304" pitchFamily="18" charset="0"/>
            </a:rPr>
            <a:t> </a:t>
          </a:r>
          <a:r>
            <a:rPr lang="en-US" sz="3600" b="1" kern="1200" dirty="0" err="1">
              <a:solidFill>
                <a:schemeClr val="bg1"/>
              </a:solidFill>
              <a:latin typeface="Times New Roman" panose="02020603050405020304" pitchFamily="18" charset="0"/>
              <a:cs typeface="Times New Roman" panose="02020603050405020304" pitchFamily="18" charset="0"/>
            </a:rPr>
            <a:t>toán</a:t>
          </a:r>
          <a:r>
            <a:rPr lang="en-US" sz="3600" b="1" kern="1200" dirty="0">
              <a:solidFill>
                <a:schemeClr val="bg1"/>
              </a:solidFill>
              <a:latin typeface="Times New Roman" panose="02020603050405020304" pitchFamily="18" charset="0"/>
              <a:cs typeface="Times New Roman" panose="02020603050405020304" pitchFamily="18" charset="0"/>
            </a:rPr>
            <a:t> NS </a:t>
          </a:r>
          <a:r>
            <a:rPr lang="en-US" sz="3600" b="1" kern="1200" dirty="0" err="1">
              <a:solidFill>
                <a:schemeClr val="bg1"/>
              </a:solidFill>
              <a:latin typeface="Times New Roman" panose="02020603050405020304" pitchFamily="18" charset="0"/>
              <a:cs typeface="Times New Roman" panose="02020603050405020304" pitchFamily="18" charset="0"/>
            </a:rPr>
            <a:t>xã</a:t>
          </a:r>
          <a:endParaRPr lang="en-US" sz="3600" kern="1200" dirty="0">
            <a:solidFill>
              <a:schemeClr val="bg1"/>
            </a:solidFill>
            <a:latin typeface="Times New Roman" panose="02020603050405020304" pitchFamily="18" charset="0"/>
            <a:cs typeface="Times New Roman" panose="02020603050405020304" pitchFamily="18" charset="0"/>
          </a:endParaRPr>
        </a:p>
      </dsp:txBody>
      <dsp:txXfrm>
        <a:off x="537642" y="4648085"/>
        <a:ext cx="11080632" cy="715336"/>
      </dsp:txXfrm>
    </dsp:sp>
    <dsp:sp modelId="{EBE6C455-2CFB-413E-9493-3E0F2DE2B66A}">
      <dsp:nvSpPr>
        <dsp:cNvPr id="0" name=""/>
        <dsp:cNvSpPr/>
      </dsp:nvSpPr>
      <dsp:spPr>
        <a:xfrm>
          <a:off x="90556" y="4558668"/>
          <a:ext cx="894170" cy="894170"/>
        </a:xfrm>
        <a:prstGeom prst="ellipse">
          <a:avLst/>
        </a:prstGeom>
        <a:solidFill>
          <a:schemeClr val="lt1">
            <a:hueOff val="0"/>
            <a:satOff val="0"/>
            <a:lumOff val="0"/>
            <a:alphaOff val="0"/>
          </a:schemeClr>
        </a:solidFill>
        <a:ln w="19050" cap="flat" cmpd="sng" algn="ctr">
          <a:solidFill>
            <a:schemeClr val="accent4">
              <a:hueOff val="6599937"/>
              <a:satOff val="-29202"/>
              <a:lumOff val="-4903"/>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A265B4-435B-40B1-A683-11C6906BCAED}">
      <dsp:nvSpPr>
        <dsp:cNvPr id="0" name=""/>
        <dsp:cNvSpPr/>
      </dsp:nvSpPr>
      <dsp:spPr>
        <a:xfrm>
          <a:off x="-5313012" y="-813665"/>
          <a:ext cx="6326551" cy="6326551"/>
        </a:xfrm>
        <a:prstGeom prst="blockArc">
          <a:avLst>
            <a:gd name="adj1" fmla="val 18900000"/>
            <a:gd name="adj2" fmla="val 2700000"/>
            <a:gd name="adj3" fmla="val 341"/>
          </a:avLst>
        </a:prstGeom>
        <a:noFill/>
        <a:ln w="1905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EBE424-3005-4DC3-AA5E-DDA3E8B1CD67}">
      <dsp:nvSpPr>
        <dsp:cNvPr id="0" name=""/>
        <dsp:cNvSpPr/>
      </dsp:nvSpPr>
      <dsp:spPr>
        <a:xfrm>
          <a:off x="530641" y="361276"/>
          <a:ext cx="11259532" cy="722928"/>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3824" tIns="99060" rIns="99060" bIns="99060" numCol="1" spcCol="1270" anchor="ctr" anchorCtr="0">
          <a:noAutofit/>
        </a:bodyPr>
        <a:lstStyle/>
        <a:p>
          <a:pPr marL="0" lvl="0" indent="0" algn="l" defTabSz="1733550">
            <a:lnSpc>
              <a:spcPct val="90000"/>
            </a:lnSpc>
            <a:spcBef>
              <a:spcPct val="0"/>
            </a:spcBef>
            <a:spcAft>
              <a:spcPct val="35000"/>
            </a:spcAft>
            <a:buNone/>
          </a:pPr>
          <a:r>
            <a:rPr lang="en-US" sz="3900" b="1" kern="1200" dirty="0" err="1">
              <a:solidFill>
                <a:schemeClr val="bg1"/>
              </a:solidFill>
              <a:latin typeface="Times New Roman" panose="02020603050405020304" pitchFamily="18" charset="0"/>
              <a:cs typeface="Times New Roman" panose="02020603050405020304" pitchFamily="18" charset="0"/>
            </a:rPr>
            <a:t>Khái</a:t>
          </a:r>
          <a:r>
            <a:rPr lang="en-US" sz="3900" b="1" kern="1200" dirty="0">
              <a:solidFill>
                <a:schemeClr val="bg1"/>
              </a:solidFill>
              <a:latin typeface="Times New Roman" panose="02020603050405020304" pitchFamily="18" charset="0"/>
              <a:cs typeface="Times New Roman" panose="02020603050405020304" pitchFamily="18" charset="0"/>
            </a:rPr>
            <a:t> </a:t>
          </a:r>
          <a:r>
            <a:rPr lang="en-US" sz="3900" b="1" kern="1200" dirty="0" err="1">
              <a:solidFill>
                <a:schemeClr val="bg1"/>
              </a:solidFill>
              <a:latin typeface="Times New Roman" panose="02020603050405020304" pitchFamily="18" charset="0"/>
              <a:cs typeface="Times New Roman" panose="02020603050405020304" pitchFamily="18" charset="0"/>
            </a:rPr>
            <a:t>niệm</a:t>
          </a:r>
          <a:endParaRPr lang="en-US" sz="3900" b="1" kern="1200" dirty="0">
            <a:solidFill>
              <a:schemeClr val="bg1"/>
            </a:solidFill>
            <a:latin typeface="Times New Roman" panose="02020603050405020304" pitchFamily="18" charset="0"/>
            <a:cs typeface="Times New Roman" panose="02020603050405020304" pitchFamily="18" charset="0"/>
          </a:endParaRPr>
        </a:p>
      </dsp:txBody>
      <dsp:txXfrm>
        <a:off x="530641" y="361276"/>
        <a:ext cx="11259532" cy="722928"/>
      </dsp:txXfrm>
    </dsp:sp>
    <dsp:sp modelId="{1EB16B41-C793-4899-849E-97E82A7D139B}">
      <dsp:nvSpPr>
        <dsp:cNvPr id="0" name=""/>
        <dsp:cNvSpPr/>
      </dsp:nvSpPr>
      <dsp:spPr>
        <a:xfrm>
          <a:off x="78811" y="270910"/>
          <a:ext cx="903660" cy="903660"/>
        </a:xfrm>
        <a:prstGeom prst="ellipse">
          <a:avLst/>
        </a:prstGeom>
        <a:solidFill>
          <a:schemeClr val="lt1">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68DDD7-A85E-4304-9F9D-4B62FEC31870}">
      <dsp:nvSpPr>
        <dsp:cNvPr id="0" name=""/>
        <dsp:cNvSpPr/>
      </dsp:nvSpPr>
      <dsp:spPr>
        <a:xfrm>
          <a:off x="945113" y="1445856"/>
          <a:ext cx="10845061" cy="722928"/>
        </a:xfrm>
        <a:prstGeom prst="rect">
          <a:avLst/>
        </a:prstGeom>
        <a:solidFill>
          <a:schemeClr val="accent4">
            <a:hueOff val="2199979"/>
            <a:satOff val="-9734"/>
            <a:lumOff val="-163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3824" tIns="99060" rIns="99060" bIns="99060" numCol="1" spcCol="1270" anchor="ctr" anchorCtr="0">
          <a:noAutofit/>
        </a:bodyPr>
        <a:lstStyle/>
        <a:p>
          <a:pPr marL="0" lvl="0" indent="0" algn="l" defTabSz="1733550">
            <a:lnSpc>
              <a:spcPct val="90000"/>
            </a:lnSpc>
            <a:spcBef>
              <a:spcPct val="0"/>
            </a:spcBef>
            <a:spcAft>
              <a:spcPct val="35000"/>
            </a:spcAft>
            <a:buNone/>
          </a:pPr>
          <a:r>
            <a:rPr lang="vi-VN" sz="3900" b="1" kern="1200" dirty="0">
              <a:solidFill>
                <a:schemeClr val="bg1"/>
              </a:solidFill>
              <a:latin typeface="Times New Roman" panose="02020603050405020304" pitchFamily="18" charset="0"/>
              <a:cs typeface="Times New Roman" panose="02020603050405020304" pitchFamily="18" charset="0"/>
            </a:rPr>
            <a:t>Yêu cầu</a:t>
          </a:r>
          <a:endParaRPr lang="en-US" sz="3900" b="1" kern="1200" dirty="0">
            <a:solidFill>
              <a:schemeClr val="bg1"/>
            </a:solidFill>
            <a:latin typeface="Times New Roman" panose="02020603050405020304" pitchFamily="18" charset="0"/>
            <a:cs typeface="Times New Roman" panose="02020603050405020304" pitchFamily="18" charset="0"/>
          </a:endParaRPr>
        </a:p>
      </dsp:txBody>
      <dsp:txXfrm>
        <a:off x="945113" y="1445856"/>
        <a:ext cx="10845061" cy="722928"/>
      </dsp:txXfrm>
    </dsp:sp>
    <dsp:sp modelId="{26CC5F90-D168-431F-8A51-D755454C4C27}">
      <dsp:nvSpPr>
        <dsp:cNvPr id="0" name=""/>
        <dsp:cNvSpPr/>
      </dsp:nvSpPr>
      <dsp:spPr>
        <a:xfrm>
          <a:off x="493283" y="1355490"/>
          <a:ext cx="903660" cy="903660"/>
        </a:xfrm>
        <a:prstGeom prst="ellipse">
          <a:avLst/>
        </a:prstGeom>
        <a:solidFill>
          <a:schemeClr val="lt1">
            <a:hueOff val="0"/>
            <a:satOff val="0"/>
            <a:lumOff val="0"/>
            <a:alphaOff val="0"/>
          </a:schemeClr>
        </a:solidFill>
        <a:ln w="19050" cap="flat" cmpd="sng" algn="ctr">
          <a:solidFill>
            <a:schemeClr val="accent4">
              <a:hueOff val="2199979"/>
              <a:satOff val="-9734"/>
              <a:lumOff val="-1634"/>
              <a:alphaOff val="0"/>
            </a:schemeClr>
          </a:solidFill>
          <a:prstDash val="solid"/>
          <a:miter lim="800000"/>
        </a:ln>
        <a:effectLst/>
      </dsp:spPr>
      <dsp:style>
        <a:lnRef idx="2">
          <a:scrgbClr r="0" g="0" b="0"/>
        </a:lnRef>
        <a:fillRef idx="1">
          <a:scrgbClr r="0" g="0" b="0"/>
        </a:fillRef>
        <a:effectRef idx="0">
          <a:scrgbClr r="0" g="0" b="0"/>
        </a:effectRef>
        <a:fontRef idx="minor"/>
      </dsp:style>
    </dsp:sp>
    <dsp:sp modelId="{F6230DD9-7938-4AD6-8828-032FA64851A5}">
      <dsp:nvSpPr>
        <dsp:cNvPr id="0" name=""/>
        <dsp:cNvSpPr/>
      </dsp:nvSpPr>
      <dsp:spPr>
        <a:xfrm>
          <a:off x="945113" y="2530435"/>
          <a:ext cx="10845061" cy="722928"/>
        </a:xfrm>
        <a:prstGeom prst="rect">
          <a:avLst/>
        </a:prstGeom>
        <a:solidFill>
          <a:schemeClr val="accent4">
            <a:hueOff val="4399958"/>
            <a:satOff val="-19468"/>
            <a:lumOff val="-32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3824" tIns="99060" rIns="99060" bIns="99060" numCol="1" spcCol="1270" anchor="ctr" anchorCtr="0">
          <a:noAutofit/>
        </a:bodyPr>
        <a:lstStyle/>
        <a:p>
          <a:pPr marL="0" lvl="0" indent="0" algn="l" defTabSz="1733550">
            <a:lnSpc>
              <a:spcPct val="90000"/>
            </a:lnSpc>
            <a:spcBef>
              <a:spcPct val="0"/>
            </a:spcBef>
            <a:spcAft>
              <a:spcPct val="35000"/>
            </a:spcAft>
            <a:buNone/>
          </a:pPr>
          <a:r>
            <a:rPr lang="en-US" sz="3900" b="1" kern="1200" dirty="0">
              <a:solidFill>
                <a:schemeClr val="bg1"/>
              </a:solidFill>
              <a:latin typeface="Times New Roman" panose="02020603050405020304" pitchFamily="18" charset="0"/>
              <a:cs typeface="Times New Roman" panose="02020603050405020304" pitchFamily="18" charset="0"/>
            </a:rPr>
            <a:t>Quy </a:t>
          </a:r>
          <a:r>
            <a:rPr lang="en-US" sz="3900" b="1" kern="1200" dirty="0" err="1">
              <a:solidFill>
                <a:schemeClr val="bg1"/>
              </a:solidFill>
              <a:latin typeface="Times New Roman" panose="02020603050405020304" pitchFamily="18" charset="0"/>
              <a:cs typeface="Times New Roman" panose="02020603050405020304" pitchFamily="18" charset="0"/>
            </a:rPr>
            <a:t>trình</a:t>
          </a:r>
          <a:endParaRPr lang="en-US" sz="3900" b="1" kern="1200" dirty="0">
            <a:solidFill>
              <a:schemeClr val="bg1"/>
            </a:solidFill>
            <a:latin typeface="Times New Roman" panose="02020603050405020304" pitchFamily="18" charset="0"/>
            <a:cs typeface="Times New Roman" panose="02020603050405020304" pitchFamily="18" charset="0"/>
          </a:endParaRPr>
        </a:p>
      </dsp:txBody>
      <dsp:txXfrm>
        <a:off x="945113" y="2530435"/>
        <a:ext cx="10845061" cy="722928"/>
      </dsp:txXfrm>
    </dsp:sp>
    <dsp:sp modelId="{169A11C5-97A5-44EB-B004-FDF7BD71A394}">
      <dsp:nvSpPr>
        <dsp:cNvPr id="0" name=""/>
        <dsp:cNvSpPr/>
      </dsp:nvSpPr>
      <dsp:spPr>
        <a:xfrm>
          <a:off x="493283" y="2440069"/>
          <a:ext cx="903660" cy="903660"/>
        </a:xfrm>
        <a:prstGeom prst="ellipse">
          <a:avLst/>
        </a:prstGeom>
        <a:solidFill>
          <a:schemeClr val="lt1">
            <a:hueOff val="0"/>
            <a:satOff val="0"/>
            <a:lumOff val="0"/>
            <a:alphaOff val="0"/>
          </a:schemeClr>
        </a:solidFill>
        <a:ln w="19050" cap="flat" cmpd="sng" algn="ctr">
          <a:solidFill>
            <a:schemeClr val="accent4">
              <a:hueOff val="4399958"/>
              <a:satOff val="-19468"/>
              <a:lumOff val="-3269"/>
              <a:alphaOff val="0"/>
            </a:schemeClr>
          </a:solidFill>
          <a:prstDash val="solid"/>
          <a:miter lim="800000"/>
        </a:ln>
        <a:effectLst/>
      </dsp:spPr>
      <dsp:style>
        <a:lnRef idx="2">
          <a:scrgbClr r="0" g="0" b="0"/>
        </a:lnRef>
        <a:fillRef idx="1">
          <a:scrgbClr r="0" g="0" b="0"/>
        </a:fillRef>
        <a:effectRef idx="0">
          <a:scrgbClr r="0" g="0" b="0"/>
        </a:effectRef>
        <a:fontRef idx="minor"/>
      </dsp:style>
    </dsp:sp>
    <dsp:sp modelId="{36FFEA02-8E29-423D-AEBC-66F184D73AE1}">
      <dsp:nvSpPr>
        <dsp:cNvPr id="0" name=""/>
        <dsp:cNvSpPr/>
      </dsp:nvSpPr>
      <dsp:spPr>
        <a:xfrm>
          <a:off x="530641" y="3615015"/>
          <a:ext cx="11259532" cy="722928"/>
        </a:xfrm>
        <a:prstGeom prst="rect">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3824" tIns="99060" rIns="99060" bIns="99060" numCol="1" spcCol="1270" anchor="ctr" anchorCtr="0">
          <a:noAutofit/>
        </a:bodyPr>
        <a:lstStyle/>
        <a:p>
          <a:pPr marL="0" lvl="0" indent="0" algn="l" defTabSz="1733550">
            <a:lnSpc>
              <a:spcPct val="90000"/>
            </a:lnSpc>
            <a:spcBef>
              <a:spcPct val="0"/>
            </a:spcBef>
            <a:spcAft>
              <a:spcPct val="35000"/>
            </a:spcAft>
            <a:buNone/>
          </a:pPr>
          <a:r>
            <a:rPr lang="vi-VN" sz="3900" b="1" kern="1200" dirty="0">
              <a:solidFill>
                <a:schemeClr val="bg1"/>
              </a:solidFill>
              <a:latin typeface="Times New Roman" panose="02020603050405020304" pitchFamily="18" charset="0"/>
              <a:cs typeface="Times New Roman" panose="02020603050405020304" pitchFamily="18" charset="0"/>
            </a:rPr>
            <a:t>Công khai quyết toán NSX</a:t>
          </a:r>
          <a:endParaRPr lang="en-US" sz="3900" b="1" kern="1200" dirty="0">
            <a:solidFill>
              <a:schemeClr val="bg1"/>
            </a:solidFill>
            <a:latin typeface="Times New Roman" panose="02020603050405020304" pitchFamily="18" charset="0"/>
            <a:cs typeface="Times New Roman" panose="02020603050405020304" pitchFamily="18" charset="0"/>
          </a:endParaRPr>
        </a:p>
      </dsp:txBody>
      <dsp:txXfrm>
        <a:off x="530641" y="3615015"/>
        <a:ext cx="11259532" cy="722928"/>
      </dsp:txXfrm>
    </dsp:sp>
    <dsp:sp modelId="{204BA2A8-2460-4192-9F58-2B637CBDB6AD}">
      <dsp:nvSpPr>
        <dsp:cNvPr id="0" name=""/>
        <dsp:cNvSpPr/>
      </dsp:nvSpPr>
      <dsp:spPr>
        <a:xfrm>
          <a:off x="78811" y="3524649"/>
          <a:ext cx="903660" cy="903660"/>
        </a:xfrm>
        <a:prstGeom prst="ellipse">
          <a:avLst/>
        </a:prstGeom>
        <a:solidFill>
          <a:schemeClr val="lt1">
            <a:hueOff val="0"/>
            <a:satOff val="0"/>
            <a:lumOff val="0"/>
            <a:alphaOff val="0"/>
          </a:schemeClr>
        </a:solidFill>
        <a:ln w="19050" cap="flat" cmpd="sng" algn="ctr">
          <a:solidFill>
            <a:schemeClr val="accent4">
              <a:hueOff val="6599937"/>
              <a:satOff val="-29202"/>
              <a:lumOff val="-4903"/>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C6EB3F-5945-4582-A3DA-1C5E6A1AA2FA}">
      <dsp:nvSpPr>
        <dsp:cNvPr id="0" name=""/>
        <dsp:cNvSpPr/>
      </dsp:nvSpPr>
      <dsp:spPr>
        <a:xfrm>
          <a:off x="1363161" y="1721223"/>
          <a:ext cx="4419301" cy="172726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vi-VN" sz="2400" b="1" kern="1200" dirty="0">
              <a:solidFill>
                <a:schemeClr val="tx1"/>
              </a:solidFill>
              <a:latin typeface="Arial" panose="020B0604020202020204" pitchFamily="34" charset="0"/>
              <a:cs typeface="Arial" panose="020B0604020202020204" pitchFamily="34" charset="0"/>
            </a:rPr>
            <a:t>Trách nhiệm và quyền hạn của các cơ quan liên quan trong quản lý NSX</a:t>
          </a:r>
        </a:p>
      </dsp:txBody>
      <dsp:txXfrm>
        <a:off x="1413751" y="1771813"/>
        <a:ext cx="4318121" cy="1626085"/>
      </dsp:txXfrm>
    </dsp:sp>
    <dsp:sp modelId="{394F2A83-0389-4713-B9FB-73BD66693284}">
      <dsp:nvSpPr>
        <dsp:cNvPr id="0" name=""/>
        <dsp:cNvSpPr/>
      </dsp:nvSpPr>
      <dsp:spPr>
        <a:xfrm rot="17001379">
          <a:off x="4951376" y="1522476"/>
          <a:ext cx="2161491" cy="21731"/>
        </a:xfrm>
        <a:custGeom>
          <a:avLst/>
          <a:gdLst/>
          <a:ahLst/>
          <a:cxnLst/>
          <a:rect l="0" t="0" r="0" b="0"/>
          <a:pathLst>
            <a:path>
              <a:moveTo>
                <a:pt x="0" y="10865"/>
              </a:moveTo>
              <a:lnTo>
                <a:pt x="2161491" y="10865"/>
              </a:lnTo>
            </a:path>
          </a:pathLst>
        </a:cu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066800">
            <a:lnSpc>
              <a:spcPct val="90000"/>
            </a:lnSpc>
            <a:spcBef>
              <a:spcPct val="0"/>
            </a:spcBef>
            <a:spcAft>
              <a:spcPct val="35000"/>
            </a:spcAft>
            <a:buNone/>
          </a:pPr>
          <a:endParaRPr lang="en-US" sz="2400" kern="1200">
            <a:latin typeface="Arial" panose="020B0604020202020204" pitchFamily="34" charset="0"/>
            <a:cs typeface="Arial" panose="020B0604020202020204" pitchFamily="34" charset="0"/>
          </a:endParaRPr>
        </a:p>
      </dsp:txBody>
      <dsp:txXfrm>
        <a:off x="5978084" y="1479304"/>
        <a:ext cx="108074" cy="108074"/>
      </dsp:txXfrm>
    </dsp:sp>
    <dsp:sp modelId="{747B716A-8776-4FB6-B3B5-6D61FE4F9BD7}">
      <dsp:nvSpPr>
        <dsp:cNvPr id="0" name=""/>
        <dsp:cNvSpPr/>
      </dsp:nvSpPr>
      <dsp:spPr>
        <a:xfrm>
          <a:off x="6281781" y="2882"/>
          <a:ext cx="4054687" cy="95789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vi-VN" sz="2400" b="1" kern="1200" dirty="0">
              <a:solidFill>
                <a:schemeClr val="bg1"/>
              </a:solidFill>
              <a:latin typeface="Arial" panose="020B0604020202020204" pitchFamily="34" charset="0"/>
              <a:cs typeface="Arial" panose="020B0604020202020204" pitchFamily="34" charset="0"/>
            </a:rPr>
            <a:t> </a:t>
          </a:r>
          <a:r>
            <a:rPr lang="en-US" sz="2400" b="1" kern="1200" dirty="0">
              <a:solidFill>
                <a:schemeClr val="bg1"/>
              </a:solidFill>
              <a:latin typeface="Arial" panose="020B0604020202020204" pitchFamily="34" charset="0"/>
              <a:cs typeface="Arial" panose="020B0604020202020204" pitchFamily="34" charset="0"/>
            </a:rPr>
            <a:t>HĐND </a:t>
          </a:r>
          <a:r>
            <a:rPr lang="en-US" sz="2400" b="1" kern="1200" dirty="0" err="1">
              <a:solidFill>
                <a:schemeClr val="bg1"/>
              </a:solidFill>
              <a:latin typeface="Arial" panose="020B0604020202020204" pitchFamily="34" charset="0"/>
              <a:cs typeface="Arial" panose="020B0604020202020204" pitchFamily="34" charset="0"/>
            </a:rPr>
            <a:t>xã</a:t>
          </a:r>
          <a:endParaRPr lang="en-US" sz="2400" b="1" kern="1200" dirty="0">
            <a:solidFill>
              <a:schemeClr val="bg1"/>
            </a:solidFill>
            <a:latin typeface="Arial" panose="020B0604020202020204" pitchFamily="34" charset="0"/>
            <a:cs typeface="Arial" panose="020B0604020202020204" pitchFamily="34" charset="0"/>
          </a:endParaRPr>
        </a:p>
      </dsp:txBody>
      <dsp:txXfrm>
        <a:off x="6309837" y="30938"/>
        <a:ext cx="3998575" cy="901779"/>
      </dsp:txXfrm>
    </dsp:sp>
    <dsp:sp modelId="{F197DF38-DD19-457F-ADFD-3BAF235E7603}">
      <dsp:nvSpPr>
        <dsp:cNvPr id="0" name=""/>
        <dsp:cNvSpPr/>
      </dsp:nvSpPr>
      <dsp:spPr>
        <a:xfrm rot="17724060">
          <a:off x="5450099" y="2048233"/>
          <a:ext cx="1164044" cy="21731"/>
        </a:xfrm>
        <a:custGeom>
          <a:avLst/>
          <a:gdLst/>
          <a:ahLst/>
          <a:cxnLst/>
          <a:rect l="0" t="0" r="0" b="0"/>
          <a:pathLst>
            <a:path>
              <a:moveTo>
                <a:pt x="0" y="10865"/>
              </a:moveTo>
              <a:lnTo>
                <a:pt x="1164044" y="10865"/>
              </a:lnTo>
            </a:path>
          </a:pathLst>
        </a:cu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066800">
            <a:lnSpc>
              <a:spcPct val="90000"/>
            </a:lnSpc>
            <a:spcBef>
              <a:spcPct val="0"/>
            </a:spcBef>
            <a:spcAft>
              <a:spcPct val="35000"/>
            </a:spcAft>
            <a:buNone/>
          </a:pPr>
          <a:endParaRPr lang="en-US" sz="2400" kern="1200">
            <a:latin typeface="Arial" panose="020B0604020202020204" pitchFamily="34" charset="0"/>
            <a:cs typeface="Arial" panose="020B0604020202020204" pitchFamily="34" charset="0"/>
          </a:endParaRPr>
        </a:p>
      </dsp:txBody>
      <dsp:txXfrm>
        <a:off x="6003021" y="2029997"/>
        <a:ext cx="58202" cy="58202"/>
      </dsp:txXfrm>
    </dsp:sp>
    <dsp:sp modelId="{7984E059-DB9F-42E3-867E-74C7974EFA68}">
      <dsp:nvSpPr>
        <dsp:cNvPr id="0" name=""/>
        <dsp:cNvSpPr/>
      </dsp:nvSpPr>
      <dsp:spPr>
        <a:xfrm>
          <a:off x="6281781" y="1054396"/>
          <a:ext cx="4054687" cy="95789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bg1"/>
              </a:solidFill>
              <a:latin typeface="Arial" panose="020B0604020202020204" pitchFamily="34" charset="0"/>
              <a:cs typeface="Arial" panose="020B0604020202020204" pitchFamily="34" charset="0"/>
            </a:rPr>
            <a:t>UBND </a:t>
          </a:r>
          <a:r>
            <a:rPr lang="en-US" sz="2400" b="1" kern="1200" dirty="0" err="1">
              <a:solidFill>
                <a:schemeClr val="bg1"/>
              </a:solidFill>
              <a:latin typeface="Arial" panose="020B0604020202020204" pitchFamily="34" charset="0"/>
              <a:cs typeface="Arial" panose="020B0604020202020204" pitchFamily="34" charset="0"/>
            </a:rPr>
            <a:t>xã</a:t>
          </a:r>
          <a:endParaRPr lang="en-US" sz="2400" b="1" kern="1200" dirty="0">
            <a:solidFill>
              <a:schemeClr val="bg1"/>
            </a:solidFill>
            <a:latin typeface="Arial" panose="020B0604020202020204" pitchFamily="34" charset="0"/>
            <a:cs typeface="Arial" panose="020B0604020202020204" pitchFamily="34" charset="0"/>
          </a:endParaRPr>
        </a:p>
      </dsp:txBody>
      <dsp:txXfrm>
        <a:off x="6309837" y="1082452"/>
        <a:ext cx="3998575" cy="901779"/>
      </dsp:txXfrm>
    </dsp:sp>
    <dsp:sp modelId="{FDC52AE2-5425-4A00-83A3-ADE1299C906A}">
      <dsp:nvSpPr>
        <dsp:cNvPr id="0" name=""/>
        <dsp:cNvSpPr/>
      </dsp:nvSpPr>
      <dsp:spPr>
        <a:xfrm>
          <a:off x="5782463" y="2573990"/>
          <a:ext cx="499318" cy="21731"/>
        </a:xfrm>
        <a:custGeom>
          <a:avLst/>
          <a:gdLst/>
          <a:ahLst/>
          <a:cxnLst/>
          <a:rect l="0" t="0" r="0" b="0"/>
          <a:pathLst>
            <a:path>
              <a:moveTo>
                <a:pt x="0" y="10865"/>
              </a:moveTo>
              <a:lnTo>
                <a:pt x="499318" y="10865"/>
              </a:lnTo>
            </a:path>
          </a:pathLst>
        </a:cu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066800">
            <a:lnSpc>
              <a:spcPct val="90000"/>
            </a:lnSpc>
            <a:spcBef>
              <a:spcPct val="0"/>
            </a:spcBef>
            <a:spcAft>
              <a:spcPct val="35000"/>
            </a:spcAft>
            <a:buNone/>
          </a:pPr>
          <a:endParaRPr lang="en-US" sz="2400" kern="1200">
            <a:latin typeface="Arial" panose="020B0604020202020204" pitchFamily="34" charset="0"/>
            <a:cs typeface="Arial" panose="020B0604020202020204" pitchFamily="34" charset="0"/>
          </a:endParaRPr>
        </a:p>
      </dsp:txBody>
      <dsp:txXfrm>
        <a:off x="6019639" y="2572373"/>
        <a:ext cx="24965" cy="24965"/>
      </dsp:txXfrm>
    </dsp:sp>
    <dsp:sp modelId="{90F7F7B1-153C-44A6-9015-B4CACF79ECC4}">
      <dsp:nvSpPr>
        <dsp:cNvPr id="0" name=""/>
        <dsp:cNvSpPr/>
      </dsp:nvSpPr>
      <dsp:spPr>
        <a:xfrm>
          <a:off x="6281781" y="2105910"/>
          <a:ext cx="4054687" cy="95789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bg1"/>
              </a:solidFill>
              <a:latin typeface="Arial" panose="020B0604020202020204" pitchFamily="34" charset="0"/>
              <a:cs typeface="Arial" panose="020B0604020202020204" pitchFamily="34" charset="0"/>
            </a:rPr>
            <a:t>Chủ </a:t>
          </a:r>
          <a:r>
            <a:rPr lang="en-US" sz="2400" b="1" kern="1200" dirty="0" err="1">
              <a:solidFill>
                <a:schemeClr val="bg1"/>
              </a:solidFill>
              <a:latin typeface="Arial" panose="020B0604020202020204" pitchFamily="34" charset="0"/>
              <a:cs typeface="Arial" panose="020B0604020202020204" pitchFamily="34" charset="0"/>
            </a:rPr>
            <a:t>tịch</a:t>
          </a:r>
          <a:r>
            <a:rPr lang="en-US" sz="2400" b="1" kern="1200" dirty="0">
              <a:solidFill>
                <a:schemeClr val="bg1"/>
              </a:solidFill>
              <a:latin typeface="Arial" panose="020B0604020202020204" pitchFamily="34" charset="0"/>
              <a:cs typeface="Arial" panose="020B0604020202020204" pitchFamily="34" charset="0"/>
            </a:rPr>
            <a:t> UBND </a:t>
          </a:r>
          <a:r>
            <a:rPr lang="en-US" sz="2400" b="1" kern="1200" dirty="0" err="1">
              <a:solidFill>
                <a:schemeClr val="bg1"/>
              </a:solidFill>
              <a:latin typeface="Arial" panose="020B0604020202020204" pitchFamily="34" charset="0"/>
              <a:cs typeface="Arial" panose="020B0604020202020204" pitchFamily="34" charset="0"/>
            </a:rPr>
            <a:t>xã</a:t>
          </a:r>
          <a:endParaRPr lang="en-US" sz="2400" b="1" kern="1200" dirty="0">
            <a:solidFill>
              <a:schemeClr val="bg1"/>
            </a:solidFill>
            <a:latin typeface="Arial" panose="020B0604020202020204" pitchFamily="34" charset="0"/>
            <a:cs typeface="Arial" panose="020B0604020202020204" pitchFamily="34" charset="0"/>
          </a:endParaRPr>
        </a:p>
      </dsp:txBody>
      <dsp:txXfrm>
        <a:off x="6309837" y="2133966"/>
        <a:ext cx="3998575" cy="901779"/>
      </dsp:txXfrm>
    </dsp:sp>
    <dsp:sp modelId="{ED56D3C3-953E-4E7E-9B9A-FF3FEFD7C0B3}">
      <dsp:nvSpPr>
        <dsp:cNvPr id="0" name=""/>
        <dsp:cNvSpPr/>
      </dsp:nvSpPr>
      <dsp:spPr>
        <a:xfrm rot="3875940">
          <a:off x="5450099" y="3099747"/>
          <a:ext cx="1164044" cy="21731"/>
        </a:xfrm>
        <a:custGeom>
          <a:avLst/>
          <a:gdLst/>
          <a:ahLst/>
          <a:cxnLst/>
          <a:rect l="0" t="0" r="0" b="0"/>
          <a:pathLst>
            <a:path>
              <a:moveTo>
                <a:pt x="0" y="10865"/>
              </a:moveTo>
              <a:lnTo>
                <a:pt x="1164044" y="10865"/>
              </a:lnTo>
            </a:path>
          </a:pathLst>
        </a:cu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066800">
            <a:lnSpc>
              <a:spcPct val="90000"/>
            </a:lnSpc>
            <a:spcBef>
              <a:spcPct val="0"/>
            </a:spcBef>
            <a:spcAft>
              <a:spcPct val="35000"/>
            </a:spcAft>
            <a:buNone/>
          </a:pPr>
          <a:endParaRPr lang="en-US" sz="2400" kern="1200">
            <a:latin typeface="Arial" panose="020B0604020202020204" pitchFamily="34" charset="0"/>
            <a:cs typeface="Arial" panose="020B0604020202020204" pitchFamily="34" charset="0"/>
          </a:endParaRPr>
        </a:p>
      </dsp:txBody>
      <dsp:txXfrm>
        <a:off x="6003021" y="3081511"/>
        <a:ext cx="58202" cy="58202"/>
      </dsp:txXfrm>
    </dsp:sp>
    <dsp:sp modelId="{9DE30DC8-B340-4C39-A758-C513018AC00F}">
      <dsp:nvSpPr>
        <dsp:cNvPr id="0" name=""/>
        <dsp:cNvSpPr/>
      </dsp:nvSpPr>
      <dsp:spPr>
        <a:xfrm>
          <a:off x="6281781" y="3157424"/>
          <a:ext cx="4054687" cy="95789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bg1"/>
              </a:solidFill>
              <a:latin typeface="Arial" panose="020B0604020202020204" pitchFamily="34" charset="0"/>
              <a:cs typeface="Arial" panose="020B0604020202020204" pitchFamily="34" charset="0"/>
            </a:rPr>
            <a:t>Các </a:t>
          </a:r>
          <a:r>
            <a:rPr lang="en-US" sz="2400" b="1" kern="1200" dirty="0" err="1">
              <a:solidFill>
                <a:schemeClr val="bg1"/>
              </a:solidFill>
              <a:latin typeface="Arial" panose="020B0604020202020204" pitchFamily="34" charset="0"/>
              <a:cs typeface="Arial" panose="020B0604020202020204" pitchFamily="34" charset="0"/>
            </a:rPr>
            <a:t>đơn</a:t>
          </a:r>
          <a:r>
            <a:rPr lang="en-US" sz="2400" b="1" kern="1200" dirty="0">
              <a:solidFill>
                <a:schemeClr val="bg1"/>
              </a:solidFill>
              <a:latin typeface="Arial" panose="020B0604020202020204" pitchFamily="34" charset="0"/>
              <a:cs typeface="Arial" panose="020B0604020202020204" pitchFamily="34" charset="0"/>
            </a:rPr>
            <a:t> </a:t>
          </a:r>
          <a:r>
            <a:rPr lang="en-US" sz="2400" b="1" kern="1200" dirty="0" err="1">
              <a:solidFill>
                <a:schemeClr val="bg1"/>
              </a:solidFill>
              <a:latin typeface="Arial" panose="020B0604020202020204" pitchFamily="34" charset="0"/>
              <a:cs typeface="Arial" panose="020B0604020202020204" pitchFamily="34" charset="0"/>
            </a:rPr>
            <a:t>vị</a:t>
          </a:r>
          <a:r>
            <a:rPr lang="en-US" sz="2400" b="1" kern="1200" dirty="0">
              <a:solidFill>
                <a:schemeClr val="bg1"/>
              </a:solidFill>
              <a:latin typeface="Arial" panose="020B0604020202020204" pitchFamily="34" charset="0"/>
              <a:cs typeface="Arial" panose="020B0604020202020204" pitchFamily="34" charset="0"/>
            </a:rPr>
            <a:t> </a:t>
          </a:r>
          <a:r>
            <a:rPr lang="en-US" sz="2400" b="1" kern="1200" dirty="0" err="1">
              <a:solidFill>
                <a:schemeClr val="bg1"/>
              </a:solidFill>
              <a:latin typeface="Arial" panose="020B0604020202020204" pitchFamily="34" charset="0"/>
              <a:cs typeface="Arial" panose="020B0604020202020204" pitchFamily="34" charset="0"/>
            </a:rPr>
            <a:t>dự</a:t>
          </a:r>
          <a:r>
            <a:rPr lang="en-US" sz="2400" b="1" kern="1200" dirty="0">
              <a:solidFill>
                <a:schemeClr val="bg1"/>
              </a:solidFill>
              <a:latin typeface="Arial" panose="020B0604020202020204" pitchFamily="34" charset="0"/>
              <a:cs typeface="Arial" panose="020B0604020202020204" pitchFamily="34" charset="0"/>
            </a:rPr>
            <a:t> </a:t>
          </a:r>
          <a:r>
            <a:rPr lang="en-US" sz="2400" b="1" kern="1200" dirty="0" err="1">
              <a:solidFill>
                <a:schemeClr val="bg1"/>
              </a:solidFill>
              <a:latin typeface="Arial" panose="020B0604020202020204" pitchFamily="34" charset="0"/>
              <a:cs typeface="Arial" panose="020B0604020202020204" pitchFamily="34" charset="0"/>
            </a:rPr>
            <a:t>toán</a:t>
          </a:r>
          <a:endParaRPr lang="en-US" sz="2400" b="1" kern="1200" dirty="0">
            <a:solidFill>
              <a:schemeClr val="bg1"/>
            </a:solidFill>
            <a:latin typeface="Arial" panose="020B0604020202020204" pitchFamily="34" charset="0"/>
            <a:cs typeface="Arial" panose="020B0604020202020204" pitchFamily="34" charset="0"/>
          </a:endParaRPr>
        </a:p>
      </dsp:txBody>
      <dsp:txXfrm>
        <a:off x="6309837" y="3185480"/>
        <a:ext cx="3998575" cy="901779"/>
      </dsp:txXfrm>
    </dsp:sp>
    <dsp:sp modelId="{4A8FFDAC-5E79-4218-84AF-F901718831E8}">
      <dsp:nvSpPr>
        <dsp:cNvPr id="0" name=""/>
        <dsp:cNvSpPr/>
      </dsp:nvSpPr>
      <dsp:spPr>
        <a:xfrm rot="4598621">
          <a:off x="4951376" y="3625504"/>
          <a:ext cx="2161491" cy="21731"/>
        </a:xfrm>
        <a:custGeom>
          <a:avLst/>
          <a:gdLst/>
          <a:ahLst/>
          <a:cxnLst/>
          <a:rect l="0" t="0" r="0" b="0"/>
          <a:pathLst>
            <a:path>
              <a:moveTo>
                <a:pt x="0" y="10865"/>
              </a:moveTo>
              <a:lnTo>
                <a:pt x="2161491" y="10865"/>
              </a:lnTo>
            </a:path>
          </a:pathLst>
        </a:cu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066800">
            <a:lnSpc>
              <a:spcPct val="90000"/>
            </a:lnSpc>
            <a:spcBef>
              <a:spcPct val="0"/>
            </a:spcBef>
            <a:spcAft>
              <a:spcPct val="35000"/>
            </a:spcAft>
            <a:buNone/>
          </a:pPr>
          <a:endParaRPr lang="en-US" sz="2400" kern="1200">
            <a:latin typeface="Arial" panose="020B0604020202020204" pitchFamily="34" charset="0"/>
            <a:cs typeface="Arial" panose="020B0604020202020204" pitchFamily="34" charset="0"/>
          </a:endParaRPr>
        </a:p>
      </dsp:txBody>
      <dsp:txXfrm>
        <a:off x="5978084" y="3582332"/>
        <a:ext cx="108074" cy="108074"/>
      </dsp:txXfrm>
    </dsp:sp>
    <dsp:sp modelId="{62DAB0CC-C09C-4213-A3DB-ED710C360E52}">
      <dsp:nvSpPr>
        <dsp:cNvPr id="0" name=""/>
        <dsp:cNvSpPr/>
      </dsp:nvSpPr>
      <dsp:spPr>
        <a:xfrm>
          <a:off x="6281781" y="4208937"/>
          <a:ext cx="4054687" cy="957891"/>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err="1">
              <a:solidFill>
                <a:schemeClr val="bg1"/>
              </a:solidFill>
              <a:latin typeface="Arial" panose="020B0604020202020204" pitchFamily="34" charset="0"/>
              <a:cs typeface="Arial" panose="020B0604020202020204" pitchFamily="34" charset="0"/>
            </a:rPr>
            <a:t>Cơ</a:t>
          </a:r>
          <a:r>
            <a:rPr lang="en-US" sz="2400" b="1" kern="1200" dirty="0">
              <a:solidFill>
                <a:schemeClr val="bg1"/>
              </a:solidFill>
              <a:latin typeface="Arial" panose="020B0604020202020204" pitchFamily="34" charset="0"/>
              <a:cs typeface="Arial" panose="020B0604020202020204" pitchFamily="34" charset="0"/>
            </a:rPr>
            <a:t> </a:t>
          </a:r>
          <a:r>
            <a:rPr lang="en-US" sz="2400" b="1" kern="1200" dirty="0" err="1">
              <a:solidFill>
                <a:schemeClr val="bg1"/>
              </a:solidFill>
              <a:latin typeface="Arial" panose="020B0604020202020204" pitchFamily="34" charset="0"/>
              <a:cs typeface="Arial" panose="020B0604020202020204" pitchFamily="34" charset="0"/>
            </a:rPr>
            <a:t>quan</a:t>
          </a:r>
          <a:r>
            <a:rPr lang="en-US" sz="2400" b="1" kern="1200" dirty="0">
              <a:solidFill>
                <a:schemeClr val="bg1"/>
              </a:solidFill>
              <a:latin typeface="Arial" panose="020B0604020202020204" pitchFamily="34" charset="0"/>
              <a:cs typeface="Arial" panose="020B0604020202020204" pitchFamily="34" charset="0"/>
            </a:rPr>
            <a:t> </a:t>
          </a:r>
          <a:r>
            <a:rPr lang="en-US" sz="2400" b="1" kern="1200" dirty="0" err="1">
              <a:solidFill>
                <a:schemeClr val="bg1"/>
              </a:solidFill>
              <a:latin typeface="Arial" panose="020B0604020202020204" pitchFamily="34" charset="0"/>
              <a:cs typeface="Arial" panose="020B0604020202020204" pitchFamily="34" charset="0"/>
            </a:rPr>
            <a:t>chuyên</a:t>
          </a:r>
          <a:r>
            <a:rPr lang="en-US" sz="2400" b="1" kern="1200" dirty="0">
              <a:solidFill>
                <a:schemeClr val="bg1"/>
              </a:solidFill>
              <a:latin typeface="Arial" panose="020B0604020202020204" pitchFamily="34" charset="0"/>
              <a:cs typeface="Arial" panose="020B0604020202020204" pitchFamily="34" charset="0"/>
            </a:rPr>
            <a:t> </a:t>
          </a:r>
          <a:r>
            <a:rPr lang="en-US" sz="2400" b="1" kern="1200" dirty="0" err="1">
              <a:solidFill>
                <a:schemeClr val="bg1"/>
              </a:solidFill>
              <a:latin typeface="Arial" panose="020B0604020202020204" pitchFamily="34" charset="0"/>
              <a:cs typeface="Arial" panose="020B0604020202020204" pitchFamily="34" charset="0"/>
            </a:rPr>
            <a:t>môn</a:t>
          </a:r>
          <a:r>
            <a:rPr lang="en-US" sz="2400" b="1" kern="1200" dirty="0">
              <a:solidFill>
                <a:schemeClr val="bg1"/>
              </a:solidFill>
              <a:latin typeface="Arial" panose="020B0604020202020204" pitchFamily="34" charset="0"/>
              <a:cs typeface="Arial" panose="020B0604020202020204" pitchFamily="34" charset="0"/>
            </a:rPr>
            <a:t> </a:t>
          </a:r>
          <a:r>
            <a:rPr lang="en-US" sz="2400" b="1" kern="1200" dirty="0" err="1">
              <a:solidFill>
                <a:schemeClr val="bg1"/>
              </a:solidFill>
              <a:latin typeface="Arial" panose="020B0604020202020204" pitchFamily="34" charset="0"/>
              <a:cs typeface="Arial" panose="020B0604020202020204" pitchFamily="34" charset="0"/>
            </a:rPr>
            <a:t>về</a:t>
          </a:r>
          <a:r>
            <a:rPr lang="en-US" sz="2400" b="1" kern="1200" dirty="0">
              <a:solidFill>
                <a:schemeClr val="bg1"/>
              </a:solidFill>
              <a:latin typeface="Arial" panose="020B0604020202020204" pitchFamily="34" charset="0"/>
              <a:cs typeface="Arial" panose="020B0604020202020204" pitchFamily="34" charset="0"/>
            </a:rPr>
            <a:t> </a:t>
          </a:r>
          <a:r>
            <a:rPr lang="en-US" sz="2400" b="1" kern="1200" dirty="0" err="1">
              <a:solidFill>
                <a:schemeClr val="bg1"/>
              </a:solidFill>
              <a:latin typeface="Arial" panose="020B0604020202020204" pitchFamily="34" charset="0"/>
              <a:cs typeface="Arial" panose="020B0604020202020204" pitchFamily="34" charset="0"/>
            </a:rPr>
            <a:t>tài</a:t>
          </a:r>
          <a:r>
            <a:rPr lang="en-US" sz="2400" b="1" kern="1200" dirty="0">
              <a:solidFill>
                <a:schemeClr val="bg1"/>
              </a:solidFill>
              <a:latin typeface="Arial" panose="020B0604020202020204" pitchFamily="34" charset="0"/>
              <a:cs typeface="Arial" panose="020B0604020202020204" pitchFamily="34" charset="0"/>
            </a:rPr>
            <a:t> </a:t>
          </a:r>
          <a:r>
            <a:rPr lang="en-US" sz="2400" b="1" kern="1200" dirty="0" err="1">
              <a:solidFill>
                <a:schemeClr val="bg1"/>
              </a:solidFill>
              <a:latin typeface="Arial" panose="020B0604020202020204" pitchFamily="34" charset="0"/>
              <a:cs typeface="Arial" panose="020B0604020202020204" pitchFamily="34" charset="0"/>
            </a:rPr>
            <a:t>chính</a:t>
          </a:r>
          <a:r>
            <a:rPr lang="en-US" sz="2400" b="1" kern="1200" dirty="0">
              <a:solidFill>
                <a:schemeClr val="bg1"/>
              </a:solidFill>
              <a:latin typeface="Arial" panose="020B0604020202020204" pitchFamily="34" charset="0"/>
              <a:cs typeface="Arial" panose="020B0604020202020204" pitchFamily="34" charset="0"/>
            </a:rPr>
            <a:t> ở </a:t>
          </a:r>
          <a:r>
            <a:rPr lang="en-US" sz="2400" b="1" kern="1200" dirty="0" err="1">
              <a:solidFill>
                <a:schemeClr val="bg1"/>
              </a:solidFill>
              <a:latin typeface="Arial" panose="020B0604020202020204" pitchFamily="34" charset="0"/>
              <a:cs typeface="Arial" panose="020B0604020202020204" pitchFamily="34" charset="0"/>
            </a:rPr>
            <a:t>cấp</a:t>
          </a:r>
          <a:r>
            <a:rPr lang="en-US" sz="2400" b="1" kern="1200" dirty="0">
              <a:solidFill>
                <a:schemeClr val="bg1"/>
              </a:solidFill>
              <a:latin typeface="Arial" panose="020B0604020202020204" pitchFamily="34" charset="0"/>
              <a:cs typeface="Arial" panose="020B0604020202020204" pitchFamily="34" charset="0"/>
            </a:rPr>
            <a:t> </a:t>
          </a:r>
          <a:r>
            <a:rPr lang="en-US" sz="2400" b="1" kern="1200" dirty="0" err="1">
              <a:solidFill>
                <a:schemeClr val="bg1"/>
              </a:solidFill>
              <a:latin typeface="Arial" panose="020B0604020202020204" pitchFamily="34" charset="0"/>
              <a:cs typeface="Arial" panose="020B0604020202020204" pitchFamily="34" charset="0"/>
            </a:rPr>
            <a:t>xã</a:t>
          </a:r>
          <a:endParaRPr lang="en-US" sz="2400" b="1" kern="1200" dirty="0">
            <a:solidFill>
              <a:schemeClr val="bg1"/>
            </a:solidFill>
            <a:latin typeface="Arial" panose="020B0604020202020204" pitchFamily="34" charset="0"/>
            <a:cs typeface="Arial" panose="020B0604020202020204" pitchFamily="34" charset="0"/>
          </a:endParaRPr>
        </a:p>
      </dsp:txBody>
      <dsp:txXfrm>
        <a:off x="6309837" y="4236993"/>
        <a:ext cx="3998575" cy="901779"/>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D751A4-7C76-407E-B6D3-EF0F49618DCB}" type="datetimeFigureOut">
              <a:rPr lang="en-US" smtClean="0"/>
              <a:t>6/5/2026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D107A9-A0C7-4078-AEEF-185A00981267}" type="slidenum">
              <a:rPr lang="en-US" smtClean="0"/>
              <a:t>‹#›</a:t>
            </a:fld>
            <a:endParaRPr lang="en-US"/>
          </a:p>
        </p:txBody>
      </p:sp>
    </p:spTree>
    <p:extLst>
      <p:ext uri="{BB962C8B-B14F-4D97-AF65-F5344CB8AC3E}">
        <p14:creationId xmlns:p14="http://schemas.microsoft.com/office/powerpoint/2010/main" val="163453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5C9E1-BBA4-F764-525B-8828F08BF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E9639B-730E-031F-215B-9D9813A98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040DD7-0FBA-A33F-1003-73D2F46244A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D1959F8-E195-C2E8-43A9-230B3D068D9D}"/>
              </a:ext>
            </a:extLst>
          </p:cNvPr>
          <p:cNvSpPr>
            <a:spLocks noGrp="1"/>
          </p:cNvSpPr>
          <p:nvPr>
            <p:ph type="sldNum" sz="quarter" idx="5"/>
          </p:nvPr>
        </p:nvSpPr>
        <p:spPr/>
        <p:txBody>
          <a:bodyPr/>
          <a:lstStyle/>
          <a:p>
            <a:fld id="{1DD107A9-A0C7-4078-AEEF-185A00981267}" type="slidenum">
              <a:rPr lang="en-US" smtClean="0"/>
              <a:t>1</a:t>
            </a:fld>
            <a:endParaRPr lang="en-US"/>
          </a:p>
        </p:txBody>
      </p:sp>
    </p:spTree>
    <p:extLst>
      <p:ext uri="{BB962C8B-B14F-4D97-AF65-F5344CB8AC3E}">
        <p14:creationId xmlns:p14="http://schemas.microsoft.com/office/powerpoint/2010/main" val="900519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84068-2137-0B3D-5228-15B44A698A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C73D1D-D701-4DC7-039A-F1E2956CF3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3EA46A-3BDA-C1C8-7D73-4AD60BF371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06D8F97F-8CF1-2372-7158-A93E7238133A}"/>
              </a:ext>
            </a:extLst>
          </p:cNvPr>
          <p:cNvSpPr>
            <a:spLocks noGrp="1"/>
          </p:cNvSpPr>
          <p:nvPr>
            <p:ph type="sldNum" sz="quarter" idx="5"/>
          </p:nvPr>
        </p:nvSpPr>
        <p:spPr/>
        <p:txBody>
          <a:bodyPr/>
          <a:lstStyle/>
          <a:p>
            <a:fld id="{1DD107A9-A0C7-4078-AEEF-185A00981267}" type="slidenum">
              <a:rPr lang="en-US" smtClean="0"/>
              <a:t>2</a:t>
            </a:fld>
            <a:endParaRPr lang="en-US"/>
          </a:p>
        </p:txBody>
      </p:sp>
    </p:spTree>
    <p:extLst>
      <p:ext uri="{BB962C8B-B14F-4D97-AF65-F5344CB8AC3E}">
        <p14:creationId xmlns:p14="http://schemas.microsoft.com/office/powerpoint/2010/main" val="1549103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22D4E-9E0B-2BCD-A218-58CE3C4A87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2D5FBB-958F-237B-0D0A-382F9880A1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7EF279-CC64-0F97-C552-3ACF4807E39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44B4DDD-ED69-C1EE-38AA-71BF9BF620A4}"/>
              </a:ext>
            </a:extLst>
          </p:cNvPr>
          <p:cNvSpPr>
            <a:spLocks noGrp="1"/>
          </p:cNvSpPr>
          <p:nvPr>
            <p:ph type="sldNum" sz="quarter" idx="5"/>
          </p:nvPr>
        </p:nvSpPr>
        <p:spPr/>
        <p:txBody>
          <a:bodyPr/>
          <a:lstStyle/>
          <a:p>
            <a:fld id="{1DD107A9-A0C7-4078-AEEF-185A00981267}" type="slidenum">
              <a:rPr lang="en-US" smtClean="0"/>
              <a:t>3</a:t>
            </a:fld>
            <a:endParaRPr lang="en-US"/>
          </a:p>
        </p:txBody>
      </p:sp>
    </p:spTree>
    <p:extLst>
      <p:ext uri="{BB962C8B-B14F-4D97-AF65-F5344CB8AC3E}">
        <p14:creationId xmlns:p14="http://schemas.microsoft.com/office/powerpoint/2010/main" val="30668451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A7F46-3DFA-81A4-7AA2-9264FADEA8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E141D8-2D1D-BAFD-1256-F6A9CF277D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503756-3D7E-8D1B-42A5-EE811853185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EA7E9EF-C71C-EBA4-77AE-FAD6D0BB4B94}"/>
              </a:ext>
            </a:extLst>
          </p:cNvPr>
          <p:cNvSpPr>
            <a:spLocks noGrp="1"/>
          </p:cNvSpPr>
          <p:nvPr>
            <p:ph type="sldNum" sz="quarter" idx="5"/>
          </p:nvPr>
        </p:nvSpPr>
        <p:spPr/>
        <p:txBody>
          <a:bodyPr/>
          <a:lstStyle/>
          <a:p>
            <a:fld id="{1DD107A9-A0C7-4078-AEEF-185A00981267}" type="slidenum">
              <a:rPr lang="en-US" smtClean="0"/>
              <a:t>4</a:t>
            </a:fld>
            <a:endParaRPr lang="en-US"/>
          </a:p>
        </p:txBody>
      </p:sp>
    </p:spTree>
    <p:extLst>
      <p:ext uri="{BB962C8B-B14F-4D97-AF65-F5344CB8AC3E}">
        <p14:creationId xmlns:p14="http://schemas.microsoft.com/office/powerpoint/2010/main" val="2654083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7CB82-B4E3-16D4-90C4-0D3396BCC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E1E33F-10C3-A79A-5E05-FB3ABA0DF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94C49F-1521-D2C2-712C-860B59736CA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7DF80D1-E88B-308F-52F9-C5DE8EA4A669}"/>
              </a:ext>
            </a:extLst>
          </p:cNvPr>
          <p:cNvSpPr>
            <a:spLocks noGrp="1"/>
          </p:cNvSpPr>
          <p:nvPr>
            <p:ph type="sldNum" sz="quarter" idx="5"/>
          </p:nvPr>
        </p:nvSpPr>
        <p:spPr/>
        <p:txBody>
          <a:bodyPr/>
          <a:lstStyle/>
          <a:p>
            <a:fld id="{1DD107A9-A0C7-4078-AEEF-185A00981267}" type="slidenum">
              <a:rPr lang="en-US" smtClean="0"/>
              <a:t>5</a:t>
            </a:fld>
            <a:endParaRPr lang="en-US"/>
          </a:p>
        </p:txBody>
      </p:sp>
    </p:spTree>
    <p:extLst>
      <p:ext uri="{BB962C8B-B14F-4D97-AF65-F5344CB8AC3E}">
        <p14:creationId xmlns:p14="http://schemas.microsoft.com/office/powerpoint/2010/main" val="2887168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FD574-900C-AFA1-136F-14F7FDA71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72F885-4024-9DA0-CF9D-8B56778598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1DC50D-053C-052F-3741-FC5EAC09777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B049151-84BC-138F-E94B-68C83277DF11}"/>
              </a:ext>
            </a:extLst>
          </p:cNvPr>
          <p:cNvSpPr>
            <a:spLocks noGrp="1"/>
          </p:cNvSpPr>
          <p:nvPr>
            <p:ph type="sldNum" sz="quarter" idx="5"/>
          </p:nvPr>
        </p:nvSpPr>
        <p:spPr/>
        <p:txBody>
          <a:bodyPr/>
          <a:lstStyle/>
          <a:p>
            <a:fld id="{1DD107A9-A0C7-4078-AEEF-185A00981267}" type="slidenum">
              <a:rPr lang="en-US" smtClean="0"/>
              <a:t>6</a:t>
            </a:fld>
            <a:endParaRPr lang="en-US"/>
          </a:p>
        </p:txBody>
      </p:sp>
    </p:spTree>
    <p:extLst>
      <p:ext uri="{BB962C8B-B14F-4D97-AF65-F5344CB8AC3E}">
        <p14:creationId xmlns:p14="http://schemas.microsoft.com/office/powerpoint/2010/main" val="2784946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FAC7F-B959-8D16-3A45-782725344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946764-CB59-4F27-2BB4-674A27AB51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B8A753-B031-86AF-3073-ABAFCFA8DFE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374FCB9-3DA3-1D24-1ECC-4B9CF82402CD}"/>
              </a:ext>
            </a:extLst>
          </p:cNvPr>
          <p:cNvSpPr>
            <a:spLocks noGrp="1"/>
          </p:cNvSpPr>
          <p:nvPr>
            <p:ph type="sldNum" sz="quarter" idx="5"/>
          </p:nvPr>
        </p:nvSpPr>
        <p:spPr/>
        <p:txBody>
          <a:bodyPr/>
          <a:lstStyle/>
          <a:p>
            <a:fld id="{1DD107A9-A0C7-4078-AEEF-185A00981267}" type="slidenum">
              <a:rPr lang="en-US" smtClean="0"/>
              <a:t>7</a:t>
            </a:fld>
            <a:endParaRPr lang="en-US"/>
          </a:p>
        </p:txBody>
      </p:sp>
    </p:spTree>
    <p:extLst>
      <p:ext uri="{BB962C8B-B14F-4D97-AF65-F5344CB8AC3E}">
        <p14:creationId xmlns:p14="http://schemas.microsoft.com/office/powerpoint/2010/main" val="3738257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0E4E6-1F7E-3B4A-DC4F-B30734C260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95A9A-5AB2-33FB-9391-5F42AB625C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67B28F-7ED4-6F96-76BA-4F108AAB46D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0321365-BACF-7289-879D-7C87A5FBEC60}"/>
              </a:ext>
            </a:extLst>
          </p:cNvPr>
          <p:cNvSpPr>
            <a:spLocks noGrp="1"/>
          </p:cNvSpPr>
          <p:nvPr>
            <p:ph type="sldNum" sz="quarter" idx="5"/>
          </p:nvPr>
        </p:nvSpPr>
        <p:spPr/>
        <p:txBody>
          <a:bodyPr/>
          <a:lstStyle/>
          <a:p>
            <a:fld id="{1DD107A9-A0C7-4078-AEEF-185A00981267}" type="slidenum">
              <a:rPr lang="en-US" smtClean="0"/>
              <a:t>8</a:t>
            </a:fld>
            <a:endParaRPr lang="en-US"/>
          </a:p>
        </p:txBody>
      </p:sp>
    </p:spTree>
    <p:extLst>
      <p:ext uri="{BB962C8B-B14F-4D97-AF65-F5344CB8AC3E}">
        <p14:creationId xmlns:p14="http://schemas.microsoft.com/office/powerpoint/2010/main" val="7130900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C6AE5-7701-E16C-04D7-FADFDCFE33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49890C-2B08-4035-35AF-6EC4096CA6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A31FB2-4F45-17C7-9DFB-DED45428DBC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2338945-0A1F-9A1D-BDE2-056449EABCAE}"/>
              </a:ext>
            </a:extLst>
          </p:cNvPr>
          <p:cNvSpPr>
            <a:spLocks noGrp="1"/>
          </p:cNvSpPr>
          <p:nvPr>
            <p:ph type="sldNum" sz="quarter" idx="5"/>
          </p:nvPr>
        </p:nvSpPr>
        <p:spPr/>
        <p:txBody>
          <a:bodyPr/>
          <a:lstStyle/>
          <a:p>
            <a:fld id="{1DD107A9-A0C7-4078-AEEF-185A00981267}" type="slidenum">
              <a:rPr lang="en-US" smtClean="0"/>
              <a:t>9</a:t>
            </a:fld>
            <a:endParaRPr lang="en-US"/>
          </a:p>
        </p:txBody>
      </p:sp>
    </p:spTree>
    <p:extLst>
      <p:ext uri="{BB962C8B-B14F-4D97-AF65-F5344CB8AC3E}">
        <p14:creationId xmlns:p14="http://schemas.microsoft.com/office/powerpoint/2010/main" val="3914672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7A72A-62D3-4360-F1E2-84CBC0095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95A97B-6501-DD19-412D-D8AB9AA54F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FA47A1-5018-AD80-4EA3-84203FDFC9F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582D6D0-8C19-2436-39D0-01B1A9F3875C}"/>
              </a:ext>
            </a:extLst>
          </p:cNvPr>
          <p:cNvSpPr>
            <a:spLocks noGrp="1"/>
          </p:cNvSpPr>
          <p:nvPr>
            <p:ph type="sldNum" sz="quarter" idx="5"/>
          </p:nvPr>
        </p:nvSpPr>
        <p:spPr/>
        <p:txBody>
          <a:bodyPr/>
          <a:lstStyle/>
          <a:p>
            <a:fld id="{1DD107A9-A0C7-4078-AEEF-185A00981267}" type="slidenum">
              <a:rPr lang="en-US" smtClean="0"/>
              <a:t>10</a:t>
            </a:fld>
            <a:endParaRPr lang="en-US"/>
          </a:p>
        </p:txBody>
      </p:sp>
    </p:spTree>
    <p:extLst>
      <p:ext uri="{BB962C8B-B14F-4D97-AF65-F5344CB8AC3E}">
        <p14:creationId xmlns:p14="http://schemas.microsoft.com/office/powerpoint/2010/main" val="3787888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2F837-735C-1F7D-2218-75C7534F43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3356E0-0BC1-D0C3-525C-CEA81FB47E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B8C0-570D-6CA1-8C67-DBEE4EBF814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0D3A0F2-7881-E7CD-F765-54996B42544A}"/>
              </a:ext>
            </a:extLst>
          </p:cNvPr>
          <p:cNvSpPr>
            <a:spLocks noGrp="1"/>
          </p:cNvSpPr>
          <p:nvPr>
            <p:ph type="sldNum" sz="quarter" idx="5"/>
          </p:nvPr>
        </p:nvSpPr>
        <p:spPr/>
        <p:txBody>
          <a:bodyPr/>
          <a:lstStyle/>
          <a:p>
            <a:fld id="{1DD107A9-A0C7-4078-AEEF-185A00981267}" type="slidenum">
              <a:rPr lang="en-US" smtClean="0"/>
              <a:t>11</a:t>
            </a:fld>
            <a:endParaRPr lang="en-US"/>
          </a:p>
        </p:txBody>
      </p:sp>
    </p:spTree>
    <p:extLst>
      <p:ext uri="{BB962C8B-B14F-4D97-AF65-F5344CB8AC3E}">
        <p14:creationId xmlns:p14="http://schemas.microsoft.com/office/powerpoint/2010/main" val="3992184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F5CAB-4326-E4BB-0E35-6137FFF6DF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C1A89-5F6F-2FC3-6C93-CBDC7DD48E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ABC73B-761C-8FDF-AE2D-150DA1D710F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A7337A6-F16A-66E8-AB3C-CA4BC9679165}"/>
              </a:ext>
            </a:extLst>
          </p:cNvPr>
          <p:cNvSpPr>
            <a:spLocks noGrp="1"/>
          </p:cNvSpPr>
          <p:nvPr>
            <p:ph type="sldNum" sz="quarter" idx="5"/>
          </p:nvPr>
        </p:nvSpPr>
        <p:spPr/>
        <p:txBody>
          <a:bodyPr/>
          <a:lstStyle/>
          <a:p>
            <a:fld id="{1DD107A9-A0C7-4078-AEEF-185A00981267}" type="slidenum">
              <a:rPr lang="en-US" smtClean="0"/>
              <a:t>12</a:t>
            </a:fld>
            <a:endParaRPr lang="en-US"/>
          </a:p>
        </p:txBody>
      </p:sp>
    </p:spTree>
    <p:extLst>
      <p:ext uri="{BB962C8B-B14F-4D97-AF65-F5344CB8AC3E}">
        <p14:creationId xmlns:p14="http://schemas.microsoft.com/office/powerpoint/2010/main" val="23800410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9D3FB-4FF9-8589-9679-22BB48EDC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2A3CF-2003-5390-3A07-8D206298A9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6D1B49-9C3E-274F-F04E-3AE1EBE89F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093B8433-0B9A-C403-77BC-C8F5DF48D7FA}"/>
              </a:ext>
            </a:extLst>
          </p:cNvPr>
          <p:cNvSpPr>
            <a:spLocks noGrp="1"/>
          </p:cNvSpPr>
          <p:nvPr>
            <p:ph type="sldNum" sz="quarter" idx="5"/>
          </p:nvPr>
        </p:nvSpPr>
        <p:spPr/>
        <p:txBody>
          <a:bodyPr/>
          <a:lstStyle/>
          <a:p>
            <a:fld id="{1DD107A9-A0C7-4078-AEEF-185A00981267}" type="slidenum">
              <a:rPr lang="en-US" smtClean="0"/>
              <a:t>13</a:t>
            </a:fld>
            <a:endParaRPr lang="en-US"/>
          </a:p>
        </p:txBody>
      </p:sp>
    </p:spTree>
    <p:extLst>
      <p:ext uri="{BB962C8B-B14F-4D97-AF65-F5344CB8AC3E}">
        <p14:creationId xmlns:p14="http://schemas.microsoft.com/office/powerpoint/2010/main" val="40133859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894BA-952D-005D-3D58-90B414550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3D890F-AF08-5398-E00F-FB37AFCAD1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22EBE7-5EAE-EDE3-72BC-E05243B7A3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6C3B35E-FE44-3214-FB97-01E8D3FBB900}"/>
              </a:ext>
            </a:extLst>
          </p:cNvPr>
          <p:cNvSpPr>
            <a:spLocks noGrp="1"/>
          </p:cNvSpPr>
          <p:nvPr>
            <p:ph type="sldNum" sz="quarter" idx="5"/>
          </p:nvPr>
        </p:nvSpPr>
        <p:spPr/>
        <p:txBody>
          <a:bodyPr/>
          <a:lstStyle/>
          <a:p>
            <a:fld id="{1DD107A9-A0C7-4078-AEEF-185A00981267}" type="slidenum">
              <a:rPr lang="en-US" smtClean="0"/>
              <a:t>14</a:t>
            </a:fld>
            <a:endParaRPr lang="en-US"/>
          </a:p>
        </p:txBody>
      </p:sp>
    </p:spTree>
    <p:extLst>
      <p:ext uri="{BB962C8B-B14F-4D97-AF65-F5344CB8AC3E}">
        <p14:creationId xmlns:p14="http://schemas.microsoft.com/office/powerpoint/2010/main" val="36260661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67D75-369A-22CF-9DF4-2BEDCAA722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113B33-C5E2-4BED-0120-BCF29FC2EB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F97B37-078E-4FB1-B524-E25B60167A7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E661C8DF-3CA1-15BA-D87E-1EF582EAD01D}"/>
              </a:ext>
            </a:extLst>
          </p:cNvPr>
          <p:cNvSpPr>
            <a:spLocks noGrp="1"/>
          </p:cNvSpPr>
          <p:nvPr>
            <p:ph type="sldNum" sz="quarter" idx="5"/>
          </p:nvPr>
        </p:nvSpPr>
        <p:spPr/>
        <p:txBody>
          <a:bodyPr/>
          <a:lstStyle/>
          <a:p>
            <a:fld id="{1DD107A9-A0C7-4078-AEEF-185A00981267}" type="slidenum">
              <a:rPr lang="en-US" smtClean="0"/>
              <a:t>15</a:t>
            </a:fld>
            <a:endParaRPr lang="en-US"/>
          </a:p>
        </p:txBody>
      </p:sp>
    </p:spTree>
    <p:extLst>
      <p:ext uri="{BB962C8B-B14F-4D97-AF65-F5344CB8AC3E}">
        <p14:creationId xmlns:p14="http://schemas.microsoft.com/office/powerpoint/2010/main" val="5837086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3B7F9-4698-B2D6-3243-F281E4509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163BCB-1C41-77A8-9FF4-B059BE205E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400239-EC63-6329-122B-90B1E7310C8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F3DB7D0C-76E9-2EE2-EBA3-EE44DECFAD8F}"/>
              </a:ext>
            </a:extLst>
          </p:cNvPr>
          <p:cNvSpPr>
            <a:spLocks noGrp="1"/>
          </p:cNvSpPr>
          <p:nvPr>
            <p:ph type="sldNum" sz="quarter" idx="5"/>
          </p:nvPr>
        </p:nvSpPr>
        <p:spPr/>
        <p:txBody>
          <a:bodyPr/>
          <a:lstStyle/>
          <a:p>
            <a:fld id="{1DD107A9-A0C7-4078-AEEF-185A00981267}" type="slidenum">
              <a:rPr lang="en-US" smtClean="0"/>
              <a:t>16</a:t>
            </a:fld>
            <a:endParaRPr lang="en-US"/>
          </a:p>
        </p:txBody>
      </p:sp>
    </p:spTree>
    <p:extLst>
      <p:ext uri="{BB962C8B-B14F-4D97-AF65-F5344CB8AC3E}">
        <p14:creationId xmlns:p14="http://schemas.microsoft.com/office/powerpoint/2010/main" val="10733004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FB04D-ECA1-F96E-E5FD-55D3659EE8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8F105-DB1B-23B0-27F9-351AB065DD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560850-29EB-472A-F782-08E2472E62E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5946EB1-05D0-EF81-4FEC-6D0F669F905B}"/>
              </a:ext>
            </a:extLst>
          </p:cNvPr>
          <p:cNvSpPr>
            <a:spLocks noGrp="1"/>
          </p:cNvSpPr>
          <p:nvPr>
            <p:ph type="sldNum" sz="quarter" idx="5"/>
          </p:nvPr>
        </p:nvSpPr>
        <p:spPr/>
        <p:txBody>
          <a:bodyPr/>
          <a:lstStyle/>
          <a:p>
            <a:fld id="{1DD107A9-A0C7-4078-AEEF-185A00981267}" type="slidenum">
              <a:rPr lang="en-US" smtClean="0"/>
              <a:t>17</a:t>
            </a:fld>
            <a:endParaRPr lang="en-US"/>
          </a:p>
        </p:txBody>
      </p:sp>
    </p:spTree>
    <p:extLst>
      <p:ext uri="{BB962C8B-B14F-4D97-AF65-F5344CB8AC3E}">
        <p14:creationId xmlns:p14="http://schemas.microsoft.com/office/powerpoint/2010/main" val="10191625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61D8C-B8A0-145E-242C-D7659E4E84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39A812-7E37-C2BE-143F-7D76199D7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DA59B9-DA8D-BD92-A2F6-5563C100DA7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BCAE030-EDA3-910E-D0BE-F3E872458DD7}"/>
              </a:ext>
            </a:extLst>
          </p:cNvPr>
          <p:cNvSpPr>
            <a:spLocks noGrp="1"/>
          </p:cNvSpPr>
          <p:nvPr>
            <p:ph type="sldNum" sz="quarter" idx="5"/>
          </p:nvPr>
        </p:nvSpPr>
        <p:spPr/>
        <p:txBody>
          <a:bodyPr/>
          <a:lstStyle/>
          <a:p>
            <a:fld id="{1DD107A9-A0C7-4078-AEEF-185A00981267}" type="slidenum">
              <a:rPr lang="en-US" smtClean="0"/>
              <a:t>18</a:t>
            </a:fld>
            <a:endParaRPr lang="en-US"/>
          </a:p>
        </p:txBody>
      </p:sp>
    </p:spTree>
    <p:extLst>
      <p:ext uri="{BB962C8B-B14F-4D97-AF65-F5344CB8AC3E}">
        <p14:creationId xmlns:p14="http://schemas.microsoft.com/office/powerpoint/2010/main" val="13599796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9EF2C-0B44-F909-01A6-D5C04F69EC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184105-5BFF-DD1B-1840-7A39317F76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0AD55C-0700-B1E2-31BB-0693BC4F54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448C096-6FE8-24F2-15CA-4ED1DD655562}"/>
              </a:ext>
            </a:extLst>
          </p:cNvPr>
          <p:cNvSpPr>
            <a:spLocks noGrp="1"/>
          </p:cNvSpPr>
          <p:nvPr>
            <p:ph type="sldNum" sz="quarter" idx="5"/>
          </p:nvPr>
        </p:nvSpPr>
        <p:spPr/>
        <p:txBody>
          <a:bodyPr/>
          <a:lstStyle/>
          <a:p>
            <a:fld id="{1DD107A9-A0C7-4078-AEEF-185A00981267}" type="slidenum">
              <a:rPr lang="en-US" smtClean="0"/>
              <a:t>19</a:t>
            </a:fld>
            <a:endParaRPr lang="en-US"/>
          </a:p>
        </p:txBody>
      </p:sp>
    </p:spTree>
    <p:extLst>
      <p:ext uri="{BB962C8B-B14F-4D97-AF65-F5344CB8AC3E}">
        <p14:creationId xmlns:p14="http://schemas.microsoft.com/office/powerpoint/2010/main" val="27754947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03DF3-0CCF-51A1-B543-04FC364235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179208-358E-7484-A204-38DAD438FD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DBBB6C-C345-965C-9FFD-C9A1308FB65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0C352D1-5E63-7BFF-8BCA-53C2EA0D2C5F}"/>
              </a:ext>
            </a:extLst>
          </p:cNvPr>
          <p:cNvSpPr>
            <a:spLocks noGrp="1"/>
          </p:cNvSpPr>
          <p:nvPr>
            <p:ph type="sldNum" sz="quarter" idx="5"/>
          </p:nvPr>
        </p:nvSpPr>
        <p:spPr/>
        <p:txBody>
          <a:bodyPr/>
          <a:lstStyle/>
          <a:p>
            <a:fld id="{1DD107A9-A0C7-4078-AEEF-185A00981267}" type="slidenum">
              <a:rPr lang="en-US" smtClean="0"/>
              <a:t>20</a:t>
            </a:fld>
            <a:endParaRPr lang="en-US"/>
          </a:p>
        </p:txBody>
      </p:sp>
    </p:spTree>
    <p:extLst>
      <p:ext uri="{BB962C8B-B14F-4D97-AF65-F5344CB8AC3E}">
        <p14:creationId xmlns:p14="http://schemas.microsoft.com/office/powerpoint/2010/main" val="25568997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54B8A-8199-47B9-6930-1A891E4A8A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D2A2C0-5FFC-2379-3B81-19B660605A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97B7F6-1086-A57C-9C39-6395D73241C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F3E886B2-0636-91AB-5E5D-0B59DC9A5B45}"/>
              </a:ext>
            </a:extLst>
          </p:cNvPr>
          <p:cNvSpPr>
            <a:spLocks noGrp="1"/>
          </p:cNvSpPr>
          <p:nvPr>
            <p:ph type="sldNum" sz="quarter" idx="5"/>
          </p:nvPr>
        </p:nvSpPr>
        <p:spPr/>
        <p:txBody>
          <a:bodyPr/>
          <a:lstStyle/>
          <a:p>
            <a:fld id="{1DD107A9-A0C7-4078-AEEF-185A00981267}" type="slidenum">
              <a:rPr lang="en-US" smtClean="0"/>
              <a:t>21</a:t>
            </a:fld>
            <a:endParaRPr lang="en-US"/>
          </a:p>
        </p:txBody>
      </p:sp>
    </p:spTree>
    <p:extLst>
      <p:ext uri="{BB962C8B-B14F-4D97-AF65-F5344CB8AC3E}">
        <p14:creationId xmlns:p14="http://schemas.microsoft.com/office/powerpoint/2010/main" val="36552530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CB967-F262-349F-6FA1-35768B243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403768-18B9-98EB-2E27-1881BD154C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B8E6F-0907-D84C-E4E9-74D4FBD2E57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4D1BEFD-CF1F-A86B-F1BD-376C1A1CBD78}"/>
              </a:ext>
            </a:extLst>
          </p:cNvPr>
          <p:cNvSpPr>
            <a:spLocks noGrp="1"/>
          </p:cNvSpPr>
          <p:nvPr>
            <p:ph type="sldNum" sz="quarter" idx="5"/>
          </p:nvPr>
        </p:nvSpPr>
        <p:spPr/>
        <p:txBody>
          <a:bodyPr/>
          <a:lstStyle/>
          <a:p>
            <a:fld id="{1DD107A9-A0C7-4078-AEEF-185A00981267}" type="slidenum">
              <a:rPr lang="en-US" smtClean="0"/>
              <a:t>22</a:t>
            </a:fld>
            <a:endParaRPr lang="en-US"/>
          </a:p>
        </p:txBody>
      </p:sp>
    </p:spTree>
    <p:extLst>
      <p:ext uri="{BB962C8B-B14F-4D97-AF65-F5344CB8AC3E}">
        <p14:creationId xmlns:p14="http://schemas.microsoft.com/office/powerpoint/2010/main" val="1987517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79461-5723-2B87-E32D-9A4B3BF3C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E5A10-B313-D016-6D08-4FFDAC7845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2FD50E-E051-06F3-5F36-E147EC9EDF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23FF99C9-3B3E-99A6-1AB3-B7D03C225708}"/>
              </a:ext>
            </a:extLst>
          </p:cNvPr>
          <p:cNvSpPr>
            <a:spLocks noGrp="1"/>
          </p:cNvSpPr>
          <p:nvPr>
            <p:ph type="sldNum" sz="quarter" idx="5"/>
          </p:nvPr>
        </p:nvSpPr>
        <p:spPr/>
        <p:txBody>
          <a:bodyPr/>
          <a:lstStyle/>
          <a:p>
            <a:fld id="{1DD107A9-A0C7-4078-AEEF-185A00981267}" type="slidenum">
              <a:rPr lang="en-US" smtClean="0"/>
              <a:t>23</a:t>
            </a:fld>
            <a:endParaRPr lang="en-US"/>
          </a:p>
        </p:txBody>
      </p:sp>
    </p:spTree>
    <p:extLst>
      <p:ext uri="{BB962C8B-B14F-4D97-AF65-F5344CB8AC3E}">
        <p14:creationId xmlns:p14="http://schemas.microsoft.com/office/powerpoint/2010/main" val="34621257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7BC12-37B6-CA59-49CF-D59242E9EA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638DC6-6A49-AC53-2302-DDB990E9F4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20B18C-E058-FE04-45B7-BDEA3DE6CEA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2A02B07-1FB6-76DD-F5BD-D25C017AEDAE}"/>
              </a:ext>
            </a:extLst>
          </p:cNvPr>
          <p:cNvSpPr>
            <a:spLocks noGrp="1"/>
          </p:cNvSpPr>
          <p:nvPr>
            <p:ph type="sldNum" sz="quarter" idx="5"/>
          </p:nvPr>
        </p:nvSpPr>
        <p:spPr/>
        <p:txBody>
          <a:bodyPr/>
          <a:lstStyle/>
          <a:p>
            <a:fld id="{1DD107A9-A0C7-4078-AEEF-185A00981267}" type="slidenum">
              <a:rPr lang="en-US" smtClean="0"/>
              <a:t>24</a:t>
            </a:fld>
            <a:endParaRPr lang="en-US"/>
          </a:p>
        </p:txBody>
      </p:sp>
    </p:spTree>
    <p:extLst>
      <p:ext uri="{BB962C8B-B14F-4D97-AF65-F5344CB8AC3E}">
        <p14:creationId xmlns:p14="http://schemas.microsoft.com/office/powerpoint/2010/main" val="30736185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C6BDB-B080-6686-1AC3-DC209C9870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EE7B4-DD53-6991-DA33-48941E0709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4F222F-D8F0-F3E6-38E7-FBA8174224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0144D559-F91C-8C26-A0A3-C8844B86E122}"/>
              </a:ext>
            </a:extLst>
          </p:cNvPr>
          <p:cNvSpPr>
            <a:spLocks noGrp="1"/>
          </p:cNvSpPr>
          <p:nvPr>
            <p:ph type="sldNum" sz="quarter" idx="5"/>
          </p:nvPr>
        </p:nvSpPr>
        <p:spPr/>
        <p:txBody>
          <a:bodyPr/>
          <a:lstStyle/>
          <a:p>
            <a:fld id="{1DD107A9-A0C7-4078-AEEF-185A00981267}" type="slidenum">
              <a:rPr lang="en-US" smtClean="0"/>
              <a:t>25</a:t>
            </a:fld>
            <a:endParaRPr lang="en-US"/>
          </a:p>
        </p:txBody>
      </p:sp>
    </p:spTree>
    <p:extLst>
      <p:ext uri="{BB962C8B-B14F-4D97-AF65-F5344CB8AC3E}">
        <p14:creationId xmlns:p14="http://schemas.microsoft.com/office/powerpoint/2010/main" val="18162865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DE00A-A9A0-4261-D363-35CA48C838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FC86F6-05A9-0E70-6E71-B22BE9233D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CD3B2-692D-8C6A-D633-AACABE3FEAB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7784DE2-3C5C-0A02-6128-7F51A3BC2D1F}"/>
              </a:ext>
            </a:extLst>
          </p:cNvPr>
          <p:cNvSpPr>
            <a:spLocks noGrp="1"/>
          </p:cNvSpPr>
          <p:nvPr>
            <p:ph type="sldNum" sz="quarter" idx="5"/>
          </p:nvPr>
        </p:nvSpPr>
        <p:spPr/>
        <p:txBody>
          <a:bodyPr/>
          <a:lstStyle/>
          <a:p>
            <a:fld id="{1DD107A9-A0C7-4078-AEEF-185A00981267}" type="slidenum">
              <a:rPr lang="en-US" smtClean="0"/>
              <a:t>26</a:t>
            </a:fld>
            <a:endParaRPr lang="en-US"/>
          </a:p>
        </p:txBody>
      </p:sp>
    </p:spTree>
    <p:extLst>
      <p:ext uri="{BB962C8B-B14F-4D97-AF65-F5344CB8AC3E}">
        <p14:creationId xmlns:p14="http://schemas.microsoft.com/office/powerpoint/2010/main" val="41517007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56F70-D395-AF1D-18EB-802A9A0C70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6C147-7719-FED9-68BC-B7B93DE094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EE59A9-9088-FB35-FDC8-50D95698C65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C9CB2F3-48CD-F91C-164D-C8D9858DC735}"/>
              </a:ext>
            </a:extLst>
          </p:cNvPr>
          <p:cNvSpPr>
            <a:spLocks noGrp="1"/>
          </p:cNvSpPr>
          <p:nvPr>
            <p:ph type="sldNum" sz="quarter" idx="5"/>
          </p:nvPr>
        </p:nvSpPr>
        <p:spPr/>
        <p:txBody>
          <a:bodyPr/>
          <a:lstStyle/>
          <a:p>
            <a:fld id="{1DD107A9-A0C7-4078-AEEF-185A00981267}" type="slidenum">
              <a:rPr lang="en-US" smtClean="0"/>
              <a:t>27</a:t>
            </a:fld>
            <a:endParaRPr lang="en-US"/>
          </a:p>
        </p:txBody>
      </p:sp>
    </p:spTree>
    <p:extLst>
      <p:ext uri="{BB962C8B-B14F-4D97-AF65-F5344CB8AC3E}">
        <p14:creationId xmlns:p14="http://schemas.microsoft.com/office/powerpoint/2010/main" val="26415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A206A-BAA6-0B89-D50E-A15BE82B52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EA64AD-6472-97F4-0CD8-C4123C4519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B03272-4719-1AD1-58F6-44A106F98D7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8470F46-7BED-B5F5-ACEF-8FA694F9B466}"/>
              </a:ext>
            </a:extLst>
          </p:cNvPr>
          <p:cNvSpPr>
            <a:spLocks noGrp="1"/>
          </p:cNvSpPr>
          <p:nvPr>
            <p:ph type="sldNum" sz="quarter" idx="5"/>
          </p:nvPr>
        </p:nvSpPr>
        <p:spPr/>
        <p:txBody>
          <a:bodyPr/>
          <a:lstStyle/>
          <a:p>
            <a:fld id="{1DD107A9-A0C7-4078-AEEF-185A00981267}" type="slidenum">
              <a:rPr lang="en-US" smtClean="0"/>
              <a:t>28</a:t>
            </a:fld>
            <a:endParaRPr lang="en-US"/>
          </a:p>
        </p:txBody>
      </p:sp>
    </p:spTree>
    <p:extLst>
      <p:ext uri="{BB962C8B-B14F-4D97-AF65-F5344CB8AC3E}">
        <p14:creationId xmlns:p14="http://schemas.microsoft.com/office/powerpoint/2010/main" val="20390393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BBF56-B5E4-679E-089F-1E47561693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EE09FA-75DD-1071-DB46-611B1E4201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0CA9D-3C0E-7B4F-3A35-BC8F1C6E31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A554C693-9286-C156-2475-14B3446B8D1D}"/>
              </a:ext>
            </a:extLst>
          </p:cNvPr>
          <p:cNvSpPr>
            <a:spLocks noGrp="1"/>
          </p:cNvSpPr>
          <p:nvPr>
            <p:ph type="sldNum" sz="quarter" idx="5"/>
          </p:nvPr>
        </p:nvSpPr>
        <p:spPr/>
        <p:txBody>
          <a:bodyPr/>
          <a:lstStyle/>
          <a:p>
            <a:fld id="{1DD107A9-A0C7-4078-AEEF-185A00981267}" type="slidenum">
              <a:rPr lang="en-US" smtClean="0"/>
              <a:t>29</a:t>
            </a:fld>
            <a:endParaRPr lang="en-US"/>
          </a:p>
        </p:txBody>
      </p:sp>
    </p:spTree>
    <p:extLst>
      <p:ext uri="{BB962C8B-B14F-4D97-AF65-F5344CB8AC3E}">
        <p14:creationId xmlns:p14="http://schemas.microsoft.com/office/powerpoint/2010/main" val="28209173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7F4AA-BFBE-D3C9-8BE6-3C99B4D481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21EDE-38CF-EC14-96D8-63C64C165C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D038CD-990C-33DD-E28E-04B0030D792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ADC52A3F-3BE0-7649-DD14-8507962D1798}"/>
              </a:ext>
            </a:extLst>
          </p:cNvPr>
          <p:cNvSpPr>
            <a:spLocks noGrp="1"/>
          </p:cNvSpPr>
          <p:nvPr>
            <p:ph type="sldNum" sz="quarter" idx="5"/>
          </p:nvPr>
        </p:nvSpPr>
        <p:spPr/>
        <p:txBody>
          <a:bodyPr/>
          <a:lstStyle/>
          <a:p>
            <a:fld id="{1DD107A9-A0C7-4078-AEEF-185A00981267}" type="slidenum">
              <a:rPr lang="en-US" smtClean="0"/>
              <a:t>30</a:t>
            </a:fld>
            <a:endParaRPr lang="en-US"/>
          </a:p>
        </p:txBody>
      </p:sp>
    </p:spTree>
    <p:extLst>
      <p:ext uri="{BB962C8B-B14F-4D97-AF65-F5344CB8AC3E}">
        <p14:creationId xmlns:p14="http://schemas.microsoft.com/office/powerpoint/2010/main" val="34989083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0FDBC-586D-95E9-7E5E-B7B6140455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5DA53-D305-6AEA-89EC-2E65E2FAA4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271B36-D472-F7A8-B72E-5F5F2EC439A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3AEFE37-C952-5262-BA22-484E1B6FF731}"/>
              </a:ext>
            </a:extLst>
          </p:cNvPr>
          <p:cNvSpPr>
            <a:spLocks noGrp="1"/>
          </p:cNvSpPr>
          <p:nvPr>
            <p:ph type="sldNum" sz="quarter" idx="5"/>
          </p:nvPr>
        </p:nvSpPr>
        <p:spPr/>
        <p:txBody>
          <a:bodyPr/>
          <a:lstStyle/>
          <a:p>
            <a:fld id="{1DD107A9-A0C7-4078-AEEF-185A00981267}" type="slidenum">
              <a:rPr lang="en-US" smtClean="0"/>
              <a:t>31</a:t>
            </a:fld>
            <a:endParaRPr lang="en-US"/>
          </a:p>
        </p:txBody>
      </p:sp>
    </p:spTree>
    <p:extLst>
      <p:ext uri="{BB962C8B-B14F-4D97-AF65-F5344CB8AC3E}">
        <p14:creationId xmlns:p14="http://schemas.microsoft.com/office/powerpoint/2010/main" val="37504493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BFE49-2076-0748-18CE-5D71B0718E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D8D8F-905E-E501-79E6-B04FBB61D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961352-3EAD-B7B8-F9F3-7B873994FB6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AA9F9279-010E-4484-C75F-C54622E71602}"/>
              </a:ext>
            </a:extLst>
          </p:cNvPr>
          <p:cNvSpPr>
            <a:spLocks noGrp="1"/>
          </p:cNvSpPr>
          <p:nvPr>
            <p:ph type="sldNum" sz="quarter" idx="5"/>
          </p:nvPr>
        </p:nvSpPr>
        <p:spPr/>
        <p:txBody>
          <a:bodyPr/>
          <a:lstStyle/>
          <a:p>
            <a:fld id="{1DD107A9-A0C7-4078-AEEF-185A00981267}" type="slidenum">
              <a:rPr lang="en-US" smtClean="0"/>
              <a:t>32</a:t>
            </a:fld>
            <a:endParaRPr lang="en-US"/>
          </a:p>
        </p:txBody>
      </p:sp>
    </p:spTree>
    <p:extLst>
      <p:ext uri="{BB962C8B-B14F-4D97-AF65-F5344CB8AC3E}">
        <p14:creationId xmlns:p14="http://schemas.microsoft.com/office/powerpoint/2010/main" val="19678512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6884E-F841-5162-55D6-AC9DB48F21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8B8FB5-CA3D-3618-FFC8-F7C76DB65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CF15A4-988B-EA3B-C41B-11A61CAAEA1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57 </a:t>
            </a:r>
            <a:r>
              <a:rPr lang="en-US" dirty="0" err="1"/>
              <a:t>Luật</a:t>
            </a:r>
            <a:r>
              <a:rPr lang="en-US" dirty="0"/>
              <a:t> NSNN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20  NĐ 73/2026/NĐ-CP</a:t>
            </a:r>
          </a:p>
        </p:txBody>
      </p:sp>
      <p:sp>
        <p:nvSpPr>
          <p:cNvPr id="4" name="Slide Number Placeholder 3">
            <a:extLst>
              <a:ext uri="{FF2B5EF4-FFF2-40B4-BE49-F238E27FC236}">
                <a16:creationId xmlns:a16="http://schemas.microsoft.com/office/drawing/2014/main" id="{BF7D3825-89E7-F2F0-8CFF-065E8A518957}"/>
              </a:ext>
            </a:extLst>
          </p:cNvPr>
          <p:cNvSpPr>
            <a:spLocks noGrp="1"/>
          </p:cNvSpPr>
          <p:nvPr>
            <p:ph type="sldNum" sz="quarter" idx="5"/>
          </p:nvPr>
        </p:nvSpPr>
        <p:spPr/>
        <p:txBody>
          <a:bodyPr/>
          <a:lstStyle/>
          <a:p>
            <a:fld id="{1DD107A9-A0C7-4078-AEEF-185A00981267}" type="slidenum">
              <a:rPr lang="en-US" smtClean="0"/>
              <a:t>33</a:t>
            </a:fld>
            <a:endParaRPr lang="en-US"/>
          </a:p>
        </p:txBody>
      </p:sp>
    </p:spTree>
    <p:extLst>
      <p:ext uri="{BB962C8B-B14F-4D97-AF65-F5344CB8AC3E}">
        <p14:creationId xmlns:p14="http://schemas.microsoft.com/office/powerpoint/2010/main" val="34929705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17B24-25B4-4A77-72AB-C3B27BCBA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DB7BB-C76C-6D01-3B8C-2E81DAB33B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9B0BE9-815C-6377-248D-CF46F9486EE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57 </a:t>
            </a:r>
            <a:r>
              <a:rPr lang="en-US" dirty="0" err="1"/>
              <a:t>Luật</a:t>
            </a:r>
            <a:r>
              <a:rPr lang="en-US" dirty="0"/>
              <a:t> NSNN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20  NĐ 73/2026/NĐ-CP</a:t>
            </a:r>
          </a:p>
        </p:txBody>
      </p:sp>
      <p:sp>
        <p:nvSpPr>
          <p:cNvPr id="4" name="Slide Number Placeholder 3">
            <a:extLst>
              <a:ext uri="{FF2B5EF4-FFF2-40B4-BE49-F238E27FC236}">
                <a16:creationId xmlns:a16="http://schemas.microsoft.com/office/drawing/2014/main" id="{3288B0A8-8557-E4F7-384C-E7F852BE3E88}"/>
              </a:ext>
            </a:extLst>
          </p:cNvPr>
          <p:cNvSpPr>
            <a:spLocks noGrp="1"/>
          </p:cNvSpPr>
          <p:nvPr>
            <p:ph type="sldNum" sz="quarter" idx="5"/>
          </p:nvPr>
        </p:nvSpPr>
        <p:spPr/>
        <p:txBody>
          <a:bodyPr/>
          <a:lstStyle/>
          <a:p>
            <a:fld id="{1DD107A9-A0C7-4078-AEEF-185A00981267}" type="slidenum">
              <a:rPr lang="en-US" smtClean="0"/>
              <a:t>34</a:t>
            </a:fld>
            <a:endParaRPr lang="en-US"/>
          </a:p>
        </p:txBody>
      </p:sp>
    </p:spTree>
    <p:extLst>
      <p:ext uri="{BB962C8B-B14F-4D97-AF65-F5344CB8AC3E}">
        <p14:creationId xmlns:p14="http://schemas.microsoft.com/office/powerpoint/2010/main" val="24232316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335AF-C91F-52BB-9044-424087CEA9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847CCD-C580-C277-BB50-B8FAF34D54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A8F54E-197D-02E6-32AF-7632BADAA1B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57 </a:t>
            </a:r>
            <a:r>
              <a:rPr lang="en-US" dirty="0" err="1"/>
              <a:t>Luật</a:t>
            </a:r>
            <a:r>
              <a:rPr lang="en-US" dirty="0"/>
              <a:t> NSNN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20  NĐ 73/2026/NĐ-CP</a:t>
            </a:r>
          </a:p>
        </p:txBody>
      </p:sp>
      <p:sp>
        <p:nvSpPr>
          <p:cNvPr id="4" name="Slide Number Placeholder 3">
            <a:extLst>
              <a:ext uri="{FF2B5EF4-FFF2-40B4-BE49-F238E27FC236}">
                <a16:creationId xmlns:a16="http://schemas.microsoft.com/office/drawing/2014/main" id="{EBA4E084-486F-99BB-56F1-D850FC471741}"/>
              </a:ext>
            </a:extLst>
          </p:cNvPr>
          <p:cNvSpPr>
            <a:spLocks noGrp="1"/>
          </p:cNvSpPr>
          <p:nvPr>
            <p:ph type="sldNum" sz="quarter" idx="5"/>
          </p:nvPr>
        </p:nvSpPr>
        <p:spPr/>
        <p:txBody>
          <a:bodyPr/>
          <a:lstStyle/>
          <a:p>
            <a:fld id="{1DD107A9-A0C7-4078-AEEF-185A00981267}" type="slidenum">
              <a:rPr lang="en-US" smtClean="0"/>
              <a:t>35</a:t>
            </a:fld>
            <a:endParaRPr lang="en-US"/>
          </a:p>
        </p:txBody>
      </p:sp>
    </p:spTree>
    <p:extLst>
      <p:ext uri="{BB962C8B-B14F-4D97-AF65-F5344CB8AC3E}">
        <p14:creationId xmlns:p14="http://schemas.microsoft.com/office/powerpoint/2010/main" val="36990651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2E963-3655-2268-70F7-EFBC3CC5A6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2835BE-F493-7A1E-6F04-207CEF392C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A1A49A-E8A2-BC1C-4A72-56ECF82BB6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57 </a:t>
            </a:r>
            <a:r>
              <a:rPr lang="en-US" dirty="0" err="1"/>
              <a:t>Luật</a:t>
            </a:r>
            <a:r>
              <a:rPr lang="en-US" dirty="0"/>
              <a:t> NSNN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20  NĐ 73/2026/NĐ-CP</a:t>
            </a:r>
          </a:p>
        </p:txBody>
      </p:sp>
      <p:sp>
        <p:nvSpPr>
          <p:cNvPr id="4" name="Slide Number Placeholder 3">
            <a:extLst>
              <a:ext uri="{FF2B5EF4-FFF2-40B4-BE49-F238E27FC236}">
                <a16:creationId xmlns:a16="http://schemas.microsoft.com/office/drawing/2014/main" id="{E3CA0530-2207-EC5F-9DA2-48915E425A27}"/>
              </a:ext>
            </a:extLst>
          </p:cNvPr>
          <p:cNvSpPr>
            <a:spLocks noGrp="1"/>
          </p:cNvSpPr>
          <p:nvPr>
            <p:ph type="sldNum" sz="quarter" idx="5"/>
          </p:nvPr>
        </p:nvSpPr>
        <p:spPr/>
        <p:txBody>
          <a:bodyPr/>
          <a:lstStyle/>
          <a:p>
            <a:fld id="{1DD107A9-A0C7-4078-AEEF-185A00981267}" type="slidenum">
              <a:rPr lang="en-US" smtClean="0"/>
              <a:t>36</a:t>
            </a:fld>
            <a:endParaRPr lang="en-US"/>
          </a:p>
        </p:txBody>
      </p:sp>
    </p:spTree>
    <p:extLst>
      <p:ext uri="{BB962C8B-B14F-4D97-AF65-F5344CB8AC3E}">
        <p14:creationId xmlns:p14="http://schemas.microsoft.com/office/powerpoint/2010/main" val="42718350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F23F9-85DA-3886-AAE1-1E2D60A17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5BEAA-0645-2183-0A0F-A5E96092A4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608AAA-D479-BDE8-9DA0-BB8DBEE29EC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57 </a:t>
            </a:r>
            <a:r>
              <a:rPr lang="en-US" dirty="0" err="1"/>
              <a:t>Luật</a:t>
            </a:r>
            <a:r>
              <a:rPr lang="en-US" dirty="0"/>
              <a:t> NSNN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20  NĐ 73/2026/NĐ-CP</a:t>
            </a:r>
          </a:p>
        </p:txBody>
      </p:sp>
      <p:sp>
        <p:nvSpPr>
          <p:cNvPr id="4" name="Slide Number Placeholder 3">
            <a:extLst>
              <a:ext uri="{FF2B5EF4-FFF2-40B4-BE49-F238E27FC236}">
                <a16:creationId xmlns:a16="http://schemas.microsoft.com/office/drawing/2014/main" id="{212AD91D-E828-99FC-1126-9F44886B7DE3}"/>
              </a:ext>
            </a:extLst>
          </p:cNvPr>
          <p:cNvSpPr>
            <a:spLocks noGrp="1"/>
          </p:cNvSpPr>
          <p:nvPr>
            <p:ph type="sldNum" sz="quarter" idx="5"/>
          </p:nvPr>
        </p:nvSpPr>
        <p:spPr/>
        <p:txBody>
          <a:bodyPr/>
          <a:lstStyle/>
          <a:p>
            <a:fld id="{1DD107A9-A0C7-4078-AEEF-185A00981267}" type="slidenum">
              <a:rPr lang="en-US" smtClean="0"/>
              <a:t>37</a:t>
            </a:fld>
            <a:endParaRPr lang="en-US"/>
          </a:p>
        </p:txBody>
      </p:sp>
    </p:spTree>
    <p:extLst>
      <p:ext uri="{BB962C8B-B14F-4D97-AF65-F5344CB8AC3E}">
        <p14:creationId xmlns:p14="http://schemas.microsoft.com/office/powerpoint/2010/main" val="4407553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87EBF-9BAB-718D-D5C0-8C49B37B23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3B51F-F8E6-4372-A9AE-A9F842B2DD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2E0839-DBA5-80FC-0071-4304DC21167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Khoỏn</a:t>
            </a:r>
            <a:r>
              <a:rPr lang="en-US" dirty="0"/>
              <a:t> </a:t>
            </a:r>
          </a:p>
        </p:txBody>
      </p:sp>
      <p:sp>
        <p:nvSpPr>
          <p:cNvPr id="4" name="Slide Number Placeholder 3">
            <a:extLst>
              <a:ext uri="{FF2B5EF4-FFF2-40B4-BE49-F238E27FC236}">
                <a16:creationId xmlns:a16="http://schemas.microsoft.com/office/drawing/2014/main" id="{90E42DD7-BEC3-4A0C-60DC-67D321BF80EB}"/>
              </a:ext>
            </a:extLst>
          </p:cNvPr>
          <p:cNvSpPr>
            <a:spLocks noGrp="1"/>
          </p:cNvSpPr>
          <p:nvPr>
            <p:ph type="sldNum" sz="quarter" idx="5"/>
          </p:nvPr>
        </p:nvSpPr>
        <p:spPr/>
        <p:txBody>
          <a:bodyPr/>
          <a:lstStyle/>
          <a:p>
            <a:fld id="{1DD107A9-A0C7-4078-AEEF-185A00981267}" type="slidenum">
              <a:rPr lang="en-US" smtClean="0"/>
              <a:t>38</a:t>
            </a:fld>
            <a:endParaRPr lang="en-US"/>
          </a:p>
        </p:txBody>
      </p:sp>
    </p:spTree>
    <p:extLst>
      <p:ext uri="{BB962C8B-B14F-4D97-AF65-F5344CB8AC3E}">
        <p14:creationId xmlns:p14="http://schemas.microsoft.com/office/powerpoint/2010/main" val="7493737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91416-3EA9-FF66-026A-036FAFD178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C9AD43-A005-148E-98CD-09E81F5C0D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28E2-7578-BBD4-054A-2C9AF4D4F02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Khoản</a:t>
            </a:r>
            <a:r>
              <a:rPr lang="en-US" dirty="0"/>
              <a:t> 1, </a:t>
            </a:r>
            <a:r>
              <a:rPr lang="en-US" dirty="0" err="1"/>
              <a:t>Điều</a:t>
            </a:r>
            <a:r>
              <a:rPr lang="en-US" dirty="0"/>
              <a:t> 58 </a:t>
            </a:r>
            <a:r>
              <a:rPr lang="en-US" dirty="0" err="1"/>
              <a:t>Luật</a:t>
            </a:r>
            <a:r>
              <a:rPr lang="en-US" dirty="0"/>
              <a:t> NSNN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Khoản</a:t>
            </a:r>
            <a:r>
              <a:rPr lang="en-US" dirty="0"/>
              <a:t> 5, </a:t>
            </a:r>
            <a:r>
              <a:rPr lang="en-US" dirty="0" err="1"/>
              <a:t>Điều</a:t>
            </a:r>
            <a:r>
              <a:rPr lang="en-US" dirty="0"/>
              <a:t> 21, TT26/2026/TT-BTC</a:t>
            </a:r>
          </a:p>
        </p:txBody>
      </p:sp>
      <p:sp>
        <p:nvSpPr>
          <p:cNvPr id="4" name="Slide Number Placeholder 3">
            <a:extLst>
              <a:ext uri="{FF2B5EF4-FFF2-40B4-BE49-F238E27FC236}">
                <a16:creationId xmlns:a16="http://schemas.microsoft.com/office/drawing/2014/main" id="{3B6F1937-1355-2058-31C5-33019EDF3915}"/>
              </a:ext>
            </a:extLst>
          </p:cNvPr>
          <p:cNvSpPr>
            <a:spLocks noGrp="1"/>
          </p:cNvSpPr>
          <p:nvPr>
            <p:ph type="sldNum" sz="quarter" idx="5"/>
          </p:nvPr>
        </p:nvSpPr>
        <p:spPr/>
        <p:txBody>
          <a:bodyPr/>
          <a:lstStyle/>
          <a:p>
            <a:fld id="{1DD107A9-A0C7-4078-AEEF-185A00981267}" type="slidenum">
              <a:rPr lang="en-US" smtClean="0"/>
              <a:t>39</a:t>
            </a:fld>
            <a:endParaRPr lang="en-US"/>
          </a:p>
        </p:txBody>
      </p:sp>
    </p:spTree>
    <p:extLst>
      <p:ext uri="{BB962C8B-B14F-4D97-AF65-F5344CB8AC3E}">
        <p14:creationId xmlns:p14="http://schemas.microsoft.com/office/powerpoint/2010/main" val="17559276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79432-5896-74F6-37D4-8CBE492FBB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B56E4A-58A8-9822-E4EB-1D47E8CB53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0C6591-187A-037E-56BB-6C839EFEED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AE6FDAA-2C67-11CA-FE4B-5FA23C410F48}"/>
              </a:ext>
            </a:extLst>
          </p:cNvPr>
          <p:cNvSpPr>
            <a:spLocks noGrp="1"/>
          </p:cNvSpPr>
          <p:nvPr>
            <p:ph type="sldNum" sz="quarter" idx="5"/>
          </p:nvPr>
        </p:nvSpPr>
        <p:spPr/>
        <p:txBody>
          <a:bodyPr/>
          <a:lstStyle/>
          <a:p>
            <a:fld id="{1DD107A9-A0C7-4078-AEEF-185A00981267}" type="slidenum">
              <a:rPr lang="en-US" smtClean="0"/>
              <a:t>40</a:t>
            </a:fld>
            <a:endParaRPr lang="en-US"/>
          </a:p>
        </p:txBody>
      </p:sp>
    </p:spTree>
    <p:extLst>
      <p:ext uri="{BB962C8B-B14F-4D97-AF65-F5344CB8AC3E}">
        <p14:creationId xmlns:p14="http://schemas.microsoft.com/office/powerpoint/2010/main" val="40595584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DECCF-3E84-BDA4-F283-320BBE5512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312913-2591-0751-5F16-DCBBD48191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90628-FCA2-6480-6252-32A9FD4982B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12 </a:t>
            </a:r>
            <a:r>
              <a:rPr lang="en-US" dirty="0" err="1"/>
              <a:t>Luật</a:t>
            </a:r>
            <a:r>
              <a:rPr lang="en-US" dirty="0"/>
              <a:t> NSNN 2025</a:t>
            </a:r>
          </a:p>
        </p:txBody>
      </p:sp>
      <p:sp>
        <p:nvSpPr>
          <p:cNvPr id="4" name="Slide Number Placeholder 3">
            <a:extLst>
              <a:ext uri="{FF2B5EF4-FFF2-40B4-BE49-F238E27FC236}">
                <a16:creationId xmlns:a16="http://schemas.microsoft.com/office/drawing/2014/main" id="{BCF46DE1-E8F8-5703-D3DC-F20ED2BE2823}"/>
              </a:ext>
            </a:extLst>
          </p:cNvPr>
          <p:cNvSpPr>
            <a:spLocks noGrp="1"/>
          </p:cNvSpPr>
          <p:nvPr>
            <p:ph type="sldNum" sz="quarter" idx="5"/>
          </p:nvPr>
        </p:nvSpPr>
        <p:spPr/>
        <p:txBody>
          <a:bodyPr/>
          <a:lstStyle/>
          <a:p>
            <a:fld id="{1DD107A9-A0C7-4078-AEEF-185A00981267}" type="slidenum">
              <a:rPr lang="en-US" smtClean="0"/>
              <a:t>41</a:t>
            </a:fld>
            <a:endParaRPr lang="en-US"/>
          </a:p>
        </p:txBody>
      </p:sp>
    </p:spTree>
    <p:extLst>
      <p:ext uri="{BB962C8B-B14F-4D97-AF65-F5344CB8AC3E}">
        <p14:creationId xmlns:p14="http://schemas.microsoft.com/office/powerpoint/2010/main" val="38625847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651CA-F9DB-E839-E64E-45D2031322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7CCAD7-ACF0-D48F-8142-5F750F1205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0CE394-8BD8-2203-0D2E-C605664BB1E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12 </a:t>
            </a:r>
            <a:r>
              <a:rPr lang="en-US" dirty="0" err="1"/>
              <a:t>Luật</a:t>
            </a:r>
            <a:r>
              <a:rPr lang="en-US" dirty="0"/>
              <a:t> NSNN 2025</a:t>
            </a:r>
          </a:p>
        </p:txBody>
      </p:sp>
      <p:sp>
        <p:nvSpPr>
          <p:cNvPr id="4" name="Slide Number Placeholder 3">
            <a:extLst>
              <a:ext uri="{FF2B5EF4-FFF2-40B4-BE49-F238E27FC236}">
                <a16:creationId xmlns:a16="http://schemas.microsoft.com/office/drawing/2014/main" id="{9AA51D75-F558-C840-30BC-9FC33E202CA0}"/>
              </a:ext>
            </a:extLst>
          </p:cNvPr>
          <p:cNvSpPr>
            <a:spLocks noGrp="1"/>
          </p:cNvSpPr>
          <p:nvPr>
            <p:ph type="sldNum" sz="quarter" idx="5"/>
          </p:nvPr>
        </p:nvSpPr>
        <p:spPr/>
        <p:txBody>
          <a:bodyPr/>
          <a:lstStyle/>
          <a:p>
            <a:fld id="{1DD107A9-A0C7-4078-AEEF-185A00981267}" type="slidenum">
              <a:rPr lang="en-US" smtClean="0"/>
              <a:t>42</a:t>
            </a:fld>
            <a:endParaRPr lang="en-US"/>
          </a:p>
        </p:txBody>
      </p:sp>
    </p:spTree>
    <p:extLst>
      <p:ext uri="{BB962C8B-B14F-4D97-AF65-F5344CB8AC3E}">
        <p14:creationId xmlns:p14="http://schemas.microsoft.com/office/powerpoint/2010/main" val="36103453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6BF1B-3885-79FD-7567-FB403F7A2F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FAB37A-977C-F825-B44C-7A57CE5213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F49E34-567A-6B84-56FC-16C6B87F76D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21 NĐ 73/2026/NĐ-CP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40 </a:t>
            </a:r>
            <a:r>
              <a:rPr lang="en-US" dirty="0" err="1"/>
              <a:t>Luật</a:t>
            </a:r>
            <a:r>
              <a:rPr lang="en-US" dirty="0"/>
              <a:t> NSNN 2025</a:t>
            </a:r>
          </a:p>
        </p:txBody>
      </p:sp>
      <p:sp>
        <p:nvSpPr>
          <p:cNvPr id="4" name="Slide Number Placeholder 3">
            <a:extLst>
              <a:ext uri="{FF2B5EF4-FFF2-40B4-BE49-F238E27FC236}">
                <a16:creationId xmlns:a16="http://schemas.microsoft.com/office/drawing/2014/main" id="{D61598E0-2335-6F7F-681A-8397DCE44871}"/>
              </a:ext>
            </a:extLst>
          </p:cNvPr>
          <p:cNvSpPr>
            <a:spLocks noGrp="1"/>
          </p:cNvSpPr>
          <p:nvPr>
            <p:ph type="sldNum" sz="quarter" idx="5"/>
          </p:nvPr>
        </p:nvSpPr>
        <p:spPr/>
        <p:txBody>
          <a:bodyPr/>
          <a:lstStyle/>
          <a:p>
            <a:fld id="{1DD107A9-A0C7-4078-AEEF-185A00981267}" type="slidenum">
              <a:rPr lang="en-US" smtClean="0"/>
              <a:t>43</a:t>
            </a:fld>
            <a:endParaRPr lang="en-US"/>
          </a:p>
        </p:txBody>
      </p:sp>
    </p:spTree>
    <p:extLst>
      <p:ext uri="{BB962C8B-B14F-4D97-AF65-F5344CB8AC3E}">
        <p14:creationId xmlns:p14="http://schemas.microsoft.com/office/powerpoint/2010/main" val="40569774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A97DB-FF4D-B8DF-F36C-D895E180F2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ABFEE7-1689-DB28-3B08-281E3663D9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42C829-AB97-5A9D-1E70-0BEF46A52D7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21 NĐ 73/2026/NĐ-CP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40 </a:t>
            </a:r>
            <a:r>
              <a:rPr lang="en-US" dirty="0" err="1"/>
              <a:t>Luật</a:t>
            </a:r>
            <a:r>
              <a:rPr lang="en-US" dirty="0"/>
              <a:t> NSNN 2025</a:t>
            </a:r>
          </a:p>
        </p:txBody>
      </p:sp>
      <p:sp>
        <p:nvSpPr>
          <p:cNvPr id="4" name="Slide Number Placeholder 3">
            <a:extLst>
              <a:ext uri="{FF2B5EF4-FFF2-40B4-BE49-F238E27FC236}">
                <a16:creationId xmlns:a16="http://schemas.microsoft.com/office/drawing/2014/main" id="{30C75B1F-DFA6-4369-39DA-F15C2F1F0497}"/>
              </a:ext>
            </a:extLst>
          </p:cNvPr>
          <p:cNvSpPr>
            <a:spLocks noGrp="1"/>
          </p:cNvSpPr>
          <p:nvPr>
            <p:ph type="sldNum" sz="quarter" idx="5"/>
          </p:nvPr>
        </p:nvSpPr>
        <p:spPr/>
        <p:txBody>
          <a:bodyPr/>
          <a:lstStyle/>
          <a:p>
            <a:fld id="{1DD107A9-A0C7-4078-AEEF-185A00981267}" type="slidenum">
              <a:rPr lang="en-US" smtClean="0"/>
              <a:t>44</a:t>
            </a:fld>
            <a:endParaRPr lang="en-US"/>
          </a:p>
        </p:txBody>
      </p:sp>
    </p:spTree>
    <p:extLst>
      <p:ext uri="{BB962C8B-B14F-4D97-AF65-F5344CB8AC3E}">
        <p14:creationId xmlns:p14="http://schemas.microsoft.com/office/powerpoint/2010/main" val="9386009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5536E-2C11-E5CA-D8EA-518E3C42D2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76B9F3-330C-F38B-AAA1-5A421C85E8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6D43C3-6C61-5370-D42F-87EF4717CBC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21 NĐ 73/2026/NĐ-CP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40 </a:t>
            </a:r>
            <a:r>
              <a:rPr lang="en-US" dirty="0" err="1"/>
              <a:t>Luật</a:t>
            </a:r>
            <a:r>
              <a:rPr lang="en-US" dirty="0"/>
              <a:t> NSNN 2025</a:t>
            </a:r>
          </a:p>
        </p:txBody>
      </p:sp>
      <p:sp>
        <p:nvSpPr>
          <p:cNvPr id="4" name="Slide Number Placeholder 3">
            <a:extLst>
              <a:ext uri="{FF2B5EF4-FFF2-40B4-BE49-F238E27FC236}">
                <a16:creationId xmlns:a16="http://schemas.microsoft.com/office/drawing/2014/main" id="{F05B17FD-5F95-F34C-C531-C16A73525980}"/>
              </a:ext>
            </a:extLst>
          </p:cNvPr>
          <p:cNvSpPr>
            <a:spLocks noGrp="1"/>
          </p:cNvSpPr>
          <p:nvPr>
            <p:ph type="sldNum" sz="quarter" idx="5"/>
          </p:nvPr>
        </p:nvSpPr>
        <p:spPr/>
        <p:txBody>
          <a:bodyPr/>
          <a:lstStyle/>
          <a:p>
            <a:fld id="{1DD107A9-A0C7-4078-AEEF-185A00981267}" type="slidenum">
              <a:rPr lang="en-US" smtClean="0"/>
              <a:t>45</a:t>
            </a:fld>
            <a:endParaRPr lang="en-US"/>
          </a:p>
        </p:txBody>
      </p:sp>
    </p:spTree>
    <p:extLst>
      <p:ext uri="{BB962C8B-B14F-4D97-AF65-F5344CB8AC3E}">
        <p14:creationId xmlns:p14="http://schemas.microsoft.com/office/powerpoint/2010/main" val="7343865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1907B-FDFD-0E29-4B54-FB320B84E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9FDAC2-F19B-CF9E-C901-6E1808CA9B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B7BB0C-CF7A-9201-9686-5ECA6252F39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Khoản</a:t>
            </a:r>
            <a:r>
              <a:rPr lang="en-US" dirty="0"/>
              <a:t> 4, </a:t>
            </a:r>
            <a:r>
              <a:rPr lang="en-US" dirty="0" err="1"/>
              <a:t>Điều</a:t>
            </a:r>
            <a:r>
              <a:rPr lang="en-US" dirty="0"/>
              <a:t> 15, TT 26/2026/TT-BTC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Chi NS </a:t>
            </a:r>
            <a:r>
              <a:rPr lang="en-US" dirty="0" err="1"/>
              <a:t>theo</a:t>
            </a:r>
            <a:r>
              <a:rPr lang="en-US" dirty="0"/>
              <a:t> </a:t>
            </a:r>
            <a:r>
              <a:rPr lang="en-US" dirty="0" err="1"/>
              <a:t>hình</a:t>
            </a:r>
            <a:r>
              <a:rPr lang="en-US" dirty="0"/>
              <a:t> </a:t>
            </a:r>
            <a:r>
              <a:rPr lang="en-US" dirty="0" err="1"/>
              <a:t>thức</a:t>
            </a:r>
            <a:r>
              <a:rPr lang="en-US" dirty="0"/>
              <a:t> </a:t>
            </a:r>
            <a:r>
              <a:rPr lang="en-US" dirty="0" err="1"/>
              <a:t>rút</a:t>
            </a:r>
            <a:r>
              <a:rPr lang="en-US" dirty="0"/>
              <a:t> </a:t>
            </a:r>
            <a:r>
              <a:rPr lang="en-US" dirty="0" err="1"/>
              <a:t>dự</a:t>
            </a:r>
            <a:r>
              <a:rPr lang="en-US" dirty="0"/>
              <a:t> </a:t>
            </a:r>
            <a:r>
              <a:rPr lang="en-US" dirty="0" err="1"/>
              <a:t>toán</a:t>
            </a:r>
            <a:r>
              <a:rPr lang="en-US" dirty="0"/>
              <a:t>: </a:t>
            </a:r>
            <a:r>
              <a:rPr lang="en-US" dirty="0" err="1"/>
              <a:t>thực</a:t>
            </a:r>
            <a:r>
              <a:rPr lang="en-US" dirty="0"/>
              <a:t> </a:t>
            </a:r>
            <a:r>
              <a:rPr lang="en-US" dirty="0" err="1"/>
              <a:t>hiện</a:t>
            </a:r>
            <a:r>
              <a:rPr lang="en-US" dirty="0"/>
              <a:t> </a:t>
            </a:r>
            <a:r>
              <a:rPr lang="en-US" dirty="0" err="1"/>
              <a:t>theo</a:t>
            </a:r>
            <a:r>
              <a:rPr lang="en-US" dirty="0"/>
              <a:t> </a:t>
            </a:r>
            <a:r>
              <a:rPr lang="en-US" dirty="0" err="1"/>
              <a:t>quy</a:t>
            </a:r>
            <a:r>
              <a:rPr lang="en-US" dirty="0"/>
              <a:t> </a:t>
            </a:r>
            <a:r>
              <a:rPr lang="en-US" dirty="0" err="1"/>
              <a:t>định</a:t>
            </a:r>
            <a:r>
              <a:rPr lang="en-US" dirty="0"/>
              <a:t> </a:t>
            </a:r>
            <a:r>
              <a:rPr lang="en-US" dirty="0" err="1"/>
              <a:t>tại</a:t>
            </a:r>
            <a:r>
              <a:rPr lang="en-US" dirty="0"/>
              <a:t> NĐ 347/2025/NĐ-CP </a:t>
            </a:r>
            <a:r>
              <a:rPr lang="en-US" dirty="0" err="1"/>
              <a:t>ngày</a:t>
            </a:r>
            <a:r>
              <a:rPr lang="en-US" dirty="0"/>
              <a:t> 29/12/2025 </a:t>
            </a:r>
            <a:r>
              <a:rPr lang="en-US" dirty="0" err="1"/>
              <a:t>của</a:t>
            </a:r>
            <a:r>
              <a:rPr lang="en-US" dirty="0"/>
              <a:t> CP </a:t>
            </a:r>
            <a:r>
              <a:rPr lang="en-US" dirty="0" err="1"/>
              <a:t>quy</a:t>
            </a:r>
            <a:r>
              <a:rPr lang="en-US" dirty="0"/>
              <a:t> </a:t>
            </a:r>
            <a:r>
              <a:rPr lang="en-US" dirty="0" err="1"/>
              <a:t>định</a:t>
            </a:r>
            <a:r>
              <a:rPr lang="en-US" dirty="0"/>
              <a:t> </a:t>
            </a:r>
            <a:r>
              <a:rPr lang="en-US" dirty="0" err="1"/>
              <a:t>về</a:t>
            </a:r>
            <a:r>
              <a:rPr lang="en-US" dirty="0"/>
              <a:t> </a:t>
            </a:r>
            <a:r>
              <a:rPr lang="en-US" dirty="0" err="1"/>
              <a:t>thủ</a:t>
            </a:r>
            <a:r>
              <a:rPr lang="en-US" dirty="0"/>
              <a:t> </a:t>
            </a:r>
            <a:r>
              <a:rPr lang="en-US" dirty="0" err="1"/>
              <a:t>tục</a:t>
            </a:r>
            <a:r>
              <a:rPr lang="en-US" dirty="0"/>
              <a:t> </a:t>
            </a:r>
            <a:r>
              <a:rPr lang="en-US" dirty="0" err="1"/>
              <a:t>hành</a:t>
            </a:r>
            <a:r>
              <a:rPr lang="en-US" dirty="0"/>
              <a:t> </a:t>
            </a:r>
            <a:r>
              <a:rPr lang="en-US" dirty="0" err="1"/>
              <a:t>chính</a:t>
            </a:r>
            <a:r>
              <a:rPr lang="en-US" dirty="0"/>
              <a:t> </a:t>
            </a:r>
            <a:r>
              <a:rPr lang="en-US" dirty="0" err="1"/>
              <a:t>trong</a:t>
            </a:r>
            <a:r>
              <a:rPr lang="en-US" dirty="0"/>
              <a:t> </a:t>
            </a:r>
            <a:r>
              <a:rPr lang="en-US" dirty="0" err="1"/>
              <a:t>lĩnh</a:t>
            </a:r>
            <a:r>
              <a:rPr lang="en-US" dirty="0"/>
              <a:t> </a:t>
            </a:r>
            <a:r>
              <a:rPr lang="en-US" dirty="0" err="1"/>
              <a:t>vực</a:t>
            </a:r>
            <a:r>
              <a:rPr lang="en-US" dirty="0"/>
              <a:t> KBNN, NĐ </a:t>
            </a:r>
            <a:r>
              <a:rPr lang="en-US" dirty="0" err="1"/>
              <a:t>số</a:t>
            </a:r>
            <a:r>
              <a:rPr lang="en-US" dirty="0"/>
              <a:t> 254/2025/NĐ-CP </a:t>
            </a:r>
            <a:r>
              <a:rPr lang="en-US" dirty="0" err="1"/>
              <a:t>ngày</a:t>
            </a:r>
            <a:r>
              <a:rPr lang="en-US" dirty="0"/>
              <a:t> 26/9/2025 </a:t>
            </a:r>
            <a:r>
              <a:rPr lang="en-US" dirty="0" err="1"/>
              <a:t>của</a:t>
            </a:r>
            <a:r>
              <a:rPr lang="en-US" dirty="0"/>
              <a:t> </a:t>
            </a:r>
            <a:r>
              <a:rPr lang="en-US" dirty="0" err="1"/>
              <a:t>Chính</a:t>
            </a:r>
            <a:r>
              <a:rPr lang="en-US" dirty="0"/>
              <a:t> </a:t>
            </a:r>
            <a:r>
              <a:rPr lang="en-US" dirty="0" err="1"/>
              <a:t>phủ</a:t>
            </a:r>
            <a:r>
              <a:rPr lang="en-US" dirty="0"/>
              <a:t> </a:t>
            </a:r>
            <a:r>
              <a:rPr lang="en-US" dirty="0" err="1"/>
              <a:t>quy</a:t>
            </a:r>
            <a:r>
              <a:rPr lang="en-US" dirty="0"/>
              <a:t> </a:t>
            </a:r>
            <a:r>
              <a:rPr lang="en-US" dirty="0" err="1"/>
              <a:t>định</a:t>
            </a:r>
            <a:r>
              <a:rPr lang="en-US" dirty="0"/>
              <a:t> </a:t>
            </a:r>
            <a:r>
              <a:rPr lang="en-US" dirty="0" err="1"/>
              <a:t>về</a:t>
            </a:r>
            <a:r>
              <a:rPr lang="en-US" dirty="0"/>
              <a:t> </a:t>
            </a:r>
            <a:r>
              <a:rPr lang="en-US" dirty="0" err="1"/>
              <a:t>quản</a:t>
            </a:r>
            <a:r>
              <a:rPr lang="en-US" dirty="0"/>
              <a:t> </a:t>
            </a:r>
            <a:r>
              <a:rPr lang="en-US" dirty="0" err="1"/>
              <a:t>lý</a:t>
            </a:r>
            <a:r>
              <a:rPr lang="en-US" dirty="0"/>
              <a:t>, </a:t>
            </a:r>
            <a:r>
              <a:rPr lang="en-US" dirty="0" err="1"/>
              <a:t>thanh</a:t>
            </a:r>
            <a:r>
              <a:rPr lang="en-US" dirty="0"/>
              <a:t> </a:t>
            </a:r>
            <a:r>
              <a:rPr lang="en-US" dirty="0" err="1"/>
              <a:t>toán</a:t>
            </a:r>
            <a:r>
              <a:rPr lang="en-US" dirty="0"/>
              <a:t>, </a:t>
            </a:r>
            <a:r>
              <a:rPr lang="en-US" dirty="0" err="1"/>
              <a:t>quyết</a:t>
            </a:r>
            <a:r>
              <a:rPr lang="en-US" dirty="0"/>
              <a:t> </a:t>
            </a:r>
            <a:r>
              <a:rPr lang="en-US" dirty="0" err="1"/>
              <a:t>toán</a:t>
            </a:r>
            <a:r>
              <a:rPr lang="en-US" dirty="0"/>
              <a:t> </a:t>
            </a:r>
            <a:r>
              <a:rPr lang="en-US" dirty="0" err="1"/>
              <a:t>dự</a:t>
            </a:r>
            <a:r>
              <a:rPr lang="en-US" dirty="0"/>
              <a:t> </a:t>
            </a:r>
            <a:r>
              <a:rPr lang="en-US" dirty="0" err="1"/>
              <a:t>án</a:t>
            </a:r>
            <a:r>
              <a:rPr lang="en-US" dirty="0"/>
              <a:t> </a:t>
            </a:r>
            <a:r>
              <a:rPr lang="en-US" dirty="0" err="1"/>
              <a:t>sử</a:t>
            </a:r>
            <a:r>
              <a:rPr lang="en-US" dirty="0"/>
              <a:t> </a:t>
            </a:r>
            <a:r>
              <a:rPr lang="en-US" dirty="0" err="1"/>
              <a:t>dụng</a:t>
            </a:r>
            <a:r>
              <a:rPr lang="en-US" dirty="0"/>
              <a:t> </a:t>
            </a:r>
            <a:r>
              <a:rPr lang="en-US" dirty="0" err="1"/>
              <a:t>vốn</a:t>
            </a:r>
            <a:r>
              <a:rPr lang="en-US" dirty="0"/>
              <a:t> </a:t>
            </a:r>
            <a:r>
              <a:rPr lang="en-US" dirty="0" err="1"/>
              <a:t>đầu</a:t>
            </a:r>
            <a:r>
              <a:rPr lang="en-US" dirty="0"/>
              <a:t> </a:t>
            </a:r>
            <a:r>
              <a:rPr lang="en-US" dirty="0" err="1"/>
              <a:t>tư</a:t>
            </a:r>
            <a:r>
              <a:rPr lang="en-US" dirty="0"/>
              <a:t> </a:t>
            </a:r>
            <a:r>
              <a:rPr lang="en-US" dirty="0" err="1"/>
              <a:t>công</a:t>
            </a:r>
            <a:r>
              <a:rPr lang="en-US" dirty="0"/>
              <a:t> </a:t>
            </a:r>
            <a:r>
              <a:rPr lang="en-US" dirty="0" err="1"/>
              <a:t>và</a:t>
            </a:r>
            <a:r>
              <a:rPr lang="en-US" dirty="0"/>
              <a:t> Thông </a:t>
            </a:r>
            <a:r>
              <a:rPr lang="en-US" dirty="0" err="1"/>
              <a:t>tư</a:t>
            </a:r>
            <a:r>
              <a:rPr lang="en-US" dirty="0"/>
              <a:t> </a:t>
            </a:r>
            <a:r>
              <a:rPr lang="en-US" dirty="0" err="1"/>
              <a:t>hướng</a:t>
            </a:r>
            <a:r>
              <a:rPr lang="en-US" dirty="0"/>
              <a:t> </a:t>
            </a:r>
            <a:r>
              <a:rPr lang="en-US" dirty="0" err="1"/>
              <a:t>dẫn</a:t>
            </a:r>
            <a:r>
              <a:rPr lang="en-US" dirty="0"/>
              <a:t> </a:t>
            </a:r>
            <a:r>
              <a:rPr lang="en-US" dirty="0" err="1"/>
              <a:t>của</a:t>
            </a:r>
            <a:r>
              <a:rPr lang="en-US" dirty="0"/>
              <a:t> </a:t>
            </a:r>
            <a:r>
              <a:rPr lang="en-US" dirty="0" err="1"/>
              <a:t>Bộ</a:t>
            </a:r>
            <a:r>
              <a:rPr lang="en-US" dirty="0"/>
              <a:t> </a:t>
            </a:r>
            <a:r>
              <a:rPr lang="en-US" dirty="0" err="1"/>
              <a:t>tài</a:t>
            </a:r>
            <a:r>
              <a:rPr lang="en-US" dirty="0"/>
              <a:t> </a:t>
            </a:r>
            <a:r>
              <a:rPr lang="en-US" dirty="0" err="1"/>
              <a:t>chính</a:t>
            </a:r>
            <a:r>
              <a:rPr lang="en-US" dirty="0"/>
              <a:t>.</a:t>
            </a:r>
          </a:p>
        </p:txBody>
      </p:sp>
      <p:sp>
        <p:nvSpPr>
          <p:cNvPr id="4" name="Slide Number Placeholder 3">
            <a:extLst>
              <a:ext uri="{FF2B5EF4-FFF2-40B4-BE49-F238E27FC236}">
                <a16:creationId xmlns:a16="http://schemas.microsoft.com/office/drawing/2014/main" id="{54367209-6104-3788-918F-ED1F9CB4B0A6}"/>
              </a:ext>
            </a:extLst>
          </p:cNvPr>
          <p:cNvSpPr>
            <a:spLocks noGrp="1"/>
          </p:cNvSpPr>
          <p:nvPr>
            <p:ph type="sldNum" sz="quarter" idx="5"/>
          </p:nvPr>
        </p:nvSpPr>
        <p:spPr/>
        <p:txBody>
          <a:bodyPr/>
          <a:lstStyle/>
          <a:p>
            <a:fld id="{1DD107A9-A0C7-4078-AEEF-185A00981267}" type="slidenum">
              <a:rPr lang="en-US" smtClean="0"/>
              <a:t>46</a:t>
            </a:fld>
            <a:endParaRPr lang="en-US"/>
          </a:p>
        </p:txBody>
      </p:sp>
    </p:spTree>
    <p:extLst>
      <p:ext uri="{BB962C8B-B14F-4D97-AF65-F5344CB8AC3E}">
        <p14:creationId xmlns:p14="http://schemas.microsoft.com/office/powerpoint/2010/main" val="26497043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1204A-399A-9B21-FB1E-91C8B9DAB5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168ACB-9E86-FC47-8FBA-9A71DCCB25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BF6D4D-1C71-F93B-6C6F-1AFD7869F1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Khoản</a:t>
            </a:r>
            <a:r>
              <a:rPr lang="en-US" dirty="0"/>
              <a:t> 4, </a:t>
            </a:r>
            <a:r>
              <a:rPr lang="en-US" dirty="0" err="1"/>
              <a:t>Điều</a:t>
            </a:r>
            <a:r>
              <a:rPr lang="en-US" dirty="0"/>
              <a:t> 15, TT 26/2026/TT-BTC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Chi NS </a:t>
            </a:r>
            <a:r>
              <a:rPr lang="en-US" dirty="0" err="1"/>
              <a:t>theo</a:t>
            </a:r>
            <a:r>
              <a:rPr lang="en-US" dirty="0"/>
              <a:t> </a:t>
            </a:r>
            <a:r>
              <a:rPr lang="en-US" dirty="0" err="1"/>
              <a:t>hình</a:t>
            </a:r>
            <a:r>
              <a:rPr lang="en-US" dirty="0"/>
              <a:t> </a:t>
            </a:r>
            <a:r>
              <a:rPr lang="en-US" dirty="0" err="1"/>
              <a:t>thức</a:t>
            </a:r>
            <a:r>
              <a:rPr lang="en-US" dirty="0"/>
              <a:t> </a:t>
            </a:r>
            <a:r>
              <a:rPr lang="en-US" dirty="0" err="1"/>
              <a:t>rút</a:t>
            </a:r>
            <a:r>
              <a:rPr lang="en-US" dirty="0"/>
              <a:t> </a:t>
            </a:r>
            <a:r>
              <a:rPr lang="en-US" dirty="0" err="1"/>
              <a:t>dự</a:t>
            </a:r>
            <a:r>
              <a:rPr lang="en-US" dirty="0"/>
              <a:t> </a:t>
            </a:r>
            <a:r>
              <a:rPr lang="en-US" dirty="0" err="1"/>
              <a:t>toán</a:t>
            </a:r>
            <a:r>
              <a:rPr lang="en-US" dirty="0"/>
              <a:t>: </a:t>
            </a:r>
            <a:r>
              <a:rPr lang="en-US" dirty="0" err="1"/>
              <a:t>thực</a:t>
            </a:r>
            <a:r>
              <a:rPr lang="en-US" dirty="0"/>
              <a:t> </a:t>
            </a:r>
            <a:r>
              <a:rPr lang="en-US" dirty="0" err="1"/>
              <a:t>hiện</a:t>
            </a:r>
            <a:r>
              <a:rPr lang="en-US" dirty="0"/>
              <a:t> </a:t>
            </a:r>
            <a:r>
              <a:rPr lang="en-US" dirty="0" err="1"/>
              <a:t>theo</a:t>
            </a:r>
            <a:r>
              <a:rPr lang="en-US" dirty="0"/>
              <a:t> </a:t>
            </a:r>
            <a:r>
              <a:rPr lang="en-US" dirty="0" err="1"/>
              <a:t>quy</a:t>
            </a:r>
            <a:r>
              <a:rPr lang="en-US" dirty="0"/>
              <a:t> </a:t>
            </a:r>
            <a:r>
              <a:rPr lang="en-US" dirty="0" err="1"/>
              <a:t>định</a:t>
            </a:r>
            <a:r>
              <a:rPr lang="en-US" dirty="0"/>
              <a:t> </a:t>
            </a:r>
            <a:r>
              <a:rPr lang="en-US" dirty="0" err="1"/>
              <a:t>tại</a:t>
            </a:r>
            <a:r>
              <a:rPr lang="en-US" dirty="0"/>
              <a:t> NĐ 347/2025/NĐ-CP </a:t>
            </a:r>
            <a:r>
              <a:rPr lang="en-US" dirty="0" err="1"/>
              <a:t>ngày</a:t>
            </a:r>
            <a:r>
              <a:rPr lang="en-US" dirty="0"/>
              <a:t> 29/12/2025 </a:t>
            </a:r>
            <a:r>
              <a:rPr lang="en-US" dirty="0" err="1"/>
              <a:t>của</a:t>
            </a:r>
            <a:r>
              <a:rPr lang="en-US" dirty="0"/>
              <a:t> CP </a:t>
            </a:r>
            <a:r>
              <a:rPr lang="en-US" dirty="0" err="1"/>
              <a:t>quy</a:t>
            </a:r>
            <a:r>
              <a:rPr lang="en-US" dirty="0"/>
              <a:t> </a:t>
            </a:r>
            <a:r>
              <a:rPr lang="en-US" dirty="0" err="1"/>
              <a:t>định</a:t>
            </a:r>
            <a:r>
              <a:rPr lang="en-US" dirty="0"/>
              <a:t> </a:t>
            </a:r>
            <a:r>
              <a:rPr lang="en-US" dirty="0" err="1"/>
              <a:t>về</a:t>
            </a:r>
            <a:r>
              <a:rPr lang="en-US" dirty="0"/>
              <a:t> </a:t>
            </a:r>
            <a:r>
              <a:rPr lang="en-US" dirty="0" err="1"/>
              <a:t>thủ</a:t>
            </a:r>
            <a:r>
              <a:rPr lang="en-US" dirty="0"/>
              <a:t> </a:t>
            </a:r>
            <a:r>
              <a:rPr lang="en-US" dirty="0" err="1"/>
              <a:t>tục</a:t>
            </a:r>
            <a:r>
              <a:rPr lang="en-US" dirty="0"/>
              <a:t> </a:t>
            </a:r>
            <a:r>
              <a:rPr lang="en-US" dirty="0" err="1"/>
              <a:t>hành</a:t>
            </a:r>
            <a:r>
              <a:rPr lang="en-US" dirty="0"/>
              <a:t> </a:t>
            </a:r>
            <a:r>
              <a:rPr lang="en-US" dirty="0" err="1"/>
              <a:t>chính</a:t>
            </a:r>
            <a:r>
              <a:rPr lang="en-US" dirty="0"/>
              <a:t> </a:t>
            </a:r>
            <a:r>
              <a:rPr lang="en-US" dirty="0" err="1"/>
              <a:t>trong</a:t>
            </a:r>
            <a:r>
              <a:rPr lang="en-US" dirty="0"/>
              <a:t> </a:t>
            </a:r>
            <a:r>
              <a:rPr lang="en-US" dirty="0" err="1"/>
              <a:t>lĩnh</a:t>
            </a:r>
            <a:r>
              <a:rPr lang="en-US" dirty="0"/>
              <a:t> </a:t>
            </a:r>
            <a:r>
              <a:rPr lang="en-US" dirty="0" err="1"/>
              <a:t>vực</a:t>
            </a:r>
            <a:r>
              <a:rPr lang="en-US" dirty="0"/>
              <a:t> KBNN, NĐ </a:t>
            </a:r>
            <a:r>
              <a:rPr lang="en-US" dirty="0" err="1"/>
              <a:t>số</a:t>
            </a:r>
            <a:r>
              <a:rPr lang="en-US" dirty="0"/>
              <a:t> 254/2025/NĐ-CP </a:t>
            </a:r>
            <a:r>
              <a:rPr lang="en-US" dirty="0" err="1"/>
              <a:t>ngày</a:t>
            </a:r>
            <a:r>
              <a:rPr lang="en-US" dirty="0"/>
              <a:t> 26/9/2025 </a:t>
            </a:r>
            <a:r>
              <a:rPr lang="en-US" dirty="0" err="1"/>
              <a:t>của</a:t>
            </a:r>
            <a:r>
              <a:rPr lang="en-US" dirty="0"/>
              <a:t> </a:t>
            </a:r>
            <a:r>
              <a:rPr lang="en-US" dirty="0" err="1"/>
              <a:t>Chính</a:t>
            </a:r>
            <a:r>
              <a:rPr lang="en-US" dirty="0"/>
              <a:t> </a:t>
            </a:r>
            <a:r>
              <a:rPr lang="en-US" dirty="0" err="1"/>
              <a:t>phủ</a:t>
            </a:r>
            <a:r>
              <a:rPr lang="en-US" dirty="0"/>
              <a:t> </a:t>
            </a:r>
            <a:r>
              <a:rPr lang="en-US" dirty="0" err="1"/>
              <a:t>quy</a:t>
            </a:r>
            <a:r>
              <a:rPr lang="en-US" dirty="0"/>
              <a:t> </a:t>
            </a:r>
            <a:r>
              <a:rPr lang="en-US" dirty="0" err="1"/>
              <a:t>định</a:t>
            </a:r>
            <a:r>
              <a:rPr lang="en-US" dirty="0"/>
              <a:t> </a:t>
            </a:r>
            <a:r>
              <a:rPr lang="en-US" dirty="0" err="1"/>
              <a:t>về</a:t>
            </a:r>
            <a:r>
              <a:rPr lang="en-US" dirty="0"/>
              <a:t> </a:t>
            </a:r>
            <a:r>
              <a:rPr lang="en-US" dirty="0" err="1"/>
              <a:t>quản</a:t>
            </a:r>
            <a:r>
              <a:rPr lang="en-US" dirty="0"/>
              <a:t> </a:t>
            </a:r>
            <a:r>
              <a:rPr lang="en-US" dirty="0" err="1"/>
              <a:t>lý</a:t>
            </a:r>
            <a:r>
              <a:rPr lang="en-US" dirty="0"/>
              <a:t>, </a:t>
            </a:r>
            <a:r>
              <a:rPr lang="en-US" dirty="0" err="1"/>
              <a:t>thanh</a:t>
            </a:r>
            <a:r>
              <a:rPr lang="en-US" dirty="0"/>
              <a:t> </a:t>
            </a:r>
            <a:r>
              <a:rPr lang="en-US" dirty="0" err="1"/>
              <a:t>toán</a:t>
            </a:r>
            <a:r>
              <a:rPr lang="en-US" dirty="0"/>
              <a:t>, </a:t>
            </a:r>
            <a:r>
              <a:rPr lang="en-US" dirty="0" err="1"/>
              <a:t>quyết</a:t>
            </a:r>
            <a:r>
              <a:rPr lang="en-US" dirty="0"/>
              <a:t> </a:t>
            </a:r>
            <a:r>
              <a:rPr lang="en-US" dirty="0" err="1"/>
              <a:t>toán</a:t>
            </a:r>
            <a:r>
              <a:rPr lang="en-US" dirty="0"/>
              <a:t> </a:t>
            </a:r>
            <a:r>
              <a:rPr lang="en-US" dirty="0" err="1"/>
              <a:t>dự</a:t>
            </a:r>
            <a:r>
              <a:rPr lang="en-US" dirty="0"/>
              <a:t> </a:t>
            </a:r>
            <a:r>
              <a:rPr lang="en-US" dirty="0" err="1"/>
              <a:t>án</a:t>
            </a:r>
            <a:r>
              <a:rPr lang="en-US" dirty="0"/>
              <a:t> </a:t>
            </a:r>
            <a:r>
              <a:rPr lang="en-US" dirty="0" err="1"/>
              <a:t>sử</a:t>
            </a:r>
            <a:r>
              <a:rPr lang="en-US" dirty="0"/>
              <a:t> </a:t>
            </a:r>
            <a:r>
              <a:rPr lang="en-US" dirty="0" err="1"/>
              <a:t>dụng</a:t>
            </a:r>
            <a:r>
              <a:rPr lang="en-US" dirty="0"/>
              <a:t> </a:t>
            </a:r>
            <a:r>
              <a:rPr lang="en-US" dirty="0" err="1"/>
              <a:t>vốn</a:t>
            </a:r>
            <a:r>
              <a:rPr lang="en-US" dirty="0"/>
              <a:t> </a:t>
            </a:r>
            <a:r>
              <a:rPr lang="en-US" dirty="0" err="1"/>
              <a:t>đầu</a:t>
            </a:r>
            <a:r>
              <a:rPr lang="en-US" dirty="0"/>
              <a:t> </a:t>
            </a:r>
            <a:r>
              <a:rPr lang="en-US" dirty="0" err="1"/>
              <a:t>tư</a:t>
            </a:r>
            <a:r>
              <a:rPr lang="en-US" dirty="0"/>
              <a:t> </a:t>
            </a:r>
            <a:r>
              <a:rPr lang="en-US" dirty="0" err="1"/>
              <a:t>công</a:t>
            </a:r>
            <a:r>
              <a:rPr lang="en-US" dirty="0"/>
              <a:t> </a:t>
            </a:r>
            <a:r>
              <a:rPr lang="en-US" dirty="0" err="1"/>
              <a:t>và</a:t>
            </a:r>
            <a:r>
              <a:rPr lang="en-US" dirty="0"/>
              <a:t> Thông </a:t>
            </a:r>
            <a:r>
              <a:rPr lang="en-US" dirty="0" err="1"/>
              <a:t>tư</a:t>
            </a:r>
            <a:r>
              <a:rPr lang="en-US" dirty="0"/>
              <a:t> </a:t>
            </a:r>
            <a:r>
              <a:rPr lang="en-US" dirty="0" err="1"/>
              <a:t>hướng</a:t>
            </a:r>
            <a:r>
              <a:rPr lang="en-US" dirty="0"/>
              <a:t> </a:t>
            </a:r>
            <a:r>
              <a:rPr lang="en-US" dirty="0" err="1"/>
              <a:t>dẫn</a:t>
            </a:r>
            <a:r>
              <a:rPr lang="en-US" dirty="0"/>
              <a:t> </a:t>
            </a:r>
            <a:r>
              <a:rPr lang="en-US" dirty="0" err="1"/>
              <a:t>của</a:t>
            </a:r>
            <a:r>
              <a:rPr lang="en-US" dirty="0"/>
              <a:t> </a:t>
            </a:r>
            <a:r>
              <a:rPr lang="en-US" dirty="0" err="1"/>
              <a:t>Bộ</a:t>
            </a:r>
            <a:r>
              <a:rPr lang="en-US" dirty="0"/>
              <a:t> </a:t>
            </a:r>
            <a:r>
              <a:rPr lang="en-US" dirty="0" err="1"/>
              <a:t>tài</a:t>
            </a:r>
            <a:r>
              <a:rPr lang="en-US" dirty="0"/>
              <a:t> </a:t>
            </a:r>
            <a:r>
              <a:rPr lang="en-US" dirty="0" err="1"/>
              <a:t>chính</a:t>
            </a:r>
            <a:r>
              <a:rPr lang="en-US" dirty="0"/>
              <a:t>.</a:t>
            </a:r>
          </a:p>
        </p:txBody>
      </p:sp>
      <p:sp>
        <p:nvSpPr>
          <p:cNvPr id="4" name="Slide Number Placeholder 3">
            <a:extLst>
              <a:ext uri="{FF2B5EF4-FFF2-40B4-BE49-F238E27FC236}">
                <a16:creationId xmlns:a16="http://schemas.microsoft.com/office/drawing/2014/main" id="{96DEC31A-39F1-D93D-3388-C3E8FEF70C60}"/>
              </a:ext>
            </a:extLst>
          </p:cNvPr>
          <p:cNvSpPr>
            <a:spLocks noGrp="1"/>
          </p:cNvSpPr>
          <p:nvPr>
            <p:ph type="sldNum" sz="quarter" idx="5"/>
          </p:nvPr>
        </p:nvSpPr>
        <p:spPr/>
        <p:txBody>
          <a:bodyPr/>
          <a:lstStyle/>
          <a:p>
            <a:fld id="{1DD107A9-A0C7-4078-AEEF-185A00981267}" type="slidenum">
              <a:rPr lang="en-US" smtClean="0"/>
              <a:t>47</a:t>
            </a:fld>
            <a:endParaRPr lang="en-US"/>
          </a:p>
        </p:txBody>
      </p:sp>
    </p:spTree>
    <p:extLst>
      <p:ext uri="{BB962C8B-B14F-4D97-AF65-F5344CB8AC3E}">
        <p14:creationId xmlns:p14="http://schemas.microsoft.com/office/powerpoint/2010/main" val="4783642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B45F9-D56A-9134-6012-003BFE3B3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81805-32F4-B4B9-E3E8-42A6409B07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CE054A-A23D-6079-3E0A-59D73C5AEB6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53 </a:t>
            </a:r>
            <a:r>
              <a:rPr lang="en-US" dirty="0" err="1"/>
              <a:t>Luật</a:t>
            </a:r>
            <a:r>
              <a:rPr lang="en-US" dirty="0"/>
              <a:t> NSNN 2025</a:t>
            </a:r>
          </a:p>
        </p:txBody>
      </p:sp>
      <p:sp>
        <p:nvSpPr>
          <p:cNvPr id="4" name="Slide Number Placeholder 3">
            <a:extLst>
              <a:ext uri="{FF2B5EF4-FFF2-40B4-BE49-F238E27FC236}">
                <a16:creationId xmlns:a16="http://schemas.microsoft.com/office/drawing/2014/main" id="{24964F29-5C93-6D77-524B-7042BAD71634}"/>
              </a:ext>
            </a:extLst>
          </p:cNvPr>
          <p:cNvSpPr>
            <a:spLocks noGrp="1"/>
          </p:cNvSpPr>
          <p:nvPr>
            <p:ph type="sldNum" sz="quarter" idx="5"/>
          </p:nvPr>
        </p:nvSpPr>
        <p:spPr/>
        <p:txBody>
          <a:bodyPr/>
          <a:lstStyle/>
          <a:p>
            <a:fld id="{1DD107A9-A0C7-4078-AEEF-185A00981267}" type="slidenum">
              <a:rPr lang="en-US" smtClean="0"/>
              <a:t>48</a:t>
            </a:fld>
            <a:endParaRPr lang="en-US"/>
          </a:p>
        </p:txBody>
      </p:sp>
    </p:spTree>
    <p:extLst>
      <p:ext uri="{BB962C8B-B14F-4D97-AF65-F5344CB8AC3E}">
        <p14:creationId xmlns:p14="http://schemas.microsoft.com/office/powerpoint/2010/main" val="10496260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3233A-C4DA-1C6C-BC48-FC25D88684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503122-3EAE-E99B-B229-3A4DB14510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53D530-E658-1EB7-BB6A-2839A551E0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Khoản</a:t>
            </a:r>
            <a:r>
              <a:rPr lang="en-US" dirty="0"/>
              <a:t> 3 </a:t>
            </a:r>
            <a:r>
              <a:rPr lang="en-US" dirty="0" err="1"/>
              <a:t>Điều</a:t>
            </a:r>
            <a:r>
              <a:rPr lang="en-US" dirty="0"/>
              <a:t> 54 </a:t>
            </a:r>
            <a:r>
              <a:rPr lang="en-US" dirty="0" err="1"/>
              <a:t>Luật</a:t>
            </a:r>
            <a:r>
              <a:rPr lang="en-US" dirty="0"/>
              <a:t> NSNN 2025.</a:t>
            </a:r>
          </a:p>
        </p:txBody>
      </p:sp>
      <p:sp>
        <p:nvSpPr>
          <p:cNvPr id="4" name="Slide Number Placeholder 3">
            <a:extLst>
              <a:ext uri="{FF2B5EF4-FFF2-40B4-BE49-F238E27FC236}">
                <a16:creationId xmlns:a16="http://schemas.microsoft.com/office/drawing/2014/main" id="{C02F810F-C7F4-5400-1B49-571D3F7BBCE0}"/>
              </a:ext>
            </a:extLst>
          </p:cNvPr>
          <p:cNvSpPr>
            <a:spLocks noGrp="1"/>
          </p:cNvSpPr>
          <p:nvPr>
            <p:ph type="sldNum" sz="quarter" idx="5"/>
          </p:nvPr>
        </p:nvSpPr>
        <p:spPr/>
        <p:txBody>
          <a:bodyPr/>
          <a:lstStyle/>
          <a:p>
            <a:fld id="{1DD107A9-A0C7-4078-AEEF-185A00981267}" type="slidenum">
              <a:rPr lang="en-US" smtClean="0"/>
              <a:t>49</a:t>
            </a:fld>
            <a:endParaRPr lang="en-US"/>
          </a:p>
        </p:txBody>
      </p:sp>
    </p:spTree>
    <p:extLst>
      <p:ext uri="{BB962C8B-B14F-4D97-AF65-F5344CB8AC3E}">
        <p14:creationId xmlns:p14="http://schemas.microsoft.com/office/powerpoint/2010/main" val="3942953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8D505-7F43-6867-1F3D-5E69DECD1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32CF63-AFE0-55D2-6480-F72DCAA909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AD9AB9-F216-AC45-4602-A9DB5672C88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B522CED-6537-4CBA-39E1-9670A3F17456}"/>
              </a:ext>
            </a:extLst>
          </p:cNvPr>
          <p:cNvSpPr>
            <a:spLocks noGrp="1"/>
          </p:cNvSpPr>
          <p:nvPr>
            <p:ph type="sldNum" sz="quarter" idx="5"/>
          </p:nvPr>
        </p:nvSpPr>
        <p:spPr/>
        <p:txBody>
          <a:bodyPr/>
          <a:lstStyle/>
          <a:p>
            <a:fld id="{1DD107A9-A0C7-4078-AEEF-185A00981267}" type="slidenum">
              <a:rPr lang="en-US" smtClean="0"/>
              <a:t>50</a:t>
            </a:fld>
            <a:endParaRPr lang="en-US"/>
          </a:p>
        </p:txBody>
      </p:sp>
    </p:spTree>
    <p:extLst>
      <p:ext uri="{BB962C8B-B14F-4D97-AF65-F5344CB8AC3E}">
        <p14:creationId xmlns:p14="http://schemas.microsoft.com/office/powerpoint/2010/main" val="30824057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7F0A5-36C5-36CB-B9FC-5AFFE317F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46AA99-5668-E741-79E2-192E85A8CD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6E575D-4A52-8996-9489-5D4091D90E2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err="1">
                <a:solidFill>
                  <a:srgbClr val="000000"/>
                </a:solidFill>
                <a:latin typeface="Times New Roman" panose="02020603050405020304" pitchFamily="18" charset="0"/>
              </a:rPr>
              <a:t>Khoản</a:t>
            </a:r>
            <a:r>
              <a:rPr lang="en-US" sz="1200" b="1" dirty="0">
                <a:solidFill>
                  <a:srgbClr val="000000"/>
                </a:solidFill>
                <a:latin typeface="Times New Roman" panose="02020603050405020304" pitchFamily="18" charset="0"/>
              </a:rPr>
              <a:t> 3, </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 </a:t>
            </a:r>
            <a:r>
              <a:rPr lang="en-US" sz="1200" b="1" dirty="0" err="1">
                <a:solidFill>
                  <a:srgbClr val="000000"/>
                </a:solidFill>
                <a:latin typeface="Times New Roman" panose="02020603050405020304" pitchFamily="18" charset="0"/>
              </a:rPr>
              <a:t>điểm</a:t>
            </a:r>
            <a:r>
              <a:rPr lang="en-US" sz="1200" b="1" dirty="0">
                <a:solidFill>
                  <a:srgbClr val="000000"/>
                </a:solidFill>
                <a:latin typeface="Times New Roman" panose="02020603050405020304" pitchFamily="18" charset="0"/>
              </a:rPr>
              <a:t> c </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22  NĐ 73/2026/NĐ-CP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EB1814DD-430B-DF95-C5BF-0E4FF6DE66A9}"/>
              </a:ext>
            </a:extLst>
          </p:cNvPr>
          <p:cNvSpPr>
            <a:spLocks noGrp="1"/>
          </p:cNvSpPr>
          <p:nvPr>
            <p:ph type="sldNum" sz="quarter" idx="5"/>
          </p:nvPr>
        </p:nvSpPr>
        <p:spPr/>
        <p:txBody>
          <a:bodyPr/>
          <a:lstStyle/>
          <a:p>
            <a:fld id="{1DD107A9-A0C7-4078-AEEF-185A00981267}" type="slidenum">
              <a:rPr lang="en-US" smtClean="0"/>
              <a:t>51</a:t>
            </a:fld>
            <a:endParaRPr lang="en-US"/>
          </a:p>
        </p:txBody>
      </p:sp>
    </p:spTree>
    <p:extLst>
      <p:ext uri="{BB962C8B-B14F-4D97-AF65-F5344CB8AC3E}">
        <p14:creationId xmlns:p14="http://schemas.microsoft.com/office/powerpoint/2010/main" val="21285544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82940-12C7-D618-B545-1BAB0DFB3F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C28F7C-6123-6F39-392E-3CDB85739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715FB-3714-8F90-8A54-F6E307F2018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61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74F7C2E-789D-D818-0EE8-DEEAFED894DF}"/>
              </a:ext>
            </a:extLst>
          </p:cNvPr>
          <p:cNvSpPr>
            <a:spLocks noGrp="1"/>
          </p:cNvSpPr>
          <p:nvPr>
            <p:ph type="sldNum" sz="quarter" idx="5"/>
          </p:nvPr>
        </p:nvSpPr>
        <p:spPr/>
        <p:txBody>
          <a:bodyPr/>
          <a:lstStyle/>
          <a:p>
            <a:fld id="{1DD107A9-A0C7-4078-AEEF-185A00981267}" type="slidenum">
              <a:rPr lang="en-US" smtClean="0"/>
              <a:t>52</a:t>
            </a:fld>
            <a:endParaRPr lang="en-US"/>
          </a:p>
        </p:txBody>
      </p:sp>
    </p:spTree>
    <p:extLst>
      <p:ext uri="{BB962C8B-B14F-4D97-AF65-F5344CB8AC3E}">
        <p14:creationId xmlns:p14="http://schemas.microsoft.com/office/powerpoint/2010/main" val="17865922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EFA92-36BE-F827-F47C-79C60A5FEB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378EF7-4A2F-4ACF-1A12-63134AEE5F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33382-4C2C-F8AC-EDBE-85F702CE019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61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DCB566B-B368-046B-4BC4-F94660E1EFE7}"/>
              </a:ext>
            </a:extLst>
          </p:cNvPr>
          <p:cNvSpPr>
            <a:spLocks noGrp="1"/>
          </p:cNvSpPr>
          <p:nvPr>
            <p:ph type="sldNum" sz="quarter" idx="5"/>
          </p:nvPr>
        </p:nvSpPr>
        <p:spPr/>
        <p:txBody>
          <a:bodyPr/>
          <a:lstStyle/>
          <a:p>
            <a:fld id="{1DD107A9-A0C7-4078-AEEF-185A00981267}" type="slidenum">
              <a:rPr lang="en-US" smtClean="0"/>
              <a:t>53</a:t>
            </a:fld>
            <a:endParaRPr lang="en-US"/>
          </a:p>
        </p:txBody>
      </p:sp>
    </p:spTree>
    <p:extLst>
      <p:ext uri="{BB962C8B-B14F-4D97-AF65-F5344CB8AC3E}">
        <p14:creationId xmlns:p14="http://schemas.microsoft.com/office/powerpoint/2010/main" val="412596732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1E0E8-97CA-F49E-7968-E182D720CA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A918DE-100D-696D-269C-C127FA136A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22E689-7EC8-E36C-A6F9-FB56F40C363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10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038FD50-E7AB-EE42-84AE-305B8204D107}"/>
              </a:ext>
            </a:extLst>
          </p:cNvPr>
          <p:cNvSpPr>
            <a:spLocks noGrp="1"/>
          </p:cNvSpPr>
          <p:nvPr>
            <p:ph type="sldNum" sz="quarter" idx="5"/>
          </p:nvPr>
        </p:nvSpPr>
        <p:spPr/>
        <p:txBody>
          <a:bodyPr/>
          <a:lstStyle/>
          <a:p>
            <a:fld id="{1DD107A9-A0C7-4078-AEEF-185A00981267}" type="slidenum">
              <a:rPr lang="en-US" smtClean="0"/>
              <a:t>54</a:t>
            </a:fld>
            <a:endParaRPr lang="en-US"/>
          </a:p>
        </p:txBody>
      </p:sp>
    </p:spTree>
    <p:extLst>
      <p:ext uri="{BB962C8B-B14F-4D97-AF65-F5344CB8AC3E}">
        <p14:creationId xmlns:p14="http://schemas.microsoft.com/office/powerpoint/2010/main" val="21862782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EDF04-A317-16C3-576A-E8789A5820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A847F3-5F89-B622-11A2-628F544D74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B91E50-C3F7-E039-48A7-2AE21BDFC9E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0642E24-E06E-B7A8-1266-AA5A05F6D7CC}"/>
              </a:ext>
            </a:extLst>
          </p:cNvPr>
          <p:cNvSpPr>
            <a:spLocks noGrp="1"/>
          </p:cNvSpPr>
          <p:nvPr>
            <p:ph type="sldNum" sz="quarter" idx="5"/>
          </p:nvPr>
        </p:nvSpPr>
        <p:spPr/>
        <p:txBody>
          <a:bodyPr/>
          <a:lstStyle/>
          <a:p>
            <a:fld id="{1DD107A9-A0C7-4078-AEEF-185A00981267}" type="slidenum">
              <a:rPr lang="en-US" smtClean="0"/>
              <a:t>55</a:t>
            </a:fld>
            <a:endParaRPr lang="en-US"/>
          </a:p>
        </p:txBody>
      </p:sp>
    </p:spTree>
    <p:extLst>
      <p:ext uri="{BB962C8B-B14F-4D97-AF65-F5344CB8AC3E}">
        <p14:creationId xmlns:p14="http://schemas.microsoft.com/office/powerpoint/2010/main" val="347893948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2D190-601B-1009-FD20-F94265406F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85873B-9BF7-A45A-68F5-02CD7719BE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3631B6-7647-C479-FD8B-24D5235F033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A173B55-2B9A-9169-EB8C-9A25351D9461}"/>
              </a:ext>
            </a:extLst>
          </p:cNvPr>
          <p:cNvSpPr>
            <a:spLocks noGrp="1"/>
          </p:cNvSpPr>
          <p:nvPr>
            <p:ph type="sldNum" sz="quarter" idx="5"/>
          </p:nvPr>
        </p:nvSpPr>
        <p:spPr/>
        <p:txBody>
          <a:bodyPr/>
          <a:lstStyle/>
          <a:p>
            <a:fld id="{1DD107A9-A0C7-4078-AEEF-185A00981267}" type="slidenum">
              <a:rPr lang="en-US" smtClean="0"/>
              <a:t>56</a:t>
            </a:fld>
            <a:endParaRPr lang="en-US"/>
          </a:p>
        </p:txBody>
      </p:sp>
    </p:spTree>
    <p:extLst>
      <p:ext uri="{BB962C8B-B14F-4D97-AF65-F5344CB8AC3E}">
        <p14:creationId xmlns:p14="http://schemas.microsoft.com/office/powerpoint/2010/main" val="301359872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E257A-4C4E-F4B2-53BC-9B0FE5324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4AE5A3-310F-06DC-1E71-808FB75F3F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A26430-F752-BA3A-D393-A7A9D40E45C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67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F6D8A8EB-9A4F-B35A-CD16-97FB7209DD42}"/>
              </a:ext>
            </a:extLst>
          </p:cNvPr>
          <p:cNvSpPr>
            <a:spLocks noGrp="1"/>
          </p:cNvSpPr>
          <p:nvPr>
            <p:ph type="sldNum" sz="quarter" idx="5"/>
          </p:nvPr>
        </p:nvSpPr>
        <p:spPr/>
        <p:txBody>
          <a:bodyPr/>
          <a:lstStyle/>
          <a:p>
            <a:fld id="{1DD107A9-A0C7-4078-AEEF-185A00981267}" type="slidenum">
              <a:rPr lang="en-US" smtClean="0"/>
              <a:t>57</a:t>
            </a:fld>
            <a:endParaRPr lang="en-US"/>
          </a:p>
        </p:txBody>
      </p:sp>
    </p:spTree>
    <p:extLst>
      <p:ext uri="{BB962C8B-B14F-4D97-AF65-F5344CB8AC3E}">
        <p14:creationId xmlns:p14="http://schemas.microsoft.com/office/powerpoint/2010/main" val="6810915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623D5-6782-1B93-21CF-9117B923A5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74D286-D33F-82C4-A83F-4A024FF08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EA27B-A518-CC0A-785A-2154E5D8EC3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62F2E44-9C28-96FD-ED13-88311F3B76DA}"/>
              </a:ext>
            </a:extLst>
          </p:cNvPr>
          <p:cNvSpPr>
            <a:spLocks noGrp="1"/>
          </p:cNvSpPr>
          <p:nvPr>
            <p:ph type="sldNum" sz="quarter" idx="5"/>
          </p:nvPr>
        </p:nvSpPr>
        <p:spPr/>
        <p:txBody>
          <a:bodyPr/>
          <a:lstStyle/>
          <a:p>
            <a:fld id="{1DD107A9-A0C7-4078-AEEF-185A00981267}" type="slidenum">
              <a:rPr lang="en-US" smtClean="0"/>
              <a:t>58</a:t>
            </a:fld>
            <a:endParaRPr lang="en-US"/>
          </a:p>
        </p:txBody>
      </p:sp>
    </p:spTree>
    <p:extLst>
      <p:ext uri="{BB962C8B-B14F-4D97-AF65-F5344CB8AC3E}">
        <p14:creationId xmlns:p14="http://schemas.microsoft.com/office/powerpoint/2010/main" val="184945088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51546-516D-530C-25CF-EF93B81D0B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5A9DD2-B63C-2656-C37B-5E5B015EBC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DFCFEC-553A-35BC-1D39-6486210FB0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F7FBEDB4-B7BE-4234-32F9-D96A5843520C}"/>
              </a:ext>
            </a:extLst>
          </p:cNvPr>
          <p:cNvSpPr>
            <a:spLocks noGrp="1"/>
          </p:cNvSpPr>
          <p:nvPr>
            <p:ph type="sldNum" sz="quarter" idx="5"/>
          </p:nvPr>
        </p:nvSpPr>
        <p:spPr/>
        <p:txBody>
          <a:bodyPr/>
          <a:lstStyle/>
          <a:p>
            <a:fld id="{1DD107A9-A0C7-4078-AEEF-185A00981267}" type="slidenum">
              <a:rPr lang="en-US" smtClean="0"/>
              <a:t>59</a:t>
            </a:fld>
            <a:endParaRPr lang="en-US"/>
          </a:p>
        </p:txBody>
      </p:sp>
    </p:spTree>
    <p:extLst>
      <p:ext uri="{BB962C8B-B14F-4D97-AF65-F5344CB8AC3E}">
        <p14:creationId xmlns:p14="http://schemas.microsoft.com/office/powerpoint/2010/main" val="9954076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AF089-161F-4C1D-D767-07A38141C8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B7A31A-8672-DAC8-117E-010857ADC8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BCAF1B-4B01-A37C-8091-B9454E8C605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9FAAE87-4CDB-B4F7-0E32-846F34C85795}"/>
              </a:ext>
            </a:extLst>
          </p:cNvPr>
          <p:cNvSpPr>
            <a:spLocks noGrp="1"/>
          </p:cNvSpPr>
          <p:nvPr>
            <p:ph type="sldNum" sz="quarter" idx="5"/>
          </p:nvPr>
        </p:nvSpPr>
        <p:spPr/>
        <p:txBody>
          <a:bodyPr/>
          <a:lstStyle/>
          <a:p>
            <a:fld id="{1DD107A9-A0C7-4078-AEEF-185A00981267}" type="slidenum">
              <a:rPr lang="en-US" smtClean="0"/>
              <a:t>60</a:t>
            </a:fld>
            <a:endParaRPr lang="en-US"/>
          </a:p>
        </p:txBody>
      </p:sp>
    </p:spTree>
    <p:extLst>
      <p:ext uri="{BB962C8B-B14F-4D97-AF65-F5344CB8AC3E}">
        <p14:creationId xmlns:p14="http://schemas.microsoft.com/office/powerpoint/2010/main" val="66371999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137E7-6986-C0E6-9DCE-4784E8C78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9DC7E3-F9A1-76FB-944C-1E1FB81137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A83C4-84F4-3759-DC86-5994351E0E8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9C72D5E-A096-62D0-D41F-3332B256DC92}"/>
              </a:ext>
            </a:extLst>
          </p:cNvPr>
          <p:cNvSpPr>
            <a:spLocks noGrp="1"/>
          </p:cNvSpPr>
          <p:nvPr>
            <p:ph type="sldNum" sz="quarter" idx="5"/>
          </p:nvPr>
        </p:nvSpPr>
        <p:spPr/>
        <p:txBody>
          <a:bodyPr/>
          <a:lstStyle/>
          <a:p>
            <a:fld id="{1DD107A9-A0C7-4078-AEEF-185A00981267}" type="slidenum">
              <a:rPr lang="en-US" smtClean="0"/>
              <a:t>61</a:t>
            </a:fld>
            <a:endParaRPr lang="en-US"/>
          </a:p>
        </p:txBody>
      </p:sp>
    </p:spTree>
    <p:extLst>
      <p:ext uri="{BB962C8B-B14F-4D97-AF65-F5344CB8AC3E}">
        <p14:creationId xmlns:p14="http://schemas.microsoft.com/office/powerpoint/2010/main" val="331090210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C092F-E88A-5D8E-26C5-74C1A71C3D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1EB28A-77FF-473F-D9FC-AC4CA3F546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3B1563-DA64-2020-190A-84D28F8CEDF3}"/>
              </a:ext>
            </a:extLst>
          </p:cNvPr>
          <p:cNvSpPr>
            <a:spLocks noGrp="1"/>
          </p:cNvSpPr>
          <p:nvPr>
            <p:ph type="body" idx="1"/>
          </p:nvPr>
        </p:nvSpPr>
        <p:spPr/>
        <p:txBody>
          <a:bodyPr/>
          <a:lstStyle/>
          <a:p>
            <a:r>
              <a:rPr lang="en-US" sz="1200" kern="1200" dirty="0" err="1">
                <a:solidFill>
                  <a:schemeClr val="tx1"/>
                </a:solidFill>
                <a:effectLst/>
                <a:latin typeface="+mn-lt"/>
                <a:ea typeface="+mn-ea"/>
                <a:cs typeface="+mn-cs"/>
              </a:rPr>
              <a:t>Chúng</a:t>
            </a:r>
            <a:r>
              <a:rPr lang="en-US" sz="1200" kern="1200" dirty="0">
                <a:solidFill>
                  <a:schemeClr val="tx1"/>
                </a:solidFill>
                <a:effectLst/>
                <a:latin typeface="+mn-lt"/>
                <a:ea typeface="+mn-ea"/>
                <a:cs typeface="+mn-cs"/>
              </a:rPr>
              <a:t> ta </a:t>
            </a:r>
            <a:r>
              <a:rPr lang="en-US" sz="1200" kern="1200" dirty="0" err="1">
                <a:solidFill>
                  <a:schemeClr val="tx1"/>
                </a:solidFill>
                <a:effectLst/>
                <a:latin typeface="+mn-lt"/>
                <a:ea typeface="+mn-ea"/>
                <a:cs typeface="+mn-cs"/>
              </a:rPr>
              <a:t>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nhạy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cảm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tài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Ngày</a:t>
            </a:r>
            <a:r>
              <a:rPr lang="en-US" sz="1200" kern="1200" dirty="0">
                <a:solidFill>
                  <a:schemeClr val="tx1"/>
                </a:solidFill>
                <a:effectLst/>
                <a:latin typeface="+mn-lt"/>
                <a:ea typeface="+mn-ea"/>
                <a:cs typeface="+mn-cs"/>
              </a:rPr>
              <a:t> 31/12. Theo </a:t>
            </a:r>
            <a:r>
              <a:rPr lang="en-US" sz="1200" kern="1200" dirty="0" err="1">
                <a:solidFill>
                  <a:schemeClr val="tx1"/>
                </a:solidFill>
                <a:effectLst/>
                <a:latin typeface="+mn-lt"/>
                <a:ea typeface="+mn-ea"/>
                <a:cs typeface="+mn-cs"/>
              </a:rPr>
              <a:t>Điều</a:t>
            </a:r>
            <a:r>
              <a:rPr lang="en-US" sz="1200" kern="1200" dirty="0">
                <a:solidFill>
                  <a:schemeClr val="tx1"/>
                </a:solidFill>
                <a:effectLst/>
                <a:latin typeface="+mn-lt"/>
                <a:ea typeface="+mn-ea"/>
                <a:cs typeface="+mn-cs"/>
              </a:rPr>
              <a:t> 66,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thúc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vị</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khóa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sổ</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Tuy </a:t>
            </a:r>
            <a:r>
              <a:rPr lang="en-US" sz="1200" kern="1200" dirty="0" err="1">
                <a:solidFill>
                  <a:schemeClr val="tx1"/>
                </a:solidFill>
                <a:effectLst/>
                <a:latin typeface="+mn-lt"/>
                <a:ea typeface="+mn-ea"/>
                <a:cs typeface="+mn-cs"/>
              </a:rPr>
              <a:t>nhiên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Luật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phép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khoảng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gọi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quyết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kéo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dài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ngày</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31/01 </a:t>
            </a:r>
            <a:r>
              <a:rPr lang="en-US" sz="1200" b="1" kern="1200" dirty="0" err="1">
                <a:solidFill>
                  <a:schemeClr val="tx1"/>
                </a:solidFill>
                <a:effectLst/>
                <a:latin typeface="+mn-lt"/>
                <a:ea typeface="+mn-ea"/>
                <a:cs typeface="+mn-cs"/>
              </a:rPr>
              <a:t>năm</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nốt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còn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đang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dở</a:t>
            </a:r>
            <a:r>
              <a:rPr lang="en-US" sz="1200" kern="1200" dirty="0">
                <a:solidFill>
                  <a:schemeClr val="tx1"/>
                </a:solidFill>
                <a:effectLst/>
                <a:latin typeface="+mn-lt"/>
                <a:ea typeface="+mn-ea"/>
                <a:cs typeface="+mn-cs"/>
              </a:rPr>
              <a:t> dang.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Các </a:t>
            </a:r>
            <a:r>
              <a:rPr lang="en-US" sz="1200" kern="1200" dirty="0" err="1">
                <a:solidFill>
                  <a:schemeClr val="tx1"/>
                </a:solidFill>
                <a:effectLst/>
                <a:latin typeface="+mn-lt"/>
                <a:ea typeface="+mn-ea"/>
                <a:cs typeface="+mn-cs"/>
              </a:rPr>
              <a:t>bạn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còn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nhớ</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Hội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chưa</a:t>
            </a:r>
            <a:r>
              <a:rPr lang="en-US" sz="1200" kern="1200" dirty="0">
                <a:solidFill>
                  <a:schemeClr val="tx1"/>
                </a:solidFill>
                <a:effectLst/>
                <a:latin typeface="+mn-lt"/>
                <a:ea typeface="+mn-ea"/>
                <a:cs typeface="+mn-cs"/>
              </a:rPr>
              <a:t> chi </a:t>
            </a:r>
            <a:r>
              <a:rPr lang="en-US" sz="1200" kern="1200" dirty="0" err="1">
                <a:solidFill>
                  <a:schemeClr val="tx1"/>
                </a:solidFill>
                <a:effectLst/>
                <a:latin typeface="+mn-lt"/>
                <a:ea typeface="+mn-ea"/>
                <a:cs typeface="+mn-cs"/>
              </a:rPr>
              <a:t>hết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hủy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bỏ</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lấp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xuống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chứ</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quyết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chịu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nào</a:t>
            </a:r>
            <a:r>
              <a:rPr lang="en-US"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Đúng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vậy</a:t>
            </a:r>
            <a:r>
              <a:rPr lang="en-US" sz="1200" kern="1200" dirty="0">
                <a:solidFill>
                  <a:schemeClr val="tx1"/>
                </a:solidFill>
                <a:effectLst/>
                <a:latin typeface="+mn-lt"/>
                <a:ea typeface="+mn-ea"/>
                <a:cs typeface="+mn-cs"/>
              </a:rPr>
              <a:t>. Tâm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tiếc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bị</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ít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vội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vã</a:t>
            </a:r>
            <a:r>
              <a:rPr lang="en-US" sz="1200" kern="1200" dirty="0">
                <a:solidFill>
                  <a:schemeClr val="tx1"/>
                </a:solidFill>
                <a:effectLst/>
                <a:latin typeface="+mn-lt"/>
                <a:ea typeface="+mn-ea"/>
                <a:cs typeface="+mn-cs"/>
              </a:rPr>
              <a:t> chi </a:t>
            </a:r>
            <a:r>
              <a:rPr lang="en-US" sz="1200" kern="1200" dirty="0" err="1">
                <a:solidFill>
                  <a:schemeClr val="tx1"/>
                </a:solidFill>
                <a:effectLst/>
                <a:latin typeface="+mn-lt"/>
                <a:ea typeface="+mn-ea"/>
                <a:cs typeface="+mn-cs"/>
              </a:rPr>
              <a:t>tiêu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tháng</a:t>
            </a:r>
            <a:r>
              <a:rPr lang="en-US" sz="1200" kern="1200" dirty="0">
                <a:solidFill>
                  <a:schemeClr val="tx1"/>
                </a:solidFill>
                <a:effectLst/>
                <a:latin typeface="+mn-lt"/>
                <a:ea typeface="+mn-ea"/>
                <a:cs typeface="+mn-cs"/>
              </a:rPr>
              <a:t> 12 </a:t>
            </a:r>
            <a:r>
              <a:rPr lang="en-US" sz="1200" kern="1200" dirty="0" err="1">
                <a:solidFill>
                  <a:schemeClr val="tx1"/>
                </a:solidFill>
                <a:effectLst/>
                <a:latin typeface="+mn-lt"/>
                <a:ea typeface="+mn-ea"/>
                <a:cs typeface="+mn-cs"/>
              </a:rPr>
              <a:t>dẫn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lãng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kém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lượng</a:t>
            </a:r>
            <a:r>
              <a:rPr lang="en-US" sz="1200" kern="1200" dirty="0">
                <a:solidFill>
                  <a:schemeClr val="tx1"/>
                </a:solidFill>
                <a:effectLst/>
                <a:latin typeface="+mn-lt"/>
                <a:ea typeface="+mn-ea"/>
                <a:cs typeface="+mn-cs"/>
              </a:rPr>
              <a:t>. Tuy </a:t>
            </a:r>
            <a:r>
              <a:rPr lang="en-US" sz="1200" kern="1200" dirty="0" err="1">
                <a:solidFill>
                  <a:schemeClr val="tx1"/>
                </a:solidFill>
                <a:effectLst/>
                <a:latin typeface="+mn-lt"/>
                <a:ea typeface="+mn-ea"/>
                <a:cs typeface="+mn-cs"/>
              </a:rPr>
              <a:t>nhiên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khắc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Luật</a:t>
            </a:r>
            <a:r>
              <a:rPr lang="en-US" sz="1200" kern="1200" dirty="0">
                <a:solidFill>
                  <a:schemeClr val="tx1"/>
                </a:solidFill>
                <a:effectLst/>
                <a:latin typeface="+mn-lt"/>
                <a:ea typeface="+mn-ea"/>
                <a:cs typeface="+mn-cs"/>
              </a:rPr>
              <a:t> NSNN 2025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rất</a:t>
            </a:r>
            <a:r>
              <a:rPr lang="en-US" sz="1200" kern="1200" dirty="0">
                <a:solidFill>
                  <a:schemeClr val="tx1"/>
                </a:solidFill>
                <a:effectLst/>
                <a:latin typeface="+mn-lt"/>
                <a:ea typeface="+mn-ea"/>
                <a:cs typeface="+mn-cs"/>
              </a:rPr>
              <a:t> hay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vị</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vội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kém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nữa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nằm</a:t>
            </a:r>
            <a:r>
              <a:rPr lang="en-US" sz="1200" kern="1200" dirty="0">
                <a:solidFill>
                  <a:schemeClr val="tx1"/>
                </a:solidFill>
                <a:effectLst/>
                <a:latin typeface="+mn-lt"/>
                <a:ea typeface="+mn-ea"/>
                <a:cs typeface="+mn-cs"/>
              </a:rPr>
              <a:t> ở Slide </a:t>
            </a:r>
            <a:r>
              <a:rPr lang="en-US" sz="1200" kern="1200" dirty="0" err="1">
                <a:solidFill>
                  <a:schemeClr val="tx1"/>
                </a:solidFill>
                <a:effectLst/>
                <a:latin typeface="+mn-lt"/>
                <a:ea typeface="+mn-ea"/>
                <a:cs typeface="+mn-cs"/>
              </a:rPr>
              <a:t>tiếp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C476967-D381-B55E-0867-E07F24D7926D}"/>
              </a:ext>
            </a:extLst>
          </p:cNvPr>
          <p:cNvSpPr>
            <a:spLocks noGrp="1"/>
          </p:cNvSpPr>
          <p:nvPr>
            <p:ph type="sldNum" sz="quarter" idx="5"/>
          </p:nvPr>
        </p:nvSpPr>
        <p:spPr/>
        <p:txBody>
          <a:bodyPr/>
          <a:lstStyle/>
          <a:p>
            <a:fld id="{1DD107A9-A0C7-4078-AEEF-185A00981267}" type="slidenum">
              <a:rPr lang="en-US" smtClean="0"/>
              <a:t>62</a:t>
            </a:fld>
            <a:endParaRPr lang="en-US"/>
          </a:p>
        </p:txBody>
      </p:sp>
    </p:spTree>
    <p:extLst>
      <p:ext uri="{BB962C8B-B14F-4D97-AF65-F5344CB8AC3E}">
        <p14:creationId xmlns:p14="http://schemas.microsoft.com/office/powerpoint/2010/main" val="132156134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7FD42-D54C-EB94-E235-D7AA146196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AACA0-3652-BD6E-FF9F-D65C1B8710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4E311C-4BCF-EE74-973C-F25A1F95A5C4}"/>
              </a:ext>
            </a:extLst>
          </p:cNvPr>
          <p:cNvSpPr>
            <a:spLocks noGrp="1"/>
          </p:cNvSpPr>
          <p:nvPr>
            <p:ph type="body" idx="1"/>
          </p:nvPr>
        </p:nvSpPr>
        <p:spPr/>
        <p:txBody>
          <a:bodyPr/>
          <a:lstStyle/>
          <a:p>
            <a:r>
              <a:rPr lang="en-US" dirty="0" err="1"/>
              <a:t>Điều</a:t>
            </a:r>
            <a:r>
              <a:rPr lang="en-US" dirty="0"/>
              <a:t> 66 – </a:t>
            </a:r>
            <a:r>
              <a:rPr lang="en-US" dirty="0" err="1"/>
              <a:t>Luật</a:t>
            </a:r>
            <a:r>
              <a:rPr lang="en-US" dirty="0"/>
              <a:t> NSNN 2025.</a:t>
            </a:r>
          </a:p>
          <a:p>
            <a:r>
              <a:rPr lang="en-US" dirty="0" err="1"/>
              <a:t>Điều</a:t>
            </a:r>
            <a:r>
              <a:rPr lang="en-US" dirty="0"/>
              <a:t> 30, NĐ 73/2026/NĐ-CP. </a:t>
            </a:r>
            <a:r>
              <a:rPr lang="en-US" dirty="0" err="1"/>
              <a:t>Khóa</a:t>
            </a:r>
            <a:r>
              <a:rPr lang="en-US" dirty="0"/>
              <a:t> </a:t>
            </a:r>
            <a:r>
              <a:rPr lang="en-US" dirty="0" err="1"/>
              <a:t>sổ</a:t>
            </a:r>
            <a:r>
              <a:rPr lang="en-US" dirty="0"/>
              <a:t> </a:t>
            </a:r>
            <a:r>
              <a:rPr lang="en-US" dirty="0" err="1"/>
              <a:t>kế</a:t>
            </a:r>
            <a:r>
              <a:rPr lang="en-US" dirty="0"/>
              <a:t> </a:t>
            </a:r>
            <a:r>
              <a:rPr lang="en-US" dirty="0" err="1"/>
              <a:t>toán</a:t>
            </a:r>
            <a:r>
              <a:rPr lang="en-US" dirty="0"/>
              <a:t> </a:t>
            </a:r>
            <a:r>
              <a:rPr lang="en-US" dirty="0" err="1"/>
              <a:t>và</a:t>
            </a:r>
            <a:r>
              <a:rPr lang="en-US" dirty="0"/>
              <a:t> </a:t>
            </a:r>
            <a:r>
              <a:rPr lang="en-US" dirty="0" err="1"/>
              <a:t>xử</a:t>
            </a:r>
            <a:r>
              <a:rPr lang="en-US" dirty="0"/>
              <a:t> </a:t>
            </a:r>
            <a:r>
              <a:rPr lang="en-US" dirty="0" err="1"/>
              <a:t>lý</a:t>
            </a:r>
            <a:r>
              <a:rPr lang="en-US" dirty="0"/>
              <a:t> </a:t>
            </a:r>
            <a:r>
              <a:rPr lang="en-US" dirty="0" err="1"/>
              <a:t>thu</a:t>
            </a:r>
            <a:r>
              <a:rPr lang="en-US" dirty="0"/>
              <a:t>, chi </a:t>
            </a:r>
            <a:r>
              <a:rPr lang="en-US" dirty="0" err="1"/>
              <a:t>ngân</a:t>
            </a:r>
            <a:r>
              <a:rPr lang="en-US" dirty="0"/>
              <a:t> </a:t>
            </a:r>
            <a:r>
              <a:rPr lang="en-US" dirty="0" err="1"/>
              <a:t>sách</a:t>
            </a:r>
            <a:r>
              <a:rPr lang="en-US" dirty="0"/>
              <a:t> </a:t>
            </a:r>
            <a:r>
              <a:rPr lang="en-US" dirty="0" err="1"/>
              <a:t>nhà</a:t>
            </a:r>
            <a:r>
              <a:rPr lang="en-US" dirty="0"/>
              <a:t> </a:t>
            </a:r>
            <a:r>
              <a:rPr lang="en-US" dirty="0" err="1"/>
              <a:t>nước</a:t>
            </a:r>
            <a:r>
              <a:rPr lang="en-US" dirty="0"/>
              <a:t> </a:t>
            </a:r>
            <a:r>
              <a:rPr lang="en-US" dirty="0" err="1"/>
              <a:t>cuối</a:t>
            </a:r>
            <a:r>
              <a:rPr lang="en-US" dirty="0"/>
              <a:t> </a:t>
            </a:r>
            <a:r>
              <a:rPr lang="en-US" dirty="0" err="1"/>
              <a:t>năm</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Trong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nghiên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cứu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yêu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con </a:t>
            </a:r>
            <a:r>
              <a:rPr lang="en-US" sz="1200" kern="1200" dirty="0" err="1">
                <a:solidFill>
                  <a:schemeClr val="tx1"/>
                </a:solidFill>
                <a:effectLst/>
                <a:latin typeface="+mn-lt"/>
                <a:ea typeface="+mn-ea"/>
                <a:cs typeface="+mn-cs"/>
              </a:rPr>
              <a:t>số</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Nợ</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viên</a:t>
            </a:r>
            <a:r>
              <a:rPr lang="en-US" sz="1200" kern="1200" dirty="0">
                <a:solidFill>
                  <a:schemeClr val="tx1"/>
                </a:solidFill>
                <a:effectLst/>
                <a:latin typeface="+mn-lt"/>
                <a:ea typeface="+mn-ea"/>
                <a:cs typeface="+mn-cs"/>
              </a:rPr>
              <a:t>. Trọng </a:t>
            </a:r>
            <a:r>
              <a:rPr lang="en-US" sz="1200" kern="1200" dirty="0" err="1">
                <a:solidFill>
                  <a:schemeClr val="tx1"/>
                </a:solidFill>
                <a:effectLst/>
                <a:latin typeface="+mn-lt"/>
                <a:ea typeface="+mn-ea"/>
                <a:cs typeface="+mn-cs"/>
              </a:rPr>
              <a:t>tâm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chúng</a:t>
            </a:r>
            <a:r>
              <a:rPr lang="en-US" sz="1200" kern="1200" dirty="0">
                <a:solidFill>
                  <a:schemeClr val="tx1"/>
                </a:solidFill>
                <a:effectLst/>
                <a:latin typeface="+mn-lt"/>
                <a:ea typeface="+mn-ea"/>
                <a:cs typeface="+mn-cs"/>
              </a:rPr>
              <a:t> ta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nhìn</a:t>
            </a:r>
            <a:r>
              <a:rPr lang="en-US" sz="1200" kern="1200" dirty="0">
                <a:solidFill>
                  <a:schemeClr val="tx1"/>
                </a:solidFill>
                <a:effectLst/>
                <a:latin typeface="+mn-lt"/>
                <a:ea typeface="+mn-ea"/>
                <a:cs typeface="+mn-cs"/>
              </a:rPr>
              <a:t> chu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dưới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góc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người</a:t>
            </a:r>
            <a:r>
              <a:rPr lang="en-US" sz="1200" kern="1200" dirty="0">
                <a:solidFill>
                  <a:schemeClr val="tx1"/>
                </a:solidFill>
                <a:effectLst/>
                <a:latin typeface="+mn-lt"/>
                <a:ea typeface="+mn-ea"/>
                <a:cs typeface="+mn-cs"/>
              </a:rPr>
              <a:t> Quản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Nếu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học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góc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chứ</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làm</a:t>
            </a:r>
            <a:r>
              <a:rPr lang="en-US" sz="1200" kern="1200" dirty="0">
                <a:solidFill>
                  <a:schemeClr val="tx1"/>
                </a:solidFill>
                <a:effectLst/>
                <a:latin typeface="+mn-lt"/>
                <a:ea typeface="+mn-ea"/>
                <a:cs typeface="+mn-cs"/>
              </a:rPr>
              <a:t> Giám </a:t>
            </a:r>
            <a:r>
              <a:rPr lang="en-US" sz="1200" kern="1200" dirty="0" err="1">
                <a:solidFill>
                  <a:schemeClr val="tx1"/>
                </a:solidFill>
                <a:effectLst/>
                <a:latin typeface="+mn-lt"/>
                <a:ea typeface="+mn-ea"/>
                <a:cs typeface="+mn-cs"/>
              </a:rPr>
              <a:t>đốc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Sở</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quyết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bị</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Chắc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chắn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Người</a:t>
            </a:r>
            <a:r>
              <a:rPr lang="en-US" sz="1200" kern="1200" dirty="0">
                <a:solidFill>
                  <a:schemeClr val="tx1"/>
                </a:solidFill>
                <a:effectLst/>
                <a:latin typeface="+mn-lt"/>
                <a:ea typeface="+mn-ea"/>
                <a:cs typeface="+mn-cs"/>
              </a:rPr>
              <a:t> ta hay </a:t>
            </a:r>
            <a:r>
              <a:rPr lang="en-US" sz="1200" kern="1200" dirty="0" err="1">
                <a:solidFill>
                  <a:schemeClr val="tx1"/>
                </a:solidFill>
                <a:effectLst/>
                <a:latin typeface="+mn-lt"/>
                <a:ea typeface="+mn-ea"/>
                <a:cs typeface="+mn-cs"/>
              </a:rPr>
              <a:t>nói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vui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làm</a:t>
            </a:r>
            <a:r>
              <a:rPr lang="en-US" sz="1200" kern="1200" dirty="0">
                <a:solidFill>
                  <a:schemeClr val="tx1"/>
                </a:solidFill>
                <a:effectLst/>
                <a:latin typeface="+mn-lt"/>
                <a:ea typeface="+mn-ea"/>
                <a:cs typeface="+mn-cs"/>
              </a:rPr>
              <a:t>, Giám </a:t>
            </a:r>
            <a:r>
              <a:rPr lang="en-US" sz="1200" kern="1200" dirty="0" err="1">
                <a:solidFill>
                  <a:schemeClr val="tx1"/>
                </a:solidFill>
                <a:effectLst/>
                <a:latin typeface="+mn-lt"/>
                <a:ea typeface="+mn-ea"/>
                <a:cs typeface="+mn-cs"/>
              </a:rPr>
              <a:t>đốc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chịu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phê</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duyệt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quyết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trưởng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vị</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Nếu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nắm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nguyên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tắc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Luật</a:t>
            </a:r>
            <a:r>
              <a:rPr lang="en-US" sz="1200" kern="1200" dirty="0">
                <a:solidFill>
                  <a:schemeClr val="tx1"/>
                </a:solidFill>
                <a:effectLst/>
                <a:latin typeface="+mn-lt"/>
                <a:ea typeface="+mn-ea"/>
                <a:cs typeface="+mn-cs"/>
              </a:rPr>
              <a:t> NSNN 2025 </a:t>
            </a:r>
            <a:r>
              <a:rPr lang="en-US" sz="1200" kern="1200" dirty="0" err="1">
                <a:solidFill>
                  <a:schemeClr val="tx1"/>
                </a:solidFill>
                <a:effectLst/>
                <a:latin typeface="+mn-lt"/>
                <a:ea typeface="+mn-ea"/>
                <a:cs typeface="+mn-cs"/>
              </a:rPr>
              <a:t>quy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nhắm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mắt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bừa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khoản</a:t>
            </a:r>
            <a:r>
              <a:rPr lang="en-US" sz="1200" kern="1200" dirty="0">
                <a:solidFill>
                  <a:schemeClr val="tx1"/>
                </a:solidFill>
                <a:effectLst/>
                <a:latin typeface="+mn-lt"/>
                <a:ea typeface="+mn-ea"/>
                <a:cs typeface="+mn-cs"/>
              </a:rPr>
              <a:t> chi </a:t>
            </a:r>
            <a:r>
              <a:rPr lang="en-US" sz="1200" kern="1200" dirty="0" err="1">
                <a:solidFill>
                  <a:schemeClr val="tx1"/>
                </a:solidFill>
                <a:effectLst/>
                <a:latin typeface="+mn-lt"/>
                <a:ea typeface="+mn-ea"/>
                <a:cs typeface="+mn-cs"/>
              </a:rPr>
              <a:t>sai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người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trước</a:t>
            </a:r>
            <a:r>
              <a:rPr lang="en-US" sz="1200" kern="1200" dirty="0">
                <a:solidFill>
                  <a:schemeClr val="tx1"/>
                </a:solidFill>
                <a:effectLst/>
                <a:latin typeface="+mn-lt"/>
                <a:ea typeface="+mn-ea"/>
                <a:cs typeface="+mn-cs"/>
              </a:rPr>
              <a:t> Thanh </a:t>
            </a:r>
            <a:r>
              <a:rPr lang="en-US" sz="1200" kern="1200" dirty="0" err="1">
                <a:solidFill>
                  <a:schemeClr val="tx1"/>
                </a:solidFill>
                <a:effectLst/>
                <a:latin typeface="+mn-lt"/>
                <a:ea typeface="+mn-ea"/>
                <a:cs typeface="+mn-cs"/>
              </a:rPr>
              <a:t>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toán</a:t>
            </a:r>
            <a:r>
              <a:rPr lang="en-US"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F1769AD-1C2E-E7A4-B7DB-4A0CC8F842BF}"/>
              </a:ext>
            </a:extLst>
          </p:cNvPr>
          <p:cNvSpPr>
            <a:spLocks noGrp="1"/>
          </p:cNvSpPr>
          <p:nvPr>
            <p:ph type="sldNum" sz="quarter" idx="5"/>
          </p:nvPr>
        </p:nvSpPr>
        <p:spPr/>
        <p:txBody>
          <a:bodyPr/>
          <a:lstStyle/>
          <a:p>
            <a:fld id="{1DD107A9-A0C7-4078-AEEF-185A00981267}" type="slidenum">
              <a:rPr lang="en-US" smtClean="0"/>
              <a:t>63</a:t>
            </a:fld>
            <a:endParaRPr lang="en-US"/>
          </a:p>
        </p:txBody>
      </p:sp>
    </p:spTree>
    <p:extLst>
      <p:ext uri="{BB962C8B-B14F-4D97-AF65-F5344CB8AC3E}">
        <p14:creationId xmlns:p14="http://schemas.microsoft.com/office/powerpoint/2010/main" val="50255858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848ED-BE04-88D8-FEAF-A29D3E2914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560084-0691-592B-EFE7-0FD90E80D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817908-FCE5-6566-B393-B82F362E83A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68 </a:t>
            </a:r>
            <a:r>
              <a:rPr lang="en-US" dirty="0" err="1"/>
              <a:t>Luật</a:t>
            </a:r>
            <a:r>
              <a:rPr lang="en-US" dirty="0"/>
              <a:t> NSNN 2025</a:t>
            </a:r>
          </a:p>
        </p:txBody>
      </p:sp>
      <p:sp>
        <p:nvSpPr>
          <p:cNvPr id="4" name="Slide Number Placeholder 3">
            <a:extLst>
              <a:ext uri="{FF2B5EF4-FFF2-40B4-BE49-F238E27FC236}">
                <a16:creationId xmlns:a16="http://schemas.microsoft.com/office/drawing/2014/main" id="{148CE20E-28BE-8E70-688C-7F7FF325B838}"/>
              </a:ext>
            </a:extLst>
          </p:cNvPr>
          <p:cNvSpPr>
            <a:spLocks noGrp="1"/>
          </p:cNvSpPr>
          <p:nvPr>
            <p:ph type="sldNum" sz="quarter" idx="5"/>
          </p:nvPr>
        </p:nvSpPr>
        <p:spPr/>
        <p:txBody>
          <a:bodyPr/>
          <a:lstStyle/>
          <a:p>
            <a:fld id="{1DD107A9-A0C7-4078-AEEF-185A00981267}" type="slidenum">
              <a:rPr lang="en-US" smtClean="0"/>
              <a:t>64</a:t>
            </a:fld>
            <a:endParaRPr lang="en-US"/>
          </a:p>
        </p:txBody>
      </p:sp>
    </p:spTree>
    <p:extLst>
      <p:ext uri="{BB962C8B-B14F-4D97-AF65-F5344CB8AC3E}">
        <p14:creationId xmlns:p14="http://schemas.microsoft.com/office/powerpoint/2010/main" val="413249190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1F5EE-A393-6518-B2B3-F1AAA04C4B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B9BBF-3734-A7B0-EE1C-707C618792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686BB9-3A37-BC07-F880-83547001827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68 </a:t>
            </a:r>
            <a:r>
              <a:rPr lang="en-US" dirty="0" err="1"/>
              <a:t>Luật</a:t>
            </a:r>
            <a:r>
              <a:rPr lang="en-US" dirty="0"/>
              <a:t> NSNN 2025</a:t>
            </a:r>
          </a:p>
        </p:txBody>
      </p:sp>
      <p:sp>
        <p:nvSpPr>
          <p:cNvPr id="4" name="Slide Number Placeholder 3">
            <a:extLst>
              <a:ext uri="{FF2B5EF4-FFF2-40B4-BE49-F238E27FC236}">
                <a16:creationId xmlns:a16="http://schemas.microsoft.com/office/drawing/2014/main" id="{4EAA2FA8-0D7E-6BDD-4486-02C334EA6331}"/>
              </a:ext>
            </a:extLst>
          </p:cNvPr>
          <p:cNvSpPr>
            <a:spLocks noGrp="1"/>
          </p:cNvSpPr>
          <p:nvPr>
            <p:ph type="sldNum" sz="quarter" idx="5"/>
          </p:nvPr>
        </p:nvSpPr>
        <p:spPr/>
        <p:txBody>
          <a:bodyPr/>
          <a:lstStyle/>
          <a:p>
            <a:fld id="{1DD107A9-A0C7-4078-AEEF-185A00981267}" type="slidenum">
              <a:rPr lang="en-US" smtClean="0"/>
              <a:t>65</a:t>
            </a:fld>
            <a:endParaRPr lang="en-US"/>
          </a:p>
        </p:txBody>
      </p:sp>
    </p:spTree>
    <p:extLst>
      <p:ext uri="{BB962C8B-B14F-4D97-AF65-F5344CB8AC3E}">
        <p14:creationId xmlns:p14="http://schemas.microsoft.com/office/powerpoint/2010/main" val="8509919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C1B95-60F4-3DBF-8262-05B459635D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F8E85-6D04-49F8-E02D-849545C4FE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36535-77E7-6461-8EB3-7964DE1650F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68 </a:t>
            </a:r>
            <a:r>
              <a:rPr lang="en-US" dirty="0" err="1"/>
              <a:t>Luật</a:t>
            </a:r>
            <a:r>
              <a:rPr lang="en-US" dirty="0"/>
              <a:t> NSNN 2025</a:t>
            </a:r>
          </a:p>
        </p:txBody>
      </p:sp>
      <p:sp>
        <p:nvSpPr>
          <p:cNvPr id="4" name="Slide Number Placeholder 3">
            <a:extLst>
              <a:ext uri="{FF2B5EF4-FFF2-40B4-BE49-F238E27FC236}">
                <a16:creationId xmlns:a16="http://schemas.microsoft.com/office/drawing/2014/main" id="{9FB53FB2-5EF6-B1A0-71D6-336BE17838E1}"/>
              </a:ext>
            </a:extLst>
          </p:cNvPr>
          <p:cNvSpPr>
            <a:spLocks noGrp="1"/>
          </p:cNvSpPr>
          <p:nvPr>
            <p:ph type="sldNum" sz="quarter" idx="5"/>
          </p:nvPr>
        </p:nvSpPr>
        <p:spPr/>
        <p:txBody>
          <a:bodyPr/>
          <a:lstStyle/>
          <a:p>
            <a:fld id="{1DD107A9-A0C7-4078-AEEF-185A00981267}" type="slidenum">
              <a:rPr lang="en-US" smtClean="0"/>
              <a:t>66</a:t>
            </a:fld>
            <a:endParaRPr lang="en-US"/>
          </a:p>
        </p:txBody>
      </p:sp>
    </p:spTree>
    <p:extLst>
      <p:ext uri="{BB962C8B-B14F-4D97-AF65-F5344CB8AC3E}">
        <p14:creationId xmlns:p14="http://schemas.microsoft.com/office/powerpoint/2010/main" val="292739646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BB3A8-2775-5E6B-F7A7-6DB5FC9FD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CB04B-1F08-12A3-2CD1-91A36986E5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202EE4-DA2E-2DFA-9B02-6EFF03B0E3D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68 </a:t>
            </a:r>
            <a:r>
              <a:rPr lang="en-US" dirty="0" err="1"/>
              <a:t>Luật</a:t>
            </a:r>
            <a:r>
              <a:rPr lang="en-US" dirty="0"/>
              <a:t> NSNN 2025</a:t>
            </a:r>
          </a:p>
        </p:txBody>
      </p:sp>
      <p:sp>
        <p:nvSpPr>
          <p:cNvPr id="4" name="Slide Number Placeholder 3">
            <a:extLst>
              <a:ext uri="{FF2B5EF4-FFF2-40B4-BE49-F238E27FC236}">
                <a16:creationId xmlns:a16="http://schemas.microsoft.com/office/drawing/2014/main" id="{E9B49DC3-F947-A629-68B4-41CE72F751E9}"/>
              </a:ext>
            </a:extLst>
          </p:cNvPr>
          <p:cNvSpPr>
            <a:spLocks noGrp="1"/>
          </p:cNvSpPr>
          <p:nvPr>
            <p:ph type="sldNum" sz="quarter" idx="5"/>
          </p:nvPr>
        </p:nvSpPr>
        <p:spPr/>
        <p:txBody>
          <a:bodyPr/>
          <a:lstStyle/>
          <a:p>
            <a:fld id="{1DD107A9-A0C7-4078-AEEF-185A00981267}" type="slidenum">
              <a:rPr lang="en-US" smtClean="0"/>
              <a:t>67</a:t>
            </a:fld>
            <a:endParaRPr lang="en-US"/>
          </a:p>
        </p:txBody>
      </p:sp>
    </p:spTree>
    <p:extLst>
      <p:ext uri="{BB962C8B-B14F-4D97-AF65-F5344CB8AC3E}">
        <p14:creationId xmlns:p14="http://schemas.microsoft.com/office/powerpoint/2010/main" val="175674454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B7AF7-B0EE-0297-8C06-EE1C05DBF1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2C689-2F13-C46F-AFC0-6B9779B80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98F59-A7C0-5C7A-96D1-C48389F7796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68 </a:t>
            </a:r>
            <a:r>
              <a:rPr lang="en-US" dirty="0" err="1"/>
              <a:t>Luật</a:t>
            </a:r>
            <a:r>
              <a:rPr lang="en-US" dirty="0"/>
              <a:t> NSNN 2025</a:t>
            </a:r>
          </a:p>
        </p:txBody>
      </p:sp>
      <p:sp>
        <p:nvSpPr>
          <p:cNvPr id="4" name="Slide Number Placeholder 3">
            <a:extLst>
              <a:ext uri="{FF2B5EF4-FFF2-40B4-BE49-F238E27FC236}">
                <a16:creationId xmlns:a16="http://schemas.microsoft.com/office/drawing/2014/main" id="{17D036FF-6D0D-828F-E55B-FB9CCF8776D1}"/>
              </a:ext>
            </a:extLst>
          </p:cNvPr>
          <p:cNvSpPr>
            <a:spLocks noGrp="1"/>
          </p:cNvSpPr>
          <p:nvPr>
            <p:ph type="sldNum" sz="quarter" idx="5"/>
          </p:nvPr>
        </p:nvSpPr>
        <p:spPr/>
        <p:txBody>
          <a:bodyPr/>
          <a:lstStyle/>
          <a:p>
            <a:fld id="{1DD107A9-A0C7-4078-AEEF-185A00981267}" type="slidenum">
              <a:rPr lang="en-US" smtClean="0"/>
              <a:t>68</a:t>
            </a:fld>
            <a:endParaRPr lang="en-US"/>
          </a:p>
        </p:txBody>
      </p:sp>
    </p:spTree>
    <p:extLst>
      <p:ext uri="{BB962C8B-B14F-4D97-AF65-F5344CB8AC3E}">
        <p14:creationId xmlns:p14="http://schemas.microsoft.com/office/powerpoint/2010/main" val="25521175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01035-FDD7-8187-E0F9-0B42022026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9CEB07-DC12-3B24-6008-5F3C6017C7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D9CC0A-2C47-E4B9-18DA-7A3BF9BA5D0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68 </a:t>
            </a:r>
            <a:r>
              <a:rPr lang="en-US" dirty="0" err="1"/>
              <a:t>Luật</a:t>
            </a:r>
            <a:r>
              <a:rPr lang="en-US" dirty="0"/>
              <a:t> NSNN 2025</a:t>
            </a:r>
          </a:p>
        </p:txBody>
      </p:sp>
      <p:sp>
        <p:nvSpPr>
          <p:cNvPr id="4" name="Slide Number Placeholder 3">
            <a:extLst>
              <a:ext uri="{FF2B5EF4-FFF2-40B4-BE49-F238E27FC236}">
                <a16:creationId xmlns:a16="http://schemas.microsoft.com/office/drawing/2014/main" id="{E53766D2-ED73-852D-69FF-B3B647862F95}"/>
              </a:ext>
            </a:extLst>
          </p:cNvPr>
          <p:cNvSpPr>
            <a:spLocks noGrp="1"/>
          </p:cNvSpPr>
          <p:nvPr>
            <p:ph type="sldNum" sz="quarter" idx="5"/>
          </p:nvPr>
        </p:nvSpPr>
        <p:spPr/>
        <p:txBody>
          <a:bodyPr/>
          <a:lstStyle/>
          <a:p>
            <a:fld id="{1DD107A9-A0C7-4078-AEEF-185A00981267}" type="slidenum">
              <a:rPr lang="en-US" smtClean="0"/>
              <a:t>69</a:t>
            </a:fld>
            <a:endParaRPr lang="en-US"/>
          </a:p>
        </p:txBody>
      </p:sp>
    </p:spTree>
    <p:extLst>
      <p:ext uri="{BB962C8B-B14F-4D97-AF65-F5344CB8AC3E}">
        <p14:creationId xmlns:p14="http://schemas.microsoft.com/office/powerpoint/2010/main" val="281874916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D841B-D854-3126-F5EC-E95DE46955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3616F-ED77-59A6-0ADD-1EA2CA9F86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CDAEED-24DF-B437-D883-6DE9A18C283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6C88B71-9564-B811-0CAC-25705BF5E0C0}"/>
              </a:ext>
            </a:extLst>
          </p:cNvPr>
          <p:cNvSpPr>
            <a:spLocks noGrp="1"/>
          </p:cNvSpPr>
          <p:nvPr>
            <p:ph type="sldNum" sz="quarter" idx="5"/>
          </p:nvPr>
        </p:nvSpPr>
        <p:spPr/>
        <p:txBody>
          <a:bodyPr/>
          <a:lstStyle/>
          <a:p>
            <a:fld id="{1DD107A9-A0C7-4078-AEEF-185A00981267}" type="slidenum">
              <a:rPr lang="en-US" smtClean="0"/>
              <a:t>70</a:t>
            </a:fld>
            <a:endParaRPr lang="en-US"/>
          </a:p>
        </p:txBody>
      </p:sp>
    </p:spTree>
    <p:extLst>
      <p:ext uri="{BB962C8B-B14F-4D97-AF65-F5344CB8AC3E}">
        <p14:creationId xmlns:p14="http://schemas.microsoft.com/office/powerpoint/2010/main" val="137509342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47547-B84A-7C09-0B59-FC0CC3299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5B2FBD-3A92-BB94-98E5-1409D6C1CB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B4C57A-EB06-802C-D8AD-2F74E8C2070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Điều</a:t>
            </a:r>
            <a:r>
              <a:rPr lang="en-US" dirty="0"/>
              <a:t> 75  </a:t>
            </a:r>
            <a:r>
              <a:rPr lang="en-US" dirty="0" err="1"/>
              <a:t>Luật</a:t>
            </a:r>
            <a:r>
              <a:rPr lang="en-US" dirty="0"/>
              <a:t> NSNN 2025</a:t>
            </a:r>
          </a:p>
        </p:txBody>
      </p:sp>
      <p:sp>
        <p:nvSpPr>
          <p:cNvPr id="4" name="Slide Number Placeholder 3">
            <a:extLst>
              <a:ext uri="{FF2B5EF4-FFF2-40B4-BE49-F238E27FC236}">
                <a16:creationId xmlns:a16="http://schemas.microsoft.com/office/drawing/2014/main" id="{B0F94E63-9D9C-0394-4853-3204716DD450}"/>
              </a:ext>
            </a:extLst>
          </p:cNvPr>
          <p:cNvSpPr>
            <a:spLocks noGrp="1"/>
          </p:cNvSpPr>
          <p:nvPr>
            <p:ph type="sldNum" sz="quarter" idx="5"/>
          </p:nvPr>
        </p:nvSpPr>
        <p:spPr/>
        <p:txBody>
          <a:bodyPr/>
          <a:lstStyle/>
          <a:p>
            <a:fld id="{1DD107A9-A0C7-4078-AEEF-185A00981267}" type="slidenum">
              <a:rPr lang="en-US" smtClean="0"/>
              <a:t>71</a:t>
            </a:fld>
            <a:endParaRPr lang="en-US"/>
          </a:p>
        </p:txBody>
      </p:sp>
    </p:spTree>
    <p:extLst>
      <p:ext uri="{BB962C8B-B14F-4D97-AF65-F5344CB8AC3E}">
        <p14:creationId xmlns:p14="http://schemas.microsoft.com/office/powerpoint/2010/main" val="376966429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06848-2285-BAF2-39CD-596C0E2101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22A77-D7C4-4B16-4737-2C6E939885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C0374-0B97-D539-5DFB-26CBAD0F3CD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B177B2A-883C-ED6F-1DCB-DC2C18C413F7}"/>
              </a:ext>
            </a:extLst>
          </p:cNvPr>
          <p:cNvSpPr>
            <a:spLocks noGrp="1"/>
          </p:cNvSpPr>
          <p:nvPr>
            <p:ph type="sldNum" sz="quarter" idx="5"/>
          </p:nvPr>
        </p:nvSpPr>
        <p:spPr/>
        <p:txBody>
          <a:bodyPr/>
          <a:lstStyle/>
          <a:p>
            <a:fld id="{1DD107A9-A0C7-4078-AEEF-185A00981267}" type="slidenum">
              <a:rPr lang="en-US" smtClean="0"/>
              <a:t>72</a:t>
            </a:fld>
            <a:endParaRPr lang="en-US"/>
          </a:p>
        </p:txBody>
      </p:sp>
    </p:spTree>
    <p:extLst>
      <p:ext uri="{BB962C8B-B14F-4D97-AF65-F5344CB8AC3E}">
        <p14:creationId xmlns:p14="http://schemas.microsoft.com/office/powerpoint/2010/main" val="183305463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4B762-3F33-F70D-FF1A-714FC50331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BA8D-9F60-DB22-6F9E-9634AFCFC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1B6894-8DBC-AAB3-F4F5-AF507A62AB7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31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6F1D3BE-D205-3130-0E79-5837DF5E324A}"/>
              </a:ext>
            </a:extLst>
          </p:cNvPr>
          <p:cNvSpPr>
            <a:spLocks noGrp="1"/>
          </p:cNvSpPr>
          <p:nvPr>
            <p:ph type="sldNum" sz="quarter" idx="5"/>
          </p:nvPr>
        </p:nvSpPr>
        <p:spPr/>
        <p:txBody>
          <a:bodyPr/>
          <a:lstStyle/>
          <a:p>
            <a:fld id="{1DD107A9-A0C7-4078-AEEF-185A00981267}" type="slidenum">
              <a:rPr lang="en-US" smtClean="0"/>
              <a:t>73</a:t>
            </a:fld>
            <a:endParaRPr lang="en-US"/>
          </a:p>
        </p:txBody>
      </p:sp>
    </p:spTree>
    <p:extLst>
      <p:ext uri="{BB962C8B-B14F-4D97-AF65-F5344CB8AC3E}">
        <p14:creationId xmlns:p14="http://schemas.microsoft.com/office/powerpoint/2010/main" val="19303036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B5940-5249-825A-647D-32AFDB750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C189D4-BAE9-09A1-AFBC-7CFB8C6126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D65250-40E2-76D6-2B14-A192DFB1DC7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31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A456175-45EB-FE4F-0937-DB423EB3996A}"/>
              </a:ext>
            </a:extLst>
          </p:cNvPr>
          <p:cNvSpPr>
            <a:spLocks noGrp="1"/>
          </p:cNvSpPr>
          <p:nvPr>
            <p:ph type="sldNum" sz="quarter" idx="5"/>
          </p:nvPr>
        </p:nvSpPr>
        <p:spPr/>
        <p:txBody>
          <a:bodyPr/>
          <a:lstStyle/>
          <a:p>
            <a:fld id="{1DD107A9-A0C7-4078-AEEF-185A00981267}" type="slidenum">
              <a:rPr lang="en-US" smtClean="0"/>
              <a:t>74</a:t>
            </a:fld>
            <a:endParaRPr lang="en-US"/>
          </a:p>
        </p:txBody>
      </p:sp>
    </p:spTree>
    <p:extLst>
      <p:ext uri="{BB962C8B-B14F-4D97-AF65-F5344CB8AC3E}">
        <p14:creationId xmlns:p14="http://schemas.microsoft.com/office/powerpoint/2010/main" val="360921390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7F479-CD32-A1F0-3B3C-B975AE167C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3ACFE-50C2-509D-852D-81B7EBB2CD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3804F0-54A2-D30D-1EF3-A7354C7EFFA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31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FE9F760-F7C4-63FE-67EA-6DBA3DD60C45}"/>
              </a:ext>
            </a:extLst>
          </p:cNvPr>
          <p:cNvSpPr>
            <a:spLocks noGrp="1"/>
          </p:cNvSpPr>
          <p:nvPr>
            <p:ph type="sldNum" sz="quarter" idx="5"/>
          </p:nvPr>
        </p:nvSpPr>
        <p:spPr/>
        <p:txBody>
          <a:bodyPr/>
          <a:lstStyle/>
          <a:p>
            <a:fld id="{1DD107A9-A0C7-4078-AEEF-185A00981267}" type="slidenum">
              <a:rPr lang="en-US" smtClean="0"/>
              <a:t>75</a:t>
            </a:fld>
            <a:endParaRPr lang="en-US"/>
          </a:p>
        </p:txBody>
      </p:sp>
    </p:spTree>
    <p:extLst>
      <p:ext uri="{BB962C8B-B14F-4D97-AF65-F5344CB8AC3E}">
        <p14:creationId xmlns:p14="http://schemas.microsoft.com/office/powerpoint/2010/main" val="377841347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3C3CD-38D7-5C5A-D987-ED85BCB7D3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4623E6-136F-F651-4FE5-F4AC35A7BB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EEFB32-AE4F-FD5F-7E59-6E172A9449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8702EA5-55C1-57E3-E2E4-AE8BD551FC72}"/>
              </a:ext>
            </a:extLst>
          </p:cNvPr>
          <p:cNvSpPr>
            <a:spLocks noGrp="1"/>
          </p:cNvSpPr>
          <p:nvPr>
            <p:ph type="sldNum" sz="quarter" idx="5"/>
          </p:nvPr>
        </p:nvSpPr>
        <p:spPr/>
        <p:txBody>
          <a:bodyPr/>
          <a:lstStyle/>
          <a:p>
            <a:fld id="{1DD107A9-A0C7-4078-AEEF-185A00981267}" type="slidenum">
              <a:rPr lang="en-US" smtClean="0"/>
              <a:t>76</a:t>
            </a:fld>
            <a:endParaRPr lang="en-US"/>
          </a:p>
        </p:txBody>
      </p:sp>
    </p:spTree>
    <p:extLst>
      <p:ext uri="{BB962C8B-B14F-4D97-AF65-F5344CB8AC3E}">
        <p14:creationId xmlns:p14="http://schemas.microsoft.com/office/powerpoint/2010/main" val="367907739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F7EB7-FEF1-443F-96DB-367F2CF75E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9240D2-6905-0695-8008-4087474296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61CE9E-2612-DFDD-515E-82834AC26C0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01BF7B8C-0B86-929C-0509-2C14DCD66312}"/>
              </a:ext>
            </a:extLst>
          </p:cNvPr>
          <p:cNvSpPr>
            <a:spLocks noGrp="1"/>
          </p:cNvSpPr>
          <p:nvPr>
            <p:ph type="sldNum" sz="quarter" idx="5"/>
          </p:nvPr>
        </p:nvSpPr>
        <p:spPr/>
        <p:txBody>
          <a:bodyPr/>
          <a:lstStyle/>
          <a:p>
            <a:fld id="{1DD107A9-A0C7-4078-AEEF-185A00981267}" type="slidenum">
              <a:rPr lang="en-US" smtClean="0"/>
              <a:t>77</a:t>
            </a:fld>
            <a:endParaRPr lang="en-US"/>
          </a:p>
        </p:txBody>
      </p:sp>
    </p:spTree>
    <p:extLst>
      <p:ext uri="{BB962C8B-B14F-4D97-AF65-F5344CB8AC3E}">
        <p14:creationId xmlns:p14="http://schemas.microsoft.com/office/powerpoint/2010/main" val="288292095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2633-0A90-BD2E-BEC0-6AC75A9B13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FE819-C1FF-2F6C-75C4-7AE4DC7DD9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2B3909-D306-FC63-FD65-5109B15256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055127A3-99A1-126A-A8FD-5B6652325E4A}"/>
              </a:ext>
            </a:extLst>
          </p:cNvPr>
          <p:cNvSpPr>
            <a:spLocks noGrp="1"/>
          </p:cNvSpPr>
          <p:nvPr>
            <p:ph type="sldNum" sz="quarter" idx="5"/>
          </p:nvPr>
        </p:nvSpPr>
        <p:spPr/>
        <p:txBody>
          <a:bodyPr/>
          <a:lstStyle/>
          <a:p>
            <a:fld id="{1DD107A9-A0C7-4078-AEEF-185A00981267}" type="slidenum">
              <a:rPr lang="en-US" smtClean="0"/>
              <a:t>78</a:t>
            </a:fld>
            <a:endParaRPr lang="en-US"/>
          </a:p>
        </p:txBody>
      </p:sp>
    </p:spTree>
    <p:extLst>
      <p:ext uri="{BB962C8B-B14F-4D97-AF65-F5344CB8AC3E}">
        <p14:creationId xmlns:p14="http://schemas.microsoft.com/office/powerpoint/2010/main" val="140960331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685E7-2D62-89D6-847C-FA687DFFF8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CC1221-639C-DE1E-816B-8121E7C620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7E22BD-6CFB-0762-DCAF-42C731F4737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9B750B4-4B2C-AB8A-FFCC-2CAE899ED9D3}"/>
              </a:ext>
            </a:extLst>
          </p:cNvPr>
          <p:cNvSpPr>
            <a:spLocks noGrp="1"/>
          </p:cNvSpPr>
          <p:nvPr>
            <p:ph type="sldNum" sz="quarter" idx="5"/>
          </p:nvPr>
        </p:nvSpPr>
        <p:spPr/>
        <p:txBody>
          <a:bodyPr/>
          <a:lstStyle/>
          <a:p>
            <a:fld id="{1DD107A9-A0C7-4078-AEEF-185A00981267}" type="slidenum">
              <a:rPr lang="en-US" smtClean="0"/>
              <a:t>79</a:t>
            </a:fld>
            <a:endParaRPr lang="en-US"/>
          </a:p>
        </p:txBody>
      </p:sp>
    </p:spTree>
    <p:extLst>
      <p:ext uri="{BB962C8B-B14F-4D97-AF65-F5344CB8AC3E}">
        <p14:creationId xmlns:p14="http://schemas.microsoft.com/office/powerpoint/2010/main" val="183041576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38F91-DDD2-6D36-6CB9-709A7B566B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5E2002-139F-0D91-FA04-6204E666C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1EDD24-896C-4F24-CF20-5B9135AFD24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4A1056B-A759-ED20-A8BB-9362148279E0}"/>
              </a:ext>
            </a:extLst>
          </p:cNvPr>
          <p:cNvSpPr>
            <a:spLocks noGrp="1"/>
          </p:cNvSpPr>
          <p:nvPr>
            <p:ph type="sldNum" sz="quarter" idx="5"/>
          </p:nvPr>
        </p:nvSpPr>
        <p:spPr/>
        <p:txBody>
          <a:bodyPr/>
          <a:lstStyle/>
          <a:p>
            <a:fld id="{1DD107A9-A0C7-4078-AEEF-185A00981267}" type="slidenum">
              <a:rPr lang="en-US" smtClean="0"/>
              <a:t>80</a:t>
            </a:fld>
            <a:endParaRPr lang="en-US"/>
          </a:p>
        </p:txBody>
      </p:sp>
    </p:spTree>
    <p:extLst>
      <p:ext uri="{BB962C8B-B14F-4D97-AF65-F5344CB8AC3E}">
        <p14:creationId xmlns:p14="http://schemas.microsoft.com/office/powerpoint/2010/main" val="398060293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198BE-9873-45B6-A044-905BD5D655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4EF185-ECED-6D50-F92A-5DA1243B84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A58A57-498D-A868-9071-C4C4E8BEE3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F079493C-A6F6-4A0C-3C2A-B24111EC7016}"/>
              </a:ext>
            </a:extLst>
          </p:cNvPr>
          <p:cNvSpPr>
            <a:spLocks noGrp="1"/>
          </p:cNvSpPr>
          <p:nvPr>
            <p:ph type="sldNum" sz="quarter" idx="5"/>
          </p:nvPr>
        </p:nvSpPr>
        <p:spPr/>
        <p:txBody>
          <a:bodyPr/>
          <a:lstStyle/>
          <a:p>
            <a:fld id="{1DD107A9-A0C7-4078-AEEF-185A00981267}" type="slidenum">
              <a:rPr lang="en-US" smtClean="0"/>
              <a:t>81</a:t>
            </a:fld>
            <a:endParaRPr lang="en-US"/>
          </a:p>
        </p:txBody>
      </p:sp>
    </p:spTree>
    <p:extLst>
      <p:ext uri="{BB962C8B-B14F-4D97-AF65-F5344CB8AC3E}">
        <p14:creationId xmlns:p14="http://schemas.microsoft.com/office/powerpoint/2010/main" val="323080871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CBBDB-8044-E588-E664-924AD7C42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716FA-EEBF-19F7-2F16-6DD986B83E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F5ADA6-626F-85A0-3CE0-49E11A850DC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C052AF2-52C2-D5D4-199C-BEE425479037}"/>
              </a:ext>
            </a:extLst>
          </p:cNvPr>
          <p:cNvSpPr>
            <a:spLocks noGrp="1"/>
          </p:cNvSpPr>
          <p:nvPr>
            <p:ph type="sldNum" sz="quarter" idx="5"/>
          </p:nvPr>
        </p:nvSpPr>
        <p:spPr/>
        <p:txBody>
          <a:bodyPr/>
          <a:lstStyle/>
          <a:p>
            <a:fld id="{1DD107A9-A0C7-4078-AEEF-185A00981267}" type="slidenum">
              <a:rPr lang="en-US" smtClean="0"/>
              <a:t>82</a:t>
            </a:fld>
            <a:endParaRPr lang="en-US"/>
          </a:p>
        </p:txBody>
      </p:sp>
    </p:spTree>
    <p:extLst>
      <p:ext uri="{BB962C8B-B14F-4D97-AF65-F5344CB8AC3E}">
        <p14:creationId xmlns:p14="http://schemas.microsoft.com/office/powerpoint/2010/main" val="89212345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4F580-0FC1-3751-6BA3-CC63797589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DF206A-82C6-DFF1-2DF3-130BD73512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10B53A-8866-B21C-A46E-8AA53653276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4389CDB-F58D-D801-186B-60E1D9994C5B}"/>
              </a:ext>
            </a:extLst>
          </p:cNvPr>
          <p:cNvSpPr>
            <a:spLocks noGrp="1"/>
          </p:cNvSpPr>
          <p:nvPr>
            <p:ph type="sldNum" sz="quarter" idx="5"/>
          </p:nvPr>
        </p:nvSpPr>
        <p:spPr/>
        <p:txBody>
          <a:bodyPr/>
          <a:lstStyle/>
          <a:p>
            <a:fld id="{1DD107A9-A0C7-4078-AEEF-185A00981267}" type="slidenum">
              <a:rPr lang="en-US" smtClean="0"/>
              <a:t>83</a:t>
            </a:fld>
            <a:endParaRPr lang="en-US"/>
          </a:p>
        </p:txBody>
      </p:sp>
    </p:spTree>
    <p:extLst>
      <p:ext uri="{BB962C8B-B14F-4D97-AF65-F5344CB8AC3E}">
        <p14:creationId xmlns:p14="http://schemas.microsoft.com/office/powerpoint/2010/main" val="229461870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98B04-1CD0-D217-C01D-130B005E4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33B4D-857C-1A1D-C494-D858AAA67D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433E4C-E746-57C6-5FBE-4F072CBC0E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9EE921E-7A70-06EB-3E03-B267568A6115}"/>
              </a:ext>
            </a:extLst>
          </p:cNvPr>
          <p:cNvSpPr>
            <a:spLocks noGrp="1"/>
          </p:cNvSpPr>
          <p:nvPr>
            <p:ph type="sldNum" sz="quarter" idx="5"/>
          </p:nvPr>
        </p:nvSpPr>
        <p:spPr/>
        <p:txBody>
          <a:bodyPr/>
          <a:lstStyle/>
          <a:p>
            <a:fld id="{1DD107A9-A0C7-4078-AEEF-185A00981267}" type="slidenum">
              <a:rPr lang="en-US" smtClean="0"/>
              <a:t>84</a:t>
            </a:fld>
            <a:endParaRPr lang="en-US"/>
          </a:p>
        </p:txBody>
      </p:sp>
    </p:spTree>
    <p:extLst>
      <p:ext uri="{BB962C8B-B14F-4D97-AF65-F5344CB8AC3E}">
        <p14:creationId xmlns:p14="http://schemas.microsoft.com/office/powerpoint/2010/main" val="217273288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39CF9-2CA2-47B8-4847-BC71D04093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F2F178-37E3-0BF8-D6F6-20C10370F1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28A4B0-9DE5-106B-4988-CAFCCE8137E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B8F6786-8F8D-46B0-70AD-1C8475379138}"/>
              </a:ext>
            </a:extLst>
          </p:cNvPr>
          <p:cNvSpPr>
            <a:spLocks noGrp="1"/>
          </p:cNvSpPr>
          <p:nvPr>
            <p:ph type="sldNum" sz="quarter" idx="5"/>
          </p:nvPr>
        </p:nvSpPr>
        <p:spPr/>
        <p:txBody>
          <a:bodyPr/>
          <a:lstStyle/>
          <a:p>
            <a:fld id="{1DD107A9-A0C7-4078-AEEF-185A00981267}" type="slidenum">
              <a:rPr lang="en-US" smtClean="0"/>
              <a:t>85</a:t>
            </a:fld>
            <a:endParaRPr lang="en-US"/>
          </a:p>
        </p:txBody>
      </p:sp>
    </p:spTree>
    <p:extLst>
      <p:ext uri="{BB962C8B-B14F-4D97-AF65-F5344CB8AC3E}">
        <p14:creationId xmlns:p14="http://schemas.microsoft.com/office/powerpoint/2010/main" val="107781266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C17FA-EEB0-4A08-FF7E-55B6E6BB86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AF1A25-D07C-FDDC-C3F5-388934698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0680E4-35A5-3616-ED95-87A7B69AE83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Times New Roman" panose="02020603050405020304" pitchFamily="18" charset="0"/>
              </a:rPr>
              <a:t>(</a:t>
            </a:r>
            <a:r>
              <a:rPr lang="en-US" sz="1200" b="1" dirty="0" err="1">
                <a:solidFill>
                  <a:srgbClr val="000000"/>
                </a:solidFill>
                <a:latin typeface="Times New Roman" panose="02020603050405020304" pitchFamily="18" charset="0"/>
              </a:rPr>
              <a:t>Điều</a:t>
            </a:r>
            <a:r>
              <a:rPr lang="en-US" sz="1200" b="1" dirty="0">
                <a:solidFill>
                  <a:srgbClr val="000000"/>
                </a:solidFill>
                <a:latin typeface="Times New Roman" panose="02020603050405020304" pitchFamily="18" charset="0"/>
              </a:rPr>
              <a:t> 60 </a:t>
            </a:r>
            <a:r>
              <a:rPr lang="en-US" sz="1200" b="1" dirty="0" err="1">
                <a:solidFill>
                  <a:srgbClr val="000000"/>
                </a:solidFill>
                <a:latin typeface="Times New Roman" panose="02020603050405020304" pitchFamily="18" charset="0"/>
              </a:rPr>
              <a:t>Luật</a:t>
            </a:r>
            <a:r>
              <a:rPr lang="en-US" sz="1200" b="1" dirty="0">
                <a:solidFill>
                  <a:srgbClr val="000000"/>
                </a:solidFill>
                <a:latin typeface="Times New Roman" panose="02020603050405020304" pitchFamily="18" charset="0"/>
              </a:rPr>
              <a:t> NSNN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EDE488DA-31AB-195D-61C7-10818509F2C7}"/>
              </a:ext>
            </a:extLst>
          </p:cNvPr>
          <p:cNvSpPr>
            <a:spLocks noGrp="1"/>
          </p:cNvSpPr>
          <p:nvPr>
            <p:ph type="sldNum" sz="quarter" idx="5"/>
          </p:nvPr>
        </p:nvSpPr>
        <p:spPr/>
        <p:txBody>
          <a:bodyPr/>
          <a:lstStyle/>
          <a:p>
            <a:fld id="{1DD107A9-A0C7-4078-AEEF-185A00981267}" type="slidenum">
              <a:rPr lang="en-US" smtClean="0"/>
              <a:t>86</a:t>
            </a:fld>
            <a:endParaRPr lang="en-US"/>
          </a:p>
        </p:txBody>
      </p:sp>
    </p:spTree>
    <p:extLst>
      <p:ext uri="{BB962C8B-B14F-4D97-AF65-F5344CB8AC3E}">
        <p14:creationId xmlns:p14="http://schemas.microsoft.com/office/powerpoint/2010/main" val="2509565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919E8-C866-0E85-3277-B8C6992757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308F0850-3C3A-432D-CA6D-115123B8DB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18F375A3-D5F6-4400-164F-792E0CB98503}"/>
              </a:ext>
            </a:extLst>
          </p:cNvPr>
          <p:cNvSpPr>
            <a:spLocks noGrp="1"/>
          </p:cNvSpPr>
          <p:nvPr>
            <p:ph type="dt" sz="half" idx="10"/>
          </p:nvPr>
        </p:nvSpPr>
        <p:spPr/>
        <p:txBody>
          <a:bodyPr/>
          <a:lstStyle/>
          <a:p>
            <a:fld id="{06E996D4-7AAD-2A44-8BE7-1727DCC42208}" type="datetimeFigureOut">
              <a:rPr lang="en-VN" smtClean="0"/>
              <a:t>05/06/2026</a:t>
            </a:fld>
            <a:endParaRPr lang="en-VN"/>
          </a:p>
        </p:txBody>
      </p:sp>
      <p:sp>
        <p:nvSpPr>
          <p:cNvPr id="5" name="Footer Placeholder 4">
            <a:extLst>
              <a:ext uri="{FF2B5EF4-FFF2-40B4-BE49-F238E27FC236}">
                <a16:creationId xmlns:a16="http://schemas.microsoft.com/office/drawing/2014/main" id="{A41D7DA0-7091-52FC-5129-B2371C2E9C9D}"/>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C52DEB31-02C1-29BF-E5A5-95FE85F7F125}"/>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1096608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7CBBD-C804-DAD2-B81F-98170CF431C5}"/>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0DC6D03D-2F04-C332-3A9D-3D3C89290C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1997D471-379F-E81E-7D22-5DDE168A169B}"/>
              </a:ext>
            </a:extLst>
          </p:cNvPr>
          <p:cNvSpPr>
            <a:spLocks noGrp="1"/>
          </p:cNvSpPr>
          <p:nvPr>
            <p:ph type="dt" sz="half" idx="10"/>
          </p:nvPr>
        </p:nvSpPr>
        <p:spPr/>
        <p:txBody>
          <a:bodyPr/>
          <a:lstStyle/>
          <a:p>
            <a:fld id="{06E996D4-7AAD-2A44-8BE7-1727DCC42208}" type="datetimeFigureOut">
              <a:rPr lang="en-VN" smtClean="0"/>
              <a:t>05/06/2026</a:t>
            </a:fld>
            <a:endParaRPr lang="en-VN"/>
          </a:p>
        </p:txBody>
      </p:sp>
      <p:sp>
        <p:nvSpPr>
          <p:cNvPr id="5" name="Footer Placeholder 4">
            <a:extLst>
              <a:ext uri="{FF2B5EF4-FFF2-40B4-BE49-F238E27FC236}">
                <a16:creationId xmlns:a16="http://schemas.microsoft.com/office/drawing/2014/main" id="{CCEA1277-D7A7-969C-492A-DAC04E0553CD}"/>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236E63A6-1528-FD92-5062-84088251F670}"/>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4104668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90B44-73BA-45E8-B90C-FF02F828B0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556C897A-A7A7-7A9E-7572-921645D8144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028200-CE4A-29DD-9B08-5D59EE079539}"/>
              </a:ext>
            </a:extLst>
          </p:cNvPr>
          <p:cNvSpPr>
            <a:spLocks noGrp="1"/>
          </p:cNvSpPr>
          <p:nvPr>
            <p:ph type="dt" sz="half" idx="10"/>
          </p:nvPr>
        </p:nvSpPr>
        <p:spPr/>
        <p:txBody>
          <a:bodyPr/>
          <a:lstStyle/>
          <a:p>
            <a:fld id="{06E996D4-7AAD-2A44-8BE7-1727DCC42208}" type="datetimeFigureOut">
              <a:rPr lang="en-VN" smtClean="0"/>
              <a:t>05/06/2026</a:t>
            </a:fld>
            <a:endParaRPr lang="en-VN"/>
          </a:p>
        </p:txBody>
      </p:sp>
      <p:sp>
        <p:nvSpPr>
          <p:cNvPr id="5" name="Footer Placeholder 4">
            <a:extLst>
              <a:ext uri="{FF2B5EF4-FFF2-40B4-BE49-F238E27FC236}">
                <a16:creationId xmlns:a16="http://schemas.microsoft.com/office/drawing/2014/main" id="{2857265B-3C64-1719-FA7C-3D09926CABA3}"/>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7448DDF6-402B-3E97-9925-7ED2EB4B2D06}"/>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4177374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EC819-A214-85AB-F9E4-13E8A8988158}"/>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CA9D00F6-B668-C3E8-8F6F-47268F02A9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7DE64A4E-11B2-ED3F-DDE3-FACD9EB5E8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43848483-C9FB-58BE-AFB2-B2F35FF4210A}"/>
              </a:ext>
            </a:extLst>
          </p:cNvPr>
          <p:cNvSpPr>
            <a:spLocks noGrp="1"/>
          </p:cNvSpPr>
          <p:nvPr>
            <p:ph type="dt" sz="half" idx="10"/>
          </p:nvPr>
        </p:nvSpPr>
        <p:spPr/>
        <p:txBody>
          <a:bodyPr/>
          <a:lstStyle/>
          <a:p>
            <a:fld id="{06E996D4-7AAD-2A44-8BE7-1727DCC42208}" type="datetimeFigureOut">
              <a:rPr lang="en-VN" smtClean="0"/>
              <a:t>05/06/2026</a:t>
            </a:fld>
            <a:endParaRPr lang="en-VN"/>
          </a:p>
        </p:txBody>
      </p:sp>
      <p:sp>
        <p:nvSpPr>
          <p:cNvPr id="6" name="Footer Placeholder 5">
            <a:extLst>
              <a:ext uri="{FF2B5EF4-FFF2-40B4-BE49-F238E27FC236}">
                <a16:creationId xmlns:a16="http://schemas.microsoft.com/office/drawing/2014/main" id="{1B115912-C43E-0F7D-DBE9-B02BBDDD1ED0}"/>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1AFDADB5-E6F4-703C-F6F7-7EB0CFE8B2E9}"/>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305362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3D139-474E-CCCD-2F1E-998B9D8F4370}"/>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9CDA755E-D89F-980C-09DF-E0FD86D4FE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B4759F-465A-8984-E798-91A03E35B5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3DD81737-1D83-27E4-C4B8-F805A70E4C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6A9810-A2E7-51B6-9DEC-0ED5F26087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4BAF915C-B42F-F88C-26AA-DB99B374C653}"/>
              </a:ext>
            </a:extLst>
          </p:cNvPr>
          <p:cNvSpPr>
            <a:spLocks noGrp="1"/>
          </p:cNvSpPr>
          <p:nvPr>
            <p:ph type="dt" sz="half" idx="10"/>
          </p:nvPr>
        </p:nvSpPr>
        <p:spPr/>
        <p:txBody>
          <a:bodyPr/>
          <a:lstStyle/>
          <a:p>
            <a:fld id="{06E996D4-7AAD-2A44-8BE7-1727DCC42208}" type="datetimeFigureOut">
              <a:rPr lang="en-VN" smtClean="0"/>
              <a:t>05/06/2026</a:t>
            </a:fld>
            <a:endParaRPr lang="en-VN"/>
          </a:p>
        </p:txBody>
      </p:sp>
      <p:sp>
        <p:nvSpPr>
          <p:cNvPr id="8" name="Footer Placeholder 7">
            <a:extLst>
              <a:ext uri="{FF2B5EF4-FFF2-40B4-BE49-F238E27FC236}">
                <a16:creationId xmlns:a16="http://schemas.microsoft.com/office/drawing/2014/main" id="{098F6EEB-2EA5-2E0C-22B7-8CF155B9A455}"/>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34EBDCFD-FC7C-EF07-4E83-F2D7956E1EC1}"/>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657852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C4FC3-7CA6-AB15-FFE1-54E0D8AB81AB}"/>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456300B3-3FD0-F392-7440-E3A6806D3701}"/>
              </a:ext>
            </a:extLst>
          </p:cNvPr>
          <p:cNvSpPr>
            <a:spLocks noGrp="1"/>
          </p:cNvSpPr>
          <p:nvPr>
            <p:ph type="dt" sz="half" idx="10"/>
          </p:nvPr>
        </p:nvSpPr>
        <p:spPr/>
        <p:txBody>
          <a:bodyPr/>
          <a:lstStyle/>
          <a:p>
            <a:fld id="{06E996D4-7AAD-2A44-8BE7-1727DCC42208}" type="datetimeFigureOut">
              <a:rPr lang="en-VN" smtClean="0"/>
              <a:t>05/06/2026</a:t>
            </a:fld>
            <a:endParaRPr lang="en-VN"/>
          </a:p>
        </p:txBody>
      </p:sp>
      <p:sp>
        <p:nvSpPr>
          <p:cNvPr id="4" name="Footer Placeholder 3">
            <a:extLst>
              <a:ext uri="{FF2B5EF4-FFF2-40B4-BE49-F238E27FC236}">
                <a16:creationId xmlns:a16="http://schemas.microsoft.com/office/drawing/2014/main" id="{39EE939F-DA44-2088-C19F-E747AC7E659A}"/>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F14A2417-57C2-8FF3-AACB-E3417558F08C}"/>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917902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6D39B6-5E89-66DA-EB19-0D2A9723AC9B}"/>
              </a:ext>
            </a:extLst>
          </p:cNvPr>
          <p:cNvSpPr>
            <a:spLocks noGrp="1"/>
          </p:cNvSpPr>
          <p:nvPr>
            <p:ph type="dt" sz="half" idx="10"/>
          </p:nvPr>
        </p:nvSpPr>
        <p:spPr/>
        <p:txBody>
          <a:bodyPr/>
          <a:lstStyle/>
          <a:p>
            <a:fld id="{06E996D4-7AAD-2A44-8BE7-1727DCC42208}" type="datetimeFigureOut">
              <a:rPr lang="en-VN" smtClean="0"/>
              <a:t>05/06/2026</a:t>
            </a:fld>
            <a:endParaRPr lang="en-VN"/>
          </a:p>
        </p:txBody>
      </p:sp>
      <p:sp>
        <p:nvSpPr>
          <p:cNvPr id="3" name="Footer Placeholder 2">
            <a:extLst>
              <a:ext uri="{FF2B5EF4-FFF2-40B4-BE49-F238E27FC236}">
                <a16:creationId xmlns:a16="http://schemas.microsoft.com/office/drawing/2014/main" id="{DAEAFB0C-6320-ECA9-3630-D6760BF2904D}"/>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6CB9763E-3638-9284-734B-ED09A8766722}"/>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2690275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D833C-F7D5-0222-A265-8D9E830E2B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7A30A460-9514-6B68-DC85-C682ED63C6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7BCA776D-FB3B-D341-DC06-53DA4C6C42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BFAA7B-8D38-956A-B3C8-9189A78E6A17}"/>
              </a:ext>
            </a:extLst>
          </p:cNvPr>
          <p:cNvSpPr>
            <a:spLocks noGrp="1"/>
          </p:cNvSpPr>
          <p:nvPr>
            <p:ph type="dt" sz="half" idx="10"/>
          </p:nvPr>
        </p:nvSpPr>
        <p:spPr/>
        <p:txBody>
          <a:bodyPr/>
          <a:lstStyle/>
          <a:p>
            <a:fld id="{06E996D4-7AAD-2A44-8BE7-1727DCC42208}" type="datetimeFigureOut">
              <a:rPr lang="en-VN" smtClean="0"/>
              <a:t>05/06/2026</a:t>
            </a:fld>
            <a:endParaRPr lang="en-VN"/>
          </a:p>
        </p:txBody>
      </p:sp>
      <p:sp>
        <p:nvSpPr>
          <p:cNvPr id="6" name="Footer Placeholder 5">
            <a:extLst>
              <a:ext uri="{FF2B5EF4-FFF2-40B4-BE49-F238E27FC236}">
                <a16:creationId xmlns:a16="http://schemas.microsoft.com/office/drawing/2014/main" id="{0DCDEF49-E2C9-6F98-F66E-04968EB7CE89}"/>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23924F5D-E524-70F9-17BC-C7BB81E902F7}"/>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2475010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29236-B38C-04A4-1515-A6E70C3679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6B74C4FF-B914-4590-C700-2C4BA0355E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FFEA8981-5307-ED6B-7393-58C1FA86C7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B32F05-54D9-AC2F-BCDD-45C40D548EA2}"/>
              </a:ext>
            </a:extLst>
          </p:cNvPr>
          <p:cNvSpPr>
            <a:spLocks noGrp="1"/>
          </p:cNvSpPr>
          <p:nvPr>
            <p:ph type="dt" sz="half" idx="10"/>
          </p:nvPr>
        </p:nvSpPr>
        <p:spPr/>
        <p:txBody>
          <a:bodyPr/>
          <a:lstStyle/>
          <a:p>
            <a:fld id="{06E996D4-7AAD-2A44-8BE7-1727DCC42208}" type="datetimeFigureOut">
              <a:rPr lang="en-VN" smtClean="0"/>
              <a:t>05/06/2026</a:t>
            </a:fld>
            <a:endParaRPr lang="en-VN"/>
          </a:p>
        </p:txBody>
      </p:sp>
      <p:sp>
        <p:nvSpPr>
          <p:cNvPr id="6" name="Footer Placeholder 5">
            <a:extLst>
              <a:ext uri="{FF2B5EF4-FFF2-40B4-BE49-F238E27FC236}">
                <a16:creationId xmlns:a16="http://schemas.microsoft.com/office/drawing/2014/main" id="{1956D5E2-8FEF-F7E6-E1D3-0A00B73822A8}"/>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96957B6D-00FC-595D-8C5E-9C06B99BBF98}"/>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494880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11D75-82A0-ACE5-AEAC-67A1068E978D}"/>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54A4E0E5-677E-319F-0419-AEA14E6BD8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D7790C5C-4FA2-9494-7621-8383AC4DE79B}"/>
              </a:ext>
            </a:extLst>
          </p:cNvPr>
          <p:cNvSpPr>
            <a:spLocks noGrp="1"/>
          </p:cNvSpPr>
          <p:nvPr>
            <p:ph type="dt" sz="half" idx="10"/>
          </p:nvPr>
        </p:nvSpPr>
        <p:spPr/>
        <p:txBody>
          <a:bodyPr/>
          <a:lstStyle/>
          <a:p>
            <a:fld id="{06E996D4-7AAD-2A44-8BE7-1727DCC42208}" type="datetimeFigureOut">
              <a:rPr lang="en-VN" smtClean="0"/>
              <a:t>05/06/2026</a:t>
            </a:fld>
            <a:endParaRPr lang="en-VN"/>
          </a:p>
        </p:txBody>
      </p:sp>
      <p:sp>
        <p:nvSpPr>
          <p:cNvPr id="5" name="Footer Placeholder 4">
            <a:extLst>
              <a:ext uri="{FF2B5EF4-FFF2-40B4-BE49-F238E27FC236}">
                <a16:creationId xmlns:a16="http://schemas.microsoft.com/office/drawing/2014/main" id="{C1711235-FAEA-8718-21BB-631EAE8A91DA}"/>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E3C58324-DAF8-8E8F-8AD2-A6CF5A723ABB}"/>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453514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3A9EEE-7BB9-82A5-DDBC-EF8A30B54F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B6CFCDB4-AEB2-4571-3BB2-DB8A3D236E9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2B9B0936-EDB1-8D52-D4D3-0EE0D7D3F4D6}"/>
              </a:ext>
            </a:extLst>
          </p:cNvPr>
          <p:cNvSpPr>
            <a:spLocks noGrp="1"/>
          </p:cNvSpPr>
          <p:nvPr>
            <p:ph type="dt" sz="half" idx="10"/>
          </p:nvPr>
        </p:nvSpPr>
        <p:spPr/>
        <p:txBody>
          <a:bodyPr/>
          <a:lstStyle/>
          <a:p>
            <a:fld id="{06E996D4-7AAD-2A44-8BE7-1727DCC42208}" type="datetimeFigureOut">
              <a:rPr lang="en-VN" smtClean="0"/>
              <a:t>05/06/2026</a:t>
            </a:fld>
            <a:endParaRPr lang="en-VN"/>
          </a:p>
        </p:txBody>
      </p:sp>
      <p:sp>
        <p:nvSpPr>
          <p:cNvPr id="5" name="Footer Placeholder 4">
            <a:extLst>
              <a:ext uri="{FF2B5EF4-FFF2-40B4-BE49-F238E27FC236}">
                <a16:creationId xmlns:a16="http://schemas.microsoft.com/office/drawing/2014/main" id="{22CFE319-5EAA-F060-29F5-842601545CA8}"/>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0202313A-C5D1-8E45-43C5-CDD5166D1287}"/>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3984658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8C9955-552A-CE70-F829-5F452221B1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57344CC6-27E5-D574-E5EE-8558C4A232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1B79254D-7687-5709-147A-2574AA31C4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E996D4-7AAD-2A44-8BE7-1727DCC42208}" type="datetimeFigureOut">
              <a:rPr lang="en-VN" smtClean="0"/>
              <a:t>05/06/2026</a:t>
            </a:fld>
            <a:endParaRPr lang="en-VN"/>
          </a:p>
        </p:txBody>
      </p:sp>
      <p:sp>
        <p:nvSpPr>
          <p:cNvPr id="5" name="Footer Placeholder 4">
            <a:extLst>
              <a:ext uri="{FF2B5EF4-FFF2-40B4-BE49-F238E27FC236}">
                <a16:creationId xmlns:a16="http://schemas.microsoft.com/office/drawing/2014/main" id="{89235861-A636-014E-4913-210DEA1DAE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VN"/>
          </a:p>
        </p:txBody>
      </p:sp>
      <p:sp>
        <p:nvSpPr>
          <p:cNvPr id="6" name="Slide Number Placeholder 5">
            <a:extLst>
              <a:ext uri="{FF2B5EF4-FFF2-40B4-BE49-F238E27FC236}">
                <a16:creationId xmlns:a16="http://schemas.microsoft.com/office/drawing/2014/main" id="{02FC3369-5A30-D5DF-D02A-852FA88D12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9FB2B2-7097-B344-B47F-CA906A8B5746}" type="slidenum">
              <a:rPr lang="en-VN" smtClean="0"/>
              <a:t>‹#›</a:t>
            </a:fld>
            <a:endParaRPr lang="en-VN"/>
          </a:p>
        </p:txBody>
      </p:sp>
    </p:spTree>
    <p:extLst>
      <p:ext uri="{BB962C8B-B14F-4D97-AF65-F5344CB8AC3E}">
        <p14:creationId xmlns:p14="http://schemas.microsoft.com/office/powerpoint/2010/main" val="22770111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5.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2.xml"/><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539E4-A5A0-644B-78D8-19101DA1EC6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79EED80-6670-B94B-7EF2-D15356362C0B}"/>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 CHU TRÌNH NGÂN SÁCH XÃ</a:t>
            </a:r>
          </a:p>
        </p:txBody>
      </p:sp>
      <p:grpSp>
        <p:nvGrpSpPr>
          <p:cNvPr id="3" name="Group 2">
            <a:extLst>
              <a:ext uri="{FF2B5EF4-FFF2-40B4-BE49-F238E27FC236}">
                <a16:creationId xmlns:a16="http://schemas.microsoft.com/office/drawing/2014/main" id="{807C8C9A-9C69-845E-F810-E5184098F313}"/>
              </a:ext>
            </a:extLst>
          </p:cNvPr>
          <p:cNvGrpSpPr>
            <a:grpSpLocks/>
          </p:cNvGrpSpPr>
          <p:nvPr/>
        </p:nvGrpSpPr>
        <p:grpSpPr bwMode="auto">
          <a:xfrm>
            <a:off x="2319140" y="1573427"/>
            <a:ext cx="7479957" cy="4979773"/>
            <a:chOff x="336" y="240"/>
            <a:chExt cx="5184" cy="3696"/>
          </a:xfrm>
        </p:grpSpPr>
        <p:sp>
          <p:nvSpPr>
            <p:cNvPr id="5" name="Oval 3">
              <a:extLst>
                <a:ext uri="{FF2B5EF4-FFF2-40B4-BE49-F238E27FC236}">
                  <a16:creationId xmlns:a16="http://schemas.microsoft.com/office/drawing/2014/main" id="{CA13FE47-F0FA-D972-1309-A963616A7EC4}"/>
                </a:ext>
              </a:extLst>
            </p:cNvPr>
            <p:cNvSpPr>
              <a:spLocks noChangeArrowheads="1"/>
            </p:cNvSpPr>
            <p:nvPr/>
          </p:nvSpPr>
          <p:spPr bwMode="auto">
            <a:xfrm>
              <a:off x="1008" y="576"/>
              <a:ext cx="3552" cy="3360"/>
            </a:xfrm>
            <a:prstGeom prst="ellipse">
              <a:avLst/>
            </a:prstGeom>
            <a:solidFill>
              <a:srgbClr val="CDE9EB"/>
            </a:solidFill>
            <a:ln w="9525">
              <a:solidFill>
                <a:schemeClr val="tx1"/>
              </a:solidFill>
              <a:round/>
              <a:headEnd/>
              <a:tailEnd/>
            </a:ln>
          </p:spPr>
          <p:txBody>
            <a:bodyPr wrap="none" anchor="ctr"/>
            <a:lstStyle>
              <a:lvl1pPr>
                <a:defRPr sz="3600" b="1">
                  <a:solidFill>
                    <a:schemeClr val="tx1"/>
                  </a:solidFill>
                  <a:latin typeface="Arial" panose="020B0604020202020204" pitchFamily="34" charset="0"/>
                  <a:cs typeface="Arial" panose="020B0604020202020204" pitchFamily="34" charset="0"/>
                </a:defRPr>
              </a:lvl1pPr>
              <a:lvl2pPr marL="742950" indent="-285750">
                <a:defRPr sz="3600" b="1">
                  <a:solidFill>
                    <a:schemeClr val="tx1"/>
                  </a:solidFill>
                  <a:latin typeface="Arial" panose="020B0604020202020204" pitchFamily="34" charset="0"/>
                  <a:cs typeface="Arial" panose="020B0604020202020204" pitchFamily="34" charset="0"/>
                </a:defRPr>
              </a:lvl2pPr>
              <a:lvl3pPr marL="1143000" indent="-228600">
                <a:defRPr sz="3600" b="1">
                  <a:solidFill>
                    <a:schemeClr val="tx1"/>
                  </a:solidFill>
                  <a:latin typeface="Arial" panose="020B0604020202020204" pitchFamily="34" charset="0"/>
                  <a:cs typeface="Arial" panose="020B0604020202020204" pitchFamily="34" charset="0"/>
                </a:defRPr>
              </a:lvl3pPr>
              <a:lvl4pPr marL="1600200" indent="-228600">
                <a:defRPr sz="3600" b="1">
                  <a:solidFill>
                    <a:schemeClr val="tx1"/>
                  </a:solidFill>
                  <a:latin typeface="Arial" panose="020B0604020202020204" pitchFamily="34" charset="0"/>
                  <a:cs typeface="Arial" panose="020B0604020202020204" pitchFamily="34" charset="0"/>
                </a:defRPr>
              </a:lvl4pPr>
              <a:lvl5pPr marL="2057400" indent="-228600">
                <a:defRPr sz="36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6" name="Group 4">
              <a:extLst>
                <a:ext uri="{FF2B5EF4-FFF2-40B4-BE49-F238E27FC236}">
                  <a16:creationId xmlns:a16="http://schemas.microsoft.com/office/drawing/2014/main" id="{3C3524E4-8193-BE85-3783-5C4244837F8C}"/>
                </a:ext>
              </a:extLst>
            </p:cNvPr>
            <p:cNvGrpSpPr>
              <a:grpSpLocks/>
            </p:cNvGrpSpPr>
            <p:nvPr/>
          </p:nvGrpSpPr>
          <p:grpSpPr bwMode="auto">
            <a:xfrm>
              <a:off x="336" y="240"/>
              <a:ext cx="5184" cy="3648"/>
              <a:chOff x="336" y="240"/>
              <a:chExt cx="5184" cy="3648"/>
            </a:xfrm>
          </p:grpSpPr>
          <p:sp>
            <p:nvSpPr>
              <p:cNvPr id="7" name="Oval 5">
                <a:extLst>
                  <a:ext uri="{FF2B5EF4-FFF2-40B4-BE49-F238E27FC236}">
                    <a16:creationId xmlns:a16="http://schemas.microsoft.com/office/drawing/2014/main" id="{4A68FFD2-30C4-CD55-AB78-3C2B9B9F8291}"/>
                  </a:ext>
                </a:extLst>
              </p:cNvPr>
              <p:cNvSpPr>
                <a:spLocks noChangeArrowheads="1"/>
              </p:cNvSpPr>
              <p:nvPr/>
            </p:nvSpPr>
            <p:spPr bwMode="auto">
              <a:xfrm>
                <a:off x="2112" y="1632"/>
                <a:ext cx="1392" cy="1248"/>
              </a:xfrm>
              <a:prstGeom prst="ellipse">
                <a:avLst/>
              </a:prstGeom>
              <a:solidFill>
                <a:srgbClr val="FF99FF"/>
              </a:solidFill>
              <a:ln w="9525">
                <a:solidFill>
                  <a:schemeClr val="tx1"/>
                </a:solidFill>
                <a:miter lim="800000"/>
                <a:headEnd/>
                <a:tailEnd/>
              </a:ln>
            </p:spPr>
            <p:txBody>
              <a:bodyPr wrap="none" anchor="ctr"/>
              <a:lstStyle>
                <a:lvl1pPr>
                  <a:defRPr sz="3600" b="1">
                    <a:solidFill>
                      <a:schemeClr val="tx1"/>
                    </a:solidFill>
                    <a:latin typeface="Arial" panose="020B0604020202020204" pitchFamily="34" charset="0"/>
                    <a:cs typeface="Arial" panose="020B0604020202020204" pitchFamily="34" charset="0"/>
                  </a:defRPr>
                </a:lvl1pPr>
                <a:lvl2pPr marL="742950" indent="-285750">
                  <a:defRPr sz="3600" b="1">
                    <a:solidFill>
                      <a:schemeClr val="tx1"/>
                    </a:solidFill>
                    <a:latin typeface="Arial" panose="020B0604020202020204" pitchFamily="34" charset="0"/>
                    <a:cs typeface="Arial" panose="020B0604020202020204" pitchFamily="34" charset="0"/>
                  </a:defRPr>
                </a:lvl2pPr>
                <a:lvl3pPr marL="1143000" indent="-228600">
                  <a:defRPr sz="3600" b="1">
                    <a:solidFill>
                      <a:schemeClr val="tx1"/>
                    </a:solidFill>
                    <a:latin typeface="Arial" panose="020B0604020202020204" pitchFamily="34" charset="0"/>
                    <a:cs typeface="Arial" panose="020B0604020202020204" pitchFamily="34" charset="0"/>
                  </a:defRPr>
                </a:lvl3pPr>
                <a:lvl4pPr marL="1600200" indent="-228600">
                  <a:defRPr sz="3600" b="1">
                    <a:solidFill>
                      <a:schemeClr val="tx1"/>
                    </a:solidFill>
                    <a:latin typeface="Arial" panose="020B0604020202020204" pitchFamily="34" charset="0"/>
                    <a:cs typeface="Arial" panose="020B0604020202020204" pitchFamily="34" charset="0"/>
                  </a:defRPr>
                </a:lvl4pPr>
                <a:lvl5pPr marL="2057400" indent="-228600">
                  <a:defRPr sz="36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algn="ctr"/>
                <a:r>
                  <a:rPr lang="en-US" altLang="en-US" sz="2400" dirty="0">
                    <a:latin typeface="Times" panose="02020603050405020304" pitchFamily="18" charset="0"/>
                    <a:cs typeface="Times" panose="02020603050405020304" pitchFamily="18" charset="0"/>
                  </a:rPr>
                  <a:t>Chu </a:t>
                </a:r>
                <a:r>
                  <a:rPr lang="en-US" altLang="en-US" sz="2400" dirty="0" err="1">
                    <a:latin typeface="Times" panose="02020603050405020304" pitchFamily="18" charset="0"/>
                    <a:cs typeface="Times" panose="02020603050405020304" pitchFamily="18" charset="0"/>
                  </a:rPr>
                  <a:t>trình</a:t>
                </a:r>
                <a:r>
                  <a:rPr lang="en-US" altLang="en-US" sz="2400" dirty="0">
                    <a:latin typeface="Times" panose="02020603050405020304" pitchFamily="18" charset="0"/>
                    <a:cs typeface="Times" panose="02020603050405020304" pitchFamily="18" charset="0"/>
                  </a:rPr>
                  <a:t> </a:t>
                </a:r>
              </a:p>
              <a:p>
                <a:pPr algn="ctr"/>
                <a:r>
                  <a:rPr lang="en-US" altLang="en-US" sz="2400" dirty="0" err="1">
                    <a:latin typeface="Times" panose="02020603050405020304" pitchFamily="18" charset="0"/>
                    <a:cs typeface="Times" panose="02020603050405020304" pitchFamily="18" charset="0"/>
                  </a:rPr>
                  <a:t>ngân</a:t>
                </a:r>
                <a:r>
                  <a:rPr lang="en-US" altLang="en-US" sz="2400" dirty="0">
                    <a:latin typeface="Times" panose="02020603050405020304" pitchFamily="18" charset="0"/>
                    <a:cs typeface="Times" panose="02020603050405020304" pitchFamily="18" charset="0"/>
                  </a:rPr>
                  <a:t> </a:t>
                </a:r>
                <a:r>
                  <a:rPr lang="en-US" altLang="en-US" sz="2400" dirty="0" err="1">
                    <a:latin typeface="Times" panose="02020603050405020304" pitchFamily="18" charset="0"/>
                    <a:cs typeface="Times" panose="02020603050405020304" pitchFamily="18" charset="0"/>
                  </a:rPr>
                  <a:t>sách</a:t>
                </a:r>
                <a:endParaRPr lang="en-US" altLang="en-US" sz="2400" dirty="0">
                  <a:latin typeface="Times" panose="02020603050405020304" pitchFamily="18" charset="0"/>
                  <a:cs typeface="Times" panose="02020603050405020304" pitchFamily="18" charset="0"/>
                </a:endParaRPr>
              </a:p>
            </p:txBody>
          </p:sp>
          <p:sp>
            <p:nvSpPr>
              <p:cNvPr id="8" name="Oval 6">
                <a:extLst>
                  <a:ext uri="{FF2B5EF4-FFF2-40B4-BE49-F238E27FC236}">
                    <a16:creationId xmlns:a16="http://schemas.microsoft.com/office/drawing/2014/main" id="{6B9A1EF4-3765-E5FD-562F-FC25F1AFA68E}"/>
                  </a:ext>
                </a:extLst>
              </p:cNvPr>
              <p:cNvSpPr>
                <a:spLocks noChangeArrowheads="1"/>
              </p:cNvSpPr>
              <p:nvPr/>
            </p:nvSpPr>
            <p:spPr bwMode="auto">
              <a:xfrm>
                <a:off x="1824" y="240"/>
                <a:ext cx="1872" cy="816"/>
              </a:xfrm>
              <a:prstGeom prst="ellipse">
                <a:avLst/>
              </a:prstGeom>
              <a:solidFill>
                <a:srgbClr val="00CCFF"/>
              </a:solidFill>
              <a:ln w="9525">
                <a:solidFill>
                  <a:schemeClr val="tx1"/>
                </a:solidFill>
                <a:miter lim="800000"/>
                <a:headEnd/>
                <a:tailEnd/>
              </a:ln>
            </p:spPr>
            <p:txBody>
              <a:bodyPr wrap="none" anchor="ctr"/>
              <a:lstStyle>
                <a:lvl1pPr>
                  <a:defRPr sz="3600" b="1">
                    <a:solidFill>
                      <a:schemeClr val="tx1"/>
                    </a:solidFill>
                    <a:latin typeface="Arial" panose="020B0604020202020204" pitchFamily="34" charset="0"/>
                    <a:cs typeface="Arial" panose="020B0604020202020204" pitchFamily="34" charset="0"/>
                  </a:defRPr>
                </a:lvl1pPr>
                <a:lvl2pPr marL="742950" indent="-285750">
                  <a:defRPr sz="3600" b="1">
                    <a:solidFill>
                      <a:schemeClr val="tx1"/>
                    </a:solidFill>
                    <a:latin typeface="Arial" panose="020B0604020202020204" pitchFamily="34" charset="0"/>
                    <a:cs typeface="Arial" panose="020B0604020202020204" pitchFamily="34" charset="0"/>
                  </a:defRPr>
                </a:lvl2pPr>
                <a:lvl3pPr marL="1143000" indent="-228600">
                  <a:defRPr sz="3600" b="1">
                    <a:solidFill>
                      <a:schemeClr val="tx1"/>
                    </a:solidFill>
                    <a:latin typeface="Arial" panose="020B0604020202020204" pitchFamily="34" charset="0"/>
                    <a:cs typeface="Arial" panose="020B0604020202020204" pitchFamily="34" charset="0"/>
                  </a:defRPr>
                </a:lvl3pPr>
                <a:lvl4pPr marL="1600200" indent="-228600">
                  <a:defRPr sz="3600" b="1">
                    <a:solidFill>
                      <a:schemeClr val="tx1"/>
                    </a:solidFill>
                    <a:latin typeface="Arial" panose="020B0604020202020204" pitchFamily="34" charset="0"/>
                    <a:cs typeface="Arial" panose="020B0604020202020204" pitchFamily="34" charset="0"/>
                  </a:defRPr>
                </a:lvl4pPr>
                <a:lvl5pPr marL="2057400" indent="-228600">
                  <a:defRPr sz="36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algn="ctr"/>
                <a:r>
                  <a:rPr lang="en-US" altLang="en-US" sz="2800" dirty="0" err="1">
                    <a:latin typeface="Times" panose="02020603050405020304" pitchFamily="18" charset="0"/>
                    <a:cs typeface="Times" panose="02020603050405020304" pitchFamily="18" charset="0"/>
                  </a:rPr>
                  <a:t>Lập</a:t>
                </a:r>
                <a:r>
                  <a:rPr lang="en-US" altLang="en-US" sz="2800" dirty="0">
                    <a:latin typeface="Times" panose="02020603050405020304" pitchFamily="18" charset="0"/>
                    <a:cs typeface="Times" panose="02020603050405020304" pitchFamily="18" charset="0"/>
                  </a:rPr>
                  <a:t> </a:t>
                </a:r>
                <a:r>
                  <a:rPr lang="en-US" altLang="en-US" sz="2800" dirty="0" err="1">
                    <a:latin typeface="Times" panose="02020603050405020304" pitchFamily="18" charset="0"/>
                    <a:cs typeface="Times" panose="02020603050405020304" pitchFamily="18" charset="0"/>
                  </a:rPr>
                  <a:t>dự</a:t>
                </a:r>
                <a:r>
                  <a:rPr lang="en-US" altLang="en-US" sz="2800" dirty="0">
                    <a:latin typeface="Times" panose="02020603050405020304" pitchFamily="18" charset="0"/>
                    <a:cs typeface="Times" panose="02020603050405020304" pitchFamily="18" charset="0"/>
                  </a:rPr>
                  <a:t> </a:t>
                </a:r>
                <a:r>
                  <a:rPr lang="en-US" altLang="en-US" sz="2800" dirty="0" err="1">
                    <a:latin typeface="Times" panose="02020603050405020304" pitchFamily="18" charset="0"/>
                    <a:cs typeface="Times" panose="02020603050405020304" pitchFamily="18" charset="0"/>
                  </a:rPr>
                  <a:t>toán</a:t>
                </a:r>
                <a:endParaRPr lang="en-US" altLang="en-US" sz="2800" dirty="0">
                  <a:latin typeface="Times" panose="02020603050405020304" pitchFamily="18" charset="0"/>
                  <a:cs typeface="Times" panose="02020603050405020304" pitchFamily="18" charset="0"/>
                </a:endParaRPr>
              </a:p>
            </p:txBody>
          </p:sp>
          <p:sp>
            <p:nvSpPr>
              <p:cNvPr id="9" name="Oval 7">
                <a:extLst>
                  <a:ext uri="{FF2B5EF4-FFF2-40B4-BE49-F238E27FC236}">
                    <a16:creationId xmlns:a16="http://schemas.microsoft.com/office/drawing/2014/main" id="{C1F89D88-86D0-E5DA-8DA3-312A21351AE7}"/>
                  </a:ext>
                </a:extLst>
              </p:cNvPr>
              <p:cNvSpPr>
                <a:spLocks noChangeArrowheads="1"/>
              </p:cNvSpPr>
              <p:nvPr/>
            </p:nvSpPr>
            <p:spPr bwMode="auto">
              <a:xfrm>
                <a:off x="336" y="3072"/>
                <a:ext cx="1872" cy="816"/>
              </a:xfrm>
              <a:prstGeom prst="ellipse">
                <a:avLst/>
              </a:prstGeom>
              <a:solidFill>
                <a:srgbClr val="00CCFF"/>
              </a:solidFill>
              <a:ln w="9525">
                <a:solidFill>
                  <a:schemeClr val="tx1"/>
                </a:solidFill>
                <a:miter lim="800000"/>
                <a:headEnd/>
                <a:tailEnd/>
              </a:ln>
            </p:spPr>
            <p:txBody>
              <a:bodyPr wrap="none" anchor="ctr"/>
              <a:lstStyle>
                <a:lvl1pPr>
                  <a:defRPr sz="3600" b="1">
                    <a:solidFill>
                      <a:schemeClr val="tx1"/>
                    </a:solidFill>
                    <a:latin typeface="Arial" panose="020B0604020202020204" pitchFamily="34" charset="0"/>
                    <a:cs typeface="Arial" panose="020B0604020202020204" pitchFamily="34" charset="0"/>
                  </a:defRPr>
                </a:lvl1pPr>
                <a:lvl2pPr marL="742950" indent="-285750">
                  <a:defRPr sz="3600" b="1">
                    <a:solidFill>
                      <a:schemeClr val="tx1"/>
                    </a:solidFill>
                    <a:latin typeface="Arial" panose="020B0604020202020204" pitchFamily="34" charset="0"/>
                    <a:cs typeface="Arial" panose="020B0604020202020204" pitchFamily="34" charset="0"/>
                  </a:defRPr>
                </a:lvl2pPr>
                <a:lvl3pPr marL="1143000" indent="-228600">
                  <a:defRPr sz="3600" b="1">
                    <a:solidFill>
                      <a:schemeClr val="tx1"/>
                    </a:solidFill>
                    <a:latin typeface="Arial" panose="020B0604020202020204" pitchFamily="34" charset="0"/>
                    <a:cs typeface="Arial" panose="020B0604020202020204" pitchFamily="34" charset="0"/>
                  </a:defRPr>
                </a:lvl3pPr>
                <a:lvl4pPr marL="1600200" indent="-228600">
                  <a:defRPr sz="3600" b="1">
                    <a:solidFill>
                      <a:schemeClr val="tx1"/>
                    </a:solidFill>
                    <a:latin typeface="Arial" panose="020B0604020202020204" pitchFamily="34" charset="0"/>
                    <a:cs typeface="Arial" panose="020B0604020202020204" pitchFamily="34" charset="0"/>
                  </a:defRPr>
                </a:lvl4pPr>
                <a:lvl5pPr marL="2057400" indent="-228600">
                  <a:defRPr sz="36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algn="ctr"/>
                <a:r>
                  <a:rPr lang="en-US" altLang="en-US" sz="2800" dirty="0" err="1">
                    <a:latin typeface="Times" panose="02020603050405020304" pitchFamily="18" charset="0"/>
                    <a:cs typeface="Times" panose="02020603050405020304" pitchFamily="18" charset="0"/>
                  </a:rPr>
                  <a:t>Quyết</a:t>
                </a:r>
                <a:r>
                  <a:rPr lang="en-US" altLang="en-US" sz="2800" dirty="0">
                    <a:latin typeface="Times" panose="02020603050405020304" pitchFamily="18" charset="0"/>
                    <a:cs typeface="Times" panose="02020603050405020304" pitchFamily="18" charset="0"/>
                  </a:rPr>
                  <a:t> </a:t>
                </a:r>
                <a:r>
                  <a:rPr lang="en-US" altLang="en-US" sz="2800" dirty="0" err="1">
                    <a:latin typeface="Times" panose="02020603050405020304" pitchFamily="18" charset="0"/>
                    <a:cs typeface="Times" panose="02020603050405020304" pitchFamily="18" charset="0"/>
                  </a:rPr>
                  <a:t>toán</a:t>
                </a:r>
                <a:endParaRPr lang="en-US" altLang="en-US" sz="2800" dirty="0">
                  <a:latin typeface="Times" panose="02020603050405020304" pitchFamily="18" charset="0"/>
                  <a:cs typeface="Times" panose="02020603050405020304" pitchFamily="18" charset="0"/>
                </a:endParaRPr>
              </a:p>
            </p:txBody>
          </p:sp>
          <p:sp>
            <p:nvSpPr>
              <p:cNvPr id="10" name="Oval 8">
                <a:extLst>
                  <a:ext uri="{FF2B5EF4-FFF2-40B4-BE49-F238E27FC236}">
                    <a16:creationId xmlns:a16="http://schemas.microsoft.com/office/drawing/2014/main" id="{31BB12C5-41D7-9178-53B4-E82E5DBD1C8E}"/>
                  </a:ext>
                </a:extLst>
              </p:cNvPr>
              <p:cNvSpPr>
                <a:spLocks noChangeArrowheads="1"/>
              </p:cNvSpPr>
              <p:nvPr/>
            </p:nvSpPr>
            <p:spPr bwMode="auto">
              <a:xfrm>
                <a:off x="3648" y="2928"/>
                <a:ext cx="1872" cy="816"/>
              </a:xfrm>
              <a:prstGeom prst="ellipse">
                <a:avLst/>
              </a:prstGeom>
              <a:solidFill>
                <a:srgbClr val="00CCFF"/>
              </a:solidFill>
              <a:ln w="9525">
                <a:solidFill>
                  <a:schemeClr val="tx1"/>
                </a:solidFill>
                <a:miter lim="800000"/>
                <a:headEnd/>
                <a:tailEnd/>
              </a:ln>
            </p:spPr>
            <p:txBody>
              <a:bodyPr wrap="none" anchor="ctr"/>
              <a:lstStyle>
                <a:lvl1pPr>
                  <a:defRPr sz="3600" b="1">
                    <a:solidFill>
                      <a:schemeClr val="tx1"/>
                    </a:solidFill>
                    <a:latin typeface="Arial" panose="020B0604020202020204" pitchFamily="34" charset="0"/>
                    <a:cs typeface="Arial" panose="020B0604020202020204" pitchFamily="34" charset="0"/>
                  </a:defRPr>
                </a:lvl1pPr>
                <a:lvl2pPr marL="742950" indent="-285750">
                  <a:defRPr sz="3600" b="1">
                    <a:solidFill>
                      <a:schemeClr val="tx1"/>
                    </a:solidFill>
                    <a:latin typeface="Arial" panose="020B0604020202020204" pitchFamily="34" charset="0"/>
                    <a:cs typeface="Arial" panose="020B0604020202020204" pitchFamily="34" charset="0"/>
                  </a:defRPr>
                </a:lvl2pPr>
                <a:lvl3pPr marL="1143000" indent="-228600">
                  <a:defRPr sz="3600" b="1">
                    <a:solidFill>
                      <a:schemeClr val="tx1"/>
                    </a:solidFill>
                    <a:latin typeface="Arial" panose="020B0604020202020204" pitchFamily="34" charset="0"/>
                    <a:cs typeface="Arial" panose="020B0604020202020204" pitchFamily="34" charset="0"/>
                  </a:defRPr>
                </a:lvl3pPr>
                <a:lvl4pPr marL="1600200" indent="-228600">
                  <a:defRPr sz="3600" b="1">
                    <a:solidFill>
                      <a:schemeClr val="tx1"/>
                    </a:solidFill>
                    <a:latin typeface="Arial" panose="020B0604020202020204" pitchFamily="34" charset="0"/>
                    <a:cs typeface="Arial" panose="020B0604020202020204" pitchFamily="34" charset="0"/>
                  </a:defRPr>
                </a:lvl4pPr>
                <a:lvl5pPr marL="2057400" indent="-228600">
                  <a:defRPr sz="36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algn="ctr"/>
                <a:r>
                  <a:rPr lang="en-US" altLang="en-US" sz="2800" dirty="0">
                    <a:latin typeface="Times" panose="02020603050405020304" pitchFamily="18" charset="0"/>
                    <a:cs typeface="Times" panose="02020603050405020304" pitchFamily="18" charset="0"/>
                  </a:rPr>
                  <a:t>Chấp </a:t>
                </a:r>
                <a:r>
                  <a:rPr lang="en-US" altLang="en-US" sz="2800" dirty="0" err="1">
                    <a:latin typeface="Times" panose="02020603050405020304" pitchFamily="18" charset="0"/>
                    <a:cs typeface="Times" panose="02020603050405020304" pitchFamily="18" charset="0"/>
                  </a:rPr>
                  <a:t>hành</a:t>
                </a:r>
                <a:r>
                  <a:rPr lang="en-US" altLang="en-US" sz="2800" dirty="0">
                    <a:latin typeface="Times" panose="02020603050405020304" pitchFamily="18" charset="0"/>
                    <a:cs typeface="Times" panose="02020603050405020304" pitchFamily="18" charset="0"/>
                  </a:rPr>
                  <a:t> </a:t>
                </a:r>
              </a:p>
            </p:txBody>
          </p:sp>
          <p:sp>
            <p:nvSpPr>
              <p:cNvPr id="11" name="AutoShape 9">
                <a:extLst>
                  <a:ext uri="{FF2B5EF4-FFF2-40B4-BE49-F238E27FC236}">
                    <a16:creationId xmlns:a16="http://schemas.microsoft.com/office/drawing/2014/main" id="{7D4DBE2D-AFC1-2EAD-103C-4DFD7CD79543}"/>
                  </a:ext>
                </a:extLst>
              </p:cNvPr>
              <p:cNvSpPr>
                <a:spLocks noChangeArrowheads="1"/>
              </p:cNvSpPr>
              <p:nvPr/>
            </p:nvSpPr>
            <p:spPr bwMode="auto">
              <a:xfrm>
                <a:off x="2592" y="1104"/>
                <a:ext cx="432" cy="528"/>
              </a:xfrm>
              <a:prstGeom prst="upDownArrow">
                <a:avLst>
                  <a:gd name="adj1" fmla="val 50000"/>
                  <a:gd name="adj2" fmla="val 24444"/>
                </a:avLst>
              </a:prstGeom>
              <a:solidFill>
                <a:schemeClr val="accent1"/>
              </a:solidFill>
              <a:ln w="9525">
                <a:solidFill>
                  <a:schemeClr val="tx1"/>
                </a:solidFill>
                <a:miter lim="800000"/>
                <a:headEnd/>
                <a:tailEnd/>
              </a:ln>
            </p:spPr>
            <p:txBody>
              <a:bodyPr wrap="none" anchor="ctr"/>
              <a:lstStyle>
                <a:lvl1pPr>
                  <a:defRPr sz="3600" b="1">
                    <a:solidFill>
                      <a:schemeClr val="tx1"/>
                    </a:solidFill>
                    <a:latin typeface="Arial" panose="020B0604020202020204" pitchFamily="34" charset="0"/>
                    <a:cs typeface="Arial" panose="020B0604020202020204" pitchFamily="34" charset="0"/>
                  </a:defRPr>
                </a:lvl1pPr>
                <a:lvl2pPr marL="742950" indent="-285750">
                  <a:defRPr sz="3600" b="1">
                    <a:solidFill>
                      <a:schemeClr val="tx1"/>
                    </a:solidFill>
                    <a:latin typeface="Arial" panose="020B0604020202020204" pitchFamily="34" charset="0"/>
                    <a:cs typeface="Arial" panose="020B0604020202020204" pitchFamily="34" charset="0"/>
                  </a:defRPr>
                </a:lvl2pPr>
                <a:lvl3pPr marL="1143000" indent="-228600">
                  <a:defRPr sz="3600" b="1">
                    <a:solidFill>
                      <a:schemeClr val="tx1"/>
                    </a:solidFill>
                    <a:latin typeface="Arial" panose="020B0604020202020204" pitchFamily="34" charset="0"/>
                    <a:cs typeface="Arial" panose="020B0604020202020204" pitchFamily="34" charset="0"/>
                  </a:defRPr>
                </a:lvl3pPr>
                <a:lvl4pPr marL="1600200" indent="-228600">
                  <a:defRPr sz="3600" b="1">
                    <a:solidFill>
                      <a:schemeClr val="tx1"/>
                    </a:solidFill>
                    <a:latin typeface="Arial" panose="020B0604020202020204" pitchFamily="34" charset="0"/>
                    <a:cs typeface="Arial" panose="020B0604020202020204" pitchFamily="34" charset="0"/>
                  </a:defRPr>
                </a:lvl4pPr>
                <a:lvl5pPr marL="2057400" indent="-228600">
                  <a:defRPr sz="36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2" name="AutoShape 10">
                <a:extLst>
                  <a:ext uri="{FF2B5EF4-FFF2-40B4-BE49-F238E27FC236}">
                    <a16:creationId xmlns:a16="http://schemas.microsoft.com/office/drawing/2014/main" id="{22992882-381D-17AE-1299-7B1EDF6AF460}"/>
                  </a:ext>
                </a:extLst>
              </p:cNvPr>
              <p:cNvSpPr>
                <a:spLocks noChangeArrowheads="1"/>
              </p:cNvSpPr>
              <p:nvPr/>
            </p:nvSpPr>
            <p:spPr bwMode="auto">
              <a:xfrm rot="2614269">
                <a:off x="1776" y="2592"/>
                <a:ext cx="480" cy="624"/>
              </a:xfrm>
              <a:prstGeom prst="upDownArrow">
                <a:avLst>
                  <a:gd name="adj1" fmla="val 50000"/>
                  <a:gd name="adj2" fmla="val 26000"/>
                </a:avLst>
              </a:prstGeom>
              <a:solidFill>
                <a:schemeClr val="accent1"/>
              </a:solidFill>
              <a:ln w="9525">
                <a:solidFill>
                  <a:schemeClr val="tx1"/>
                </a:solidFill>
                <a:miter lim="800000"/>
                <a:headEnd/>
                <a:tailEnd/>
              </a:ln>
            </p:spPr>
            <p:txBody>
              <a:bodyPr wrap="none" anchor="ctr"/>
              <a:lstStyle>
                <a:lvl1pPr>
                  <a:defRPr sz="3600" b="1">
                    <a:solidFill>
                      <a:schemeClr val="tx1"/>
                    </a:solidFill>
                    <a:latin typeface="Arial" panose="020B0604020202020204" pitchFamily="34" charset="0"/>
                    <a:cs typeface="Arial" panose="020B0604020202020204" pitchFamily="34" charset="0"/>
                  </a:defRPr>
                </a:lvl1pPr>
                <a:lvl2pPr marL="742950" indent="-285750">
                  <a:defRPr sz="3600" b="1">
                    <a:solidFill>
                      <a:schemeClr val="tx1"/>
                    </a:solidFill>
                    <a:latin typeface="Arial" panose="020B0604020202020204" pitchFamily="34" charset="0"/>
                    <a:cs typeface="Arial" panose="020B0604020202020204" pitchFamily="34" charset="0"/>
                  </a:defRPr>
                </a:lvl2pPr>
                <a:lvl3pPr marL="1143000" indent="-228600">
                  <a:defRPr sz="3600" b="1">
                    <a:solidFill>
                      <a:schemeClr val="tx1"/>
                    </a:solidFill>
                    <a:latin typeface="Arial" panose="020B0604020202020204" pitchFamily="34" charset="0"/>
                    <a:cs typeface="Arial" panose="020B0604020202020204" pitchFamily="34" charset="0"/>
                  </a:defRPr>
                </a:lvl3pPr>
                <a:lvl4pPr marL="1600200" indent="-228600">
                  <a:defRPr sz="3600" b="1">
                    <a:solidFill>
                      <a:schemeClr val="tx1"/>
                    </a:solidFill>
                    <a:latin typeface="Arial" panose="020B0604020202020204" pitchFamily="34" charset="0"/>
                    <a:cs typeface="Arial" panose="020B0604020202020204" pitchFamily="34" charset="0"/>
                  </a:defRPr>
                </a:lvl4pPr>
                <a:lvl5pPr marL="2057400" indent="-228600">
                  <a:defRPr sz="36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3" name="AutoShape 11">
                <a:extLst>
                  <a:ext uri="{FF2B5EF4-FFF2-40B4-BE49-F238E27FC236}">
                    <a16:creationId xmlns:a16="http://schemas.microsoft.com/office/drawing/2014/main" id="{6C59A7EC-70EE-865F-0E0E-7F414061A84B}"/>
                  </a:ext>
                </a:extLst>
              </p:cNvPr>
              <p:cNvSpPr>
                <a:spLocks noChangeArrowheads="1"/>
              </p:cNvSpPr>
              <p:nvPr/>
            </p:nvSpPr>
            <p:spPr bwMode="auto">
              <a:xfrm rot="-3472965">
                <a:off x="3480" y="2472"/>
                <a:ext cx="480" cy="624"/>
              </a:xfrm>
              <a:prstGeom prst="upDownArrow">
                <a:avLst>
                  <a:gd name="adj1" fmla="val 50000"/>
                  <a:gd name="adj2" fmla="val 26000"/>
                </a:avLst>
              </a:prstGeom>
              <a:solidFill>
                <a:schemeClr val="accent1"/>
              </a:solidFill>
              <a:ln w="9525">
                <a:solidFill>
                  <a:schemeClr val="tx1"/>
                </a:solidFill>
                <a:miter lim="800000"/>
                <a:headEnd/>
                <a:tailEnd/>
              </a:ln>
            </p:spPr>
            <p:txBody>
              <a:bodyPr wrap="none" anchor="ctr"/>
              <a:lstStyle>
                <a:lvl1pPr>
                  <a:defRPr sz="3600" b="1">
                    <a:solidFill>
                      <a:schemeClr val="tx1"/>
                    </a:solidFill>
                    <a:latin typeface="Arial" panose="020B0604020202020204" pitchFamily="34" charset="0"/>
                    <a:cs typeface="Arial" panose="020B0604020202020204" pitchFamily="34" charset="0"/>
                  </a:defRPr>
                </a:lvl1pPr>
                <a:lvl2pPr marL="742950" indent="-285750">
                  <a:defRPr sz="3600" b="1">
                    <a:solidFill>
                      <a:schemeClr val="tx1"/>
                    </a:solidFill>
                    <a:latin typeface="Arial" panose="020B0604020202020204" pitchFamily="34" charset="0"/>
                    <a:cs typeface="Arial" panose="020B0604020202020204" pitchFamily="34" charset="0"/>
                  </a:defRPr>
                </a:lvl2pPr>
                <a:lvl3pPr marL="1143000" indent="-228600">
                  <a:defRPr sz="3600" b="1">
                    <a:solidFill>
                      <a:schemeClr val="tx1"/>
                    </a:solidFill>
                    <a:latin typeface="Arial" panose="020B0604020202020204" pitchFamily="34" charset="0"/>
                    <a:cs typeface="Arial" panose="020B0604020202020204" pitchFamily="34" charset="0"/>
                  </a:defRPr>
                </a:lvl3pPr>
                <a:lvl4pPr marL="1600200" indent="-228600">
                  <a:defRPr sz="3600" b="1">
                    <a:solidFill>
                      <a:schemeClr val="tx1"/>
                    </a:solidFill>
                    <a:latin typeface="Arial" panose="020B0604020202020204" pitchFamily="34" charset="0"/>
                    <a:cs typeface="Arial" panose="020B0604020202020204" pitchFamily="34" charset="0"/>
                  </a:defRPr>
                </a:lvl4pPr>
                <a:lvl5pPr marL="2057400" indent="-228600">
                  <a:defRPr sz="36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b="1">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spTree>
    <p:extLst>
      <p:ext uri="{BB962C8B-B14F-4D97-AF65-F5344CB8AC3E}">
        <p14:creationId xmlns:p14="http://schemas.microsoft.com/office/powerpoint/2010/main" val="1666400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EEC8E-C5C1-E1E5-8EFE-91A1F060D23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2E64BF1-7F07-BAB7-8B9D-695E4E6B8C12}"/>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graphicFrame>
        <p:nvGraphicFramePr>
          <p:cNvPr id="2" name="Content Placeholder 3">
            <a:extLst>
              <a:ext uri="{FF2B5EF4-FFF2-40B4-BE49-F238E27FC236}">
                <a16:creationId xmlns:a16="http://schemas.microsoft.com/office/drawing/2014/main" id="{9CAC40DA-CB89-8206-72A8-F8F526791952}"/>
              </a:ext>
            </a:extLst>
          </p:cNvPr>
          <p:cNvGraphicFramePr>
            <a:graphicFrameLocks/>
          </p:cNvGraphicFramePr>
          <p:nvPr>
            <p:extLst>
              <p:ext uri="{D42A27DB-BD31-4B8C-83A1-F6EECF244321}">
                <p14:modId xmlns:p14="http://schemas.microsoft.com/office/powerpoint/2010/main" val="659409861"/>
              </p:ext>
            </p:extLst>
          </p:nvPr>
        </p:nvGraphicFramePr>
        <p:xfrm>
          <a:off x="838200" y="1352062"/>
          <a:ext cx="10515600" cy="52910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92117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graphicEl>
                                              <a:dgm id="{65042512-3D74-45F5-A966-09A6813012C6}"/>
                                            </p:graphicEl>
                                          </p:spTgt>
                                        </p:tgtEl>
                                        <p:attrNameLst>
                                          <p:attrName>style.visibility</p:attrName>
                                        </p:attrNameLst>
                                      </p:cBhvr>
                                      <p:to>
                                        <p:strVal val="visible"/>
                                      </p:to>
                                    </p:set>
                                    <p:anim calcmode="lin" valueType="num">
                                      <p:cBhvr additive="base">
                                        <p:cTn id="7" dur="500" fill="hold"/>
                                        <p:tgtEl>
                                          <p:spTgt spid="2">
                                            <p:graphicEl>
                                              <a:dgm id="{65042512-3D74-45F5-A966-09A6813012C6}"/>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graphicEl>
                                              <a:dgm id="{65042512-3D74-45F5-A966-09A6813012C6}"/>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graphicEl>
                                              <a:dgm id="{12B6CB8E-47F7-46A3-BF4D-78C107E76838}"/>
                                            </p:graphicEl>
                                          </p:spTgt>
                                        </p:tgtEl>
                                        <p:attrNameLst>
                                          <p:attrName>style.visibility</p:attrName>
                                        </p:attrNameLst>
                                      </p:cBhvr>
                                      <p:to>
                                        <p:strVal val="visible"/>
                                      </p:to>
                                    </p:set>
                                    <p:anim calcmode="lin" valueType="num">
                                      <p:cBhvr additive="base">
                                        <p:cTn id="13" dur="500" fill="hold"/>
                                        <p:tgtEl>
                                          <p:spTgt spid="2">
                                            <p:graphicEl>
                                              <a:dgm id="{12B6CB8E-47F7-46A3-BF4D-78C107E76838}"/>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graphicEl>
                                              <a:dgm id="{12B6CB8E-47F7-46A3-BF4D-78C107E76838}"/>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graphicEl>
                                              <a:dgm id="{A770C11E-DC3C-461E-B0A7-C64E2C233F8D}"/>
                                            </p:graphicEl>
                                          </p:spTgt>
                                        </p:tgtEl>
                                        <p:attrNameLst>
                                          <p:attrName>style.visibility</p:attrName>
                                        </p:attrNameLst>
                                      </p:cBhvr>
                                      <p:to>
                                        <p:strVal val="visible"/>
                                      </p:to>
                                    </p:set>
                                    <p:anim calcmode="lin" valueType="num">
                                      <p:cBhvr additive="base">
                                        <p:cTn id="19" dur="500" fill="hold"/>
                                        <p:tgtEl>
                                          <p:spTgt spid="2">
                                            <p:graphicEl>
                                              <a:dgm id="{A770C11E-DC3C-461E-B0A7-C64E2C233F8D}"/>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graphicEl>
                                              <a:dgm id="{A770C11E-DC3C-461E-B0A7-C64E2C233F8D}"/>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graphicEl>
                                              <a:dgm id="{5B2031C5-30FE-4815-87D9-174DECC64C21}"/>
                                            </p:graphicEl>
                                          </p:spTgt>
                                        </p:tgtEl>
                                        <p:attrNameLst>
                                          <p:attrName>style.visibility</p:attrName>
                                        </p:attrNameLst>
                                      </p:cBhvr>
                                      <p:to>
                                        <p:strVal val="visible"/>
                                      </p:to>
                                    </p:set>
                                    <p:anim calcmode="lin" valueType="num">
                                      <p:cBhvr additive="base">
                                        <p:cTn id="25" dur="500" fill="hold"/>
                                        <p:tgtEl>
                                          <p:spTgt spid="2">
                                            <p:graphicEl>
                                              <a:dgm id="{5B2031C5-30FE-4815-87D9-174DECC64C21}"/>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graphicEl>
                                              <a:dgm id="{5B2031C5-30FE-4815-87D9-174DECC64C21}"/>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graphicEl>
                                              <a:dgm id="{BD0F7E4C-229A-471E-BF54-0C9877728746}"/>
                                            </p:graphicEl>
                                          </p:spTgt>
                                        </p:tgtEl>
                                        <p:attrNameLst>
                                          <p:attrName>style.visibility</p:attrName>
                                        </p:attrNameLst>
                                      </p:cBhvr>
                                      <p:to>
                                        <p:strVal val="visible"/>
                                      </p:to>
                                    </p:set>
                                    <p:anim calcmode="lin" valueType="num">
                                      <p:cBhvr additive="base">
                                        <p:cTn id="31" dur="500" fill="hold"/>
                                        <p:tgtEl>
                                          <p:spTgt spid="2">
                                            <p:graphicEl>
                                              <a:dgm id="{BD0F7E4C-229A-471E-BF54-0C9877728746}"/>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graphicEl>
                                              <a:dgm id="{BD0F7E4C-229A-471E-BF54-0C9877728746}"/>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graphicEl>
                                              <a:dgm id="{963CC4D4-8832-42C7-B542-BDC447BC3BB1}"/>
                                            </p:graphicEl>
                                          </p:spTgt>
                                        </p:tgtEl>
                                        <p:attrNameLst>
                                          <p:attrName>style.visibility</p:attrName>
                                        </p:attrNameLst>
                                      </p:cBhvr>
                                      <p:to>
                                        <p:strVal val="visible"/>
                                      </p:to>
                                    </p:set>
                                    <p:anim calcmode="lin" valueType="num">
                                      <p:cBhvr additive="base">
                                        <p:cTn id="37" dur="500" fill="hold"/>
                                        <p:tgtEl>
                                          <p:spTgt spid="2">
                                            <p:graphicEl>
                                              <a:dgm id="{963CC4D4-8832-42C7-B542-BDC447BC3BB1}"/>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graphicEl>
                                              <a:dgm id="{963CC4D4-8832-42C7-B542-BDC447BC3BB1}"/>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graphicEl>
                                              <a:dgm id="{BB2D3384-1450-4001-9A1E-40675559BA1F}"/>
                                            </p:graphicEl>
                                          </p:spTgt>
                                        </p:tgtEl>
                                        <p:attrNameLst>
                                          <p:attrName>style.visibility</p:attrName>
                                        </p:attrNameLst>
                                      </p:cBhvr>
                                      <p:to>
                                        <p:strVal val="visible"/>
                                      </p:to>
                                    </p:set>
                                    <p:anim calcmode="lin" valueType="num">
                                      <p:cBhvr additive="base">
                                        <p:cTn id="43" dur="500" fill="hold"/>
                                        <p:tgtEl>
                                          <p:spTgt spid="2">
                                            <p:graphicEl>
                                              <a:dgm id="{BB2D3384-1450-4001-9A1E-40675559BA1F}"/>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graphicEl>
                                              <a:dgm id="{BB2D3384-1450-4001-9A1E-40675559BA1F}"/>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graphicEl>
                                              <a:dgm id="{9FE2C92F-76AE-4781-B0FE-1C7FA378A75B}"/>
                                            </p:graphicEl>
                                          </p:spTgt>
                                        </p:tgtEl>
                                        <p:attrNameLst>
                                          <p:attrName>style.visibility</p:attrName>
                                        </p:attrNameLst>
                                      </p:cBhvr>
                                      <p:to>
                                        <p:strVal val="visible"/>
                                      </p:to>
                                    </p:set>
                                    <p:anim calcmode="lin" valueType="num">
                                      <p:cBhvr additive="base">
                                        <p:cTn id="49" dur="500" fill="hold"/>
                                        <p:tgtEl>
                                          <p:spTgt spid="2">
                                            <p:graphicEl>
                                              <a:dgm id="{9FE2C92F-76AE-4781-B0FE-1C7FA378A75B}"/>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graphicEl>
                                              <a:dgm id="{9FE2C92F-76AE-4781-B0FE-1C7FA378A75B}"/>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FE1A5-A751-9A2A-B6BF-06E9E9EB361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F13B5F9-457B-67E2-DE0A-8F1A9B72A9DA}"/>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5" name="Content Placeholder 2">
            <a:extLst>
              <a:ext uri="{FF2B5EF4-FFF2-40B4-BE49-F238E27FC236}">
                <a16:creationId xmlns:a16="http://schemas.microsoft.com/office/drawing/2014/main" id="{5EF0B3FA-2CC3-FB60-1D41-CC92D43AC169}"/>
              </a:ext>
            </a:extLst>
          </p:cNvPr>
          <p:cNvSpPr txBox="1">
            <a:spLocks/>
          </p:cNvSpPr>
          <p:nvPr/>
        </p:nvSpPr>
        <p:spPr>
          <a:xfrm>
            <a:off x="153962" y="1212741"/>
            <a:ext cx="11871016" cy="560778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Tx/>
              <a:buChar char="-"/>
            </a:pPr>
            <a:r>
              <a:rPr lang="vi-VN" dirty="0">
                <a:latin typeface="Times New Roman" pitchFamily="18" charset="0"/>
                <a:cs typeface="Times New Roman" pitchFamily="18" charset="0"/>
              </a:rPr>
              <a:t>Là quá trình tính toán, dự trù các khoản thu, chi của 1 năm NS</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xã</a:t>
            </a:r>
            <a:endParaRPr lang="en-US" dirty="0">
              <a:latin typeface="Times New Roman" pitchFamily="18" charset="0"/>
              <a:cs typeface="Times New Roman" pitchFamily="18" charset="0"/>
            </a:endParaRPr>
          </a:p>
          <a:p>
            <a:pPr marL="0" indent="0">
              <a:lnSpc>
                <a:spcPct val="150000"/>
              </a:lnSpc>
              <a:buNone/>
            </a:pPr>
            <a:r>
              <a:rPr lang="vi-VN" dirty="0">
                <a:latin typeface="Times New Roman" pitchFamily="18" charset="0"/>
                <a:cs typeface="Times New Roman" pitchFamily="18" charset="0"/>
              </a:rPr>
              <a:t>- Khâu khởi đầu quan trọng, ảnh hưởng tới các khâu tiếp theo</a:t>
            </a:r>
          </a:p>
          <a:p>
            <a:pPr marL="0" indent="0">
              <a:lnSpc>
                <a:spcPct val="150000"/>
              </a:lnSpc>
              <a:buFont typeface="Arial" panose="020B0604020202020204" pitchFamily="34" charset="0"/>
              <a:buNone/>
            </a:pPr>
            <a:r>
              <a:rPr lang="vi-VN" dirty="0">
                <a:latin typeface="Times New Roman" pitchFamily="18" charset="0"/>
                <a:cs typeface="Times New Roman" pitchFamily="18" charset="0"/>
              </a:rPr>
              <a:t>- Kết quả của khâu này là dự toán NS được các cấp có thẩm quyền quyết định </a:t>
            </a:r>
          </a:p>
          <a:p>
            <a:pPr marL="0" indent="0">
              <a:lnSpc>
                <a:spcPct val="150000"/>
              </a:lnSpc>
              <a:buFont typeface="Arial" panose="020B0604020202020204" pitchFamily="34" charset="0"/>
              <a:buNone/>
            </a:pPr>
            <a:r>
              <a:rPr lang="vi-VN" sz="3200" dirty="0">
                <a:latin typeface="Times New Roman" pitchFamily="18" charset="0"/>
                <a:cs typeface="Times New Roman" pitchFamily="18" charset="0"/>
              </a:rPr>
              <a:t>	</a:t>
            </a:r>
            <a:endParaRPr lang="en-US" dirty="0"/>
          </a:p>
        </p:txBody>
      </p:sp>
    </p:spTree>
    <p:extLst>
      <p:ext uri="{BB962C8B-B14F-4D97-AF65-F5344CB8AC3E}">
        <p14:creationId xmlns:p14="http://schemas.microsoft.com/office/powerpoint/2010/main" val="2673826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25A15-FE41-69D4-590E-0F47A3E7C65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4FF2C3B-B2D5-11FD-1006-2346E487F8EE}"/>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3" name="Content Placeholder 4">
            <a:extLst>
              <a:ext uri="{FF2B5EF4-FFF2-40B4-BE49-F238E27FC236}">
                <a16:creationId xmlns:a16="http://schemas.microsoft.com/office/drawing/2014/main" id="{AA4C5214-8D30-604D-2B0A-8694E5473B1F}"/>
              </a:ext>
            </a:extLst>
          </p:cNvPr>
          <p:cNvSpPr txBox="1">
            <a:spLocks/>
          </p:cNvSpPr>
          <p:nvPr/>
        </p:nvSpPr>
        <p:spPr>
          <a:xfrm>
            <a:off x="187037" y="1205345"/>
            <a:ext cx="11792372" cy="5487449"/>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buFont typeface="Wingdings" panose="05000000000000000000" pitchFamily="2" charset="2"/>
              <a:buChar char="Ø"/>
            </a:pPr>
            <a:r>
              <a:rPr lang="en-US" sz="3000" b="1" dirty="0" err="1">
                <a:solidFill>
                  <a:srgbClr val="FF0000"/>
                </a:solidFill>
                <a:latin typeface="Times New Roman" panose="02020603050405020304" pitchFamily="18" charset="0"/>
                <a:cs typeface="Times New Roman" panose="02020603050405020304" pitchFamily="18" charset="0"/>
              </a:rPr>
              <a:t>Căn</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cứ</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lập</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dự</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toán</a:t>
            </a:r>
            <a:r>
              <a:rPr lang="en-US" sz="3000" b="1" dirty="0">
                <a:solidFill>
                  <a:srgbClr val="FF0000"/>
                </a:solidFill>
                <a:latin typeface="Times New Roman" panose="02020603050405020304" pitchFamily="18" charset="0"/>
                <a:cs typeface="Times New Roman" panose="02020603050405020304" pitchFamily="18" charset="0"/>
              </a:rPr>
              <a:t> NS </a:t>
            </a:r>
            <a:r>
              <a:rPr lang="en-US" sz="3000" b="1" dirty="0" err="1">
                <a:solidFill>
                  <a:srgbClr val="FF0000"/>
                </a:solidFill>
                <a:latin typeface="Times New Roman" panose="02020603050405020304" pitchFamily="18" charset="0"/>
                <a:cs typeface="Times New Roman" panose="02020603050405020304" pitchFamily="18" charset="0"/>
              </a:rPr>
              <a:t>xã</a:t>
            </a:r>
            <a:r>
              <a:rPr lang="vi-VN" sz="3000" b="1" i="1" dirty="0">
                <a:solidFill>
                  <a:srgbClr val="FF0000"/>
                </a:solidFill>
                <a:latin typeface="Times New Roman" panose="02020603050405020304" pitchFamily="18" charset="0"/>
                <a:cs typeface="Times New Roman" panose="02020603050405020304" pitchFamily="18" charset="0"/>
              </a:rPr>
              <a:t>	</a:t>
            </a:r>
            <a:endParaRPr lang="en-US" sz="3000" b="1" i="1" dirty="0">
              <a:solidFill>
                <a:srgbClr val="FF0000"/>
              </a:solidFill>
              <a:latin typeface="Times New Roman" panose="02020603050405020304" pitchFamily="18" charset="0"/>
              <a:cs typeface="Times New Roman" panose="02020603050405020304" pitchFamily="18" charset="0"/>
            </a:endParaRPr>
          </a:p>
          <a:p>
            <a:pPr marL="0" indent="0" algn="just">
              <a:lnSpc>
                <a:spcPct val="120000"/>
              </a:lnSpc>
              <a:buFont typeface="Arial" panose="020B0604020202020204" pitchFamily="34" charset="0"/>
              <a:buNone/>
            </a:pPr>
            <a:r>
              <a:rPr lang="vi-VN" b="1" i="1" dirty="0">
                <a:solidFill>
                  <a:srgbClr val="FF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 Các nhiệm vụ phát triển KT – XH , đảm bảo QP, AN</a:t>
            </a:r>
            <a:r>
              <a:rPr lang="en-US" dirty="0">
                <a:solidFill>
                  <a:srgbClr val="000000"/>
                </a:solidFill>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và trật tự an toàn XH của xã;</a:t>
            </a:r>
          </a:p>
          <a:p>
            <a:pPr marL="0" indent="0" algn="just">
              <a:lnSpc>
                <a:spcPct val="120000"/>
              </a:lnSpc>
              <a:buFont typeface="Arial" panose="020B0604020202020204" pitchFamily="34" charset="0"/>
              <a:buNone/>
            </a:pPr>
            <a:r>
              <a:rPr lang="en-US" dirty="0">
                <a:solidFill>
                  <a:srgbClr val="000000"/>
                </a:solidFill>
                <a:latin typeface="Times New Roman" panose="02020603050405020304" pitchFamily="18" charset="0"/>
                <a:cs typeface="Times New Roman" panose="02020603050405020304" pitchFamily="18" charset="0"/>
              </a:rPr>
              <a:t>-</a:t>
            </a:r>
            <a:r>
              <a:rPr lang="vi-VN" dirty="0">
                <a:solidFill>
                  <a:srgbClr val="000000"/>
                </a:solidFill>
                <a:latin typeface="Times New Roman" panose="02020603050405020304" pitchFamily="18" charset="0"/>
                <a:cs typeface="Times New Roman" panose="02020603050405020304" pitchFamily="18" charset="0"/>
              </a:rPr>
              <a:t> Chính sách, chế độ thu NSNN, cơ chế phân cấp nguồn thu, nhiệm vụ chi của NSX và tỷ lệ phân chia nguồn thu do HĐND tỉnh quy định;</a:t>
            </a:r>
          </a:p>
          <a:p>
            <a:pPr marL="0" indent="0" algn="just">
              <a:lnSpc>
                <a:spcPct val="120000"/>
              </a:lnSpc>
              <a:buFont typeface="Arial" panose="020B0604020202020204" pitchFamily="34" charset="0"/>
              <a:buNone/>
            </a:pPr>
            <a:r>
              <a:rPr lang="vi-VN" dirty="0">
                <a:solidFill>
                  <a:srgbClr val="000000"/>
                </a:solidFill>
                <a:latin typeface="Times New Roman" panose="02020603050405020304" pitchFamily="18" charset="0"/>
                <a:cs typeface="Times New Roman" panose="02020603050405020304" pitchFamily="18" charset="0"/>
              </a:rPr>
              <a:t>- Chế độ, tiêu chuẩn, định mức chi ngân sách hiện hành như: chế độ tiền lương cán bộ công chức xã</a:t>
            </a:r>
            <a:r>
              <a:rPr lang="en-US" dirty="0">
                <a:solidFill>
                  <a:srgbClr val="000000"/>
                </a:solidFill>
                <a:latin typeface="Times New Roman" panose="02020603050405020304" pitchFamily="18" charset="0"/>
                <a:cs typeface="Times New Roman" panose="02020603050405020304" pitchFamily="18" charset="0"/>
              </a:rPr>
              <a:t>…</a:t>
            </a:r>
            <a:endParaRPr lang="vi-VN" dirty="0">
              <a:solidFill>
                <a:srgbClr val="000000"/>
              </a:solidFill>
              <a:latin typeface="Times New Roman" panose="02020603050405020304" pitchFamily="18" charset="0"/>
              <a:cs typeface="Times New Roman" panose="02020603050405020304" pitchFamily="18" charset="0"/>
            </a:endParaRPr>
          </a:p>
          <a:p>
            <a:pPr marL="0" indent="0" algn="just">
              <a:lnSpc>
                <a:spcPct val="120000"/>
              </a:lnSpc>
              <a:buFont typeface="Arial" panose="020B0604020202020204" pitchFamily="34" charset="0"/>
              <a:buNone/>
            </a:pPr>
            <a:r>
              <a:rPr lang="vi-VN" altLang="en-US" dirty="0">
                <a:latin typeface="Times New Roman" panose="02020603050405020304" pitchFamily="18" charset="0"/>
                <a:cs typeface="Times New Roman" panose="02020603050405020304" pitchFamily="18" charset="0"/>
              </a:rPr>
              <a:t>- </a:t>
            </a:r>
            <a:r>
              <a:rPr lang="vi-VN" dirty="0">
                <a:solidFill>
                  <a:srgbClr val="000000"/>
                </a:solidFill>
                <a:latin typeface="Times New Roman" panose="02020603050405020304" pitchFamily="18" charset="0"/>
                <a:cs typeface="Times New Roman" panose="02020603050405020304" pitchFamily="18" charset="0"/>
              </a:rPr>
              <a:t>Tình hình thực hiện dự toán </a:t>
            </a:r>
            <a:r>
              <a:rPr lang="en-US" altLang="en-US" dirty="0">
                <a:latin typeface="Times New Roman" panose="02020603050405020304" pitchFamily="18" charset="0"/>
                <a:cs typeface="Times New Roman" panose="02020603050405020304" pitchFamily="18" charset="0"/>
              </a:rPr>
              <a:t>NSX </a:t>
            </a:r>
            <a:r>
              <a:rPr lang="vi-VN" dirty="0">
                <a:solidFill>
                  <a:srgbClr val="000000"/>
                </a:solidFill>
                <a:latin typeface="Times New Roman" panose="02020603050405020304" pitchFamily="18" charset="0"/>
                <a:cs typeface="Times New Roman" panose="02020603050405020304" pitchFamily="18" charset="0"/>
              </a:rPr>
              <a:t>các tháng đầu năm hiện hành và ước thực hiện các tháng cuối năm</a:t>
            </a:r>
          </a:p>
          <a:p>
            <a:pPr marL="0" indent="0" algn="just">
              <a:lnSpc>
                <a:spcPct val="120000"/>
              </a:lnSpc>
              <a:buFont typeface="Arial" panose="020B0604020202020204" pitchFamily="34" charset="0"/>
              <a:buNone/>
            </a:pPr>
            <a:r>
              <a:rPr lang="vi-VN" dirty="0">
                <a:solidFill>
                  <a:srgbClr val="000000"/>
                </a:solidFill>
                <a:latin typeface="Times New Roman" panose="02020603050405020304" pitchFamily="18" charset="0"/>
                <a:cs typeface="Times New Roman" panose="02020603050405020304" pitchFamily="18" charset="0"/>
              </a:rPr>
              <a:t>- Tình hình thực hiện dự toán các năm trước</a:t>
            </a:r>
            <a:r>
              <a:rPr lang="en-US" dirty="0">
                <a:solidFill>
                  <a:srgbClr val="000000"/>
                </a:solidFill>
                <a:latin typeface="Times New Roman" panose="02020603050405020304" pitchFamily="18" charset="0"/>
                <a:cs typeface="Times New Roman" panose="02020603050405020304" pitchFamily="18" charset="0"/>
              </a:rPr>
              <a:t>…</a:t>
            </a:r>
            <a:endParaRPr lang="vi-VN" dirty="0">
              <a:solidFill>
                <a:srgbClr val="000000"/>
              </a:solidFill>
              <a:latin typeface="Times New Roman" panose="02020603050405020304" pitchFamily="18" charset="0"/>
              <a:cs typeface="Times New Roman" panose="02020603050405020304" pitchFamily="18" charset="0"/>
            </a:endParaRPr>
          </a:p>
          <a:p>
            <a:pPr marL="0" indent="0" algn="just">
              <a:lnSpc>
                <a:spcPct val="120000"/>
              </a:lnSpc>
              <a:buFont typeface="Arial" panose="020B0604020202020204" pitchFamily="34" charset="0"/>
              <a:buNone/>
            </a:pPr>
            <a:endParaRPr lang="vi-VN" dirty="0">
              <a:solidFill>
                <a:srgbClr val="000000"/>
              </a:solidFill>
              <a:latin typeface="Times New Roman" panose="02020603050405020304" pitchFamily="18" charset="0"/>
              <a:cs typeface="Times New Roman" panose="02020603050405020304" pitchFamily="18" charset="0"/>
            </a:endParaRPr>
          </a:p>
          <a:p>
            <a:pPr marL="0" indent="0" algn="just">
              <a:lnSpc>
                <a:spcPct val="100000"/>
              </a:lnSpc>
              <a:buFont typeface="Arial" panose="020B0604020202020204" pitchFamily="34" charset="0"/>
              <a:buNone/>
            </a:pPr>
            <a:endParaRPr lang="vi-VN" altLang="en-US"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endParaRPr lang="vi-VN"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717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B0D81-F4DF-9EEA-E51C-CBD6B54428E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2133FE6-B97D-4D55-E45A-B35D06295294}"/>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Content Placeholder 4">
            <a:extLst>
              <a:ext uri="{FF2B5EF4-FFF2-40B4-BE49-F238E27FC236}">
                <a16:creationId xmlns:a16="http://schemas.microsoft.com/office/drawing/2014/main" id="{B02EC17A-7BA7-0B2D-4503-E396FFDC030D}"/>
              </a:ext>
            </a:extLst>
          </p:cNvPr>
          <p:cNvSpPr txBox="1">
            <a:spLocks/>
          </p:cNvSpPr>
          <p:nvPr/>
        </p:nvSpPr>
        <p:spPr>
          <a:xfrm>
            <a:off x="0" y="1377887"/>
            <a:ext cx="11662133" cy="5017674"/>
          </a:xfrm>
          <a:prstGeom prst="rect">
            <a:avLst/>
          </a:prstGeom>
        </p:spPr>
        <p:txBody>
          <a:bodyPr>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buFont typeface="Wingdings" panose="05000000000000000000" pitchFamily="2" charset="2"/>
              <a:buChar char="Ø"/>
            </a:pPr>
            <a:r>
              <a:rPr lang="en-US" sz="11200" b="1" dirty="0" err="1">
                <a:solidFill>
                  <a:srgbClr val="FF0000"/>
                </a:solidFill>
                <a:latin typeface="Times New Roman" panose="02020603050405020304" pitchFamily="18" charset="0"/>
                <a:cs typeface="Times New Roman" panose="02020603050405020304" pitchFamily="18" charset="0"/>
              </a:rPr>
              <a:t>Yêu</a:t>
            </a:r>
            <a:r>
              <a:rPr lang="en-US" sz="11200" b="1" dirty="0">
                <a:solidFill>
                  <a:srgbClr val="FF0000"/>
                </a:solidFill>
                <a:latin typeface="Times New Roman" panose="02020603050405020304" pitchFamily="18" charset="0"/>
                <a:cs typeface="Times New Roman" panose="02020603050405020304" pitchFamily="18" charset="0"/>
              </a:rPr>
              <a:t> </a:t>
            </a:r>
            <a:r>
              <a:rPr lang="en-US" sz="11200" b="1" dirty="0" err="1">
                <a:solidFill>
                  <a:srgbClr val="FF0000"/>
                </a:solidFill>
                <a:latin typeface="Times New Roman" panose="02020603050405020304" pitchFamily="18" charset="0"/>
                <a:cs typeface="Times New Roman" panose="02020603050405020304" pitchFamily="18" charset="0"/>
              </a:rPr>
              <a:t>cầu</a:t>
            </a:r>
            <a:r>
              <a:rPr lang="en-US" sz="11200" b="1" dirty="0">
                <a:solidFill>
                  <a:srgbClr val="FF0000"/>
                </a:solidFill>
                <a:latin typeface="Times New Roman" panose="02020603050405020304" pitchFamily="18" charset="0"/>
                <a:cs typeface="Times New Roman" panose="02020603050405020304" pitchFamily="18" charset="0"/>
              </a:rPr>
              <a:t> </a:t>
            </a:r>
            <a:r>
              <a:rPr lang="en-US" sz="11200" b="1" dirty="0" err="1">
                <a:solidFill>
                  <a:srgbClr val="FF0000"/>
                </a:solidFill>
                <a:latin typeface="Times New Roman" panose="02020603050405020304" pitchFamily="18" charset="0"/>
                <a:cs typeface="Times New Roman" panose="02020603050405020304" pitchFamily="18" charset="0"/>
              </a:rPr>
              <a:t>lập</a:t>
            </a:r>
            <a:r>
              <a:rPr lang="en-US" sz="11200" b="1" dirty="0">
                <a:solidFill>
                  <a:srgbClr val="FF0000"/>
                </a:solidFill>
                <a:latin typeface="Times New Roman" panose="02020603050405020304" pitchFamily="18" charset="0"/>
                <a:cs typeface="Times New Roman" panose="02020603050405020304" pitchFamily="18" charset="0"/>
              </a:rPr>
              <a:t> </a:t>
            </a:r>
            <a:r>
              <a:rPr lang="en-US" sz="11200" b="1" dirty="0" err="1">
                <a:solidFill>
                  <a:srgbClr val="FF0000"/>
                </a:solidFill>
                <a:latin typeface="Times New Roman" panose="02020603050405020304" pitchFamily="18" charset="0"/>
                <a:cs typeface="Times New Roman" panose="02020603050405020304" pitchFamily="18" charset="0"/>
              </a:rPr>
              <a:t>dự</a:t>
            </a:r>
            <a:r>
              <a:rPr lang="en-US" sz="11200" b="1" dirty="0">
                <a:solidFill>
                  <a:srgbClr val="FF0000"/>
                </a:solidFill>
                <a:latin typeface="Times New Roman" panose="02020603050405020304" pitchFamily="18" charset="0"/>
                <a:cs typeface="Times New Roman" panose="02020603050405020304" pitchFamily="18" charset="0"/>
              </a:rPr>
              <a:t> </a:t>
            </a:r>
            <a:r>
              <a:rPr lang="en-US" sz="11200" b="1" dirty="0" err="1">
                <a:solidFill>
                  <a:srgbClr val="FF0000"/>
                </a:solidFill>
                <a:latin typeface="Times New Roman" panose="02020603050405020304" pitchFamily="18" charset="0"/>
                <a:cs typeface="Times New Roman" panose="02020603050405020304" pitchFamily="18" charset="0"/>
              </a:rPr>
              <a:t>toán</a:t>
            </a:r>
            <a:r>
              <a:rPr lang="en-US" sz="11200" b="1" dirty="0">
                <a:solidFill>
                  <a:srgbClr val="FF0000"/>
                </a:solidFill>
                <a:latin typeface="Times New Roman" panose="02020603050405020304" pitchFamily="18" charset="0"/>
                <a:cs typeface="Times New Roman" panose="02020603050405020304" pitchFamily="18" charset="0"/>
              </a:rPr>
              <a:t> NS </a:t>
            </a:r>
            <a:r>
              <a:rPr lang="en-US" sz="11200" b="1" dirty="0" err="1">
                <a:solidFill>
                  <a:srgbClr val="FF0000"/>
                </a:solidFill>
                <a:latin typeface="Times New Roman" panose="02020603050405020304" pitchFamily="18" charset="0"/>
                <a:cs typeface="Times New Roman" panose="02020603050405020304" pitchFamily="18" charset="0"/>
              </a:rPr>
              <a:t>xã</a:t>
            </a:r>
            <a:r>
              <a:rPr lang="vi-VN" sz="8600" b="1" i="1" dirty="0">
                <a:solidFill>
                  <a:srgbClr val="FF0000"/>
                </a:solidFill>
                <a:latin typeface="Times New Roman" panose="02020603050405020304" pitchFamily="18" charset="0"/>
                <a:cs typeface="Times New Roman" panose="02020603050405020304" pitchFamily="18" charset="0"/>
              </a:rPr>
              <a:t>	</a:t>
            </a:r>
            <a:r>
              <a:rPr lang="en-US" altLang="en-US" sz="5100" dirty="0">
                <a:latin typeface="Times New Roman" panose="02020603050405020304" pitchFamily="18" charset="0"/>
                <a:cs typeface="Times New Roman" panose="02020603050405020304" pitchFamily="18" charset="0"/>
              </a:rPr>
              <a:t>	</a:t>
            </a:r>
          </a:p>
          <a:p>
            <a:pPr marL="0" indent="0" algn="just">
              <a:lnSpc>
                <a:spcPct val="120000"/>
              </a:lnSpc>
              <a:buFont typeface="Arial" panose="020B0604020202020204" pitchFamily="34" charset="0"/>
              <a:buNone/>
            </a:pPr>
            <a:r>
              <a:rPr lang="vi-VN" altLang="en-US" sz="5100" b="1" i="1" dirty="0">
                <a:solidFill>
                  <a:srgbClr val="FF0000"/>
                </a:solidFill>
                <a:latin typeface="Times New Roman" panose="02020603050405020304" pitchFamily="18" charset="0"/>
                <a:cs typeface="Times New Roman" panose="02020603050405020304" pitchFamily="18" charset="0"/>
              </a:rPr>
              <a:t> </a:t>
            </a:r>
            <a:r>
              <a:rPr lang="en-US" altLang="en-US" sz="5100" b="1" i="1" dirty="0">
                <a:solidFill>
                  <a:srgbClr val="FF0000"/>
                </a:solidFill>
                <a:latin typeface="Times New Roman" panose="02020603050405020304" pitchFamily="18" charset="0"/>
                <a:cs typeface="Times New Roman" panose="02020603050405020304" pitchFamily="18" charset="0"/>
              </a:rPr>
              <a:t>	</a:t>
            </a:r>
            <a:r>
              <a:rPr lang="vi-VN"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Phù</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hợp</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với</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kế</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hoạch</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phát</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triển</a:t>
            </a:r>
            <a:r>
              <a:rPr lang="en-US" altLang="en-US" sz="9600" dirty="0">
                <a:latin typeface="Times New Roman" panose="02020603050405020304" pitchFamily="18" charset="0"/>
                <a:cs typeface="Times New Roman" panose="02020603050405020304" pitchFamily="18" charset="0"/>
              </a:rPr>
              <a:t> KT- XH </a:t>
            </a:r>
            <a:r>
              <a:rPr lang="en-US" altLang="en-US" sz="9600" dirty="0" err="1">
                <a:latin typeface="Times New Roman" panose="02020603050405020304" pitchFamily="18" charset="0"/>
                <a:cs typeface="Times New Roman" panose="02020603050405020304" pitchFamily="18" charset="0"/>
              </a:rPr>
              <a:t>của</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xã</a:t>
            </a:r>
            <a:r>
              <a:rPr lang="en-US" altLang="en-US" sz="9600" dirty="0">
                <a:latin typeface="Times New Roman" panose="02020603050405020304" pitchFamily="18" charset="0"/>
                <a:cs typeface="Times New Roman" panose="02020603050405020304" pitchFamily="18" charset="0"/>
              </a:rPr>
              <a:t>;</a:t>
            </a:r>
            <a:endParaRPr lang="vi-VN" altLang="en-US" sz="9600" dirty="0">
              <a:latin typeface="Times New Roman" panose="02020603050405020304" pitchFamily="18" charset="0"/>
              <a:cs typeface="Times New Roman" panose="02020603050405020304" pitchFamily="18" charset="0"/>
            </a:endParaRPr>
          </a:p>
          <a:p>
            <a:pPr marL="0" indent="0" algn="just">
              <a:lnSpc>
                <a:spcPct val="120000"/>
              </a:lnSpc>
              <a:buFont typeface="Arial" panose="020B0604020202020204" pitchFamily="34" charset="0"/>
              <a:buNone/>
            </a:pPr>
            <a:r>
              <a:rPr lang="vi-VN" altLang="en-US" sz="9600" dirty="0">
                <a:latin typeface="Times New Roman" panose="02020603050405020304" pitchFamily="18" charset="0"/>
                <a:cs typeface="Times New Roman" panose="02020603050405020304" pitchFamily="18" charset="0"/>
              </a:rPr>
              <a:t>	- </a:t>
            </a:r>
            <a:r>
              <a:rPr lang="en-US" altLang="en-US" sz="9600" dirty="0" err="1">
                <a:latin typeface="Times New Roman" panose="02020603050405020304" pitchFamily="18" charset="0"/>
                <a:cs typeface="Times New Roman" panose="02020603050405020304" pitchFamily="18" charset="0"/>
              </a:rPr>
              <a:t>Dự</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toán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ngân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sách</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xã</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phải</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tổng</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hợp</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theo</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từng</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lĩnh</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vực</a:t>
            </a:r>
            <a:r>
              <a:rPr lang="en-US" altLang="en-US" sz="9600" dirty="0">
                <a:latin typeface="Times New Roman" panose="02020603050405020304" pitchFamily="18" charset="0"/>
                <a:cs typeface="Times New Roman" panose="02020603050405020304" pitchFamily="18" charset="0"/>
              </a:rPr>
              <a:t> </a:t>
            </a:r>
            <a:r>
              <a:rPr lang="vi-VN" altLang="en-US" sz="9600" dirty="0">
                <a:latin typeface="Times New Roman" panose="02020603050405020304" pitchFamily="18" charset="0"/>
                <a:cs typeface="Times New Roman" panose="02020603050405020304" pitchFamily="18" charset="0"/>
              </a:rPr>
              <a:t>thu, chi NSX</a:t>
            </a:r>
            <a:r>
              <a:rPr lang="en-US" altLang="en-US" sz="9600" dirty="0">
                <a:latin typeface="Times New Roman" panose="02020603050405020304" pitchFamily="18" charset="0"/>
                <a:cs typeface="Times New Roman" panose="02020603050405020304" pitchFamily="18" charset="0"/>
              </a:rPr>
              <a:t>;</a:t>
            </a:r>
          </a:p>
          <a:p>
            <a:pPr marL="0" indent="0" algn="just">
              <a:lnSpc>
                <a:spcPct val="120000"/>
              </a:lnSpc>
              <a:buFont typeface="Arial" panose="020B0604020202020204" pitchFamily="34" charset="0"/>
              <a:buNone/>
            </a:pPr>
            <a:r>
              <a:rPr lang="en-US" altLang="en-US" sz="9600" dirty="0">
                <a:latin typeface="Times New Roman" panose="02020603050405020304" pitchFamily="18" charset="0"/>
                <a:cs typeface="Times New Roman" panose="02020603050405020304" pitchFamily="18" charset="0"/>
              </a:rPr>
              <a:t>	- </a:t>
            </a:r>
            <a:r>
              <a:rPr lang="en-US" altLang="en-US" sz="9600" dirty="0" err="1">
                <a:latin typeface="Times New Roman" panose="02020603050405020304" pitchFamily="18" charset="0"/>
                <a:cs typeface="Times New Roman" panose="02020603050405020304" pitchFamily="18" charset="0"/>
              </a:rPr>
              <a:t>Dự</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toán</a:t>
            </a:r>
            <a:r>
              <a:rPr lang="en-US" altLang="en-US" sz="9600" dirty="0">
                <a:latin typeface="Times New Roman" panose="02020603050405020304" pitchFamily="18" charset="0"/>
                <a:cs typeface="Times New Roman" panose="02020603050405020304" pitchFamily="18" charset="0"/>
              </a:rPr>
              <a:t> NS </a:t>
            </a:r>
            <a:r>
              <a:rPr lang="en-US" altLang="en-US" sz="9600" dirty="0" err="1">
                <a:latin typeface="Times New Roman" panose="02020603050405020304" pitchFamily="18" charset="0"/>
                <a:cs typeface="Times New Roman" panose="02020603050405020304" pitchFamily="18" charset="0"/>
              </a:rPr>
              <a:t>của</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đơn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vị</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dự</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toán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và</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dự</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toán</a:t>
            </a:r>
            <a:r>
              <a:rPr lang="en-US" altLang="en-US" sz="9600" dirty="0">
                <a:latin typeface="Times New Roman" panose="02020603050405020304" pitchFamily="18" charset="0"/>
                <a:cs typeface="Times New Roman" panose="02020603050405020304" pitchFamily="18" charset="0"/>
              </a:rPr>
              <a:t> NS </a:t>
            </a:r>
            <a:r>
              <a:rPr lang="en-US" altLang="en-US" sz="9600" dirty="0" err="1">
                <a:latin typeface="Times New Roman" panose="02020603050405020304" pitchFamily="18" charset="0"/>
                <a:cs typeface="Times New Roman" panose="02020603050405020304" pitchFamily="18" charset="0"/>
              </a:rPr>
              <a:t>xã</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được</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lập</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thể</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hiện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đầy</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đủ</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các</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khoản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thu</a:t>
            </a:r>
            <a:r>
              <a:rPr lang="en-US" altLang="en-US" sz="9600" dirty="0">
                <a:latin typeface="Times New Roman" panose="02020603050405020304" pitchFamily="18" charset="0"/>
                <a:cs typeface="Times New Roman" panose="02020603050405020304" pitchFamily="18" charset="0"/>
              </a:rPr>
              <a:t>, chi </a:t>
            </a:r>
            <a:r>
              <a:rPr lang="en-US" altLang="en-US" sz="9600" dirty="0" err="1">
                <a:latin typeface="Times New Roman" panose="02020603050405020304" pitchFamily="18" charset="0"/>
                <a:cs typeface="Times New Roman" panose="02020603050405020304" pitchFamily="18" charset="0"/>
              </a:rPr>
              <a:t>theo</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đúng</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biểu</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mẫu</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thời</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hạn</a:t>
            </a:r>
            <a:r>
              <a:rPr lang="en-US" altLang="en-US" sz="9600" dirty="0">
                <a:latin typeface="Times New Roman" panose="02020603050405020304" pitchFamily="18" charset="0"/>
                <a:cs typeface="Times New Roman" panose="02020603050405020304" pitchFamily="18" charset="0"/>
              </a:rPr>
              <a:t> do </a:t>
            </a:r>
            <a:r>
              <a:rPr lang="en-US" altLang="en-US" sz="9600" dirty="0" err="1">
                <a:latin typeface="Times New Roman" panose="02020603050405020304" pitchFamily="18" charset="0"/>
                <a:cs typeface="Times New Roman" panose="02020603050405020304" pitchFamily="18" charset="0"/>
              </a:rPr>
              <a:t>cơ</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quan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nhà</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nước</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có</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thẩm</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quyền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quy</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định</a:t>
            </a:r>
            <a:r>
              <a:rPr lang="en-US" altLang="en-US" sz="9600" dirty="0">
                <a:latin typeface="Times New Roman" panose="02020603050405020304" pitchFamily="18" charset="0"/>
                <a:cs typeface="Times New Roman" panose="02020603050405020304" pitchFamily="18" charset="0"/>
              </a:rPr>
              <a:t>;</a:t>
            </a:r>
          </a:p>
          <a:p>
            <a:pPr marL="0" indent="0" algn="just">
              <a:lnSpc>
                <a:spcPct val="120000"/>
              </a:lnSpc>
              <a:buFont typeface="Arial" panose="020B0604020202020204" pitchFamily="34" charset="0"/>
              <a:buNone/>
            </a:pPr>
            <a:r>
              <a:rPr lang="en-US" altLang="en-US" sz="9600" dirty="0">
                <a:latin typeface="Times New Roman" panose="02020603050405020304" pitchFamily="18" charset="0"/>
                <a:cs typeface="Times New Roman" panose="02020603050405020304" pitchFamily="18" charset="0"/>
              </a:rPr>
              <a:t>	</a:t>
            </a:r>
            <a:r>
              <a:rPr lang="vi-VN"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Phải</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đảm</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bảo</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nguyên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tắc</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cân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đối</a:t>
            </a:r>
            <a:r>
              <a:rPr lang="vi-VN" altLang="en-US" sz="9600" dirty="0">
                <a:latin typeface="Times New Roman" panose="02020603050405020304" pitchFamily="18" charset="0"/>
                <a:cs typeface="Times New Roman" panose="02020603050405020304" pitchFamily="18" charset="0"/>
              </a:rPr>
              <a:t> </a:t>
            </a:r>
            <a:r>
              <a:rPr lang="en-US" altLang="en-US" sz="9600" dirty="0">
                <a:latin typeface="Times New Roman" panose="02020603050405020304" pitchFamily="18" charset="0"/>
                <a:cs typeface="Times New Roman" panose="02020603050405020304" pitchFamily="18" charset="0"/>
              </a:rPr>
              <a:t> </a:t>
            </a:r>
            <a:r>
              <a:rPr lang="vi-VN" altLang="en-US" sz="9600" dirty="0">
                <a:latin typeface="Times New Roman" panose="02020603050405020304" pitchFamily="18" charset="0"/>
                <a:cs typeface="Times New Roman" panose="02020603050405020304" pitchFamily="18" charset="0"/>
              </a:rPr>
              <a:t>khả năng thu với nhu cầu chi</a:t>
            </a:r>
            <a:r>
              <a:rPr lang="en-US" altLang="en-US" sz="9600" dirty="0">
                <a:latin typeface="Times New Roman" panose="02020603050405020304" pitchFamily="18" charset="0"/>
                <a:cs typeface="Times New Roman" panose="02020603050405020304" pitchFamily="18" charset="0"/>
              </a:rPr>
              <a:t>, chi </a:t>
            </a:r>
            <a:r>
              <a:rPr lang="en-US" altLang="en-US" sz="9600" dirty="0" err="1">
                <a:latin typeface="Times New Roman" panose="02020603050405020304" pitchFamily="18" charset="0"/>
                <a:cs typeface="Times New Roman" panose="02020603050405020304" pitchFamily="18" charset="0"/>
              </a:rPr>
              <a:t>phải</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có</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nguồn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đảm</a:t>
            </a:r>
            <a:r>
              <a:rPr lang="en-US" altLang="en-US" sz="9600" dirty="0">
                <a:latin typeface="Times New Roman" panose="02020603050405020304" pitchFamily="18" charset="0"/>
                <a:cs typeface="Times New Roman" panose="02020603050405020304" pitchFamily="18" charset="0"/>
              </a:rPr>
              <a:t> </a:t>
            </a:r>
            <a:r>
              <a:rPr lang="vi-VN" altLang="en-US" sz="9600" dirty="0">
                <a:latin typeface="Times New Roman" panose="02020603050405020304" pitchFamily="18" charset="0"/>
                <a:cs typeface="Times New Roman" panose="02020603050405020304" pitchFamily="18" charset="0"/>
              </a:rPr>
              <a:t>bảo</a:t>
            </a:r>
            <a:r>
              <a:rPr lang="en-US" altLang="en-US" sz="9600" dirty="0">
                <a:latin typeface="Times New Roman" panose="02020603050405020304" pitchFamily="18" charset="0"/>
                <a:cs typeface="Times New Roman" panose="02020603050405020304" pitchFamily="18" charset="0"/>
              </a:rPr>
              <a:t>;</a:t>
            </a:r>
            <a:endParaRPr lang="vi-VN" altLang="en-US" sz="9600" dirty="0">
              <a:latin typeface="Times New Roman" panose="02020603050405020304" pitchFamily="18" charset="0"/>
              <a:cs typeface="Times New Roman" panose="02020603050405020304" pitchFamily="18" charset="0"/>
            </a:endParaRPr>
          </a:p>
          <a:p>
            <a:pPr marL="0" indent="0" algn="just">
              <a:lnSpc>
                <a:spcPct val="120000"/>
              </a:lnSpc>
              <a:buFont typeface="Arial" panose="020B0604020202020204" pitchFamily="34" charset="0"/>
              <a:buNone/>
            </a:pPr>
            <a:r>
              <a:rPr lang="vi-VN" altLang="en-US" sz="9600" dirty="0">
                <a:latin typeface="Times New Roman" panose="02020603050405020304" pitchFamily="18" charset="0"/>
                <a:cs typeface="Times New Roman" panose="02020603050405020304" pitchFamily="18" charset="0"/>
              </a:rPr>
              <a:t>	- </a:t>
            </a:r>
            <a:r>
              <a:rPr lang="en-US" altLang="en-US" sz="9600" dirty="0" err="1">
                <a:latin typeface="Times New Roman" panose="02020603050405020304" pitchFamily="18" charset="0"/>
                <a:cs typeface="Times New Roman" panose="02020603050405020304" pitchFamily="18" charset="0"/>
              </a:rPr>
              <a:t>Bản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dự</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toán</a:t>
            </a:r>
            <a:r>
              <a:rPr lang="vi-VN"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phải</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lập</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kèm</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theo</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bản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thuyết</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minh</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dự</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toán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chứng</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minh</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căn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cứ</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để</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tính</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toán</a:t>
            </a:r>
            <a:r>
              <a:rPr lang="vi-VN" altLang="en-US" sz="9600" dirty="0">
                <a:latin typeface="Times New Roman" panose="02020603050405020304" pitchFamily="18" charset="0"/>
                <a:cs typeface="Times New Roman" panose="02020603050405020304" pitchFamily="18" charset="0"/>
              </a:rPr>
              <a:t> các khoản thu, chi dự kiến</a:t>
            </a:r>
            <a:r>
              <a:rPr lang="en-US" altLang="en-US" sz="9600" dirty="0">
                <a:latin typeface="Times New Roman" panose="02020603050405020304" pitchFamily="18" charset="0"/>
                <a:cs typeface="Times New Roman" panose="02020603050405020304" pitchFamily="18" charset="0"/>
              </a:rPr>
              <a:t>;</a:t>
            </a:r>
            <a:endParaRPr lang="vi-VN" altLang="en-US" sz="9600" dirty="0">
              <a:latin typeface="Times New Roman" panose="02020603050405020304" pitchFamily="18" charset="0"/>
              <a:cs typeface="Times New Roman" panose="02020603050405020304" pitchFamily="18" charset="0"/>
            </a:endParaRPr>
          </a:p>
          <a:p>
            <a:pPr marL="0" indent="0" algn="just">
              <a:lnSpc>
                <a:spcPct val="120000"/>
              </a:lnSpc>
              <a:buFont typeface="Arial" panose="020B0604020202020204" pitchFamily="34" charset="0"/>
              <a:buNone/>
            </a:pPr>
            <a:r>
              <a:rPr lang="vi-VN" altLang="en-US" sz="9600" dirty="0">
                <a:latin typeface="Times New Roman" panose="02020603050405020304" pitchFamily="18" charset="0"/>
                <a:cs typeface="Times New Roman" panose="02020603050405020304" pitchFamily="18" charset="0"/>
              </a:rPr>
              <a:t>	 - </a:t>
            </a:r>
            <a:r>
              <a:rPr lang="en-US" altLang="en-US" sz="9600" dirty="0" err="1">
                <a:latin typeface="Times New Roman" panose="02020603050405020304" pitchFamily="18" charset="0"/>
                <a:cs typeface="Times New Roman" panose="02020603050405020304" pitchFamily="18" charset="0"/>
              </a:rPr>
              <a:t>Xác</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định</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các</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biện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pháp</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để</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thực</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hiện</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được</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dự</a:t>
            </a:r>
            <a:r>
              <a:rPr lang="en-US" altLang="en-US" sz="9600" dirty="0">
                <a:latin typeface="Times New Roman" panose="02020603050405020304" pitchFamily="18" charset="0"/>
                <a:cs typeface="Times New Roman" panose="02020603050405020304" pitchFamily="18" charset="0"/>
              </a:rPr>
              <a:t> </a:t>
            </a:r>
            <a:r>
              <a:rPr lang="en-US" altLang="en-US" sz="9600" dirty="0" err="1">
                <a:latin typeface="Times New Roman" panose="02020603050405020304" pitchFamily="18" charset="0"/>
                <a:cs typeface="Times New Roman" panose="02020603050405020304" pitchFamily="18" charset="0"/>
              </a:rPr>
              <a:t>toán</a:t>
            </a:r>
            <a:r>
              <a:rPr lang="en-US" altLang="en-US" sz="9600" dirty="0">
                <a:latin typeface="Times New Roman" panose="02020603050405020304" pitchFamily="18" charset="0"/>
                <a:cs typeface="Times New Roman" panose="02020603050405020304" pitchFamily="18" charset="0"/>
              </a:rPr>
              <a:t>;</a:t>
            </a:r>
            <a:endParaRPr lang="vi-VN" altLang="en-US" sz="9600" dirty="0">
              <a:latin typeface="Times New Roman" panose="02020603050405020304" pitchFamily="18" charset="0"/>
              <a:cs typeface="Times New Roman" panose="02020603050405020304" pitchFamily="18" charset="0"/>
            </a:endParaRPr>
          </a:p>
          <a:p>
            <a:pPr marL="0" indent="0" algn="just">
              <a:lnSpc>
                <a:spcPct val="120000"/>
              </a:lnSpc>
              <a:buFont typeface="Arial" panose="020B0604020202020204" pitchFamily="34" charset="0"/>
              <a:buNone/>
            </a:pPr>
            <a:r>
              <a:rPr lang="vi-VN" altLang="en-US" sz="6000" dirty="0">
                <a:latin typeface="Times New Roman" panose="02020603050405020304" pitchFamily="18" charset="0"/>
                <a:cs typeface="Times New Roman" panose="02020603050405020304" pitchFamily="18" charset="0"/>
              </a:rPr>
              <a:t>	</a:t>
            </a:r>
            <a:endParaRPr lang="en-US" altLang="en-US" sz="6000" dirty="0">
              <a:latin typeface="Times New Roman" panose="02020603050405020304" pitchFamily="18" charset="0"/>
              <a:cs typeface="Times New Roman" panose="02020603050405020304" pitchFamily="18" charset="0"/>
            </a:endParaRPr>
          </a:p>
          <a:p>
            <a:pPr marL="0" indent="0" algn="just">
              <a:buFont typeface="Arial" panose="020B0604020202020204" pitchFamily="34" charset="0"/>
              <a:buNone/>
            </a:pPr>
            <a:r>
              <a:rPr lang="en-US" altLang="en-US" sz="3000" dirty="0">
                <a:latin typeface="Times New Roman" panose="02020603050405020304" pitchFamily="18" charset="0"/>
                <a:cs typeface="Times New Roman" panose="02020603050405020304" pitchFamily="18" charset="0"/>
              </a:rPr>
              <a:t>	</a:t>
            </a:r>
            <a:endParaRPr lang="en-US" sz="3000" b="1" i="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7043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anim calcmode="lin" valueType="num">
                                      <p:cBhvr additive="base">
                                        <p:cTn id="5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A823B-D07F-F89E-0D6F-383E57A38EA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C3C5F91-B4D6-AD59-46DE-AC3AD1562E36}"/>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3" name="TextBox 2">
            <a:extLst>
              <a:ext uri="{FF2B5EF4-FFF2-40B4-BE49-F238E27FC236}">
                <a16:creationId xmlns:a16="http://schemas.microsoft.com/office/drawing/2014/main" id="{8EBBB8F9-E5C3-A8D0-4CA8-92D88517A12A}"/>
              </a:ext>
            </a:extLst>
          </p:cNvPr>
          <p:cNvSpPr txBox="1"/>
          <p:nvPr/>
        </p:nvSpPr>
        <p:spPr>
          <a:xfrm>
            <a:off x="0" y="1351508"/>
            <a:ext cx="11720946" cy="3194721"/>
          </a:xfrm>
          <a:prstGeom prst="rect">
            <a:avLst/>
          </a:prstGeom>
          <a:noFill/>
        </p:spPr>
        <p:txBody>
          <a:bodyPr wrap="square">
            <a:spAutoFit/>
          </a:bodyPr>
          <a:lstStyle/>
          <a:p>
            <a:pPr marL="285750" indent="-285750" algn="just">
              <a:lnSpc>
                <a:spcPct val="120000"/>
              </a:lnSpc>
              <a:buFont typeface="Wingdings" panose="05000000000000000000" pitchFamily="2" charset="2"/>
              <a:buChar char="Ø"/>
            </a:pPr>
            <a:r>
              <a:rPr lang="en-US" sz="2800" b="1" dirty="0" err="1">
                <a:solidFill>
                  <a:srgbClr val="FF0000"/>
                </a:solidFill>
                <a:latin typeface="Times New Roman" panose="02020603050405020304" pitchFamily="18" charset="0"/>
                <a:cs typeface="Times New Roman" panose="02020603050405020304" pitchFamily="18" charset="0"/>
              </a:rPr>
              <a:t>Yêu</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cầu</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lập</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dự</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toán</a:t>
            </a:r>
            <a:r>
              <a:rPr lang="en-US" sz="2800" b="1" dirty="0">
                <a:solidFill>
                  <a:srgbClr val="FF0000"/>
                </a:solidFill>
                <a:latin typeface="Times New Roman" panose="02020603050405020304" pitchFamily="18" charset="0"/>
                <a:cs typeface="Times New Roman" panose="02020603050405020304" pitchFamily="18" charset="0"/>
              </a:rPr>
              <a:t> NS </a:t>
            </a:r>
            <a:r>
              <a:rPr lang="en-US" sz="2800" b="1" dirty="0" err="1">
                <a:solidFill>
                  <a:srgbClr val="FF0000"/>
                </a:solidFill>
                <a:latin typeface="Times New Roman" panose="02020603050405020304" pitchFamily="18" charset="0"/>
                <a:cs typeface="Times New Roman" panose="02020603050405020304" pitchFamily="18" charset="0"/>
              </a:rPr>
              <a:t>xã</a:t>
            </a:r>
            <a:r>
              <a:rPr lang="vi-VN" sz="2800" b="1" i="1" dirty="0">
                <a:solidFill>
                  <a:srgbClr val="FF0000"/>
                </a:solidFill>
                <a:latin typeface="Times New Roman" panose="02020603050405020304" pitchFamily="18" charset="0"/>
                <a:cs typeface="Times New Roman" panose="02020603050405020304" pitchFamily="18" charset="0"/>
              </a:rPr>
              <a:t>	</a:t>
            </a:r>
            <a:r>
              <a:rPr lang="vi-VN" altLang="en-US" sz="2400" b="1" i="1" dirty="0">
                <a:solidFill>
                  <a:srgbClr val="FF0000"/>
                </a:solidFill>
                <a:latin typeface="Times New Roman" panose="02020603050405020304" pitchFamily="18" charset="0"/>
                <a:cs typeface="Times New Roman" panose="02020603050405020304" pitchFamily="18" charset="0"/>
              </a:rPr>
              <a:t> </a:t>
            </a:r>
            <a:endParaRPr lang="en-US" altLang="en-US" sz="2400" b="1" i="1" dirty="0">
              <a:solidFill>
                <a:srgbClr val="FF0000"/>
              </a:solidFill>
              <a:latin typeface="Times New Roman" panose="02020603050405020304" pitchFamily="18" charset="0"/>
              <a:cs typeface="Times New Roman" panose="02020603050405020304" pitchFamily="18" charset="0"/>
            </a:endParaRPr>
          </a:p>
          <a:p>
            <a:pPr algn="just">
              <a:lnSpc>
                <a:spcPct val="120000"/>
              </a:lnSpc>
            </a:pPr>
            <a:r>
              <a:rPr lang="en-US" altLang="en-US" sz="2400" dirty="0">
                <a:latin typeface="Times New Roman" panose="02020603050405020304" pitchFamily="18" charset="0"/>
                <a:cs typeface="Times New Roman" panose="02020603050405020304" pitchFamily="18" charset="0"/>
              </a:rPr>
              <a:t>	-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toán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thu</a:t>
            </a:r>
            <a:r>
              <a:rPr lang="en-US" altLang="en-US" sz="2400" dirty="0">
                <a:latin typeface="Times New Roman" panose="02020603050405020304" pitchFamily="18" charset="0"/>
                <a:cs typeface="Times New Roman" panose="02020603050405020304" pitchFamily="18" charset="0"/>
              </a:rPr>
              <a:t> NS </a:t>
            </a:r>
            <a:r>
              <a:rPr lang="en-US" altLang="en-US" sz="2400" dirty="0" err="1">
                <a:latin typeface="Times New Roman" panose="02020603050405020304" pitchFamily="18" charset="0"/>
                <a:cs typeface="Times New Roman" panose="02020603050405020304" pitchFamily="18" charset="0"/>
              </a:rPr>
              <a:t>xã</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được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lập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trên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cơ</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sở</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chỉ</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tiêu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kinh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vĩ</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mô</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và</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chỉ</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tiêu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khác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có</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liên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quan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định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của</a:t>
            </a:r>
            <a:r>
              <a:rPr lang="en-US" altLang="en-US" sz="2400" dirty="0">
                <a:latin typeface="Times New Roman" panose="02020603050405020304" pitchFamily="18" charset="0"/>
                <a:cs typeface="Times New Roman" panose="02020603050405020304" pitchFamily="18" charset="0"/>
              </a:rPr>
              <a:t> PL </a:t>
            </a:r>
            <a:r>
              <a:rPr lang="en-US" altLang="en-US" sz="2400" dirty="0" err="1">
                <a:latin typeface="Times New Roman" panose="02020603050405020304" pitchFamily="18" charset="0"/>
                <a:cs typeface="Times New Roman" panose="02020603050405020304" pitchFamily="18" charset="0"/>
              </a:rPr>
              <a:t>về</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thuế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phí</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lệ</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phí</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và</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khoản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khác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thuộc</a:t>
            </a:r>
            <a:r>
              <a:rPr lang="en-US" altLang="en-US" sz="2400" dirty="0">
                <a:latin typeface="Times New Roman" panose="02020603050405020304" pitchFamily="18" charset="0"/>
                <a:cs typeface="Times New Roman" panose="02020603050405020304" pitchFamily="18" charset="0"/>
              </a:rPr>
              <a:t> NS;	</a:t>
            </a:r>
          </a:p>
          <a:p>
            <a:pPr algn="just">
              <a:lnSpc>
                <a:spcPct val="120000"/>
              </a:lnSpc>
            </a:pPr>
            <a:r>
              <a:rPr lang="en-US" altLang="en-US" sz="2400" dirty="0">
                <a:latin typeface="Times New Roman" panose="02020603050405020304" pitchFamily="18" charset="0"/>
                <a:cs typeface="Times New Roman" panose="02020603050405020304" pitchFamily="18" charset="0"/>
              </a:rPr>
              <a:t>	- </a:t>
            </a:r>
            <a:r>
              <a:rPr lang="vi-VN" altLang="en-US" sz="2400" dirty="0">
                <a:latin typeface="Times New Roman" panose="02020603050405020304" pitchFamily="18" charset="0"/>
                <a:cs typeface="Times New Roman" panose="02020603050405020304" pitchFamily="18" charset="0"/>
              </a:rPr>
              <a:t>Dự toán thu phải sát thực với các hoạt động của xã, đánh giá đúng các thế mạnh, khả năng thu</a:t>
            </a:r>
            <a:r>
              <a:rPr lang="en-US" altLang="en-US" sz="2400" dirty="0">
                <a:latin typeface="Times New Roman" panose="02020603050405020304" pitchFamily="18" charset="0"/>
                <a:cs typeface="Times New Roman" panose="02020603050405020304" pitchFamily="18" charset="0"/>
              </a:rPr>
              <a:t>;</a:t>
            </a:r>
          </a:p>
          <a:p>
            <a:pPr algn="just">
              <a:lnSpc>
                <a:spcPct val="120000"/>
              </a:lnSpc>
            </a:pPr>
            <a:r>
              <a:rPr lang="en-US" altLang="en-US" sz="2400" dirty="0">
                <a:latin typeface="Times New Roman" panose="02020603050405020304" pitchFamily="18" charset="0"/>
                <a:cs typeface="Times New Roman" panose="02020603050405020304" pitchFamily="18" charset="0"/>
              </a:rPr>
              <a:t>	</a:t>
            </a:r>
          </a:p>
          <a:p>
            <a:pPr marL="0" indent="0" algn="just">
              <a:lnSpc>
                <a:spcPct val="100000"/>
              </a:lnSpc>
              <a:buNone/>
            </a:pPr>
            <a:r>
              <a:rPr lang="en-US" alt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010183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16796-89E9-C868-4632-3348DA8BD4D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70C24D3-964F-DB69-0683-37C3B3A3697A}"/>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3" name="TextBox 2">
            <a:extLst>
              <a:ext uri="{FF2B5EF4-FFF2-40B4-BE49-F238E27FC236}">
                <a16:creationId xmlns:a16="http://schemas.microsoft.com/office/drawing/2014/main" id="{943BD8F8-AC7C-B8DA-C81B-938CB421DC6A}"/>
              </a:ext>
            </a:extLst>
          </p:cNvPr>
          <p:cNvSpPr txBox="1"/>
          <p:nvPr/>
        </p:nvSpPr>
        <p:spPr>
          <a:xfrm>
            <a:off x="0" y="1351508"/>
            <a:ext cx="11720946" cy="6332311"/>
          </a:xfrm>
          <a:prstGeom prst="rect">
            <a:avLst/>
          </a:prstGeom>
          <a:noFill/>
        </p:spPr>
        <p:txBody>
          <a:bodyPr wrap="square">
            <a:spAutoFit/>
          </a:bodyPr>
          <a:lstStyle/>
          <a:p>
            <a:pPr marL="285750" indent="-285750" algn="just">
              <a:lnSpc>
                <a:spcPct val="120000"/>
              </a:lnSpc>
              <a:buFont typeface="Wingdings" panose="05000000000000000000" pitchFamily="2" charset="2"/>
              <a:buChar char="Ø"/>
            </a:pPr>
            <a:r>
              <a:rPr lang="en-US" sz="2800" b="1" dirty="0" err="1">
                <a:solidFill>
                  <a:srgbClr val="FF0000"/>
                </a:solidFill>
                <a:latin typeface="Times New Roman" panose="02020603050405020304" pitchFamily="18" charset="0"/>
                <a:cs typeface="Times New Roman" panose="02020603050405020304" pitchFamily="18" charset="0"/>
              </a:rPr>
              <a:t>Yêu</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cầu</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lập</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dự</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toán</a:t>
            </a:r>
            <a:r>
              <a:rPr lang="en-US" sz="2800" b="1" dirty="0">
                <a:solidFill>
                  <a:srgbClr val="FF0000"/>
                </a:solidFill>
                <a:latin typeface="Times New Roman" panose="02020603050405020304" pitchFamily="18" charset="0"/>
                <a:cs typeface="Times New Roman" panose="02020603050405020304" pitchFamily="18" charset="0"/>
              </a:rPr>
              <a:t> NS </a:t>
            </a:r>
            <a:r>
              <a:rPr lang="en-US" sz="2800" b="1" dirty="0" err="1">
                <a:solidFill>
                  <a:srgbClr val="FF0000"/>
                </a:solidFill>
                <a:latin typeface="Times New Roman" panose="02020603050405020304" pitchFamily="18" charset="0"/>
                <a:cs typeface="Times New Roman" panose="02020603050405020304" pitchFamily="18" charset="0"/>
              </a:rPr>
              <a:t>xã</a:t>
            </a:r>
            <a:r>
              <a:rPr lang="vi-VN" sz="2800" b="1" i="1" dirty="0">
                <a:solidFill>
                  <a:srgbClr val="FF0000"/>
                </a:solidFill>
                <a:latin typeface="Times New Roman" panose="02020603050405020304" pitchFamily="18" charset="0"/>
                <a:cs typeface="Times New Roman" panose="02020603050405020304" pitchFamily="18" charset="0"/>
              </a:rPr>
              <a:t>	</a:t>
            </a:r>
            <a:r>
              <a:rPr lang="vi-VN" altLang="en-US" sz="2400" b="1" i="1" dirty="0">
                <a:solidFill>
                  <a:srgbClr val="FF0000"/>
                </a:solidFill>
                <a:latin typeface="Times New Roman" panose="02020603050405020304" pitchFamily="18" charset="0"/>
                <a:cs typeface="Times New Roman" panose="02020603050405020304" pitchFamily="18" charset="0"/>
              </a:rPr>
              <a:t> </a:t>
            </a:r>
            <a:endParaRPr lang="en-US" altLang="en-US" sz="2400" b="1" i="1" dirty="0">
              <a:solidFill>
                <a:srgbClr val="FF0000"/>
              </a:solidFill>
              <a:latin typeface="Times New Roman" panose="02020603050405020304" pitchFamily="18" charset="0"/>
              <a:cs typeface="Times New Roman" panose="02020603050405020304" pitchFamily="18" charset="0"/>
            </a:endParaRPr>
          </a:p>
          <a:p>
            <a:pPr algn="just">
              <a:lnSpc>
                <a:spcPct val="120000"/>
              </a:lnSpc>
            </a:pP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toán</a:t>
            </a:r>
            <a:r>
              <a:rPr lang="en-US" altLang="en-US" sz="2400" dirty="0">
                <a:latin typeface="Times New Roman" panose="02020603050405020304" pitchFamily="18" charset="0"/>
                <a:cs typeface="Times New Roman" panose="02020603050405020304" pitchFamily="18" charset="0"/>
              </a:rPr>
              <a:t> chi ĐTPT </a:t>
            </a:r>
            <a:r>
              <a:rPr lang="en-US" altLang="en-US" sz="2400" dirty="0" err="1">
                <a:latin typeface="Times New Roman" panose="02020603050405020304" pitchFamily="18" charset="0"/>
                <a:cs typeface="Times New Roman" panose="02020603050405020304" pitchFamily="18" charset="0"/>
              </a:rPr>
              <a:t>được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lập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trên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cơ</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sở</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hoạch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hoạch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chương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trình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án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nhiệm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vụ</a:t>
            </a:r>
            <a:r>
              <a:rPr lang="en-US" altLang="en-US" sz="2400" dirty="0">
                <a:latin typeface="Times New Roman" panose="02020603050405020304" pitchFamily="18" charset="0"/>
                <a:cs typeface="Times New Roman" panose="02020603050405020304" pitchFamily="18" charset="0"/>
              </a:rPr>
              <a:t> chi </a:t>
            </a:r>
            <a:r>
              <a:rPr lang="en-US" altLang="en-US" sz="2400" dirty="0" err="1">
                <a:latin typeface="Times New Roman" panose="02020603050405020304" pitchFamily="18" charset="0"/>
                <a:cs typeface="Times New Roman" panose="02020603050405020304" pitchFamily="18" charset="0"/>
              </a:rPr>
              <a:t>đã</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được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cấp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có</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thẩm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quyền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phê</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duyệt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theo</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định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của</a:t>
            </a:r>
            <a:r>
              <a:rPr lang="en-US" altLang="en-US" sz="2400" dirty="0">
                <a:latin typeface="Times New Roman" panose="02020603050405020304" pitchFamily="18" charset="0"/>
                <a:cs typeface="Times New Roman" panose="02020603050405020304" pitchFamily="18" charset="0"/>
              </a:rPr>
              <a:t> PL; </a:t>
            </a:r>
            <a:r>
              <a:rPr lang="en-US" altLang="en-US" sz="2400" dirty="0" err="1">
                <a:latin typeface="Times New Roman" panose="02020603050405020304" pitchFamily="18" charset="0"/>
                <a:cs typeface="Times New Roman" panose="02020603050405020304" pitchFamily="18" charset="0"/>
              </a:rPr>
              <a:t>kế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hoạch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tài</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chính</a:t>
            </a:r>
            <a:r>
              <a:rPr lang="en-US" altLang="en-US" sz="2400" dirty="0">
                <a:latin typeface="Times New Roman" panose="02020603050405020304" pitchFamily="18" charset="0"/>
                <a:cs typeface="Times New Roman" panose="02020603050405020304" pitchFamily="18" charset="0"/>
              </a:rPr>
              <a:t> 05 </a:t>
            </a:r>
            <a:r>
              <a:rPr lang="en-US" altLang="en-US" sz="2400" dirty="0" err="1">
                <a:latin typeface="Times New Roman" panose="02020603050405020304" pitchFamily="18" charset="0"/>
                <a:cs typeface="Times New Roman" panose="02020603050405020304" pitchFamily="18" charset="0"/>
              </a:rPr>
              <a:t>năm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hoạch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đầu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tư</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công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trung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hạn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nguồn</a:t>
            </a:r>
            <a:r>
              <a:rPr lang="en-US" altLang="en-US" sz="2400" dirty="0">
                <a:latin typeface="Times New Roman" panose="02020603050405020304" pitchFamily="18" charset="0"/>
                <a:cs typeface="Times New Roman" panose="02020603050405020304" pitchFamily="18" charset="0"/>
              </a:rPr>
              <a:t> NSNN, </a:t>
            </a:r>
            <a:r>
              <a:rPr lang="en-US" altLang="en-US" sz="2400" dirty="0" err="1">
                <a:latin typeface="Times New Roman" panose="02020603050405020304" pitchFamily="18" charset="0"/>
                <a:cs typeface="Times New Roman" panose="02020603050405020304" pitchFamily="18" charset="0"/>
              </a:rPr>
              <a:t>khả</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năng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cân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đối</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nguồn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trong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năm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toán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định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của</a:t>
            </a:r>
            <a:r>
              <a:rPr lang="en-US" altLang="en-US" sz="2400" dirty="0">
                <a:latin typeface="Times New Roman" panose="02020603050405020304" pitchFamily="18" charset="0"/>
                <a:cs typeface="Times New Roman" panose="02020603050405020304" pitchFamily="18" charset="0"/>
              </a:rPr>
              <a:t> PL;	</a:t>
            </a:r>
          </a:p>
          <a:p>
            <a:pPr algn="just">
              <a:lnSpc>
                <a:spcPct val="120000"/>
              </a:lnSpc>
            </a:pP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toán</a:t>
            </a:r>
            <a:r>
              <a:rPr lang="en-US" altLang="en-US" sz="2400" dirty="0">
                <a:latin typeface="Times New Roman" panose="02020603050405020304" pitchFamily="18" charset="0"/>
                <a:cs typeface="Times New Roman" panose="02020603050405020304" pitchFamily="18" charset="0"/>
              </a:rPr>
              <a:t> c</a:t>
            </a:r>
            <a:r>
              <a:rPr lang="vi-VN" altLang="en-US" sz="2400" dirty="0">
                <a:latin typeface="Times New Roman" panose="02020603050405020304" pitchFamily="18" charset="0"/>
                <a:cs typeface="Times New Roman" panose="02020603050405020304" pitchFamily="18" charset="0"/>
              </a:rPr>
              <a:t>hi thường xuyên </a:t>
            </a:r>
            <a:r>
              <a:rPr lang="en-US" altLang="en-US" sz="2400" dirty="0" err="1">
                <a:latin typeface="Times New Roman" panose="02020603050405020304" pitchFamily="18" charset="0"/>
                <a:cs typeface="Times New Roman" panose="02020603050405020304" pitchFamily="18" charset="0"/>
              </a:rPr>
              <a:t>được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lập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trên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cơ</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sở</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hoạch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phát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triển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của</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ngành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lĩnh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chương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trình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án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đề</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án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đã</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được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cấp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có</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thẩm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quyền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phê</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duyệt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độ</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chính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sách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tiêu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chuẩn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định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mức</a:t>
            </a:r>
            <a:r>
              <a:rPr lang="en-US" altLang="en-US" sz="2400" dirty="0">
                <a:latin typeface="Times New Roman" panose="02020603050405020304" pitchFamily="18" charset="0"/>
                <a:cs typeface="Times New Roman" panose="02020603050405020304" pitchFamily="18" charset="0"/>
              </a:rPr>
              <a:t> chi (</a:t>
            </a:r>
            <a:r>
              <a:rPr lang="en-US" altLang="en-US" sz="2400" dirty="0" err="1">
                <a:latin typeface="Times New Roman" panose="02020603050405020304" pitchFamily="18" charset="0"/>
                <a:cs typeface="Times New Roman" panose="02020603050405020304" pitchFamily="18" charset="0"/>
              </a:rPr>
              <a:t>nếu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có</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nhiệm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vụ</a:t>
            </a:r>
            <a:r>
              <a:rPr lang="en-US" altLang="en-US" sz="2400" dirty="0">
                <a:latin typeface="Times New Roman" panose="02020603050405020304" pitchFamily="18" charset="0"/>
                <a:cs typeface="Times New Roman" panose="02020603050405020304" pitchFamily="18" charset="0"/>
              </a:rPr>
              <a:t> chi </a:t>
            </a:r>
            <a:r>
              <a:rPr lang="en-US" altLang="en-US" sz="2400" dirty="0" err="1">
                <a:latin typeface="Times New Roman" panose="02020603050405020304" pitchFamily="18" charset="0"/>
                <a:cs typeface="Times New Roman" panose="02020603050405020304" pitchFamily="18" charset="0"/>
              </a:rPr>
              <a:t>cần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thiết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khác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đã</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có</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chủ</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trương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hoạch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của</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cấp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có</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thẩm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quyền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kiến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phát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sinh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khi</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cần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bố</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trí</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nguồn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để</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hiện</a:t>
            </a:r>
            <a:r>
              <a:rPr lang="en-US" altLang="en-US" sz="2400" dirty="0">
                <a:latin typeface="Times New Roman" panose="02020603050405020304" pitchFamily="18" charset="0"/>
                <a:cs typeface="Times New Roman" panose="02020603050405020304" pitchFamily="18" charset="0"/>
              </a:rPr>
              <a:t>.</a:t>
            </a:r>
          </a:p>
          <a:p>
            <a:pPr algn="just">
              <a:lnSpc>
                <a:spcPct val="120000"/>
              </a:lnSpc>
            </a:pP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toán</a:t>
            </a:r>
            <a:r>
              <a:rPr lang="en-US" altLang="en-US" sz="2400" dirty="0">
                <a:latin typeface="Times New Roman" panose="02020603050405020304" pitchFamily="18" charset="0"/>
                <a:cs typeface="Times New Roman" panose="02020603050405020304" pitchFamily="18" charset="0"/>
              </a:rPr>
              <a:t> chi </a:t>
            </a:r>
            <a:r>
              <a:rPr lang="en-US" altLang="en-US" sz="2400" dirty="0" err="1">
                <a:latin typeface="Times New Roman" panose="02020603050405020304" pitchFamily="18" charset="0"/>
                <a:cs typeface="Times New Roman" panose="02020603050405020304" pitchFamily="18" charset="0"/>
              </a:rPr>
              <a:t>thực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hiện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chương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trình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đề</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án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án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nhiệm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vụ</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được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cấp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có</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thẩm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quyền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phê</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duyệt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trong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nhiều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năm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được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lập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trên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cơ</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sở</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khả</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năng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hiện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hàng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năm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và</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tổng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mức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kinh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phí</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đã</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được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phê</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duyệt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nếu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có</a:t>
            </a:r>
            <a:r>
              <a:rPr lang="en-US" altLang="en-US" sz="2400" dirty="0">
                <a:latin typeface="Times New Roman" panose="02020603050405020304" pitchFamily="18" charset="0"/>
                <a:cs typeface="Times New Roman" panose="02020603050405020304" pitchFamily="18" charset="0"/>
              </a:rPr>
              <a:t>);</a:t>
            </a:r>
          </a:p>
          <a:p>
            <a:pPr marL="342900" indent="-342900" algn="just">
              <a:lnSpc>
                <a:spcPct val="120000"/>
              </a:lnSpc>
              <a:buFontTx/>
              <a:buChar char="-"/>
            </a:pPr>
            <a:endParaRPr lang="en-US" altLang="en-US" sz="2400" dirty="0">
              <a:latin typeface="Times New Roman" panose="02020603050405020304" pitchFamily="18" charset="0"/>
              <a:cs typeface="Times New Roman" panose="02020603050405020304" pitchFamily="18" charset="0"/>
            </a:endParaRPr>
          </a:p>
          <a:p>
            <a:pPr marL="0" indent="0" algn="just">
              <a:lnSpc>
                <a:spcPct val="120000"/>
              </a:lnSpc>
              <a:buNone/>
            </a:pPr>
            <a:r>
              <a:rPr lang="en-US" alt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551398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44F1D-EFE9-5A1E-21F4-1995109E7EA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1404CD1-EDD7-7D98-C3B4-83FC763EA3C4}"/>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3" name="TextBox 2">
            <a:extLst>
              <a:ext uri="{FF2B5EF4-FFF2-40B4-BE49-F238E27FC236}">
                <a16:creationId xmlns:a16="http://schemas.microsoft.com/office/drawing/2014/main" id="{B4CCE9D5-7F85-1D38-F140-0525DEF6D71F}"/>
              </a:ext>
            </a:extLst>
          </p:cNvPr>
          <p:cNvSpPr txBox="1"/>
          <p:nvPr/>
        </p:nvSpPr>
        <p:spPr>
          <a:xfrm>
            <a:off x="0" y="1351508"/>
            <a:ext cx="11720946" cy="4007251"/>
          </a:xfrm>
          <a:prstGeom prst="rect">
            <a:avLst/>
          </a:prstGeom>
          <a:noFill/>
        </p:spPr>
        <p:txBody>
          <a:bodyPr wrap="square">
            <a:spAutoFit/>
          </a:bodyPr>
          <a:lstStyle/>
          <a:p>
            <a:pPr marL="285750" indent="-285750" algn="just">
              <a:lnSpc>
                <a:spcPct val="120000"/>
              </a:lnSpc>
              <a:buFont typeface="Wingdings" panose="05000000000000000000" pitchFamily="2" charset="2"/>
              <a:buChar char="Ø"/>
            </a:pPr>
            <a:r>
              <a:rPr lang="en-US" sz="2800" b="1" dirty="0" err="1">
                <a:solidFill>
                  <a:srgbClr val="FF0000"/>
                </a:solidFill>
                <a:latin typeface="Times New Roman" panose="02020603050405020304" pitchFamily="18" charset="0"/>
                <a:cs typeface="Times New Roman" panose="02020603050405020304" pitchFamily="18" charset="0"/>
              </a:rPr>
              <a:t>Yêu</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cầu</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lập</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dự</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toán</a:t>
            </a:r>
            <a:r>
              <a:rPr lang="en-US" sz="2800" b="1" dirty="0">
                <a:solidFill>
                  <a:srgbClr val="FF0000"/>
                </a:solidFill>
                <a:latin typeface="Times New Roman" panose="02020603050405020304" pitchFamily="18" charset="0"/>
                <a:cs typeface="Times New Roman" panose="02020603050405020304" pitchFamily="18" charset="0"/>
              </a:rPr>
              <a:t> NS </a:t>
            </a:r>
            <a:r>
              <a:rPr lang="en-US" sz="2800" b="1" dirty="0" err="1">
                <a:solidFill>
                  <a:srgbClr val="FF0000"/>
                </a:solidFill>
                <a:latin typeface="Times New Roman" panose="02020603050405020304" pitchFamily="18" charset="0"/>
                <a:cs typeface="Times New Roman" panose="02020603050405020304" pitchFamily="18" charset="0"/>
              </a:rPr>
              <a:t>xã</a:t>
            </a:r>
            <a:r>
              <a:rPr lang="vi-VN" sz="2800" b="1" i="1" dirty="0">
                <a:solidFill>
                  <a:srgbClr val="FF0000"/>
                </a:solidFill>
                <a:latin typeface="Times New Roman" panose="02020603050405020304" pitchFamily="18" charset="0"/>
                <a:cs typeface="Times New Roman" panose="02020603050405020304" pitchFamily="18" charset="0"/>
              </a:rPr>
              <a:t>	</a:t>
            </a:r>
            <a:r>
              <a:rPr lang="vi-VN" altLang="en-US" sz="2400" b="1" i="1" dirty="0">
                <a:solidFill>
                  <a:srgbClr val="FF0000"/>
                </a:solidFill>
                <a:latin typeface="Times New Roman" panose="02020603050405020304" pitchFamily="18" charset="0"/>
                <a:cs typeface="Times New Roman" panose="02020603050405020304" pitchFamily="18" charset="0"/>
              </a:rPr>
              <a:t> </a:t>
            </a:r>
            <a:endParaRPr lang="en-US" altLang="en-US" sz="2400" b="1" i="1" dirty="0">
              <a:solidFill>
                <a:srgbClr val="FF0000"/>
              </a:solidFill>
              <a:latin typeface="Times New Roman" panose="02020603050405020304" pitchFamily="18" charset="0"/>
              <a:cs typeface="Times New Roman" panose="02020603050405020304" pitchFamily="18" charset="0"/>
            </a:endParaRPr>
          </a:p>
          <a:p>
            <a:pPr algn="just">
              <a:lnSpc>
                <a:spcPct val="120000"/>
              </a:lnSpc>
            </a:pP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Việc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lập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toán</a:t>
            </a:r>
            <a:r>
              <a:rPr lang="en-US" altLang="en-US" sz="2400" dirty="0">
                <a:latin typeface="Times New Roman" panose="02020603050405020304" pitchFamily="18" charset="0"/>
                <a:cs typeface="Times New Roman" panose="02020603050405020304" pitchFamily="18" charset="0"/>
              </a:rPr>
              <a:t> NS </a:t>
            </a:r>
            <a:r>
              <a:rPr lang="en-US" altLang="en-US" sz="2400" dirty="0" err="1">
                <a:latin typeface="Times New Roman" panose="02020603050405020304" pitchFamily="18" charset="0"/>
                <a:cs typeface="Times New Roman" panose="02020603050405020304" pitchFamily="18" charset="0"/>
              </a:rPr>
              <a:t>của</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cơ</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quan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nhà</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nước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hiện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độ</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chủ</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chịu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trách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nhiệm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về</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sử</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dụng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biên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và</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kinh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phí</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quản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lý</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hành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chính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đơn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vị</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nghiệp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công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lập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hiện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quyền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chủ</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chịu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trách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nhiệm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về</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hiện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nhiệm</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vụ</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tổ</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chức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bộ</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máy</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biên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và</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tài</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chính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kinh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phí</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hiện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hoạt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động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cung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cấp</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dịch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vụ</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phí</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của</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cơ</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quan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hành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chính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nhà</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nước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thực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hiện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theo</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định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của</a:t>
            </a:r>
            <a:r>
              <a:rPr lang="en-US" altLang="en-US" sz="2400" dirty="0">
                <a:latin typeface="Times New Roman" panose="02020603050405020304" pitchFamily="18" charset="0"/>
                <a:cs typeface="Times New Roman" panose="02020603050405020304" pitchFamily="18" charset="0"/>
              </a:rPr>
              <a:t> Chính </a:t>
            </a:r>
            <a:r>
              <a:rPr lang="en-US" altLang="en-US" sz="2400" dirty="0" err="1">
                <a:latin typeface="Times New Roman" panose="02020603050405020304" pitchFamily="18" charset="0"/>
                <a:cs typeface="Times New Roman" panose="02020603050405020304" pitchFamily="18" charset="0"/>
              </a:rPr>
              <a:t>phủ</a:t>
            </a:r>
            <a:endParaRPr lang="vi-VN" altLang="en-US" sz="2400" dirty="0">
              <a:latin typeface="Times New Roman" panose="02020603050405020304" pitchFamily="18" charset="0"/>
              <a:cs typeface="Times New Roman" panose="02020603050405020304" pitchFamily="18" charset="0"/>
            </a:endParaRPr>
          </a:p>
          <a:p>
            <a:pPr algn="just"/>
            <a:r>
              <a:rPr lang="en-US" altLang="en-US" sz="2400" dirty="0">
                <a:latin typeface="Times New Roman" panose="02020603050405020304" pitchFamily="18" charset="0"/>
                <a:cs typeface="Times New Roman" panose="02020603050405020304" pitchFamily="18" charset="0"/>
              </a:rPr>
              <a:t>	</a:t>
            </a:r>
          </a:p>
          <a:p>
            <a:pPr algn="just">
              <a:lnSpc>
                <a:spcPct val="120000"/>
              </a:lnSpc>
            </a:pPr>
            <a:endParaRPr lang="vi-VN" altLang="en-US" sz="2400" dirty="0">
              <a:latin typeface="Times New Roman" panose="02020603050405020304" pitchFamily="18" charset="0"/>
              <a:cs typeface="Times New Roman" panose="02020603050405020304" pitchFamily="18" charset="0"/>
            </a:endParaRPr>
          </a:p>
          <a:p>
            <a:pPr marL="0" indent="0" algn="just">
              <a:lnSpc>
                <a:spcPct val="100000"/>
              </a:lnSpc>
              <a:buNone/>
            </a:pPr>
            <a:r>
              <a:rPr lang="en-US" alt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67112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41995-3C81-1CDA-32C5-0D67C562BAA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8F0C89E-534B-1FBB-CAB7-E1DEF5A06204}"/>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50DE9550-28C4-D990-402F-FDA9E0488D88}"/>
              </a:ext>
            </a:extLst>
          </p:cNvPr>
          <p:cNvSpPr txBox="1">
            <a:spLocks/>
          </p:cNvSpPr>
          <p:nvPr/>
        </p:nvSpPr>
        <p:spPr>
          <a:xfrm>
            <a:off x="375874" y="1480402"/>
            <a:ext cx="5157787"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3200" b="1" dirty="0">
                <a:solidFill>
                  <a:srgbClr val="FF0000"/>
                </a:solidFill>
                <a:latin typeface="Times New Roman" panose="02020603050405020304" pitchFamily="18" charset="0"/>
                <a:cs typeface="Times New Roman" panose="02020603050405020304" pitchFamily="18" charset="0"/>
              </a:rPr>
              <a:t>Quy </a:t>
            </a:r>
            <a:r>
              <a:rPr lang="en-US" sz="3200" b="1" dirty="0" err="1">
                <a:solidFill>
                  <a:srgbClr val="FF0000"/>
                </a:solidFill>
                <a:latin typeface="Times New Roman" panose="02020603050405020304" pitchFamily="18" charset="0"/>
                <a:cs typeface="Times New Roman" panose="02020603050405020304" pitchFamily="18" charset="0"/>
              </a:rPr>
              <a:t>trình</a:t>
            </a:r>
            <a:r>
              <a:rPr lang="vi-VN" sz="3200" b="1" dirty="0">
                <a:solidFill>
                  <a:srgbClr val="FF0000"/>
                </a:solidFill>
                <a:latin typeface="Times New Roman" panose="02020603050405020304" pitchFamily="18" charset="0"/>
                <a:cs typeface="Times New Roman" panose="02020603050405020304" pitchFamily="18" charset="0"/>
              </a:rPr>
              <a:t> </a:t>
            </a:r>
            <a:r>
              <a:rPr lang="vi-VN" sz="3200" b="1" dirty="0">
                <a:solidFill>
                  <a:srgbClr val="FF0000"/>
                </a:solidFill>
                <a:latin typeface="+mj-lt"/>
              </a:rPr>
              <a:t>lập dự toán</a:t>
            </a:r>
            <a:endParaRPr lang="en-US" sz="3200" b="1" dirty="0">
              <a:solidFill>
                <a:srgbClr val="FF0000"/>
              </a:solidFill>
              <a:latin typeface="+mj-lt"/>
            </a:endParaRPr>
          </a:p>
          <a:p>
            <a:pPr marL="0" indent="0">
              <a:buNone/>
            </a:pPr>
            <a:endParaRPr lang="en-US" sz="3200" dirty="0"/>
          </a:p>
        </p:txBody>
      </p:sp>
      <p:sp>
        <p:nvSpPr>
          <p:cNvPr id="5" name="TextBox 4">
            <a:extLst>
              <a:ext uri="{FF2B5EF4-FFF2-40B4-BE49-F238E27FC236}">
                <a16:creationId xmlns:a16="http://schemas.microsoft.com/office/drawing/2014/main" id="{E60C2B3A-775F-4B90-47AA-6861FF24E25B}"/>
              </a:ext>
            </a:extLst>
          </p:cNvPr>
          <p:cNvSpPr txBox="1"/>
          <p:nvPr/>
        </p:nvSpPr>
        <p:spPr>
          <a:xfrm>
            <a:off x="375874" y="2210384"/>
            <a:ext cx="10326762" cy="1200329"/>
          </a:xfrm>
          <a:prstGeom prst="rect">
            <a:avLst/>
          </a:prstGeom>
          <a:noFill/>
        </p:spPr>
        <p:txBody>
          <a:bodyPr wrap="square" rtlCol="0">
            <a:spAutoFit/>
          </a:bodyPr>
          <a:lstStyle/>
          <a:p>
            <a:r>
              <a:rPr lang="en-US" sz="2400" dirty="0" err="1">
                <a:latin typeface="Times New Roman" panose="02020603050405020304" pitchFamily="18" charset="0"/>
                <a:cs typeface="Times New Roman" panose="02020603050405020304" pitchFamily="18" charset="0"/>
              </a:rPr>
              <a:t>Bước</a:t>
            </a:r>
            <a:r>
              <a:rPr lang="en-US" sz="2400" dirty="0">
                <a:latin typeface="Times New Roman" panose="02020603050405020304" pitchFamily="18" charset="0"/>
                <a:cs typeface="Times New Roman" panose="02020603050405020304" pitchFamily="18" charset="0"/>
              </a:rPr>
              <a:t> 1: </a:t>
            </a:r>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dẫn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Bước</a:t>
            </a:r>
            <a:r>
              <a:rPr lang="en-US" sz="2400" dirty="0">
                <a:latin typeface="Times New Roman" panose="02020603050405020304" pitchFamily="18" charset="0"/>
                <a:cs typeface="Times New Roman" panose="02020603050405020304" pitchFamily="18" charset="0"/>
              </a:rPr>
              <a:t> 2: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Bước</a:t>
            </a:r>
            <a:r>
              <a:rPr lang="en-US" sz="2400" dirty="0">
                <a:latin typeface="Times New Roman" panose="02020603050405020304" pitchFamily="18" charset="0"/>
                <a:cs typeface="Times New Roman" panose="02020603050405020304" pitchFamily="18" charset="0"/>
              </a:rPr>
              <a:t> 3: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3960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0C57C-3D60-033D-BE56-E8D68074B1C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538C986-8502-4781-6338-AD9BEA65FB98}"/>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721DE2D8-50A5-5928-4F33-725F5703BFDC}"/>
              </a:ext>
            </a:extLst>
          </p:cNvPr>
          <p:cNvSpPr txBox="1">
            <a:spLocks/>
          </p:cNvSpPr>
          <p:nvPr/>
        </p:nvSpPr>
        <p:spPr>
          <a:xfrm>
            <a:off x="375874" y="1480402"/>
            <a:ext cx="5157787"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3200" b="1" dirty="0">
                <a:solidFill>
                  <a:srgbClr val="FF0000"/>
                </a:solidFill>
                <a:latin typeface="Times New Roman" panose="02020603050405020304" pitchFamily="18" charset="0"/>
                <a:cs typeface="Times New Roman" panose="02020603050405020304" pitchFamily="18" charset="0"/>
              </a:rPr>
              <a:t>Quy </a:t>
            </a:r>
            <a:r>
              <a:rPr lang="en-US" sz="3200" b="1" dirty="0" err="1">
                <a:solidFill>
                  <a:srgbClr val="FF0000"/>
                </a:solidFill>
                <a:latin typeface="Times New Roman" panose="02020603050405020304" pitchFamily="18" charset="0"/>
                <a:cs typeface="Times New Roman" panose="02020603050405020304" pitchFamily="18" charset="0"/>
              </a:rPr>
              <a:t>trình</a:t>
            </a:r>
            <a:r>
              <a:rPr lang="vi-VN" sz="3200" b="1" dirty="0">
                <a:solidFill>
                  <a:srgbClr val="FF0000"/>
                </a:solidFill>
                <a:latin typeface="Times New Roman" panose="02020603050405020304" pitchFamily="18" charset="0"/>
                <a:cs typeface="Times New Roman" panose="02020603050405020304" pitchFamily="18" charset="0"/>
              </a:rPr>
              <a:t> </a:t>
            </a:r>
            <a:r>
              <a:rPr lang="vi-VN" sz="3200" b="1" dirty="0">
                <a:solidFill>
                  <a:srgbClr val="FF0000"/>
                </a:solidFill>
                <a:latin typeface="+mj-lt"/>
              </a:rPr>
              <a:t>lập dự toán</a:t>
            </a:r>
            <a:endParaRPr lang="en-US" sz="3200" b="1" dirty="0">
              <a:solidFill>
                <a:srgbClr val="FF0000"/>
              </a:solidFill>
              <a:latin typeface="+mj-lt"/>
            </a:endParaRPr>
          </a:p>
          <a:p>
            <a:pPr marL="0" indent="0">
              <a:buNone/>
            </a:pPr>
            <a:endParaRPr lang="en-US" sz="3200" dirty="0"/>
          </a:p>
        </p:txBody>
      </p:sp>
      <p:sp>
        <p:nvSpPr>
          <p:cNvPr id="5" name="TextBox 4">
            <a:extLst>
              <a:ext uri="{FF2B5EF4-FFF2-40B4-BE49-F238E27FC236}">
                <a16:creationId xmlns:a16="http://schemas.microsoft.com/office/drawing/2014/main" id="{252907D2-AD9F-902E-26C2-02871F634798}"/>
              </a:ext>
            </a:extLst>
          </p:cNvPr>
          <p:cNvSpPr txBox="1"/>
          <p:nvPr/>
        </p:nvSpPr>
        <p:spPr>
          <a:xfrm>
            <a:off x="375874" y="2210384"/>
            <a:ext cx="11440252" cy="3729482"/>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Bước</a:t>
            </a:r>
            <a:r>
              <a:rPr lang="en-US" sz="2400" b="1" dirty="0">
                <a:latin typeface="Times New Roman" panose="02020603050405020304" pitchFamily="18" charset="0"/>
                <a:cs typeface="Times New Roman" panose="02020603050405020304" pitchFamily="18" charset="0"/>
              </a:rPr>
              <a:t> 1: </a:t>
            </a:r>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dẫn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b="1" dirty="0">
                <a:latin typeface="Times New Roman" pitchFamily="18" charset="0"/>
                <a:cs typeface="Times New Roman" pitchFamily="18" charset="0"/>
              </a:rPr>
              <a:t>- </a:t>
            </a:r>
            <a:r>
              <a:rPr lang="en-US" sz="2400" dirty="0" err="1">
                <a:latin typeface="Times New Roman" pitchFamily="18" charset="0"/>
                <a:cs typeface="Times New Roman" pitchFamily="18" charset="0"/>
              </a:rPr>
              <a:t>Căn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cứ</a:t>
            </a:r>
            <a:r>
              <a:rPr lang="en-US" sz="2400" dirty="0">
                <a:latin typeface="Times New Roman" pitchFamily="18" charset="0"/>
                <a:cs typeface="Times New Roman" pitchFamily="18" charset="0"/>
              </a:rPr>
              <a:t> </a:t>
            </a:r>
            <a:r>
              <a:rPr lang="vi-VN" sz="2400" dirty="0">
                <a:latin typeface="Times New Roman" panose="02020603050405020304" pitchFamily="18" charset="0"/>
                <a:cs typeface="Times New Roman" panose="02020603050405020304" pitchFamily="18" charset="0"/>
              </a:rPr>
              <a:t>quy định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phủ</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về việc xây dựng kế hoạch phát triển kinh tế - xã hội, dự toán </a:t>
            </a:r>
            <a:r>
              <a:rPr lang="en-US" sz="2400" dirty="0">
                <a:latin typeface="Times New Roman" panose="02020603050405020304" pitchFamily="18" charset="0"/>
                <a:cs typeface="Times New Roman" panose="02020603050405020304" pitchFamily="18" charset="0"/>
              </a:rPr>
              <a:t>NSNN </a:t>
            </a:r>
            <a:r>
              <a:rPr lang="vi-VN" sz="2400" dirty="0">
                <a:latin typeface="Times New Roman" panose="02020603050405020304" pitchFamily="18" charset="0"/>
                <a:cs typeface="Times New Roman" panose="02020603050405020304" pitchFamily="18" charset="0"/>
              </a:rPr>
              <a:t>năm sau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dẫn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xây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tế</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hội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năm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sau</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hướng dẫn xây dựng dự toán ngân sách năm sau ở địa 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UBND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tỉnh</a:t>
            </a:r>
            <a:r>
              <a:rPr lang="en-US" sz="2400" dirty="0">
                <a:latin typeface="Times New Roman" panose="02020603050405020304" pitchFamily="18" charset="0"/>
                <a:cs typeface="Times New Roman" panose="02020603050405020304" pitchFamily="18" charset="0"/>
              </a:rPr>
              <a:t>, UBND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dẫn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phù</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nội</a:t>
            </a:r>
            <a:r>
              <a:rPr lang="en-US" sz="2400" dirty="0">
                <a:latin typeface="Times New Roman" panose="02020603050405020304" pitchFamily="18" charset="0"/>
                <a:cs typeface="Times New Roman" panose="02020603050405020304" pitchFamily="18" charset="0"/>
              </a:rPr>
              <a:t> dung,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NSNN.</a:t>
            </a:r>
            <a:endParaRPr lang="en-US" sz="2400" dirty="0"/>
          </a:p>
        </p:txBody>
      </p:sp>
    </p:spTree>
    <p:extLst>
      <p:ext uri="{BB962C8B-B14F-4D97-AF65-F5344CB8AC3E}">
        <p14:creationId xmlns:p14="http://schemas.microsoft.com/office/powerpoint/2010/main" val="2575981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F5683-4952-4785-B31C-24D1C2492B9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F3D09AB-CC73-BFEF-4F77-1E109749CED5}"/>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02E13D28-9B17-EAAB-A076-BCBAF1AA17DC}"/>
              </a:ext>
            </a:extLst>
          </p:cNvPr>
          <p:cNvSpPr txBox="1">
            <a:spLocks/>
          </p:cNvSpPr>
          <p:nvPr/>
        </p:nvSpPr>
        <p:spPr>
          <a:xfrm>
            <a:off x="375874" y="1480402"/>
            <a:ext cx="5157787"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3200" b="1" dirty="0">
                <a:solidFill>
                  <a:srgbClr val="FF0000"/>
                </a:solidFill>
                <a:latin typeface="Times New Roman" panose="02020603050405020304" pitchFamily="18" charset="0"/>
                <a:cs typeface="Times New Roman" panose="02020603050405020304" pitchFamily="18" charset="0"/>
              </a:rPr>
              <a:t>Quy </a:t>
            </a:r>
            <a:r>
              <a:rPr lang="en-US" sz="3200" b="1" dirty="0" err="1">
                <a:solidFill>
                  <a:srgbClr val="FF0000"/>
                </a:solidFill>
                <a:latin typeface="Times New Roman" panose="02020603050405020304" pitchFamily="18" charset="0"/>
                <a:cs typeface="Times New Roman" panose="02020603050405020304" pitchFamily="18" charset="0"/>
              </a:rPr>
              <a:t>trình</a:t>
            </a:r>
            <a:r>
              <a:rPr lang="en-US" sz="3200" b="1" dirty="0">
                <a:solidFill>
                  <a:srgbClr val="FF0000"/>
                </a:solidFill>
                <a:latin typeface="Times New Roman" panose="02020603050405020304" pitchFamily="18" charset="0"/>
                <a:cs typeface="Times New Roman" panose="02020603050405020304" pitchFamily="18" charset="0"/>
              </a:rPr>
              <a:t> </a:t>
            </a:r>
            <a:r>
              <a:rPr lang="vi-VN" sz="3200" b="1" dirty="0">
                <a:solidFill>
                  <a:srgbClr val="FF0000"/>
                </a:solidFill>
                <a:latin typeface="+mj-lt"/>
              </a:rPr>
              <a:t>lập dự toán</a:t>
            </a:r>
            <a:endParaRPr lang="en-US" sz="3200" b="1" dirty="0">
              <a:solidFill>
                <a:srgbClr val="FF0000"/>
              </a:solidFill>
              <a:latin typeface="+mj-lt"/>
            </a:endParaRPr>
          </a:p>
          <a:p>
            <a:pPr marL="0" indent="0">
              <a:buNone/>
            </a:pPr>
            <a:endParaRPr lang="en-US" sz="3200" dirty="0"/>
          </a:p>
        </p:txBody>
      </p:sp>
      <p:sp>
        <p:nvSpPr>
          <p:cNvPr id="5" name="TextBox 4">
            <a:extLst>
              <a:ext uri="{FF2B5EF4-FFF2-40B4-BE49-F238E27FC236}">
                <a16:creationId xmlns:a16="http://schemas.microsoft.com/office/drawing/2014/main" id="{260D0A79-D515-55C4-164C-C91DC50B7407}"/>
              </a:ext>
            </a:extLst>
          </p:cNvPr>
          <p:cNvSpPr txBox="1"/>
          <p:nvPr/>
        </p:nvSpPr>
        <p:spPr>
          <a:xfrm>
            <a:off x="130629" y="2210384"/>
            <a:ext cx="11685497" cy="3719288"/>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Bước</a:t>
            </a:r>
            <a:r>
              <a:rPr lang="en-US" sz="2400" b="1" dirty="0">
                <a:latin typeface="Times New Roman" panose="02020603050405020304" pitchFamily="18" charset="0"/>
                <a:cs typeface="Times New Roman" panose="02020603050405020304" pitchFamily="18" charset="0"/>
              </a:rPr>
              <a:t> 2: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a:p>
            <a:pPr algn="just">
              <a:lnSpc>
                <a:spcPct val="150000"/>
              </a:lnSpc>
              <a:buFontTx/>
              <a:buChar char="-"/>
            </a:pP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Lập</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dự</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toán</a:t>
            </a:r>
            <a:r>
              <a:rPr lang="en-US" sz="2400" b="1" dirty="0">
                <a:latin typeface="Times New Roman" pitchFamily="18" charset="0"/>
                <a:cs typeface="Times New Roman" pitchFamily="18" charset="0"/>
              </a:rPr>
              <a:t> NSNN </a:t>
            </a:r>
            <a:r>
              <a:rPr lang="en-US" sz="2400" b="1" dirty="0" err="1">
                <a:latin typeface="Times New Roman" pitchFamily="18" charset="0"/>
                <a:cs typeface="Times New Roman" pitchFamily="18" charset="0"/>
              </a:rPr>
              <a:t>tại</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các</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cơ</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quan</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thu</a:t>
            </a:r>
            <a:r>
              <a:rPr lang="en-US" sz="2400" b="1" dirty="0">
                <a:latin typeface="Times New Roman" pitchFamily="18" charset="0"/>
                <a:cs typeface="Times New Roman" pitchFamily="18" charset="0"/>
              </a:rPr>
              <a:t> NS</a:t>
            </a:r>
          </a:p>
          <a:p>
            <a:pPr algn="just">
              <a:lnSpc>
                <a:spcPct val="150000"/>
              </a:lnSpc>
            </a:pP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thuế</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sở</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thuộc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lập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NSNN </a:t>
            </a:r>
            <a:r>
              <a:rPr lang="en-US" sz="2400" dirty="0" err="1">
                <a:latin typeface="Times New Roman" pitchFamily="18" charset="0"/>
                <a:cs typeface="Times New Roman" pitchFamily="18" charset="0"/>
              </a:rPr>
              <a:t>thuộc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phạm</a:t>
            </a:r>
            <a:r>
              <a:rPr lang="en-US" sz="2400" dirty="0">
                <a:latin typeface="Times New Roman" panose="02020603050405020304" pitchFamily="18" charset="0"/>
                <a:cs typeface="Times New Roman" panose="02020603050405020304" pitchFamily="18" charset="0"/>
              </a:rPr>
              <a:t> vi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đảm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nội</a:t>
            </a:r>
            <a:r>
              <a:rPr lang="en-US" sz="2400" dirty="0">
                <a:latin typeface="Times New Roman" panose="02020603050405020304" pitchFamily="18" charset="0"/>
                <a:cs typeface="Times New Roman" panose="02020603050405020304" pitchFamily="18" charset="0"/>
              </a:rPr>
              <a:t> dung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ở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thẩm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lệ</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PL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phạm</a:t>
            </a:r>
            <a:r>
              <a:rPr lang="en-US" sz="2400" dirty="0">
                <a:latin typeface="Times New Roman" panose="02020603050405020304" pitchFamily="18" charset="0"/>
                <a:cs typeface="Times New Roman" panose="02020603050405020304" pitchFamily="18" charset="0"/>
              </a:rPr>
              <a:t> vi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gửi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69379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3E7D3-C778-3015-D710-E5F52E7402E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A8E914A-2684-809E-B061-840A2ED72EFF}"/>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B66B52CE-99BF-7FA1-11B7-DBBF2FB00614}"/>
              </a:ext>
            </a:extLst>
          </p:cNvPr>
          <p:cNvSpPr txBox="1">
            <a:spLocks/>
          </p:cNvSpPr>
          <p:nvPr/>
        </p:nvSpPr>
        <p:spPr>
          <a:xfrm>
            <a:off x="375874" y="1480402"/>
            <a:ext cx="5157787"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3200" b="1" dirty="0">
                <a:solidFill>
                  <a:srgbClr val="FF0000"/>
                </a:solidFill>
                <a:latin typeface="Times New Roman" panose="02020603050405020304" pitchFamily="18" charset="0"/>
                <a:cs typeface="Times New Roman" panose="02020603050405020304" pitchFamily="18" charset="0"/>
              </a:rPr>
              <a:t>Quy </a:t>
            </a:r>
            <a:r>
              <a:rPr lang="en-US" sz="3200" b="1" dirty="0" err="1">
                <a:solidFill>
                  <a:srgbClr val="FF0000"/>
                </a:solidFill>
                <a:latin typeface="Times New Roman" panose="02020603050405020304" pitchFamily="18" charset="0"/>
                <a:cs typeface="Times New Roman" panose="02020603050405020304" pitchFamily="18" charset="0"/>
              </a:rPr>
              <a:t>trình</a:t>
            </a:r>
            <a:r>
              <a:rPr lang="en-US" sz="3200" b="1" dirty="0">
                <a:solidFill>
                  <a:srgbClr val="FF0000"/>
                </a:solidFill>
                <a:latin typeface="Times New Roman" panose="02020603050405020304" pitchFamily="18" charset="0"/>
                <a:cs typeface="Times New Roman" panose="02020603050405020304" pitchFamily="18" charset="0"/>
              </a:rPr>
              <a:t> </a:t>
            </a:r>
            <a:r>
              <a:rPr lang="vi-VN" sz="3200" b="1" dirty="0">
                <a:solidFill>
                  <a:srgbClr val="FF0000"/>
                </a:solidFill>
                <a:latin typeface="+mj-lt"/>
              </a:rPr>
              <a:t>lập dự toán</a:t>
            </a:r>
            <a:endParaRPr lang="en-US" sz="3200" b="1" dirty="0">
              <a:solidFill>
                <a:srgbClr val="FF0000"/>
              </a:solidFill>
              <a:latin typeface="+mj-lt"/>
            </a:endParaRPr>
          </a:p>
          <a:p>
            <a:pPr marL="0" indent="0">
              <a:buNone/>
            </a:pPr>
            <a:endParaRPr lang="en-US" sz="3200" dirty="0"/>
          </a:p>
        </p:txBody>
      </p:sp>
      <p:sp>
        <p:nvSpPr>
          <p:cNvPr id="5" name="TextBox 4">
            <a:extLst>
              <a:ext uri="{FF2B5EF4-FFF2-40B4-BE49-F238E27FC236}">
                <a16:creationId xmlns:a16="http://schemas.microsoft.com/office/drawing/2014/main" id="{71C965DC-B124-25A8-04D2-2F9C75EEC6EE}"/>
              </a:ext>
            </a:extLst>
          </p:cNvPr>
          <p:cNvSpPr txBox="1"/>
          <p:nvPr/>
        </p:nvSpPr>
        <p:spPr>
          <a:xfrm>
            <a:off x="130629" y="2210384"/>
            <a:ext cx="11685497" cy="3719288"/>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Bước</a:t>
            </a:r>
            <a:r>
              <a:rPr lang="en-US" sz="2400" b="1" dirty="0">
                <a:latin typeface="Times New Roman" panose="02020603050405020304" pitchFamily="18" charset="0"/>
                <a:cs typeface="Times New Roman" panose="02020603050405020304" pitchFamily="18" charset="0"/>
              </a:rPr>
              <a:t> 2: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a:p>
            <a:pPr algn="just">
              <a:lnSpc>
                <a:spcPct val="150000"/>
              </a:lnSpc>
              <a:buFontTx/>
              <a:buChar char="-"/>
            </a:pP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Lập</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dự</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toán</a:t>
            </a:r>
            <a:r>
              <a:rPr lang="en-US" sz="2400" b="1" dirty="0">
                <a:latin typeface="Times New Roman" pitchFamily="18" charset="0"/>
                <a:cs typeface="Times New Roman" pitchFamily="18" charset="0"/>
              </a:rPr>
              <a:t> NSNN </a:t>
            </a:r>
            <a:r>
              <a:rPr lang="en-US" sz="2400" b="1" dirty="0" err="1">
                <a:latin typeface="Times New Roman" pitchFamily="18" charset="0"/>
                <a:cs typeface="Times New Roman" pitchFamily="18" charset="0"/>
              </a:rPr>
              <a:t>tại</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các</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đơn</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vị</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dự</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toán</a:t>
            </a:r>
            <a:r>
              <a:rPr lang="en-US" sz="2400" b="1" dirty="0">
                <a:latin typeface="Times New Roman" pitchFamily="18" charset="0"/>
                <a:cs typeface="Times New Roman" pitchFamily="18" charset="0"/>
              </a:rPr>
              <a:t> NS ở </a:t>
            </a:r>
            <a:r>
              <a:rPr lang="en-US" sz="2400" b="1" dirty="0" err="1">
                <a:latin typeface="Times New Roman" pitchFamily="18" charset="0"/>
                <a:cs typeface="Times New Roman" pitchFamily="18" charset="0"/>
              </a:rPr>
              <a:t>xã</a:t>
            </a:r>
            <a:endParaRPr lang="en-US" sz="2400" b="1" dirty="0">
              <a:latin typeface="Times New Roman" pitchFamily="18" charset="0"/>
              <a:cs typeface="Times New Roman" pitchFamily="18" charset="0"/>
            </a:endParaRPr>
          </a:p>
          <a:p>
            <a:pPr algn="just">
              <a:lnSpc>
                <a:spcPct val="150000"/>
              </a:lnSpc>
            </a:pP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sử</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dụng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ngân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lập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chi NS </a:t>
            </a:r>
            <a:r>
              <a:rPr lang="en-US" sz="2400" dirty="0" err="1">
                <a:latin typeface="Times New Roman" pitchFamily="18" charset="0"/>
                <a:cs typeface="Times New Roman" pitchFamily="18" charset="0"/>
              </a:rPr>
              <a:t>thuộc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phạm</a:t>
            </a:r>
            <a:r>
              <a:rPr lang="en-US" sz="2400" dirty="0">
                <a:latin typeface="Times New Roman" pitchFamily="18" charset="0"/>
                <a:cs typeface="Times New Roman" pitchFamily="18" charset="0"/>
              </a:rPr>
              <a:t> vi, </a:t>
            </a:r>
            <a:r>
              <a:rPr lang="en-US" sz="2400" dirty="0" err="1">
                <a:latin typeface="Times New Roman" pitchFamily="18" charset="0"/>
                <a:cs typeface="Times New Roman" pitchFamily="18" charset="0"/>
              </a:rPr>
              <a:t>nhiệm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vụ</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được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chịu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nhiệm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về</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sở</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pháp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lý</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đề</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xuất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liệu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gửi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tiếp</a:t>
            </a:r>
            <a:r>
              <a:rPr lang="en-US" sz="2400" dirty="0">
                <a:latin typeface="Times New Roman" pitchFamily="18" charset="0"/>
                <a:cs typeface="Times New Roman" pitchFamily="18" charset="0"/>
              </a:rPr>
              <a:t>.</a:t>
            </a:r>
          </a:p>
          <a:p>
            <a:pPr algn="just">
              <a:lnSpc>
                <a:spcPct val="150000"/>
              </a:lnSpc>
            </a:pP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tiếp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trường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không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phải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I) </a:t>
            </a:r>
            <a:r>
              <a:rPr lang="en-US" sz="2400" dirty="0" err="1">
                <a:latin typeface="Times New Roman" pitchFamily="18" charset="0"/>
                <a:cs typeface="Times New Roman" pitchFamily="18" charset="0"/>
              </a:rPr>
              <a:t>xem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xét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tổng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chi NS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thuộc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phạm</a:t>
            </a:r>
            <a:r>
              <a:rPr lang="en-US" sz="2400" dirty="0">
                <a:latin typeface="Times New Roman" pitchFamily="18" charset="0"/>
                <a:cs typeface="Times New Roman" pitchFamily="18" charset="0"/>
              </a:rPr>
              <a:t> vi </a:t>
            </a:r>
            <a:r>
              <a:rPr lang="en-US" sz="2400" dirty="0" err="1">
                <a:latin typeface="Times New Roman" pitchFamily="18" charset="0"/>
                <a:cs typeface="Times New Roman" pitchFamily="18" charset="0"/>
              </a:rPr>
              <a:t>quản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lý</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chịu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nhiệm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về</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hồ</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liệu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gửi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I.</a:t>
            </a:r>
          </a:p>
        </p:txBody>
      </p:sp>
    </p:spTree>
    <p:extLst>
      <p:ext uri="{BB962C8B-B14F-4D97-AF65-F5344CB8AC3E}">
        <p14:creationId xmlns:p14="http://schemas.microsoft.com/office/powerpoint/2010/main" val="44058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DD14D-B7AB-5F18-A81C-98CE74221B6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9A67A1A-C04C-0CE2-C3C0-F4B825159B0B}"/>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1A13909E-5A8D-5678-CE7B-57D1A2C76917}"/>
              </a:ext>
            </a:extLst>
          </p:cNvPr>
          <p:cNvSpPr txBox="1">
            <a:spLocks/>
          </p:cNvSpPr>
          <p:nvPr/>
        </p:nvSpPr>
        <p:spPr>
          <a:xfrm>
            <a:off x="375874" y="1480402"/>
            <a:ext cx="5157787"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3200" b="1" dirty="0">
                <a:solidFill>
                  <a:srgbClr val="FF0000"/>
                </a:solidFill>
                <a:latin typeface="Times New Roman" panose="02020603050405020304" pitchFamily="18" charset="0"/>
                <a:cs typeface="Times New Roman" panose="02020603050405020304" pitchFamily="18" charset="0"/>
              </a:rPr>
              <a:t>Quy </a:t>
            </a:r>
            <a:r>
              <a:rPr lang="en-US" sz="3200" b="1" dirty="0" err="1">
                <a:solidFill>
                  <a:srgbClr val="FF0000"/>
                </a:solidFill>
                <a:latin typeface="Times New Roman" panose="02020603050405020304" pitchFamily="18" charset="0"/>
                <a:cs typeface="Times New Roman" panose="02020603050405020304" pitchFamily="18" charset="0"/>
              </a:rPr>
              <a:t>trình</a:t>
            </a:r>
            <a:r>
              <a:rPr lang="en-US" sz="3200" dirty="0">
                <a:solidFill>
                  <a:srgbClr val="FF0000"/>
                </a:solidFill>
                <a:latin typeface="+mj-lt"/>
              </a:rPr>
              <a:t> </a:t>
            </a:r>
            <a:r>
              <a:rPr lang="vi-VN" sz="3200" b="1" dirty="0">
                <a:solidFill>
                  <a:srgbClr val="FF0000"/>
                </a:solidFill>
                <a:latin typeface="+mj-lt"/>
              </a:rPr>
              <a:t>lập dự toán</a:t>
            </a:r>
            <a:endParaRPr lang="en-US" sz="3200" b="1" dirty="0">
              <a:solidFill>
                <a:srgbClr val="FF0000"/>
              </a:solidFill>
              <a:latin typeface="+mj-lt"/>
            </a:endParaRPr>
          </a:p>
          <a:p>
            <a:pPr marL="0" indent="0">
              <a:buNone/>
            </a:pPr>
            <a:endParaRPr lang="en-US" sz="3200" dirty="0"/>
          </a:p>
        </p:txBody>
      </p:sp>
      <p:sp>
        <p:nvSpPr>
          <p:cNvPr id="5" name="TextBox 4">
            <a:extLst>
              <a:ext uri="{FF2B5EF4-FFF2-40B4-BE49-F238E27FC236}">
                <a16:creationId xmlns:a16="http://schemas.microsoft.com/office/drawing/2014/main" id="{F8D8D2C6-B52B-F5B5-AAFE-1ABF010CBD02}"/>
              </a:ext>
            </a:extLst>
          </p:cNvPr>
          <p:cNvSpPr txBox="1"/>
          <p:nvPr/>
        </p:nvSpPr>
        <p:spPr>
          <a:xfrm>
            <a:off x="130629" y="2014436"/>
            <a:ext cx="11685497" cy="4827284"/>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Bước</a:t>
            </a:r>
            <a:r>
              <a:rPr lang="en-US" sz="2400" b="1" dirty="0">
                <a:latin typeface="Times New Roman" panose="02020603050405020304" pitchFamily="18" charset="0"/>
                <a:cs typeface="Times New Roman" panose="02020603050405020304" pitchFamily="18" charset="0"/>
              </a:rPr>
              <a:t> 2: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a:p>
            <a:pPr algn="just">
              <a:lnSpc>
                <a:spcPct val="150000"/>
              </a:lnSpc>
              <a:buFontTx/>
              <a:buChar char="-"/>
            </a:pP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Lập</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dự</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toán</a:t>
            </a:r>
            <a:r>
              <a:rPr lang="en-US" sz="2400" b="1" dirty="0">
                <a:latin typeface="Times New Roman" pitchFamily="18" charset="0"/>
                <a:cs typeface="Times New Roman" pitchFamily="18" charset="0"/>
              </a:rPr>
              <a:t> NSNN </a:t>
            </a:r>
            <a:r>
              <a:rPr lang="en-US" sz="2400" b="1" dirty="0" err="1">
                <a:latin typeface="Times New Roman" pitchFamily="18" charset="0"/>
                <a:cs typeface="Times New Roman" pitchFamily="18" charset="0"/>
              </a:rPr>
              <a:t>tại</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các</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đơn</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vị</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dự</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toán</a:t>
            </a:r>
            <a:r>
              <a:rPr lang="en-US" sz="2400" b="1" dirty="0">
                <a:latin typeface="Times New Roman" pitchFamily="18" charset="0"/>
                <a:cs typeface="Times New Roman" pitchFamily="18" charset="0"/>
              </a:rPr>
              <a:t> NS (</a:t>
            </a:r>
            <a:r>
              <a:rPr lang="en-US" sz="2400" b="1" dirty="0" err="1">
                <a:latin typeface="Times New Roman" pitchFamily="18" charset="0"/>
                <a:cs typeface="Times New Roman" pitchFamily="18" charset="0"/>
              </a:rPr>
              <a:t>tt</a:t>
            </a:r>
            <a:r>
              <a:rPr lang="en-US" sz="2400" b="1" dirty="0">
                <a:latin typeface="Times New Roman" pitchFamily="18" charset="0"/>
                <a:cs typeface="Times New Roman" pitchFamily="18" charset="0"/>
              </a:rPr>
              <a:t>)</a:t>
            </a:r>
          </a:p>
          <a:p>
            <a:pPr algn="just">
              <a:lnSpc>
                <a:spcPct val="150000"/>
              </a:lnSpc>
            </a:pPr>
            <a:r>
              <a:rPr lang="en-US" sz="2400" dirty="0" err="1">
                <a:latin typeface="Times New Roman" pitchFamily="18" charset="0"/>
                <a:cs typeface="Times New Roman" pitchFamily="18" charset="0"/>
              </a:rPr>
              <a:t>Đối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được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quản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lý</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sản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tầng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được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quản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lý</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vận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hành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khai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bảo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trì</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sản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tầng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được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hiện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nhiệm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vụ</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lập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kinh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phí</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hiện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nhiệm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vụ</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gửi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quản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lý</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nước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về</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lĩnh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hoạt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động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chuyên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môn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tương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ứng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xem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xét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tổng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cùng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chi NS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QLNN.</a:t>
            </a:r>
          </a:p>
          <a:p>
            <a:pPr algn="just">
              <a:lnSpc>
                <a:spcPct val="150000"/>
              </a:lnSpc>
            </a:pP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I </a:t>
            </a:r>
            <a:r>
              <a:rPr lang="en-US" sz="2400" dirty="0" err="1">
                <a:latin typeface="Times New Roman" pitchFamily="18" charset="0"/>
                <a:cs typeface="Times New Roman" pitchFamily="18" charset="0"/>
              </a:rPr>
              <a:t>xem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xét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tổng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chi NS do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dưới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thuộc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tại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khoản</a:t>
            </a:r>
            <a:r>
              <a:rPr lang="en-US" sz="2400" dirty="0">
                <a:latin typeface="Times New Roman" pitchFamily="18" charset="0"/>
                <a:cs typeface="Times New Roman" pitchFamily="18" charset="0"/>
              </a:rPr>
              <a:t> 3, </a:t>
            </a:r>
            <a:r>
              <a:rPr lang="en-US" sz="2400" dirty="0" err="1">
                <a:latin typeface="Times New Roman" pitchFamily="18" charset="0"/>
                <a:cs typeface="Times New Roman" pitchFamily="18" charset="0"/>
              </a:rPr>
              <a:t>Điều</a:t>
            </a:r>
            <a:r>
              <a:rPr lang="en-US" sz="2400" dirty="0">
                <a:latin typeface="Times New Roman" pitchFamily="18" charset="0"/>
                <a:cs typeface="Times New Roman" pitchFamily="18" charset="0"/>
              </a:rPr>
              <a:t> 13, NĐ 73/2026/NĐ-CP </a:t>
            </a:r>
            <a:r>
              <a:rPr lang="en-US" sz="2400" dirty="0" err="1">
                <a:latin typeface="Times New Roman" pitchFamily="18" charset="0"/>
                <a:cs typeface="Times New Roman" pitchFamily="18" charset="0"/>
              </a:rPr>
              <a:t>lập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chịu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nhiệm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về</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hồ</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liệu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gửi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cùng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a:t>
            </a:r>
          </a:p>
        </p:txBody>
      </p:sp>
    </p:spTree>
    <p:extLst>
      <p:ext uri="{BB962C8B-B14F-4D97-AF65-F5344CB8AC3E}">
        <p14:creationId xmlns:p14="http://schemas.microsoft.com/office/powerpoint/2010/main" val="3385108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DFDA4-D4EC-A3EE-7F01-324FECB0A91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4DEC5B4-1864-77AA-9EC6-AF2581393F7A}"/>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E5AE940C-EF7F-B0ED-BA25-E35507FE865F}"/>
              </a:ext>
            </a:extLst>
          </p:cNvPr>
          <p:cNvSpPr txBox="1">
            <a:spLocks/>
          </p:cNvSpPr>
          <p:nvPr/>
        </p:nvSpPr>
        <p:spPr>
          <a:xfrm>
            <a:off x="375874" y="1480402"/>
            <a:ext cx="5157787"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3200" b="1" dirty="0">
                <a:solidFill>
                  <a:srgbClr val="FF0000"/>
                </a:solidFill>
                <a:latin typeface="Times New Roman" panose="02020603050405020304" pitchFamily="18" charset="0"/>
                <a:cs typeface="Times New Roman" panose="02020603050405020304" pitchFamily="18" charset="0"/>
              </a:rPr>
              <a:t>Quy </a:t>
            </a:r>
            <a:r>
              <a:rPr lang="en-US" sz="3200" b="1" dirty="0" err="1">
                <a:solidFill>
                  <a:srgbClr val="FF0000"/>
                </a:solidFill>
                <a:latin typeface="Times New Roman" panose="02020603050405020304" pitchFamily="18" charset="0"/>
                <a:cs typeface="Times New Roman" panose="02020603050405020304" pitchFamily="18" charset="0"/>
              </a:rPr>
              <a:t>trình</a:t>
            </a:r>
            <a:r>
              <a:rPr lang="en-US" sz="3200" b="1" dirty="0">
                <a:solidFill>
                  <a:srgbClr val="FF0000"/>
                </a:solidFill>
                <a:latin typeface="Times New Roman" panose="02020603050405020304" pitchFamily="18" charset="0"/>
                <a:cs typeface="Times New Roman" panose="02020603050405020304" pitchFamily="18" charset="0"/>
              </a:rPr>
              <a:t> </a:t>
            </a:r>
            <a:r>
              <a:rPr lang="vi-VN" sz="3200" b="1" dirty="0">
                <a:solidFill>
                  <a:srgbClr val="FF0000"/>
                </a:solidFill>
                <a:latin typeface="+mj-lt"/>
              </a:rPr>
              <a:t>lập dự toán</a:t>
            </a:r>
            <a:endParaRPr lang="en-US" sz="3200" b="1" dirty="0">
              <a:solidFill>
                <a:srgbClr val="FF0000"/>
              </a:solidFill>
              <a:latin typeface="+mj-lt"/>
            </a:endParaRPr>
          </a:p>
          <a:p>
            <a:pPr marL="0" indent="0">
              <a:buNone/>
            </a:pPr>
            <a:endParaRPr lang="en-US" sz="3200" dirty="0"/>
          </a:p>
        </p:txBody>
      </p:sp>
      <p:sp>
        <p:nvSpPr>
          <p:cNvPr id="5" name="TextBox 4">
            <a:extLst>
              <a:ext uri="{FF2B5EF4-FFF2-40B4-BE49-F238E27FC236}">
                <a16:creationId xmlns:a16="http://schemas.microsoft.com/office/drawing/2014/main" id="{E9740CB1-94E8-C866-4E37-2B07BCA24CDC}"/>
              </a:ext>
            </a:extLst>
          </p:cNvPr>
          <p:cNvSpPr txBox="1"/>
          <p:nvPr/>
        </p:nvSpPr>
        <p:spPr>
          <a:xfrm>
            <a:off x="130629" y="2014436"/>
            <a:ext cx="11685497" cy="4273286"/>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Bước</a:t>
            </a:r>
            <a:r>
              <a:rPr lang="en-US" sz="2400" b="1" dirty="0">
                <a:latin typeface="Times New Roman" panose="02020603050405020304" pitchFamily="18" charset="0"/>
                <a:cs typeface="Times New Roman" panose="02020603050405020304" pitchFamily="18" charset="0"/>
              </a:rPr>
              <a:t> 2: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a:p>
            <a:pPr algn="just">
              <a:lnSpc>
                <a:spcPct val="150000"/>
              </a:lnSpc>
              <a:buFontTx/>
              <a:buChar char="-"/>
            </a:pPr>
            <a:r>
              <a:rPr lang="en-US" sz="2400" b="1"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chủ</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trì</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tổng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NSNN </a:t>
            </a:r>
            <a:r>
              <a:rPr lang="en-US" sz="2400" dirty="0" err="1">
                <a:latin typeface="Times New Roman" pitchFamily="18" charset="0"/>
                <a:cs typeface="Times New Roman" pitchFamily="18" charset="0"/>
              </a:rPr>
              <a:t>trên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bàn</a:t>
            </a:r>
            <a:r>
              <a:rPr lang="en-US" sz="2400" dirty="0">
                <a:latin typeface="Times New Roman" pitchFamily="18" charset="0"/>
                <a:cs typeface="Times New Roman" pitchFamily="18" charset="0"/>
              </a:rPr>
              <a:t> do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NS </a:t>
            </a:r>
            <a:r>
              <a:rPr lang="en-US" sz="2400" dirty="0" err="1">
                <a:latin typeface="Times New Roman" pitchFamily="18" charset="0"/>
                <a:cs typeface="Times New Roman" pitchFamily="18" charset="0"/>
              </a:rPr>
              <a:t>lập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chi NS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I </a:t>
            </a:r>
            <a:r>
              <a:rPr lang="en-US" sz="2400" dirty="0" err="1">
                <a:latin typeface="Times New Roman" pitchFamily="18" charset="0"/>
                <a:cs typeface="Times New Roman" pitchFamily="18" charset="0"/>
              </a:rPr>
              <a:t>thuộc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phạm</a:t>
            </a:r>
            <a:r>
              <a:rPr lang="en-US" sz="2400" dirty="0">
                <a:latin typeface="Times New Roman" pitchFamily="18" charset="0"/>
                <a:cs typeface="Times New Roman" pitchFamily="18" charset="0"/>
              </a:rPr>
              <a:t> vi </a:t>
            </a:r>
            <a:r>
              <a:rPr lang="en-US" sz="2400" dirty="0" err="1">
                <a:latin typeface="Times New Roman" pitchFamily="18" charset="0"/>
                <a:cs typeface="Times New Roman" pitchFamily="18" charset="0"/>
              </a:rPr>
              <a:t>quản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lý</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lập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chi NS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cáo</a:t>
            </a:r>
            <a:r>
              <a:rPr lang="en-US" sz="2400" dirty="0">
                <a:latin typeface="Times New Roman" pitchFamily="18" charset="0"/>
                <a:cs typeface="Times New Roman" pitchFamily="18" charset="0"/>
              </a:rPr>
              <a:t> UBNN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trình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thường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trực</a:t>
            </a:r>
            <a:r>
              <a:rPr lang="en-US" sz="2400" dirty="0">
                <a:latin typeface="Times New Roman" pitchFamily="18" charset="0"/>
                <a:cs typeface="Times New Roman" pitchFamily="18" charset="0"/>
              </a:rPr>
              <a:t> HĐND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xem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xét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cho</a:t>
            </a:r>
            <a:r>
              <a:rPr lang="en-US" sz="2400" dirty="0">
                <a:latin typeface="Times New Roman" pitchFamily="18" charset="0"/>
                <a:cs typeface="Times New Roman" pitchFamily="18" charset="0"/>
              </a:rPr>
              <a:t> ý </a:t>
            </a:r>
            <a:r>
              <a:rPr lang="en-US" sz="2400" dirty="0" err="1">
                <a:latin typeface="Times New Roman" pitchFamily="18" charset="0"/>
                <a:cs typeface="Times New Roman" pitchFamily="18" charset="0"/>
              </a:rPr>
              <a:t>kiến</a:t>
            </a:r>
            <a:r>
              <a:rPr lang="en-US" sz="2400" dirty="0">
                <a:latin typeface="Times New Roman" pitchFamily="18" charset="0"/>
                <a:cs typeface="Times New Roman" pitchFamily="18" charset="0"/>
              </a:rPr>
              <a:t>.</a:t>
            </a:r>
          </a:p>
          <a:p>
            <a:pPr algn="just">
              <a:lnSpc>
                <a:spcPct val="150000"/>
              </a:lnSpc>
              <a:buFontTx/>
              <a:buChar char="-"/>
            </a:pPr>
            <a:r>
              <a:rPr lang="en-US" sz="2400" dirty="0">
                <a:latin typeface="Times New Roman" pitchFamily="18" charset="0"/>
                <a:cs typeface="Times New Roman" pitchFamily="18" charset="0"/>
              </a:rPr>
              <a:t> Sau </a:t>
            </a:r>
            <a:r>
              <a:rPr lang="en-US" sz="2400" dirty="0" err="1">
                <a:latin typeface="Times New Roman" pitchFamily="18" charset="0"/>
                <a:cs typeface="Times New Roman" pitchFamily="18" charset="0"/>
              </a:rPr>
              <a:t>khi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có</a:t>
            </a:r>
            <a:r>
              <a:rPr lang="en-US" sz="2400" dirty="0">
                <a:latin typeface="Times New Roman" pitchFamily="18" charset="0"/>
                <a:cs typeface="Times New Roman" pitchFamily="18" charset="0"/>
              </a:rPr>
              <a:t> ý </a:t>
            </a:r>
            <a:r>
              <a:rPr lang="en-US" sz="2400" dirty="0" err="1">
                <a:latin typeface="Times New Roman" pitchFamily="18" charset="0"/>
                <a:cs typeface="Times New Roman" pitchFamily="18" charset="0"/>
              </a:rPr>
              <a:t>kiến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Thường </a:t>
            </a:r>
            <a:r>
              <a:rPr lang="en-US" sz="2400" dirty="0" err="1">
                <a:latin typeface="Times New Roman" pitchFamily="18" charset="0"/>
                <a:cs typeface="Times New Roman" pitchFamily="18" charset="0"/>
              </a:rPr>
              <a:t>trực</a:t>
            </a:r>
            <a:r>
              <a:rPr lang="en-US" sz="2400" dirty="0">
                <a:latin typeface="Times New Roman" pitchFamily="18" charset="0"/>
                <a:cs typeface="Times New Roman" pitchFamily="18" charset="0"/>
              </a:rPr>
              <a:t> HĐND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UBND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gửi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NSNN </a:t>
            </a:r>
            <a:r>
              <a:rPr lang="en-US" sz="2400" dirty="0" err="1">
                <a:latin typeface="Times New Roman" pitchFamily="18" charset="0"/>
                <a:cs typeface="Times New Roman" pitchFamily="18" charset="0"/>
              </a:rPr>
              <a:t>trên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bàn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chi NS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đến</a:t>
            </a:r>
            <a:r>
              <a:rPr lang="en-US" sz="2400" dirty="0">
                <a:latin typeface="Times New Roman" pitchFamily="18" charset="0"/>
                <a:cs typeface="Times New Roman" pitchFamily="18" charset="0"/>
              </a:rPr>
              <a:t> UBND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tỉnh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Sở</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Sở</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tổng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chi </a:t>
            </a:r>
            <a:r>
              <a:rPr lang="en-US" sz="2400" dirty="0" err="1">
                <a:latin typeface="Times New Roman" pitchFamily="18" charset="0"/>
                <a:cs typeface="Times New Roman" pitchFamily="18" charset="0"/>
              </a:rPr>
              <a:t>ngân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theo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a:t>
            </a:r>
          </a:p>
        </p:txBody>
      </p:sp>
    </p:spTree>
    <p:extLst>
      <p:ext uri="{BB962C8B-B14F-4D97-AF65-F5344CB8AC3E}">
        <p14:creationId xmlns:p14="http://schemas.microsoft.com/office/powerpoint/2010/main" val="3741539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61E2F-22D0-1AEB-D0CE-749154AB679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3A9B0DD-9488-7E17-3217-D7ECDE3CC966}"/>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68304A3F-1498-4FDF-EA4A-32726B2DA9BC}"/>
              </a:ext>
            </a:extLst>
          </p:cNvPr>
          <p:cNvSpPr txBox="1">
            <a:spLocks/>
          </p:cNvSpPr>
          <p:nvPr/>
        </p:nvSpPr>
        <p:spPr>
          <a:xfrm>
            <a:off x="375874" y="1239342"/>
            <a:ext cx="5157787"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3200" b="1" dirty="0">
                <a:solidFill>
                  <a:srgbClr val="FF0000"/>
                </a:solidFill>
                <a:latin typeface="Times New Roman" panose="02020603050405020304" pitchFamily="18" charset="0"/>
                <a:cs typeface="Times New Roman" panose="02020603050405020304" pitchFamily="18" charset="0"/>
              </a:rPr>
              <a:t>Quy </a:t>
            </a:r>
            <a:r>
              <a:rPr lang="en-US" sz="3200" b="1" dirty="0" err="1">
                <a:solidFill>
                  <a:srgbClr val="FF0000"/>
                </a:solidFill>
                <a:latin typeface="Times New Roman" panose="02020603050405020304" pitchFamily="18" charset="0"/>
                <a:cs typeface="Times New Roman" panose="02020603050405020304" pitchFamily="18" charset="0"/>
              </a:rPr>
              <a:t>trình</a:t>
            </a:r>
            <a:r>
              <a:rPr lang="en-US" sz="3200" b="1" dirty="0">
                <a:solidFill>
                  <a:srgbClr val="FF0000"/>
                </a:solidFill>
                <a:latin typeface="Times New Roman" panose="02020603050405020304" pitchFamily="18" charset="0"/>
                <a:cs typeface="Times New Roman" panose="02020603050405020304" pitchFamily="18" charset="0"/>
              </a:rPr>
              <a:t> </a:t>
            </a:r>
            <a:r>
              <a:rPr lang="vi-VN" sz="3200" b="1" dirty="0">
                <a:solidFill>
                  <a:srgbClr val="FF0000"/>
                </a:solidFill>
                <a:latin typeface="+mj-lt"/>
              </a:rPr>
              <a:t>lập dự toán</a:t>
            </a:r>
            <a:endParaRPr lang="en-US" sz="3200" b="1" dirty="0">
              <a:solidFill>
                <a:srgbClr val="FF0000"/>
              </a:solidFill>
              <a:latin typeface="+mj-lt"/>
            </a:endParaRPr>
          </a:p>
          <a:p>
            <a:pPr marL="0" indent="0">
              <a:buNone/>
            </a:pPr>
            <a:endParaRPr lang="en-US" sz="3200" dirty="0"/>
          </a:p>
        </p:txBody>
      </p:sp>
      <p:sp>
        <p:nvSpPr>
          <p:cNvPr id="5" name="TextBox 4">
            <a:extLst>
              <a:ext uri="{FF2B5EF4-FFF2-40B4-BE49-F238E27FC236}">
                <a16:creationId xmlns:a16="http://schemas.microsoft.com/office/drawing/2014/main" id="{75946964-0DED-44E3-433F-EC3B0156F3D1}"/>
              </a:ext>
            </a:extLst>
          </p:cNvPr>
          <p:cNvSpPr txBox="1"/>
          <p:nvPr/>
        </p:nvSpPr>
        <p:spPr>
          <a:xfrm>
            <a:off x="115881" y="1616232"/>
            <a:ext cx="11685497" cy="5381281"/>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Bước</a:t>
            </a:r>
            <a:r>
              <a:rPr lang="en-US" sz="2400" b="1" dirty="0">
                <a:latin typeface="Times New Roman" panose="02020603050405020304" pitchFamily="18" charset="0"/>
                <a:cs typeface="Times New Roman" panose="02020603050405020304" pitchFamily="18" charset="0"/>
              </a:rPr>
              <a:t> 2: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a:p>
            <a:pPr algn="just">
              <a:lnSpc>
                <a:spcPct val="150000"/>
              </a:lnSpc>
              <a:buFontTx/>
              <a:buChar char="-"/>
            </a:pP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Tổ</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chức</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thảo</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luận</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dự</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toán</a:t>
            </a:r>
            <a:endParaRPr lang="en-US" sz="2400" b="1" dirty="0">
              <a:latin typeface="Times New Roman" pitchFamily="18" charset="0"/>
              <a:cs typeface="Times New Roman" pitchFamily="18" charset="0"/>
            </a:endParaRPr>
          </a:p>
          <a:p>
            <a:pPr algn="just">
              <a:lnSpc>
                <a:spcPct val="150000"/>
              </a:lnSpc>
            </a:pPr>
            <a:r>
              <a:rPr lang="en-US" sz="2400" dirty="0">
                <a:latin typeface="Times New Roman" pitchFamily="18" charset="0"/>
                <a:cs typeface="Times New Roman" pitchFamily="18" charset="0"/>
              </a:rPr>
              <a:t>Các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ở </a:t>
            </a:r>
            <a:r>
              <a:rPr lang="en-US" sz="2400" dirty="0" err="1">
                <a:latin typeface="Times New Roman" pitchFamily="18" charset="0"/>
                <a:cs typeface="Times New Roman" pitchFamily="18" charset="0"/>
              </a:rPr>
              <a:t>địa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phương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tổ</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chức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thảo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luận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ngân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thuộc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theo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tại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khoản</a:t>
            </a:r>
            <a:r>
              <a:rPr lang="en-US" sz="2400" dirty="0">
                <a:latin typeface="Times New Roman" pitchFamily="18" charset="0"/>
                <a:cs typeface="Times New Roman" pitchFamily="18" charset="0"/>
              </a:rPr>
              <a:t> 1 </a:t>
            </a:r>
            <a:r>
              <a:rPr lang="en-US" sz="2400" dirty="0" err="1">
                <a:latin typeface="Times New Roman" pitchFamily="18" charset="0"/>
                <a:cs typeface="Times New Roman" pitchFamily="18" charset="0"/>
              </a:rPr>
              <a:t>Điều</a:t>
            </a:r>
            <a:r>
              <a:rPr lang="en-US" sz="2400" dirty="0">
                <a:latin typeface="Times New Roman" pitchFamily="18" charset="0"/>
                <a:cs typeface="Times New Roman" pitchFamily="18" charset="0"/>
              </a:rPr>
              <a:t> 48 </a:t>
            </a:r>
            <a:r>
              <a:rPr lang="en-US" sz="2400" dirty="0" err="1">
                <a:latin typeface="Times New Roman" pitchFamily="18" charset="0"/>
                <a:cs typeface="Times New Roman" pitchFamily="18" charset="0"/>
              </a:rPr>
              <a:t>Luật</a:t>
            </a:r>
            <a:r>
              <a:rPr lang="en-US" sz="2400" dirty="0">
                <a:latin typeface="Times New Roman" pitchFamily="18" charset="0"/>
                <a:cs typeface="Times New Roman" pitchFamily="18" charset="0"/>
              </a:rPr>
              <a:t> NSNN 2025;</a:t>
            </a:r>
          </a:p>
          <a:p>
            <a:pPr algn="just">
              <a:lnSpc>
                <a:spcPct val="150000"/>
              </a:lnSpc>
            </a:pPr>
            <a:r>
              <a:rPr lang="en-US" sz="2400" dirty="0" err="1">
                <a:latin typeface="Times New Roman" pitchFamily="18" charset="0"/>
                <a:cs typeface="Times New Roman" pitchFamily="18" charset="0"/>
              </a:rPr>
              <a:t>Sở</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chủ</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trì</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tổ</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chức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thảo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luận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hình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thức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thảo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luận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NS </a:t>
            </a:r>
            <a:r>
              <a:rPr lang="en-US" sz="2400" dirty="0" err="1">
                <a:latin typeface="Times New Roman" pitchFamily="18" charset="0"/>
                <a:cs typeface="Times New Roman" pitchFamily="18" charset="0"/>
              </a:rPr>
              <a:t>hàng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năm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UBND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theo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nội</a:t>
            </a:r>
            <a:r>
              <a:rPr lang="en-US" sz="2400" dirty="0">
                <a:latin typeface="Times New Roman" pitchFamily="18" charset="0"/>
                <a:cs typeface="Times New Roman" pitchFamily="18" charset="0"/>
              </a:rPr>
              <a:t> dung </a:t>
            </a:r>
            <a:r>
              <a:rPr lang="en-US" sz="2400" dirty="0" err="1">
                <a:latin typeface="Times New Roman" pitchFamily="18" charset="0"/>
                <a:cs typeface="Times New Roman" pitchFamily="18" charset="0"/>
              </a:rPr>
              <a:t>quy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tại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khoản</a:t>
            </a:r>
            <a:r>
              <a:rPr lang="en-US" sz="2400" dirty="0">
                <a:latin typeface="Times New Roman" pitchFamily="18" charset="0"/>
                <a:cs typeface="Times New Roman" pitchFamily="18" charset="0"/>
              </a:rPr>
              <a:t> 2 </a:t>
            </a:r>
            <a:r>
              <a:rPr lang="en-US" sz="2400" dirty="0" err="1">
                <a:latin typeface="Times New Roman" pitchFamily="18" charset="0"/>
                <a:cs typeface="Times New Roman" pitchFamily="18" charset="0"/>
              </a:rPr>
              <a:t>Điều</a:t>
            </a:r>
            <a:r>
              <a:rPr lang="en-US" sz="2400" dirty="0">
                <a:latin typeface="Times New Roman" pitchFamily="18" charset="0"/>
                <a:cs typeface="Times New Roman" pitchFamily="18" charset="0"/>
              </a:rPr>
              <a:t> 48 </a:t>
            </a:r>
            <a:r>
              <a:rPr lang="en-US" sz="2400" dirty="0" err="1">
                <a:latin typeface="Times New Roman" pitchFamily="18" charset="0"/>
                <a:cs typeface="Times New Roman" pitchFamily="18" charset="0"/>
              </a:rPr>
              <a:t>Luật</a:t>
            </a:r>
            <a:r>
              <a:rPr lang="en-US" sz="2400" dirty="0">
                <a:latin typeface="Times New Roman" pitchFamily="18" charset="0"/>
                <a:cs typeface="Times New Roman" pitchFamily="18" charset="0"/>
              </a:rPr>
              <a:t> NSNN 2025; </a:t>
            </a:r>
          </a:p>
          <a:p>
            <a:pPr algn="just">
              <a:lnSpc>
                <a:spcPct val="150000"/>
              </a:lnSpc>
            </a:pP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chủ</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trì</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phối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với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liên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cùng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việc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tổng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hợp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lập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NS, </a:t>
            </a:r>
            <a:r>
              <a:rPr lang="en-US" sz="2400" dirty="0" err="1">
                <a:latin typeface="Times New Roman" pitchFamily="18" charset="0"/>
                <a:cs typeface="Times New Roman" pitchFamily="18" charset="0"/>
              </a:rPr>
              <a:t>phương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bổ</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NS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NS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mình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đề</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xuất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phương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đối</a:t>
            </a:r>
            <a:r>
              <a:rPr lang="en-US" sz="2400" dirty="0">
                <a:latin typeface="Times New Roman" pitchFamily="18" charset="0"/>
                <a:cs typeface="Times New Roman" pitchFamily="18" charset="0"/>
              </a:rPr>
              <a:t> NS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biện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pháp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nhằm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hiện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tăng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tiết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kiệm</a:t>
            </a:r>
            <a:r>
              <a:rPr lang="en-US" sz="2400" dirty="0">
                <a:latin typeface="Times New Roman" pitchFamily="18" charset="0"/>
                <a:cs typeface="Times New Roman" pitchFamily="18" charset="0"/>
              </a:rPr>
              <a:t> chi, </a:t>
            </a:r>
            <a:r>
              <a:rPr lang="en-US" sz="2400" dirty="0" err="1">
                <a:latin typeface="Times New Roman" pitchFamily="18" charset="0"/>
                <a:cs typeface="Times New Roman" pitchFamily="18" charset="0"/>
              </a:rPr>
              <a:t>báo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có</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thẩm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quyền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theo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Luật</a:t>
            </a:r>
            <a:r>
              <a:rPr lang="en-US" sz="2400" dirty="0">
                <a:latin typeface="Times New Roman" pitchFamily="18" charset="0"/>
                <a:cs typeface="Times New Roman" pitchFamily="18" charset="0"/>
              </a:rPr>
              <a:t> NSNN.</a:t>
            </a:r>
          </a:p>
        </p:txBody>
      </p:sp>
    </p:spTree>
    <p:extLst>
      <p:ext uri="{BB962C8B-B14F-4D97-AF65-F5344CB8AC3E}">
        <p14:creationId xmlns:p14="http://schemas.microsoft.com/office/powerpoint/2010/main" val="2991589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DD85F-F45A-CB14-8107-56A6BE65444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2B8C46C-05D9-65C6-43CA-372FBC0DB215}"/>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14C55752-3CC8-34E5-5E23-783BAEDA4F6A}"/>
              </a:ext>
            </a:extLst>
          </p:cNvPr>
          <p:cNvSpPr txBox="1">
            <a:spLocks/>
          </p:cNvSpPr>
          <p:nvPr/>
        </p:nvSpPr>
        <p:spPr>
          <a:xfrm>
            <a:off x="375874" y="1480402"/>
            <a:ext cx="5157787"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3200" b="1" dirty="0">
                <a:solidFill>
                  <a:srgbClr val="FF0000"/>
                </a:solidFill>
                <a:latin typeface="Times New Roman" panose="02020603050405020304" pitchFamily="18" charset="0"/>
                <a:cs typeface="Times New Roman" panose="02020603050405020304" pitchFamily="18" charset="0"/>
              </a:rPr>
              <a:t>Quy </a:t>
            </a:r>
            <a:r>
              <a:rPr lang="en-US" sz="3200" b="1" dirty="0" err="1">
                <a:solidFill>
                  <a:srgbClr val="FF0000"/>
                </a:solidFill>
                <a:latin typeface="Times New Roman" panose="02020603050405020304" pitchFamily="18" charset="0"/>
                <a:cs typeface="Times New Roman" panose="02020603050405020304" pitchFamily="18" charset="0"/>
              </a:rPr>
              <a:t>trình</a:t>
            </a:r>
            <a:r>
              <a:rPr lang="en-US" sz="3200" b="1" dirty="0">
                <a:solidFill>
                  <a:srgbClr val="FF0000"/>
                </a:solidFill>
                <a:latin typeface="Times New Roman" panose="02020603050405020304" pitchFamily="18" charset="0"/>
                <a:cs typeface="Times New Roman" panose="02020603050405020304" pitchFamily="18" charset="0"/>
              </a:rPr>
              <a:t> </a:t>
            </a:r>
            <a:r>
              <a:rPr lang="vi-VN" sz="3200" b="1" dirty="0">
                <a:solidFill>
                  <a:srgbClr val="FF0000"/>
                </a:solidFill>
                <a:latin typeface="+mj-lt"/>
              </a:rPr>
              <a:t>lập dự toán</a:t>
            </a:r>
            <a:endParaRPr lang="en-US" sz="3200" b="1" dirty="0">
              <a:solidFill>
                <a:srgbClr val="FF0000"/>
              </a:solidFill>
              <a:latin typeface="+mj-lt"/>
            </a:endParaRPr>
          </a:p>
          <a:p>
            <a:pPr marL="0" indent="0">
              <a:buNone/>
            </a:pPr>
            <a:endParaRPr lang="en-US" sz="3200" dirty="0"/>
          </a:p>
        </p:txBody>
      </p:sp>
      <p:sp>
        <p:nvSpPr>
          <p:cNvPr id="5" name="TextBox 4">
            <a:extLst>
              <a:ext uri="{FF2B5EF4-FFF2-40B4-BE49-F238E27FC236}">
                <a16:creationId xmlns:a16="http://schemas.microsoft.com/office/drawing/2014/main" id="{A89AF366-BCDA-8BDA-0E6E-62E623ADA455}"/>
              </a:ext>
            </a:extLst>
          </p:cNvPr>
          <p:cNvSpPr txBox="1"/>
          <p:nvPr/>
        </p:nvSpPr>
        <p:spPr>
          <a:xfrm>
            <a:off x="130629" y="2014436"/>
            <a:ext cx="11685497" cy="3719288"/>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Bước</a:t>
            </a:r>
            <a:r>
              <a:rPr lang="en-US" sz="2400" b="1" dirty="0">
                <a:latin typeface="Times New Roman" panose="02020603050405020304" pitchFamily="18" charset="0"/>
                <a:cs typeface="Times New Roman" panose="02020603050405020304" pitchFamily="18" charset="0"/>
              </a:rPr>
              <a:t> 3: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err="1">
                <a:latin typeface="Times New Roman" pitchFamily="18" charset="0"/>
                <a:cs typeface="Times New Roman" pitchFamily="18" charset="0"/>
              </a:rPr>
              <a:t>Chậm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nhất</a:t>
            </a:r>
            <a:r>
              <a:rPr lang="en-US" sz="2400" dirty="0">
                <a:latin typeface="Times New Roman" pitchFamily="18" charset="0"/>
                <a:cs typeface="Times New Roman" pitchFamily="18" charset="0"/>
              </a:rPr>
              <a:t> 10 </a:t>
            </a:r>
            <a:r>
              <a:rPr lang="en-US" sz="2400" dirty="0" err="1">
                <a:latin typeface="Times New Roman" pitchFamily="18" charset="0"/>
                <a:cs typeface="Times New Roman" pitchFamily="18" charset="0"/>
              </a:rPr>
              <a:t>ngày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từ</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ngày</a:t>
            </a:r>
            <a:r>
              <a:rPr lang="en-US" sz="2400" dirty="0">
                <a:latin typeface="Times New Roman" pitchFamily="18" charset="0"/>
                <a:cs typeface="Times New Roman" pitchFamily="18" charset="0"/>
              </a:rPr>
              <a:t> HĐND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tỉnh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bổ</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ngân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căn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cứ</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NS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UBND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tỉnh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Hội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đồng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NSNN </a:t>
            </a:r>
            <a:r>
              <a:rPr lang="en-US" sz="2400" dirty="0" err="1">
                <a:latin typeface="Times New Roman" pitchFamily="18" charset="0"/>
                <a:cs typeface="Times New Roman" pitchFamily="18" charset="0"/>
              </a:rPr>
              <a:t>trên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bàn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chi NS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bổ</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NS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a:t>
            </a:r>
          </a:p>
          <a:p>
            <a:pPr algn="just">
              <a:lnSpc>
                <a:spcPct val="150000"/>
              </a:lnSpc>
            </a:pPr>
            <a:r>
              <a:rPr lang="en-US" sz="2400" dirty="0" err="1">
                <a:latin typeface="Times New Roman" pitchFamily="18" charset="0"/>
                <a:cs typeface="Times New Roman" pitchFamily="18" charset="0"/>
              </a:rPr>
              <a:t>Chậm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nhất</a:t>
            </a:r>
            <a:r>
              <a:rPr lang="en-US" sz="2400" dirty="0">
                <a:latin typeface="Times New Roman" pitchFamily="18" charset="0"/>
                <a:cs typeface="Times New Roman" pitchFamily="18" charset="0"/>
              </a:rPr>
              <a:t> 05 </a:t>
            </a:r>
            <a:r>
              <a:rPr lang="en-US" sz="2400" dirty="0" err="1">
                <a:latin typeface="Times New Roman" pitchFamily="18" charset="0"/>
                <a:cs typeface="Times New Roman" pitchFamily="18" charset="0"/>
              </a:rPr>
              <a:t>ngày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làm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việc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từ</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ngày</a:t>
            </a:r>
            <a:r>
              <a:rPr lang="en-US" sz="2400" dirty="0">
                <a:latin typeface="Times New Roman" pitchFamily="18" charset="0"/>
                <a:cs typeface="Times New Roman" pitchFamily="18" charset="0"/>
              </a:rPr>
              <a:t> HĐND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NS, UBND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chi NS </a:t>
            </a:r>
            <a:r>
              <a:rPr lang="en-US" sz="2400" dirty="0" err="1">
                <a:latin typeface="Times New Roman" pitchFamily="18" charset="0"/>
                <a:cs typeface="Times New Roman" pitchFamily="18" charset="0"/>
              </a:rPr>
              <a:t>cho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từng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vị</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thuộc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đồng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thời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Sở</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tài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về</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toán</a:t>
            </a:r>
            <a:r>
              <a:rPr lang="en-US" sz="2400" dirty="0">
                <a:latin typeface="Times New Roman" pitchFamily="18" charset="0"/>
                <a:cs typeface="Times New Roman" pitchFamily="18" charset="0"/>
              </a:rPr>
              <a:t> NS </a:t>
            </a:r>
            <a:r>
              <a:rPr lang="en-US" sz="2400" dirty="0" err="1">
                <a:latin typeface="Times New Roman" pitchFamily="18" charset="0"/>
                <a:cs typeface="Times New Roman" pitchFamily="18" charset="0"/>
              </a:rPr>
              <a:t>đã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được</a:t>
            </a:r>
            <a:r>
              <a:rPr lang="en-US" sz="2400" dirty="0">
                <a:latin typeface="Times New Roman" pitchFamily="18" charset="0"/>
                <a:cs typeface="Times New Roman" pitchFamily="18" charset="0"/>
              </a:rPr>
              <a:t> HĐND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quyết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định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UBND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giao</a:t>
            </a:r>
            <a:r>
              <a:rPr lang="en-US" sz="2400" dirty="0">
                <a:latin typeface="Times New Roman" pitchFamily="18" charset="0"/>
                <a:cs typeface="Times New Roman" pitchFamily="18" charset="0"/>
              </a:rPr>
              <a:t>.</a:t>
            </a:r>
          </a:p>
        </p:txBody>
      </p:sp>
    </p:spTree>
    <p:extLst>
      <p:ext uri="{BB962C8B-B14F-4D97-AF65-F5344CB8AC3E}">
        <p14:creationId xmlns:p14="http://schemas.microsoft.com/office/powerpoint/2010/main" val="1037637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B82A0-F887-4EDE-57D3-F5249E8E3C0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1385A80-72AA-9F26-C987-B667170A20B4}"/>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D89FBB48-832B-CA11-724F-26B43B72C032}"/>
              </a:ext>
            </a:extLst>
          </p:cNvPr>
          <p:cNvSpPr txBox="1">
            <a:spLocks/>
          </p:cNvSpPr>
          <p:nvPr/>
        </p:nvSpPr>
        <p:spPr>
          <a:xfrm>
            <a:off x="344342" y="1338508"/>
            <a:ext cx="11211781"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a:solidFill>
                  <a:srgbClr val="FF0000"/>
                </a:solidFill>
                <a:latin typeface="Times New Roman" panose="02020603050405020304" pitchFamily="18" charset="0"/>
                <a:cs typeface="Times New Roman" panose="02020603050405020304" pitchFamily="18" charset="0"/>
              </a:rPr>
              <a:t>Công </a:t>
            </a:r>
            <a:r>
              <a:rPr lang="en-US" b="1" dirty="0" err="1">
                <a:solidFill>
                  <a:srgbClr val="FF0000"/>
                </a:solidFill>
                <a:latin typeface="Times New Roman" panose="02020603050405020304" pitchFamily="18" charset="0"/>
                <a:cs typeface="Times New Roman" panose="02020603050405020304" pitchFamily="18" charset="0"/>
              </a:rPr>
              <a:t>khai</a:t>
            </a:r>
            <a:r>
              <a:rPr lang="en-US" b="1" dirty="0">
                <a:solidFill>
                  <a:srgbClr val="FF0000"/>
                </a:solidFill>
                <a:latin typeface="Times New Roman" panose="02020603050405020304" pitchFamily="18" charset="0"/>
                <a:cs typeface="Times New Roman" panose="02020603050405020304" pitchFamily="18" charset="0"/>
              </a:rPr>
              <a:t> </a:t>
            </a:r>
            <a:r>
              <a:rPr lang="vi-VN" b="1" dirty="0">
                <a:solidFill>
                  <a:srgbClr val="FF0000"/>
                </a:solidFill>
                <a:latin typeface="Times New Roman" panose="02020603050405020304" pitchFamily="18" charset="0"/>
                <a:cs typeface="Times New Roman" panose="02020603050405020304" pitchFamily="18" charset="0"/>
              </a:rPr>
              <a:t>dự toán</a:t>
            </a:r>
            <a:r>
              <a:rPr lang="en-US" b="1" dirty="0">
                <a:solidFill>
                  <a:srgbClr val="FF0000"/>
                </a:solidFill>
                <a:latin typeface="Times New Roman" panose="02020603050405020304" pitchFamily="18" charset="0"/>
                <a:cs typeface="Times New Roman" panose="02020603050405020304" pitchFamily="18" charset="0"/>
              </a:rPr>
              <a:t> NS </a:t>
            </a:r>
            <a:r>
              <a:rPr lang="en-US" b="1" dirty="0" err="1">
                <a:solidFill>
                  <a:srgbClr val="FF0000"/>
                </a:solidFill>
                <a:latin typeface="Times New Roman" panose="02020603050405020304" pitchFamily="18" charset="0"/>
                <a:cs typeface="Times New Roman" panose="02020603050405020304" pitchFamily="18" charset="0"/>
              </a:rPr>
              <a:t>xã</a:t>
            </a: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3200" dirty="0"/>
          </a:p>
        </p:txBody>
      </p:sp>
      <p:sp>
        <p:nvSpPr>
          <p:cNvPr id="6" name="TextBox 5">
            <a:extLst>
              <a:ext uri="{FF2B5EF4-FFF2-40B4-BE49-F238E27FC236}">
                <a16:creationId xmlns:a16="http://schemas.microsoft.com/office/drawing/2014/main" id="{8CD4034B-44A0-94AE-58B8-AD14A1C2A644}"/>
              </a:ext>
            </a:extLst>
          </p:cNvPr>
          <p:cNvSpPr txBox="1"/>
          <p:nvPr/>
        </p:nvSpPr>
        <p:spPr>
          <a:xfrm>
            <a:off x="110360" y="1847769"/>
            <a:ext cx="11737298" cy="2677656"/>
          </a:xfrm>
          <a:prstGeom prst="rect">
            <a:avLst/>
          </a:prstGeom>
          <a:noFill/>
        </p:spPr>
        <p:txBody>
          <a:bodyPr wrap="square" rtlCol="0">
            <a:spAutoFit/>
          </a:bodyPr>
          <a:lstStyle/>
          <a:p>
            <a:pPr>
              <a:lnSpc>
                <a:spcPct val="150000"/>
              </a:lnSpc>
            </a:pPr>
            <a:r>
              <a:rPr lang="en-US" altLang="en-US" sz="2400" b="1" dirty="0" err="1">
                <a:latin typeface="Times" panose="02020603050405020304" pitchFamily="18" charset="0"/>
                <a:ea typeface="Times" panose="02020603050405020304" pitchFamily="18" charset="0"/>
                <a:cs typeface="Times" panose="02020603050405020304" pitchFamily="18" charset="0"/>
              </a:rPr>
              <a:t>Trách</a:t>
            </a:r>
            <a:r>
              <a:rPr lang="en-US" altLang="en-US" sz="2400" b="1" dirty="0">
                <a:latin typeface="Times" panose="02020603050405020304" pitchFamily="18" charset="0"/>
                <a:ea typeface="Times" panose="02020603050405020304" pitchFamily="18" charset="0"/>
                <a:cs typeface="Times" panose="02020603050405020304" pitchFamily="18" charset="0"/>
              </a:rPr>
              <a:t> </a:t>
            </a:r>
            <a:r>
              <a:rPr lang="en-US" altLang="en-US" sz="2400" b="1" dirty="0" err="1">
                <a:latin typeface="Times" panose="02020603050405020304" pitchFamily="18" charset="0"/>
                <a:ea typeface="Times" panose="02020603050405020304" pitchFamily="18" charset="0"/>
                <a:cs typeface="Times" panose="02020603050405020304" pitchFamily="18" charset="0"/>
              </a:rPr>
              <a:t>nhiệm</a:t>
            </a:r>
            <a:r>
              <a:rPr lang="en-US" altLang="en-US" sz="2400" b="1" dirty="0">
                <a:latin typeface="Times" panose="02020603050405020304" pitchFamily="18" charset="0"/>
                <a:ea typeface="Times" panose="02020603050405020304" pitchFamily="18" charset="0"/>
                <a:cs typeface="Times" panose="02020603050405020304" pitchFamily="18" charset="0"/>
              </a:rPr>
              <a:t> </a:t>
            </a:r>
            <a:r>
              <a:rPr lang="en-US" altLang="en-US" sz="2400" b="1" dirty="0" err="1">
                <a:latin typeface="Times" panose="02020603050405020304" pitchFamily="18" charset="0"/>
                <a:ea typeface="Times" panose="02020603050405020304" pitchFamily="18" charset="0"/>
                <a:cs typeface="Times" panose="02020603050405020304" pitchFamily="18" charset="0"/>
              </a:rPr>
              <a:t>trong</a:t>
            </a:r>
            <a:r>
              <a:rPr lang="en-US" altLang="en-US" sz="2400" b="1" dirty="0">
                <a:latin typeface="Times" panose="02020603050405020304" pitchFamily="18" charset="0"/>
                <a:ea typeface="Times" panose="02020603050405020304" pitchFamily="18" charset="0"/>
                <a:cs typeface="Times" panose="02020603050405020304" pitchFamily="18" charset="0"/>
              </a:rPr>
              <a:t> </a:t>
            </a:r>
            <a:r>
              <a:rPr lang="en-US" altLang="en-US" sz="2400" b="1" dirty="0" err="1">
                <a:latin typeface="Times" panose="02020603050405020304" pitchFamily="18" charset="0"/>
                <a:ea typeface="Times" panose="02020603050405020304" pitchFamily="18" charset="0"/>
                <a:cs typeface="Times" panose="02020603050405020304" pitchFamily="18" charset="0"/>
              </a:rPr>
              <a:t>công</a:t>
            </a:r>
            <a:r>
              <a:rPr lang="en-US" altLang="en-US" sz="2400" b="1" dirty="0">
                <a:latin typeface="Times" panose="02020603050405020304" pitchFamily="18" charset="0"/>
                <a:ea typeface="Times" panose="02020603050405020304" pitchFamily="18" charset="0"/>
                <a:cs typeface="Times" panose="02020603050405020304" pitchFamily="18" charset="0"/>
              </a:rPr>
              <a:t> </a:t>
            </a:r>
            <a:r>
              <a:rPr lang="en-US" altLang="en-US" sz="2400" b="1" dirty="0" err="1">
                <a:latin typeface="Times" panose="02020603050405020304" pitchFamily="18" charset="0"/>
                <a:ea typeface="Times" panose="02020603050405020304" pitchFamily="18" charset="0"/>
                <a:cs typeface="Times" panose="02020603050405020304" pitchFamily="18" charset="0"/>
              </a:rPr>
              <a:t>khai</a:t>
            </a:r>
            <a:r>
              <a:rPr lang="en-US" altLang="en-US" sz="2400" b="1" dirty="0">
                <a:latin typeface="Times" panose="02020603050405020304" pitchFamily="18" charset="0"/>
                <a:ea typeface="Times" panose="02020603050405020304" pitchFamily="18" charset="0"/>
                <a:cs typeface="Times" panose="02020603050405020304" pitchFamily="18" charset="0"/>
              </a:rPr>
              <a:t> NS </a:t>
            </a:r>
            <a:r>
              <a:rPr lang="en-US" altLang="en-US" sz="2400" b="1" dirty="0" err="1">
                <a:latin typeface="Times" panose="02020603050405020304" pitchFamily="18" charset="0"/>
                <a:ea typeface="Times" panose="02020603050405020304" pitchFamily="18" charset="0"/>
                <a:cs typeface="Times" panose="02020603050405020304" pitchFamily="18" charset="0"/>
              </a:rPr>
              <a:t>cấp</a:t>
            </a:r>
            <a:r>
              <a:rPr lang="en-US" altLang="en-US" sz="2400" b="1" dirty="0">
                <a:latin typeface="Times" panose="02020603050405020304" pitchFamily="18" charset="0"/>
                <a:ea typeface="Times" panose="02020603050405020304" pitchFamily="18" charset="0"/>
                <a:cs typeface="Times" panose="02020603050405020304" pitchFamily="18" charset="0"/>
              </a:rPr>
              <a:t> </a:t>
            </a:r>
            <a:r>
              <a:rPr lang="en-US" altLang="en-US" sz="2400" b="1" dirty="0" err="1">
                <a:latin typeface="Times" panose="02020603050405020304" pitchFamily="18" charset="0"/>
                <a:ea typeface="Times" panose="02020603050405020304" pitchFamily="18" charset="0"/>
                <a:cs typeface="Times" panose="02020603050405020304" pitchFamily="18" charset="0"/>
              </a:rPr>
              <a:t>xã</a:t>
            </a:r>
            <a:r>
              <a:rPr lang="vi-VN" altLang="en-US" sz="2400" b="1" dirty="0">
                <a:latin typeface="Times" panose="02020603050405020304" pitchFamily="18" charset="0"/>
                <a:ea typeface="Times" panose="02020603050405020304" pitchFamily="18" charset="0"/>
                <a:cs typeface="Times" panose="02020603050405020304" pitchFamily="18" charset="0"/>
              </a:rPr>
              <a:t> </a:t>
            </a:r>
            <a:r>
              <a:rPr lang="en-US" altLang="en-US" sz="2400" dirty="0">
                <a:solidFill>
                  <a:srgbClr val="FF0000"/>
                </a:solidFill>
                <a:latin typeface="Times" panose="02020603050405020304" pitchFamily="18" charset="0"/>
                <a:ea typeface="Times" panose="02020603050405020304" pitchFamily="18" charset="0"/>
                <a:cs typeface="Times" panose="02020603050405020304" pitchFamily="18" charset="0"/>
              </a:rPr>
              <a:t>(</a:t>
            </a:r>
            <a:r>
              <a:rPr lang="en-US" altLang="en-US" sz="2400" dirty="0" err="1">
                <a:solidFill>
                  <a:srgbClr val="FF0000"/>
                </a:solidFill>
                <a:latin typeface="Times" panose="02020603050405020304" pitchFamily="18" charset="0"/>
                <a:ea typeface="Times" panose="02020603050405020304" pitchFamily="18" charset="0"/>
                <a:cs typeface="Times" panose="02020603050405020304" pitchFamily="18" charset="0"/>
              </a:rPr>
              <a:t>Khoản</a:t>
            </a:r>
            <a:r>
              <a:rPr lang="en-US" altLang="en-US" sz="2400" dirty="0">
                <a:solidFill>
                  <a:srgbClr val="FF0000"/>
                </a:solidFill>
                <a:latin typeface="Times" panose="02020603050405020304" pitchFamily="18" charset="0"/>
                <a:ea typeface="Times" panose="02020603050405020304" pitchFamily="18" charset="0"/>
                <a:cs typeface="Times" panose="02020603050405020304" pitchFamily="18" charset="0"/>
              </a:rPr>
              <a:t> 3, </a:t>
            </a:r>
            <a:r>
              <a:rPr lang="en-US" altLang="en-US" sz="2400" dirty="0" err="1">
                <a:solidFill>
                  <a:srgbClr val="FF0000"/>
                </a:solidFill>
                <a:latin typeface="Times" panose="02020603050405020304" pitchFamily="18" charset="0"/>
                <a:ea typeface="Times" panose="02020603050405020304" pitchFamily="18" charset="0"/>
                <a:cs typeface="Times" panose="02020603050405020304" pitchFamily="18" charset="0"/>
              </a:rPr>
              <a:t>Điều</a:t>
            </a:r>
            <a:r>
              <a:rPr lang="en-US" altLang="en-US" sz="2400" dirty="0">
                <a:solidFill>
                  <a:srgbClr val="FF0000"/>
                </a:solidFill>
                <a:latin typeface="Times" panose="02020603050405020304" pitchFamily="18" charset="0"/>
                <a:ea typeface="Times" panose="02020603050405020304" pitchFamily="18" charset="0"/>
                <a:cs typeface="Times" panose="02020603050405020304" pitchFamily="18" charset="0"/>
              </a:rPr>
              <a:t> 36, NĐ 73/2026/NĐ-CP)</a:t>
            </a:r>
            <a:endParaRPr lang="vi-VN" sz="2400" b="1" i="1" dirty="0">
              <a:latin typeface="Times New Roman" panose="02020603050405020304" pitchFamily="18" charset="0"/>
              <a:ea typeface="Times New Roman" panose="02020603050405020304" pitchFamily="18" charset="0"/>
            </a:endParaRPr>
          </a:p>
          <a:p>
            <a:pPr>
              <a:lnSpc>
                <a:spcPct val="150000"/>
              </a:lnSpc>
            </a:pPr>
            <a:r>
              <a:rPr lang="vi-VN" sz="2400" i="1" dirty="0"/>
              <a:t>	</a:t>
            </a:r>
            <a:r>
              <a:rPr lang="en-US" altLang="en-US" sz="2400" b="1" dirty="0">
                <a:latin typeface="Times" panose="02020603050405020304" pitchFamily="18" charset="0"/>
                <a:ea typeface="Times" panose="02020603050405020304" pitchFamily="18" charset="0"/>
                <a:cs typeface="Times" panose="02020603050405020304" pitchFamily="18" charset="0"/>
              </a:rPr>
              <a:t>UBND </a:t>
            </a:r>
            <a:r>
              <a:rPr lang="en-US" altLang="en-US" sz="2400" b="1" dirty="0" err="1">
                <a:latin typeface="Times" panose="02020603050405020304" pitchFamily="18" charset="0"/>
                <a:ea typeface="Times" panose="02020603050405020304" pitchFamily="18" charset="0"/>
                <a:cs typeface="Times" panose="02020603050405020304" pitchFamily="18" charset="0"/>
              </a:rPr>
              <a:t>cấp</a:t>
            </a:r>
            <a:r>
              <a:rPr lang="en-US" altLang="en-US" sz="2400" b="1" dirty="0">
                <a:latin typeface="Times" panose="02020603050405020304" pitchFamily="18" charset="0"/>
                <a:ea typeface="Times" panose="02020603050405020304" pitchFamily="18" charset="0"/>
                <a:cs typeface="Times" panose="02020603050405020304" pitchFamily="18" charset="0"/>
              </a:rPr>
              <a:t> </a:t>
            </a:r>
            <a:r>
              <a:rPr lang="en-US" altLang="en-US" sz="2400" b="1" dirty="0" err="1">
                <a:latin typeface="Times" panose="02020603050405020304" pitchFamily="18" charset="0"/>
                <a:ea typeface="Times" panose="02020603050405020304" pitchFamily="18" charset="0"/>
                <a:cs typeface="Times" panose="02020603050405020304" pitchFamily="18" charset="0"/>
              </a:rPr>
              <a:t>xã</a:t>
            </a:r>
            <a:r>
              <a:rPr lang="en-US" altLang="en-US" sz="2400" b="1"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thực</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hiện</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công</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khai</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ngân</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sách</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cấp</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xã</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các</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hoạt</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động</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tài</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chính</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khác</a:t>
            </a:r>
            <a:r>
              <a:rPr lang="en-US" altLang="en-US" sz="2400" dirty="0">
                <a:latin typeface="Times" panose="02020603050405020304" pitchFamily="18" charset="0"/>
                <a:ea typeface="Times" panose="02020603050405020304" pitchFamily="18" charset="0"/>
                <a:cs typeface="Times" panose="02020603050405020304" pitchFamily="18" charset="0"/>
              </a:rPr>
              <a:t> ở </a:t>
            </a:r>
            <a:r>
              <a:rPr lang="en-US" altLang="en-US" sz="2400" dirty="0" err="1">
                <a:latin typeface="Times" panose="02020603050405020304" pitchFamily="18" charset="0"/>
                <a:ea typeface="Times" panose="02020603050405020304" pitchFamily="18" charset="0"/>
                <a:cs typeface="Times" panose="02020603050405020304" pitchFamily="18" charset="0"/>
              </a:rPr>
              <a:t>cấp</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xã</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và</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các</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khoản</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hỗ</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trợ</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trực</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tiếp</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của</a:t>
            </a:r>
            <a:r>
              <a:rPr lang="en-US" altLang="en-US" sz="2400" dirty="0">
                <a:latin typeface="Times" panose="02020603050405020304" pitchFamily="18" charset="0"/>
                <a:ea typeface="Times" panose="02020603050405020304" pitchFamily="18" charset="0"/>
                <a:cs typeface="Times" panose="02020603050405020304" pitchFamily="18" charset="0"/>
              </a:rPr>
              <a:t> NSNN </a:t>
            </a:r>
            <a:r>
              <a:rPr lang="en-US" altLang="en-US" sz="2400" dirty="0" err="1">
                <a:latin typeface="Times" panose="02020603050405020304" pitchFamily="18" charset="0"/>
                <a:ea typeface="Times" panose="02020603050405020304" pitchFamily="18" charset="0"/>
                <a:cs typeface="Times" panose="02020603050405020304" pitchFamily="18" charset="0"/>
              </a:rPr>
              <a:t>cho</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người</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dân</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trên</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địa</a:t>
            </a:r>
            <a:r>
              <a:rPr lang="en-US" altLang="en-US" sz="2400" dirty="0">
                <a:latin typeface="Times" panose="02020603050405020304" pitchFamily="18" charset="0"/>
                <a:ea typeface="Times" panose="02020603050405020304" pitchFamily="18" charset="0"/>
                <a:cs typeface="Times" panose="02020603050405020304" pitchFamily="18" charset="0"/>
              </a:rPr>
              <a:t> </a:t>
            </a:r>
            <a:r>
              <a:rPr lang="en-US" altLang="en-US" sz="2400" dirty="0" err="1">
                <a:latin typeface="Times" panose="02020603050405020304" pitchFamily="18" charset="0"/>
                <a:ea typeface="Times" panose="02020603050405020304" pitchFamily="18" charset="0"/>
                <a:cs typeface="Times" panose="02020603050405020304" pitchFamily="18" charset="0"/>
              </a:rPr>
              <a:t>bàn</a:t>
            </a:r>
            <a:r>
              <a:rPr lang="en-US" altLang="en-US" sz="2400" dirty="0">
                <a:latin typeface="Times" panose="02020603050405020304" pitchFamily="18" charset="0"/>
                <a:ea typeface="Times" panose="02020603050405020304" pitchFamily="18" charset="0"/>
                <a:cs typeface="Times" panose="02020603050405020304" pitchFamily="18" charset="0"/>
              </a:rPr>
              <a:t>.</a:t>
            </a:r>
          </a:p>
          <a:p>
            <a:pPr>
              <a:lnSpc>
                <a:spcPct val="150000"/>
              </a:lnSpc>
            </a:pPr>
            <a:endParaRPr lang="en-US" sz="2400" dirty="0"/>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386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CEA7D-DD5B-EFD8-7E15-0D7CCD71E61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DFC98FF-E058-B120-B039-4C275F6BBBA0}"/>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89066EBB-BEEE-A448-35F9-F70EBFF83EAC}"/>
              </a:ext>
            </a:extLst>
          </p:cNvPr>
          <p:cNvSpPr txBox="1">
            <a:spLocks/>
          </p:cNvSpPr>
          <p:nvPr/>
        </p:nvSpPr>
        <p:spPr>
          <a:xfrm>
            <a:off x="344342" y="1338508"/>
            <a:ext cx="11211781"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a:solidFill>
                  <a:srgbClr val="FF0000"/>
                </a:solidFill>
                <a:latin typeface="Times New Roman" panose="02020603050405020304" pitchFamily="18" charset="0"/>
                <a:cs typeface="Times New Roman" panose="02020603050405020304" pitchFamily="18" charset="0"/>
              </a:rPr>
              <a:t>Công </a:t>
            </a:r>
            <a:r>
              <a:rPr lang="en-US" b="1" dirty="0" err="1">
                <a:solidFill>
                  <a:srgbClr val="FF0000"/>
                </a:solidFill>
                <a:latin typeface="Times New Roman" panose="02020603050405020304" pitchFamily="18" charset="0"/>
                <a:cs typeface="Times New Roman" panose="02020603050405020304" pitchFamily="18" charset="0"/>
              </a:rPr>
              <a:t>khai</a:t>
            </a:r>
            <a:r>
              <a:rPr lang="en-US" b="1" dirty="0">
                <a:solidFill>
                  <a:srgbClr val="FF0000"/>
                </a:solidFill>
                <a:latin typeface="Times New Roman" panose="02020603050405020304" pitchFamily="18" charset="0"/>
                <a:cs typeface="Times New Roman" panose="02020603050405020304" pitchFamily="18" charset="0"/>
              </a:rPr>
              <a:t> </a:t>
            </a:r>
            <a:r>
              <a:rPr lang="vi-VN" b="1" dirty="0">
                <a:solidFill>
                  <a:srgbClr val="FF0000"/>
                </a:solidFill>
                <a:latin typeface="Times New Roman" panose="02020603050405020304" pitchFamily="18" charset="0"/>
                <a:cs typeface="Times New Roman" panose="02020603050405020304" pitchFamily="18" charset="0"/>
              </a:rPr>
              <a:t>dự toán</a:t>
            </a:r>
            <a:r>
              <a:rPr lang="en-US" b="1" dirty="0">
                <a:solidFill>
                  <a:srgbClr val="FF0000"/>
                </a:solidFill>
                <a:latin typeface="Times New Roman" panose="02020603050405020304" pitchFamily="18" charset="0"/>
                <a:cs typeface="Times New Roman" panose="02020603050405020304" pitchFamily="18" charset="0"/>
              </a:rPr>
              <a:t> NS </a:t>
            </a:r>
            <a:r>
              <a:rPr lang="en-US" b="1" dirty="0" err="1">
                <a:solidFill>
                  <a:srgbClr val="FF0000"/>
                </a:solidFill>
                <a:latin typeface="Times New Roman" panose="02020603050405020304" pitchFamily="18" charset="0"/>
                <a:cs typeface="Times New Roman" panose="02020603050405020304" pitchFamily="18" charset="0"/>
              </a:rPr>
              <a:t>xã</a:t>
            </a: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3200" dirty="0"/>
          </a:p>
        </p:txBody>
      </p:sp>
      <p:sp>
        <p:nvSpPr>
          <p:cNvPr id="6" name="TextBox 5">
            <a:extLst>
              <a:ext uri="{FF2B5EF4-FFF2-40B4-BE49-F238E27FC236}">
                <a16:creationId xmlns:a16="http://schemas.microsoft.com/office/drawing/2014/main" id="{DB648B6F-AE6C-46A1-C693-18B6386AF3F7}"/>
              </a:ext>
            </a:extLst>
          </p:cNvPr>
          <p:cNvSpPr txBox="1"/>
          <p:nvPr/>
        </p:nvSpPr>
        <p:spPr>
          <a:xfrm>
            <a:off x="81583" y="1832004"/>
            <a:ext cx="11737298" cy="4893647"/>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Công </a:t>
            </a:r>
            <a:r>
              <a:rPr lang="en-US" sz="2400" b="1" dirty="0" err="1">
                <a:latin typeface="Times New Roman" panose="02020603050405020304" pitchFamily="18" charset="0"/>
                <a:cs typeface="Times New Roman" panose="02020603050405020304" pitchFamily="18" charset="0"/>
              </a:rPr>
              <a:t>khai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số</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liệu</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thuyết</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minh</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dự</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toán</a:t>
            </a:r>
            <a:r>
              <a:rPr lang="en-US" sz="2400" b="1" dirty="0">
                <a:latin typeface="Times New Roman" panose="02020603050405020304" pitchFamily="18" charset="0"/>
                <a:cs typeface="Times New Roman" panose="02020603050405020304" pitchFamily="18" charset="0"/>
              </a:rPr>
              <a:t> NS </a:t>
            </a:r>
            <a:r>
              <a:rPr lang="en-US" sz="2400" b="1" dirty="0" err="1">
                <a:latin typeface="Times New Roman" panose="02020603050405020304" pitchFamily="18" charset="0"/>
                <a:cs typeface="Times New Roman" panose="02020603050405020304" pitchFamily="18" charset="0"/>
              </a:rPr>
              <a:t>cấp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xã</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trình</a:t>
            </a:r>
            <a:r>
              <a:rPr lang="en-US" sz="2400" b="1" dirty="0">
                <a:latin typeface="Times New Roman" panose="02020603050405020304" pitchFamily="18" charset="0"/>
                <a:cs typeface="Times New Roman" panose="02020603050405020304" pitchFamily="18" charset="0"/>
              </a:rPr>
              <a:t> HĐND </a:t>
            </a:r>
            <a:r>
              <a:rPr lang="en-US" sz="2400" b="1" dirty="0" err="1">
                <a:latin typeface="Times New Roman" panose="02020603050405020304" pitchFamily="18" charset="0"/>
                <a:cs typeface="Times New Roman" panose="02020603050405020304" pitchFamily="18" charset="0"/>
              </a:rPr>
              <a:t>cấp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xã</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gồm</a:t>
            </a:r>
            <a:r>
              <a:rPr lang="en-US" sz="2400" b="1"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a) Công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ở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HĐND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gồm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cứ</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xây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hưởng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kèm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nhằm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nguồn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rõ</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trọng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lớn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nước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đến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b) Công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ở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HĐND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gồm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hưởng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sung </a:t>
            </a:r>
            <a:r>
              <a:rPr lang="en-US" sz="2400" dirty="0" err="1">
                <a:latin typeface="Times New Roman" panose="02020603050405020304" pitchFamily="18" charset="0"/>
                <a:cs typeface="Times New Roman" panose="02020603050405020304" pitchFamily="18" charset="0"/>
              </a:rPr>
              <a:t>cân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sung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lĩnh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tiết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c) </a:t>
            </a:r>
            <a:r>
              <a:rPr lang="en-US" sz="2400" dirty="0" err="1">
                <a:latin typeface="Times New Roman" panose="02020603050405020304" pitchFamily="18" charset="0"/>
                <a:cs typeface="Times New Roman" panose="02020603050405020304" pitchFamily="18" charset="0"/>
              </a:rPr>
              <a:t>Mẫu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biểu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biểu</a:t>
            </a:r>
            <a:r>
              <a:rPr lang="en-US" sz="2400" dirty="0">
                <a:latin typeface="Times New Roman" panose="02020603050405020304" pitchFamily="18" charset="0"/>
                <a:cs typeface="Times New Roman" panose="02020603050405020304" pitchFamily="18" charset="0"/>
              </a:rPr>
              <a:t> UBND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HĐND </a:t>
            </a:r>
            <a:r>
              <a:rPr lang="en-US" sz="2400" dirty="0" err="1">
                <a:latin typeface="Times New Roman" panose="02020603050405020304" pitchFamily="18" charset="0"/>
                <a:cs typeface="Times New Roman" panose="02020603050405020304" pitchFamily="18" charset="0"/>
              </a:rPr>
              <a:t>cùng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a:t>
            </a:r>
          </a:p>
          <a:p>
            <a:pPr algn="just"/>
            <a:r>
              <a:rPr lang="en-US" sz="2400" dirty="0">
                <a:solidFill>
                  <a:srgbClr val="FF0000"/>
                </a:solidFill>
                <a:latin typeface="Times New Roman" panose="02020603050405020304" pitchFamily="18" charset="0"/>
                <a:cs typeface="Times New Roman" panose="02020603050405020304" pitchFamily="18" charset="0"/>
              </a:rPr>
              <a:t>(</a:t>
            </a:r>
            <a:r>
              <a:rPr lang="en-US" sz="2400" dirty="0" err="1">
                <a:solidFill>
                  <a:srgbClr val="FF0000"/>
                </a:solidFill>
                <a:latin typeface="Times New Roman" panose="02020603050405020304" pitchFamily="18" charset="0"/>
                <a:cs typeface="Times New Roman" panose="02020603050405020304" pitchFamily="18" charset="0"/>
              </a:rPr>
              <a:t>Khoản</a:t>
            </a:r>
            <a:r>
              <a:rPr lang="en-US" sz="2400" dirty="0">
                <a:solidFill>
                  <a:srgbClr val="FF0000"/>
                </a:solidFill>
                <a:latin typeface="Times New Roman" panose="02020603050405020304" pitchFamily="18" charset="0"/>
                <a:cs typeface="Times New Roman" panose="02020603050405020304" pitchFamily="18" charset="0"/>
              </a:rPr>
              <a:t> 1, </a:t>
            </a:r>
            <a:r>
              <a:rPr lang="en-US" sz="2400" dirty="0" err="1">
                <a:solidFill>
                  <a:srgbClr val="FF0000"/>
                </a:solidFill>
                <a:latin typeface="Times New Roman" panose="02020603050405020304" pitchFamily="18" charset="0"/>
                <a:cs typeface="Times New Roman" panose="02020603050405020304" pitchFamily="18" charset="0"/>
              </a:rPr>
              <a:t>Điều</a:t>
            </a:r>
            <a:r>
              <a:rPr lang="en-US" sz="2400" dirty="0">
                <a:solidFill>
                  <a:srgbClr val="FF0000"/>
                </a:solidFill>
                <a:latin typeface="Times New Roman" panose="02020603050405020304" pitchFamily="18" charset="0"/>
                <a:cs typeface="Times New Roman" panose="02020603050405020304" pitchFamily="18" charset="0"/>
              </a:rPr>
              <a:t> 26, TT26/2026/TT-BTC)</a:t>
            </a:r>
          </a:p>
        </p:txBody>
      </p:sp>
    </p:spTree>
    <p:extLst>
      <p:ext uri="{BB962C8B-B14F-4D97-AF65-F5344CB8AC3E}">
        <p14:creationId xmlns:p14="http://schemas.microsoft.com/office/powerpoint/2010/main" val="2868885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AC989-2BF6-8645-2CBF-5E610728200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1CF1C38-026D-3A29-A9B9-71987053D457}"/>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7301814B-5FCF-87F2-61DE-C3F23B40A416}"/>
              </a:ext>
            </a:extLst>
          </p:cNvPr>
          <p:cNvSpPr txBox="1">
            <a:spLocks/>
          </p:cNvSpPr>
          <p:nvPr/>
        </p:nvSpPr>
        <p:spPr>
          <a:xfrm>
            <a:off x="344342" y="1338508"/>
            <a:ext cx="11211781"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a:solidFill>
                  <a:srgbClr val="FF0000"/>
                </a:solidFill>
                <a:latin typeface="Times New Roman" panose="02020603050405020304" pitchFamily="18" charset="0"/>
                <a:cs typeface="Times New Roman" panose="02020603050405020304" pitchFamily="18" charset="0"/>
              </a:rPr>
              <a:t>Công </a:t>
            </a:r>
            <a:r>
              <a:rPr lang="en-US" b="1" dirty="0" err="1">
                <a:solidFill>
                  <a:srgbClr val="FF0000"/>
                </a:solidFill>
                <a:latin typeface="Times New Roman" panose="02020603050405020304" pitchFamily="18" charset="0"/>
                <a:cs typeface="Times New Roman" panose="02020603050405020304" pitchFamily="18" charset="0"/>
              </a:rPr>
              <a:t>khai</a:t>
            </a:r>
            <a:r>
              <a:rPr lang="en-US" b="1" dirty="0">
                <a:solidFill>
                  <a:srgbClr val="FF0000"/>
                </a:solidFill>
                <a:latin typeface="Times New Roman" panose="02020603050405020304" pitchFamily="18" charset="0"/>
                <a:cs typeface="Times New Roman" panose="02020603050405020304" pitchFamily="18" charset="0"/>
              </a:rPr>
              <a:t> </a:t>
            </a:r>
            <a:r>
              <a:rPr lang="vi-VN" b="1" dirty="0">
                <a:solidFill>
                  <a:srgbClr val="FF0000"/>
                </a:solidFill>
                <a:latin typeface="Times New Roman" panose="02020603050405020304" pitchFamily="18" charset="0"/>
                <a:cs typeface="Times New Roman" panose="02020603050405020304" pitchFamily="18" charset="0"/>
              </a:rPr>
              <a:t>dự toán</a:t>
            </a:r>
            <a:r>
              <a:rPr lang="en-US" b="1" dirty="0">
                <a:solidFill>
                  <a:srgbClr val="FF0000"/>
                </a:solidFill>
                <a:latin typeface="Times New Roman" panose="02020603050405020304" pitchFamily="18" charset="0"/>
                <a:cs typeface="Times New Roman" panose="02020603050405020304" pitchFamily="18" charset="0"/>
              </a:rPr>
              <a:t> NS </a:t>
            </a:r>
            <a:r>
              <a:rPr lang="en-US" b="1" dirty="0" err="1">
                <a:solidFill>
                  <a:srgbClr val="FF0000"/>
                </a:solidFill>
                <a:latin typeface="Times New Roman" panose="02020603050405020304" pitchFamily="18" charset="0"/>
                <a:cs typeface="Times New Roman" panose="02020603050405020304" pitchFamily="18" charset="0"/>
              </a:rPr>
              <a:t>xã</a:t>
            </a: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3200" dirty="0"/>
          </a:p>
        </p:txBody>
      </p:sp>
      <p:sp>
        <p:nvSpPr>
          <p:cNvPr id="6" name="TextBox 5">
            <a:extLst>
              <a:ext uri="{FF2B5EF4-FFF2-40B4-BE49-F238E27FC236}">
                <a16:creationId xmlns:a16="http://schemas.microsoft.com/office/drawing/2014/main" id="{AC76DDE5-342E-8388-CCFE-40385A5D4273}"/>
              </a:ext>
            </a:extLst>
          </p:cNvPr>
          <p:cNvSpPr txBox="1"/>
          <p:nvPr/>
        </p:nvSpPr>
        <p:spPr>
          <a:xfrm>
            <a:off x="110360" y="1847769"/>
            <a:ext cx="11737298" cy="3903954"/>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Công </a:t>
            </a:r>
            <a:r>
              <a:rPr lang="en-US" sz="2400" b="1" dirty="0" err="1">
                <a:latin typeface="Times New Roman" panose="02020603050405020304" pitchFamily="18" charset="0"/>
                <a:cs typeface="Times New Roman" panose="02020603050405020304" pitchFamily="18" charset="0"/>
              </a:rPr>
              <a:t>khai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dự</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toán</a:t>
            </a:r>
            <a:r>
              <a:rPr lang="en-US" sz="2400" b="1" dirty="0">
                <a:latin typeface="Times New Roman" panose="02020603050405020304" pitchFamily="18" charset="0"/>
                <a:cs typeface="Times New Roman" panose="02020603050405020304" pitchFamily="18" charset="0"/>
              </a:rPr>
              <a:t> NS </a:t>
            </a:r>
            <a:r>
              <a:rPr lang="en-US" sz="2400" b="1" dirty="0" err="1">
                <a:latin typeface="Times New Roman" panose="02020603050405020304" pitchFamily="18" charset="0"/>
                <a:cs typeface="Times New Roman" panose="02020603050405020304" pitchFamily="18" charset="0"/>
              </a:rPr>
              <a:t>cấp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xã</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được</a:t>
            </a:r>
            <a:r>
              <a:rPr lang="en-US" sz="2400" b="1" dirty="0">
                <a:latin typeface="Times New Roman" panose="02020603050405020304" pitchFamily="18" charset="0"/>
                <a:cs typeface="Times New Roman" panose="02020603050405020304" pitchFamily="18" charset="0"/>
              </a:rPr>
              <a:t> HĐND </a:t>
            </a:r>
            <a:r>
              <a:rPr lang="en-US" sz="2400" b="1" dirty="0" err="1">
                <a:latin typeface="Times New Roman" panose="02020603050405020304" pitchFamily="18" charset="0"/>
                <a:cs typeface="Times New Roman" panose="02020603050405020304" pitchFamily="18" charset="0"/>
              </a:rPr>
              <a:t>cấp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xã</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quyết</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định</a:t>
            </a:r>
            <a:r>
              <a:rPr lang="en-US" sz="2400" b="1" dirty="0">
                <a:latin typeface="Times New Roman" panose="02020603050405020304" pitchFamily="18" charset="0"/>
                <a:cs typeface="Times New Roman" panose="02020603050405020304" pitchFamily="18" charset="0"/>
              </a:rPr>
              <a:t>:</a:t>
            </a:r>
          </a:p>
          <a:p>
            <a:pPr algn="just">
              <a:lnSpc>
                <a:spcPct val="150000"/>
              </a:lnSpc>
            </a:pPr>
            <a:r>
              <a:rPr lang="en-US" sz="2400" dirty="0">
                <a:latin typeface="Times New Roman" panose="02020603050405020304" pitchFamily="18" charset="0"/>
                <a:cs typeface="Times New Roman" panose="02020603050405020304" pitchFamily="18" charset="0"/>
              </a:rPr>
              <a:t>a) Công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ở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gồm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hưởng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sung </a:t>
            </a:r>
            <a:r>
              <a:rPr lang="en-US" sz="2400" dirty="0" err="1">
                <a:latin typeface="Times New Roman" panose="02020603050405020304" pitchFamily="18" charset="0"/>
                <a:cs typeface="Times New Roman" panose="02020603050405020304" pitchFamily="18" charset="0"/>
              </a:rPr>
              <a:t>cân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sung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lĩnh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tiết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400" dirty="0">
                <a:latin typeface="Times New Roman" panose="02020603050405020304" pitchFamily="18" charset="0"/>
                <a:cs typeface="Times New Roman" panose="02020603050405020304" pitchFamily="18" charset="0"/>
              </a:rPr>
              <a:t>b) </a:t>
            </a:r>
            <a:r>
              <a:rPr lang="en-US" sz="2400" dirty="0" err="1">
                <a:latin typeface="Times New Roman" panose="02020603050405020304" pitchFamily="18" charset="0"/>
                <a:cs typeface="Times New Roman" panose="02020603050405020304" pitchFamily="18" charset="0"/>
              </a:rPr>
              <a:t>Mẫu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biểu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biểu</a:t>
            </a:r>
            <a:r>
              <a:rPr lang="en-US" sz="2400" dirty="0">
                <a:latin typeface="Times New Roman" panose="02020603050405020304" pitchFamily="18" charset="0"/>
                <a:cs typeface="Times New Roman" panose="02020603050405020304" pitchFamily="18" charset="0"/>
              </a:rPr>
              <a:t> HĐND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400" dirty="0">
                <a:solidFill>
                  <a:srgbClr val="FF0000"/>
                </a:solidFill>
                <a:latin typeface="Times New Roman" panose="02020603050405020304" pitchFamily="18" charset="0"/>
                <a:cs typeface="Times New Roman" panose="02020603050405020304" pitchFamily="18" charset="0"/>
              </a:rPr>
              <a:t>(</a:t>
            </a:r>
            <a:r>
              <a:rPr lang="en-US" sz="2400" dirty="0" err="1">
                <a:solidFill>
                  <a:srgbClr val="FF0000"/>
                </a:solidFill>
                <a:latin typeface="Times New Roman" panose="02020603050405020304" pitchFamily="18" charset="0"/>
                <a:cs typeface="Times New Roman" panose="02020603050405020304" pitchFamily="18" charset="0"/>
              </a:rPr>
              <a:t>Khoản</a:t>
            </a:r>
            <a:r>
              <a:rPr lang="en-US" sz="2400" dirty="0">
                <a:solidFill>
                  <a:srgbClr val="FF0000"/>
                </a:solidFill>
                <a:latin typeface="Times New Roman" panose="02020603050405020304" pitchFamily="18" charset="0"/>
                <a:cs typeface="Times New Roman" panose="02020603050405020304" pitchFamily="18" charset="0"/>
              </a:rPr>
              <a:t> 2, </a:t>
            </a:r>
            <a:r>
              <a:rPr lang="en-US" sz="2400" dirty="0" err="1">
                <a:solidFill>
                  <a:srgbClr val="FF0000"/>
                </a:solidFill>
                <a:latin typeface="Times New Roman" panose="02020603050405020304" pitchFamily="18" charset="0"/>
                <a:cs typeface="Times New Roman" panose="02020603050405020304" pitchFamily="18" charset="0"/>
              </a:rPr>
              <a:t>Điều</a:t>
            </a:r>
            <a:r>
              <a:rPr lang="en-US" sz="2400" dirty="0">
                <a:solidFill>
                  <a:srgbClr val="FF0000"/>
                </a:solidFill>
                <a:latin typeface="Times New Roman" panose="02020603050405020304" pitchFamily="18" charset="0"/>
                <a:cs typeface="Times New Roman" panose="02020603050405020304" pitchFamily="18" charset="0"/>
              </a:rPr>
              <a:t> 26, TT26/2026/TT-BTC)</a:t>
            </a:r>
          </a:p>
        </p:txBody>
      </p:sp>
    </p:spTree>
    <p:extLst>
      <p:ext uri="{BB962C8B-B14F-4D97-AF65-F5344CB8AC3E}">
        <p14:creationId xmlns:p14="http://schemas.microsoft.com/office/powerpoint/2010/main" val="1692745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53BBE-FC60-9342-2B83-9EBC784E77D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7E4CDC5-D405-1F02-329C-55BBE2F486C1}"/>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3.3.1. LẬP DỰ TOÁN NGÂN SÁCH XÃ</a:t>
            </a:r>
          </a:p>
        </p:txBody>
      </p:sp>
      <p:sp>
        <p:nvSpPr>
          <p:cNvPr id="2" name="Text Placeholder 2">
            <a:extLst>
              <a:ext uri="{FF2B5EF4-FFF2-40B4-BE49-F238E27FC236}">
                <a16:creationId xmlns:a16="http://schemas.microsoft.com/office/drawing/2014/main" id="{C30BA9A4-3382-9873-BCAD-30825EDDD675}"/>
              </a:ext>
            </a:extLst>
          </p:cNvPr>
          <p:cNvSpPr txBox="1">
            <a:spLocks/>
          </p:cNvSpPr>
          <p:nvPr/>
        </p:nvSpPr>
        <p:spPr>
          <a:xfrm>
            <a:off x="344342" y="1338508"/>
            <a:ext cx="11211781" cy="7299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a:solidFill>
                  <a:srgbClr val="FF0000"/>
                </a:solidFill>
                <a:latin typeface="Times New Roman" panose="02020603050405020304" pitchFamily="18" charset="0"/>
                <a:cs typeface="Times New Roman" panose="02020603050405020304" pitchFamily="18" charset="0"/>
              </a:rPr>
              <a:t>Công </a:t>
            </a:r>
            <a:r>
              <a:rPr lang="en-US" b="1" dirty="0" err="1">
                <a:solidFill>
                  <a:srgbClr val="FF0000"/>
                </a:solidFill>
                <a:latin typeface="Times New Roman" panose="02020603050405020304" pitchFamily="18" charset="0"/>
                <a:cs typeface="Times New Roman" panose="02020603050405020304" pitchFamily="18" charset="0"/>
              </a:rPr>
              <a:t>khai</a:t>
            </a:r>
            <a:r>
              <a:rPr lang="en-US" b="1" dirty="0">
                <a:solidFill>
                  <a:srgbClr val="FF0000"/>
                </a:solidFill>
                <a:latin typeface="Times New Roman" panose="02020603050405020304" pitchFamily="18" charset="0"/>
                <a:cs typeface="Times New Roman" panose="02020603050405020304" pitchFamily="18" charset="0"/>
              </a:rPr>
              <a:t> </a:t>
            </a:r>
            <a:r>
              <a:rPr lang="vi-VN" b="1" dirty="0">
                <a:solidFill>
                  <a:srgbClr val="FF0000"/>
                </a:solidFill>
                <a:latin typeface="Times New Roman" panose="02020603050405020304" pitchFamily="18" charset="0"/>
                <a:cs typeface="Times New Roman" panose="02020603050405020304" pitchFamily="18" charset="0"/>
              </a:rPr>
              <a:t>dự toán</a:t>
            </a:r>
            <a:r>
              <a:rPr lang="en-US" b="1" dirty="0">
                <a:solidFill>
                  <a:srgbClr val="FF0000"/>
                </a:solidFill>
                <a:latin typeface="Times New Roman" panose="02020603050405020304" pitchFamily="18" charset="0"/>
                <a:cs typeface="Times New Roman" panose="02020603050405020304" pitchFamily="18" charset="0"/>
              </a:rPr>
              <a:t> NS </a:t>
            </a:r>
            <a:r>
              <a:rPr lang="en-US" b="1" dirty="0" err="1">
                <a:solidFill>
                  <a:srgbClr val="FF0000"/>
                </a:solidFill>
                <a:latin typeface="Times New Roman" panose="02020603050405020304" pitchFamily="18" charset="0"/>
                <a:cs typeface="Times New Roman" panose="02020603050405020304" pitchFamily="18" charset="0"/>
              </a:rPr>
              <a:t>xã</a:t>
            </a: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3200" dirty="0"/>
          </a:p>
        </p:txBody>
      </p:sp>
      <p:sp>
        <p:nvSpPr>
          <p:cNvPr id="6" name="TextBox 5">
            <a:extLst>
              <a:ext uri="{FF2B5EF4-FFF2-40B4-BE49-F238E27FC236}">
                <a16:creationId xmlns:a16="http://schemas.microsoft.com/office/drawing/2014/main" id="{799E5B13-AA71-D5D2-AF2F-4985FA1B4498}"/>
              </a:ext>
            </a:extLst>
          </p:cNvPr>
          <p:cNvSpPr txBox="1"/>
          <p:nvPr/>
        </p:nvSpPr>
        <p:spPr>
          <a:xfrm>
            <a:off x="110360" y="1847769"/>
            <a:ext cx="11737298" cy="3903954"/>
          </a:xfrm>
          <a:prstGeom prst="rect">
            <a:avLst/>
          </a:prstGeom>
          <a:noFill/>
        </p:spPr>
        <p:txBody>
          <a:bodyPr wrap="square" rtlCol="0">
            <a:spAutoFit/>
          </a:bodyPr>
          <a:lstStyle/>
          <a:p>
            <a:pPr algn="just">
              <a:lnSpc>
                <a:spcPct val="150000"/>
              </a:lnSpc>
            </a:pPr>
            <a:r>
              <a:rPr lang="en-US" sz="2400" b="1" dirty="0" err="1">
                <a:latin typeface="Times New Roman" panose="02020603050405020304" pitchFamily="18" charset="0"/>
                <a:cs typeface="Times New Roman" panose="02020603050405020304" pitchFamily="18" charset="0"/>
              </a:rPr>
              <a:t>Hình</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thức</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công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khai</a:t>
            </a:r>
            <a:endParaRPr lang="en-US" sz="2400" b="1"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Việc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họp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niêm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sở</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ấn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phẩm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tin </a:t>
            </a:r>
            <a:r>
              <a:rPr lang="en-US" sz="2400" dirty="0" err="1">
                <a:latin typeface="Times New Roman" panose="02020603050405020304" pitchFamily="18" charset="0"/>
                <a:cs typeface="Times New Roman" panose="02020603050405020304" pitchFamily="18" charset="0"/>
              </a:rPr>
              <a:t>điện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tin </a:t>
            </a:r>
            <a:r>
              <a:rPr lang="en-US" sz="2400" dirty="0" err="1">
                <a:latin typeface="Times New Roman" panose="02020603050405020304" pitchFamily="18" charset="0"/>
                <a:cs typeface="Times New Roman" panose="02020603050405020304" pitchFamily="18" charset="0"/>
              </a:rPr>
              <a:t>đại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chúng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tin </a:t>
            </a:r>
            <a:r>
              <a:rPr lang="en-US" sz="2400" dirty="0" err="1">
                <a:latin typeface="Times New Roman" panose="02020603050405020304" pitchFamily="18" charset="0"/>
                <a:cs typeface="Times New Roman" panose="02020603050405020304" pitchFamily="18" charset="0"/>
              </a:rPr>
              <a:t>điện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bắt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tin </a:t>
            </a:r>
            <a:r>
              <a:rPr lang="en-US" sz="2400" dirty="0" err="1">
                <a:latin typeface="Times New Roman" panose="02020603050405020304" pitchFamily="18" charset="0"/>
                <a:cs typeface="Times New Roman" panose="02020603050405020304" pitchFamily="18" charset="0"/>
              </a:rPr>
              <a:t>điện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400" dirty="0">
                <a:solidFill>
                  <a:srgbClr val="FF0000"/>
                </a:solidFill>
                <a:latin typeface="Times New Roman" panose="02020603050405020304" pitchFamily="18" charset="0"/>
                <a:cs typeface="Times New Roman" panose="02020603050405020304" pitchFamily="18" charset="0"/>
              </a:rPr>
              <a:t>(</a:t>
            </a:r>
            <a:r>
              <a:rPr lang="en-US" sz="2400" dirty="0" err="1">
                <a:solidFill>
                  <a:srgbClr val="FF0000"/>
                </a:solidFill>
                <a:latin typeface="Times New Roman" panose="02020603050405020304" pitchFamily="18" charset="0"/>
                <a:cs typeface="Times New Roman" panose="02020603050405020304" pitchFamily="18" charset="0"/>
              </a:rPr>
              <a:t>Điểm</a:t>
            </a:r>
            <a:r>
              <a:rPr lang="en-US" sz="2400" dirty="0">
                <a:solidFill>
                  <a:srgbClr val="FF0000"/>
                </a:solidFill>
                <a:latin typeface="Times New Roman" panose="02020603050405020304" pitchFamily="18" charset="0"/>
                <a:cs typeface="Times New Roman" panose="02020603050405020304" pitchFamily="18" charset="0"/>
              </a:rPr>
              <a:t> b, </a:t>
            </a:r>
            <a:r>
              <a:rPr lang="en-US" sz="2400" dirty="0" err="1">
                <a:solidFill>
                  <a:srgbClr val="FF0000"/>
                </a:solidFill>
                <a:latin typeface="Times New Roman" panose="02020603050405020304" pitchFamily="18" charset="0"/>
                <a:cs typeface="Times New Roman" panose="02020603050405020304" pitchFamily="18" charset="0"/>
              </a:rPr>
              <a:t>Khoản</a:t>
            </a:r>
            <a:r>
              <a:rPr lang="en-US" sz="2400" dirty="0">
                <a:solidFill>
                  <a:srgbClr val="FF0000"/>
                </a:solidFill>
                <a:latin typeface="Times New Roman" panose="02020603050405020304" pitchFamily="18" charset="0"/>
                <a:cs typeface="Times New Roman" panose="02020603050405020304" pitchFamily="18" charset="0"/>
              </a:rPr>
              <a:t> 1, </a:t>
            </a:r>
            <a:r>
              <a:rPr lang="en-US" sz="2400" dirty="0" err="1">
                <a:solidFill>
                  <a:srgbClr val="FF0000"/>
                </a:solidFill>
                <a:latin typeface="Times New Roman" panose="02020603050405020304" pitchFamily="18" charset="0"/>
                <a:cs typeface="Times New Roman" panose="02020603050405020304" pitchFamily="18" charset="0"/>
              </a:rPr>
              <a:t>Điều</a:t>
            </a:r>
            <a:r>
              <a:rPr lang="en-US" sz="2400" dirty="0">
                <a:solidFill>
                  <a:srgbClr val="FF0000"/>
                </a:solidFill>
                <a:latin typeface="Times New Roman" panose="02020603050405020304" pitchFamily="18" charset="0"/>
                <a:cs typeface="Times New Roman" panose="02020603050405020304" pitchFamily="18" charset="0"/>
              </a:rPr>
              <a:t> 15, </a:t>
            </a:r>
            <a:r>
              <a:rPr lang="en-US" sz="2400" dirty="0" err="1">
                <a:solidFill>
                  <a:srgbClr val="FF0000"/>
                </a:solidFill>
                <a:latin typeface="Times New Roman" panose="02020603050405020304" pitchFamily="18" charset="0"/>
                <a:cs typeface="Times New Roman" panose="02020603050405020304" pitchFamily="18" charset="0"/>
              </a:rPr>
              <a:t>Luật</a:t>
            </a:r>
            <a:r>
              <a:rPr lang="en-US" sz="2400" dirty="0">
                <a:solidFill>
                  <a:srgbClr val="FF0000"/>
                </a:solidFill>
                <a:latin typeface="Times New Roman" panose="02020603050405020304" pitchFamily="18" charset="0"/>
                <a:cs typeface="Times New Roman" panose="02020603050405020304" pitchFamily="18" charset="0"/>
              </a:rPr>
              <a:t> NSNN 2025)</a:t>
            </a:r>
          </a:p>
        </p:txBody>
      </p:sp>
    </p:spTree>
    <p:extLst>
      <p:ext uri="{BB962C8B-B14F-4D97-AF65-F5344CB8AC3E}">
        <p14:creationId xmlns:p14="http://schemas.microsoft.com/office/powerpoint/2010/main" val="14133648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23CC9-24F8-FE44-6C3E-FF56C3D6DDA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43CAE7B-F4A8-1488-690F-6689BABAE383}"/>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graphicFrame>
        <p:nvGraphicFramePr>
          <p:cNvPr id="2" name="Content Placeholder 3">
            <a:extLst>
              <a:ext uri="{FF2B5EF4-FFF2-40B4-BE49-F238E27FC236}">
                <a16:creationId xmlns:a16="http://schemas.microsoft.com/office/drawing/2014/main" id="{B5A89BDF-34AD-B798-062F-DB373BF8FEB3}"/>
              </a:ext>
            </a:extLst>
          </p:cNvPr>
          <p:cNvGraphicFramePr>
            <a:graphicFrameLocks/>
          </p:cNvGraphicFramePr>
          <p:nvPr>
            <p:extLst>
              <p:ext uri="{D42A27DB-BD31-4B8C-83A1-F6EECF244321}">
                <p14:modId xmlns:p14="http://schemas.microsoft.com/office/powerpoint/2010/main" val="837964726"/>
              </p:ext>
            </p:extLst>
          </p:nvPr>
        </p:nvGraphicFramePr>
        <p:xfrm>
          <a:off x="273539" y="1039446"/>
          <a:ext cx="11699630" cy="57208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55413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graphicEl>
                                              <a:dgm id="{65BE597A-B87E-436A-AD8F-6E84BE353021}"/>
                                            </p:graphicEl>
                                          </p:spTgt>
                                        </p:tgtEl>
                                        <p:attrNameLst>
                                          <p:attrName>style.visibility</p:attrName>
                                        </p:attrNameLst>
                                      </p:cBhvr>
                                      <p:to>
                                        <p:strVal val="visible"/>
                                      </p:to>
                                    </p:set>
                                    <p:anim calcmode="lin" valueType="num">
                                      <p:cBhvr additive="base">
                                        <p:cTn id="7" dur="500" fill="hold"/>
                                        <p:tgtEl>
                                          <p:spTgt spid="2">
                                            <p:graphicEl>
                                              <a:dgm id="{65BE597A-B87E-436A-AD8F-6E84BE353021}"/>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graphicEl>
                                              <a:dgm id="{65BE597A-B87E-436A-AD8F-6E84BE353021}"/>
                                            </p:graphic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
                                            <p:graphicEl>
                                              <a:dgm id="{545E2705-FDFC-4F54-80E6-0166452A47B1}"/>
                                            </p:graphicEl>
                                          </p:spTgt>
                                        </p:tgtEl>
                                        <p:attrNameLst>
                                          <p:attrName>style.visibility</p:attrName>
                                        </p:attrNameLst>
                                      </p:cBhvr>
                                      <p:to>
                                        <p:strVal val="visible"/>
                                      </p:to>
                                    </p:set>
                                    <p:anim calcmode="lin" valueType="num">
                                      <p:cBhvr additive="base">
                                        <p:cTn id="11" dur="500" fill="hold"/>
                                        <p:tgtEl>
                                          <p:spTgt spid="2">
                                            <p:graphicEl>
                                              <a:dgm id="{545E2705-FDFC-4F54-80E6-0166452A47B1}"/>
                                            </p:graphic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
                                            <p:graphicEl>
                                              <a:dgm id="{545E2705-FDFC-4F54-80E6-0166452A47B1}"/>
                                            </p:graphic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
                                            <p:graphicEl>
                                              <a:dgm id="{0CDBC8BB-B2BC-405B-B589-07326939E333}"/>
                                            </p:graphicEl>
                                          </p:spTgt>
                                        </p:tgtEl>
                                        <p:attrNameLst>
                                          <p:attrName>style.visibility</p:attrName>
                                        </p:attrNameLst>
                                      </p:cBhvr>
                                      <p:to>
                                        <p:strVal val="visible"/>
                                      </p:to>
                                    </p:set>
                                    <p:anim calcmode="lin" valueType="num">
                                      <p:cBhvr additive="base">
                                        <p:cTn id="15" dur="500" fill="hold"/>
                                        <p:tgtEl>
                                          <p:spTgt spid="2">
                                            <p:graphicEl>
                                              <a:dgm id="{0CDBC8BB-B2BC-405B-B589-07326939E333}"/>
                                            </p:graphic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
                                            <p:graphicEl>
                                              <a:dgm id="{0CDBC8BB-B2BC-405B-B589-07326939E333}"/>
                                            </p:graphic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2">
                                            <p:graphicEl>
                                              <a:dgm id="{01C234E1-25E6-47D1-9477-87F5524F009D}"/>
                                            </p:graphicEl>
                                          </p:spTgt>
                                        </p:tgtEl>
                                        <p:attrNameLst>
                                          <p:attrName>style.visibility</p:attrName>
                                        </p:attrNameLst>
                                      </p:cBhvr>
                                      <p:to>
                                        <p:strVal val="visible"/>
                                      </p:to>
                                    </p:set>
                                    <p:anim calcmode="lin" valueType="num">
                                      <p:cBhvr additive="base">
                                        <p:cTn id="21" dur="500" fill="hold"/>
                                        <p:tgtEl>
                                          <p:spTgt spid="2">
                                            <p:graphicEl>
                                              <a:dgm id="{01C234E1-25E6-47D1-9477-87F5524F009D}"/>
                                            </p:graphic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2">
                                            <p:graphicEl>
                                              <a:dgm id="{01C234E1-25E6-47D1-9477-87F5524F009D}"/>
                                            </p:graphic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2">
                                            <p:graphicEl>
                                              <a:dgm id="{98620C39-FFBA-414F-AC07-A021EF8AD798}"/>
                                            </p:graphicEl>
                                          </p:spTgt>
                                        </p:tgtEl>
                                        <p:attrNameLst>
                                          <p:attrName>style.visibility</p:attrName>
                                        </p:attrNameLst>
                                      </p:cBhvr>
                                      <p:to>
                                        <p:strVal val="visible"/>
                                      </p:to>
                                    </p:set>
                                    <p:anim calcmode="lin" valueType="num">
                                      <p:cBhvr additive="base">
                                        <p:cTn id="25" dur="500" fill="hold"/>
                                        <p:tgtEl>
                                          <p:spTgt spid="2">
                                            <p:graphicEl>
                                              <a:dgm id="{98620C39-FFBA-414F-AC07-A021EF8AD798}"/>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
                                            <p:graphicEl>
                                              <a:dgm id="{98620C39-FFBA-414F-AC07-A021EF8AD798}"/>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
                                            <p:graphicEl>
                                              <a:dgm id="{95108641-1C1A-4CC0-AAC7-2CA44F499011}"/>
                                            </p:graphicEl>
                                          </p:spTgt>
                                        </p:tgtEl>
                                        <p:attrNameLst>
                                          <p:attrName>style.visibility</p:attrName>
                                        </p:attrNameLst>
                                      </p:cBhvr>
                                      <p:to>
                                        <p:strVal val="visible"/>
                                      </p:to>
                                    </p:set>
                                    <p:anim calcmode="lin" valueType="num">
                                      <p:cBhvr additive="base">
                                        <p:cTn id="31" dur="500" fill="hold"/>
                                        <p:tgtEl>
                                          <p:spTgt spid="2">
                                            <p:graphicEl>
                                              <a:dgm id="{95108641-1C1A-4CC0-AAC7-2CA44F499011}"/>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
                                            <p:graphicEl>
                                              <a:dgm id="{95108641-1C1A-4CC0-AAC7-2CA44F499011}"/>
                                            </p:graphic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2">
                                            <p:graphicEl>
                                              <a:dgm id="{E4602C91-5B46-49F1-BE77-F075080DCB2C}"/>
                                            </p:graphicEl>
                                          </p:spTgt>
                                        </p:tgtEl>
                                        <p:attrNameLst>
                                          <p:attrName>style.visibility</p:attrName>
                                        </p:attrNameLst>
                                      </p:cBhvr>
                                      <p:to>
                                        <p:strVal val="visible"/>
                                      </p:to>
                                    </p:set>
                                    <p:anim calcmode="lin" valueType="num">
                                      <p:cBhvr additive="base">
                                        <p:cTn id="35" dur="500" fill="hold"/>
                                        <p:tgtEl>
                                          <p:spTgt spid="2">
                                            <p:graphicEl>
                                              <a:dgm id="{E4602C91-5B46-49F1-BE77-F075080DCB2C}"/>
                                            </p:graphic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
                                            <p:graphicEl>
                                              <a:dgm id="{E4602C91-5B46-49F1-BE77-F075080DCB2C}"/>
                                            </p:graphic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2">
                                            <p:graphicEl>
                                              <a:dgm id="{C07C97EB-BCAB-45B0-800D-263543D5EEED}"/>
                                            </p:graphicEl>
                                          </p:spTgt>
                                        </p:tgtEl>
                                        <p:attrNameLst>
                                          <p:attrName>style.visibility</p:attrName>
                                        </p:attrNameLst>
                                      </p:cBhvr>
                                      <p:to>
                                        <p:strVal val="visible"/>
                                      </p:to>
                                    </p:set>
                                    <p:anim calcmode="lin" valueType="num">
                                      <p:cBhvr additive="base">
                                        <p:cTn id="41" dur="500" fill="hold"/>
                                        <p:tgtEl>
                                          <p:spTgt spid="2">
                                            <p:graphicEl>
                                              <a:dgm id="{C07C97EB-BCAB-45B0-800D-263543D5EEED}"/>
                                            </p:graphic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2">
                                            <p:graphicEl>
                                              <a:dgm id="{C07C97EB-BCAB-45B0-800D-263543D5EEED}"/>
                                            </p:graphicEl>
                                          </p:spTgt>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2">
                                            <p:graphicEl>
                                              <a:dgm id="{DCBE11C3-CF40-411E-B85F-40FA2B957908}"/>
                                            </p:graphicEl>
                                          </p:spTgt>
                                        </p:tgtEl>
                                        <p:attrNameLst>
                                          <p:attrName>style.visibility</p:attrName>
                                        </p:attrNameLst>
                                      </p:cBhvr>
                                      <p:to>
                                        <p:strVal val="visible"/>
                                      </p:to>
                                    </p:set>
                                    <p:anim calcmode="lin" valueType="num">
                                      <p:cBhvr additive="base">
                                        <p:cTn id="45" dur="500" fill="hold"/>
                                        <p:tgtEl>
                                          <p:spTgt spid="2">
                                            <p:graphicEl>
                                              <a:dgm id="{DCBE11C3-CF40-411E-B85F-40FA2B957908}"/>
                                            </p:graphic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2">
                                            <p:graphicEl>
                                              <a:dgm id="{DCBE11C3-CF40-411E-B85F-40FA2B957908}"/>
                                            </p:graphicEl>
                                          </p:spTgt>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2">
                                            <p:graphicEl>
                                              <a:dgm id="{EBE6C455-2CFB-413E-9493-3E0F2DE2B66A}"/>
                                            </p:graphicEl>
                                          </p:spTgt>
                                        </p:tgtEl>
                                        <p:attrNameLst>
                                          <p:attrName>style.visibility</p:attrName>
                                        </p:attrNameLst>
                                      </p:cBhvr>
                                      <p:to>
                                        <p:strVal val="visible"/>
                                      </p:to>
                                    </p:set>
                                    <p:anim calcmode="lin" valueType="num">
                                      <p:cBhvr additive="base">
                                        <p:cTn id="51" dur="500" fill="hold"/>
                                        <p:tgtEl>
                                          <p:spTgt spid="2">
                                            <p:graphicEl>
                                              <a:dgm id="{EBE6C455-2CFB-413E-9493-3E0F2DE2B66A}"/>
                                            </p:graphic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2">
                                            <p:graphicEl>
                                              <a:dgm id="{EBE6C455-2CFB-413E-9493-3E0F2DE2B66A}"/>
                                            </p:graphicEl>
                                          </p:spTgt>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2">
                                            <p:graphicEl>
                                              <a:dgm id="{5F8F4823-0FF6-45CF-AD9F-0703B1901021}"/>
                                            </p:graphicEl>
                                          </p:spTgt>
                                        </p:tgtEl>
                                        <p:attrNameLst>
                                          <p:attrName>style.visibility</p:attrName>
                                        </p:attrNameLst>
                                      </p:cBhvr>
                                      <p:to>
                                        <p:strVal val="visible"/>
                                      </p:to>
                                    </p:set>
                                    <p:anim calcmode="lin" valueType="num">
                                      <p:cBhvr additive="base">
                                        <p:cTn id="55" dur="500" fill="hold"/>
                                        <p:tgtEl>
                                          <p:spTgt spid="2">
                                            <p:graphicEl>
                                              <a:dgm id="{5F8F4823-0FF6-45CF-AD9F-0703B1901021}"/>
                                            </p:graphic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
                                            <p:graphicEl>
                                              <a:dgm id="{5F8F4823-0FF6-45CF-AD9F-0703B1901021}"/>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49FAD-EAF2-9C08-0291-91FE9CD3762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4BA5929-3728-89FE-E4E2-D921CACCE2DE}"/>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345A8E24-0C2E-EEA8-83E2-39E8C4CF8F8B}"/>
              </a:ext>
            </a:extLst>
          </p:cNvPr>
          <p:cNvSpPr txBox="1">
            <a:spLocks/>
          </p:cNvSpPr>
          <p:nvPr/>
        </p:nvSpPr>
        <p:spPr>
          <a:xfrm>
            <a:off x="344342" y="13385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Khái</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niệm</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NS </a:t>
            </a:r>
            <a:r>
              <a:rPr lang="en-US" b="1" dirty="0" err="1">
                <a:solidFill>
                  <a:srgbClr val="FF0000"/>
                </a:solidFill>
                <a:latin typeface="Times New Roman" panose="02020603050405020304" pitchFamily="18" charset="0"/>
                <a:cs typeface="Times New Roman" panose="02020603050405020304" pitchFamily="18" charset="0"/>
              </a:rPr>
              <a:t>xã</a:t>
            </a:r>
            <a:endParaRPr lang="en-US" b="1" dirty="0">
              <a:latin typeface="Times New Roman" panose="02020603050405020304" pitchFamily="18" charset="0"/>
              <a:cs typeface="Times New Roman" panose="02020603050405020304" pitchFamily="18" charset="0"/>
            </a:endParaRP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3200" dirty="0"/>
          </a:p>
        </p:txBody>
      </p:sp>
      <p:sp>
        <p:nvSpPr>
          <p:cNvPr id="5" name="TextBox 4">
            <a:extLst>
              <a:ext uri="{FF2B5EF4-FFF2-40B4-BE49-F238E27FC236}">
                <a16:creationId xmlns:a16="http://schemas.microsoft.com/office/drawing/2014/main" id="{538C67D8-FB1C-519A-2ED4-AF18D0A547B6}"/>
              </a:ext>
            </a:extLst>
          </p:cNvPr>
          <p:cNvSpPr txBox="1"/>
          <p:nvPr/>
        </p:nvSpPr>
        <p:spPr>
          <a:xfrm>
            <a:off x="514350" y="2095500"/>
            <a:ext cx="11211781" cy="1687963"/>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Chấp </a:t>
            </a:r>
            <a:r>
              <a:rPr lang="en-US" sz="2400" dirty="0" err="1">
                <a:latin typeface="Times New Roman" panose="02020603050405020304" pitchFamily="18" charset="0"/>
                <a:cs typeface="Times New Roman" panose="02020603050405020304" pitchFamily="18" charset="0"/>
              </a:rPr>
              <a: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tế</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nhằm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 chi </a:t>
            </a:r>
            <a:r>
              <a:rPr lang="en-US" sz="2400" dirty="0" err="1">
                <a:latin typeface="Times New Roman" panose="02020603050405020304" pitchFamily="18" charset="0"/>
                <a:cs typeface="Times New Roman" panose="02020603050405020304" pitchFamily="18" charset="0"/>
              </a:rPr>
              <a:t>ghi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hoạch</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trở</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973067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8B1C0-13C0-711A-E0B7-C315430C9BE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E2DC1FE-AA76-B37F-F15A-2EF865277192}"/>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3D08F7BB-CA6A-BB7C-E144-84BCAD4A3DD2}"/>
              </a:ext>
            </a:extLst>
          </p:cNvPr>
          <p:cNvSpPr txBox="1">
            <a:spLocks/>
          </p:cNvSpPr>
          <p:nvPr/>
        </p:nvSpPr>
        <p:spPr>
          <a:xfrm>
            <a:off x="344342" y="13385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a:solidFill>
                  <a:srgbClr val="FF0000"/>
                </a:solidFill>
                <a:latin typeface="Times New Roman" panose="02020603050405020304" pitchFamily="18" charset="0"/>
                <a:cs typeface="Times New Roman" panose="02020603050405020304" pitchFamily="18" charset="0"/>
              </a:rPr>
              <a:t>Yêu </a:t>
            </a:r>
            <a:r>
              <a:rPr lang="en-US" b="1" dirty="0" err="1">
                <a:solidFill>
                  <a:srgbClr val="FF0000"/>
                </a:solidFill>
                <a:latin typeface="Times New Roman" panose="02020603050405020304" pitchFamily="18" charset="0"/>
                <a:cs typeface="Times New Roman" panose="02020603050405020304" pitchFamily="18" charset="0"/>
              </a:rPr>
              <a:t>cầu</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NS </a:t>
            </a:r>
            <a:r>
              <a:rPr lang="en-US" b="1" dirty="0" err="1">
                <a:solidFill>
                  <a:srgbClr val="FF0000"/>
                </a:solidFill>
                <a:latin typeface="Times New Roman" panose="02020603050405020304" pitchFamily="18" charset="0"/>
                <a:cs typeface="Times New Roman" panose="02020603050405020304" pitchFamily="18" charset="0"/>
              </a:rPr>
              <a:t>xã</a:t>
            </a:r>
            <a:endParaRPr lang="en-US" b="1" dirty="0">
              <a:latin typeface="Times New Roman" panose="02020603050405020304" pitchFamily="18" charset="0"/>
              <a:cs typeface="Times New Roman" panose="02020603050405020304" pitchFamily="18" charset="0"/>
            </a:endParaRP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3200" dirty="0"/>
          </a:p>
        </p:txBody>
      </p:sp>
      <p:sp>
        <p:nvSpPr>
          <p:cNvPr id="5" name="TextBox 4">
            <a:extLst>
              <a:ext uri="{FF2B5EF4-FFF2-40B4-BE49-F238E27FC236}">
                <a16:creationId xmlns:a16="http://schemas.microsoft.com/office/drawing/2014/main" id="{88952B2A-468B-2A01-0CF4-552534BEBB65}"/>
              </a:ext>
            </a:extLst>
          </p:cNvPr>
          <p:cNvSpPr txBox="1"/>
          <p:nvPr/>
        </p:nvSpPr>
        <p:spPr>
          <a:xfrm>
            <a:off x="490109" y="1977729"/>
            <a:ext cx="11211781" cy="2795958"/>
          </a:xfrm>
          <a:prstGeom prst="rect">
            <a:avLst/>
          </a:prstGeom>
          <a:noFill/>
        </p:spPr>
        <p:txBody>
          <a:bodyPr wrap="square" rtlCol="0">
            <a:spAutoFit/>
          </a:bodyPr>
          <a:lstStyle/>
          <a:p>
            <a:pPr lvl="0" algn="just" eaLnBrk="0" fontAlgn="base" hangingPunct="0">
              <a:lnSpc>
                <a:spcPct val="150000"/>
              </a:lnSpc>
              <a:spcBef>
                <a:spcPct val="0"/>
              </a:spcBef>
              <a:spcAft>
                <a:spcPct val="0"/>
              </a:spcAft>
            </a:pPr>
            <a:r>
              <a:rPr lang="vi-VN" sz="2400" b="1" i="1" dirty="0">
                <a:solidFill>
                  <a:srgbClr val="252525"/>
                </a:solidFill>
                <a:latin typeface="Times New Roman" pitchFamily="18" charset="0"/>
                <a:cs typeface="Times New Roman" pitchFamily="18" charset="0"/>
              </a:rPr>
              <a:t>+ Trong chấp hành thu NSNN: </a:t>
            </a:r>
            <a:r>
              <a:rPr lang="vi-VN" sz="2400" dirty="0">
                <a:solidFill>
                  <a:srgbClr val="252525"/>
                </a:solidFill>
                <a:latin typeface="Times New Roman" pitchFamily="18" charset="0"/>
                <a:cs typeface="Times New Roman" pitchFamily="18" charset="0"/>
              </a:rPr>
              <a:t>bộ máy cơ quan quản lý thu cần được tổ chức tinh gọn, xây dựng phương thức thu hiệu quả, tạo điều kiện cho người dân nộp các khoản thu của NSNN.</a:t>
            </a:r>
          </a:p>
          <a:p>
            <a:pPr lvl="0" algn="just" eaLnBrk="0" fontAlgn="base" hangingPunct="0">
              <a:lnSpc>
                <a:spcPct val="150000"/>
              </a:lnSpc>
              <a:spcBef>
                <a:spcPct val="0"/>
              </a:spcBef>
              <a:spcAft>
                <a:spcPct val="0"/>
              </a:spcAft>
            </a:pPr>
            <a:r>
              <a:rPr lang="vi-VN" sz="2400" dirty="0">
                <a:latin typeface="Times New Roman" pitchFamily="18" charset="0"/>
                <a:cs typeface="Times New Roman" pitchFamily="18" charset="0"/>
              </a:rPr>
              <a:t>+ </a:t>
            </a:r>
            <a:r>
              <a:rPr lang="vi-VN" sz="2400" b="1" i="1" dirty="0">
                <a:solidFill>
                  <a:srgbClr val="252525"/>
                </a:solidFill>
                <a:latin typeface="Times New Roman" pitchFamily="18" charset="0"/>
                <a:cs typeface="Times New Roman" pitchFamily="18" charset="0"/>
              </a:rPr>
              <a:t>Trong c</a:t>
            </a:r>
            <a:r>
              <a:rPr lang="vi-VN" sz="2400" b="1" i="1" dirty="0">
                <a:latin typeface="Times New Roman" pitchFamily="18" charset="0"/>
                <a:cs typeface="Times New Roman" pitchFamily="18" charset="0"/>
              </a:rPr>
              <a:t>hấp hành chi NSNN</a:t>
            </a:r>
            <a:r>
              <a:rPr lang="vi-VN" sz="2400" dirty="0">
                <a:latin typeface="Times New Roman" pitchFamily="18" charset="0"/>
                <a:cs typeface="Times New Roman" pitchFamily="18" charset="0"/>
              </a:rPr>
              <a:t>: yêu cầu cơ quan tài chính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cấp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vi-VN" sz="2400" dirty="0">
                <a:latin typeface="Times New Roman" pitchFamily="18" charset="0"/>
                <a:cs typeface="Times New Roman" pitchFamily="18" charset="0"/>
              </a:rPr>
              <a:t>, KBNN phải phối hợp trong theo dõi các khoản chi NS, đảm bảo tuân thủ dự toán và các quy định hiện hành</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4187968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234D9-519E-04A5-996B-EEE53385AF4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A32B40E-759D-F762-FF8F-DF39977CA824}"/>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1586390B-0F84-D10A-6009-31DB1FA635F8}"/>
              </a:ext>
            </a:extLst>
          </p:cNvPr>
          <p:cNvSpPr txBox="1">
            <a:spLocks/>
          </p:cNvSpPr>
          <p:nvPr/>
        </p:nvSpPr>
        <p:spPr>
          <a:xfrm>
            <a:off x="344342" y="13385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Phân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bổ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và</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giao</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NS </a:t>
            </a:r>
            <a:r>
              <a:rPr lang="en-US" b="1" dirty="0" err="1">
                <a:solidFill>
                  <a:srgbClr val="FF0000"/>
                </a:solidFill>
                <a:latin typeface="Times New Roman" panose="02020603050405020304" pitchFamily="18" charset="0"/>
                <a:cs typeface="Times New Roman" panose="02020603050405020304" pitchFamily="18" charset="0"/>
              </a:rPr>
              <a:t>xã</a:t>
            </a:r>
            <a:endParaRPr lang="en-US" b="1" dirty="0">
              <a:latin typeface="Times New Roman" panose="02020603050405020304" pitchFamily="18" charset="0"/>
              <a:cs typeface="Times New Roman" panose="02020603050405020304" pitchFamily="18" charset="0"/>
            </a:endParaRP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3200" dirty="0"/>
          </a:p>
        </p:txBody>
      </p:sp>
      <p:sp>
        <p:nvSpPr>
          <p:cNvPr id="5" name="TextBox 4">
            <a:extLst>
              <a:ext uri="{FF2B5EF4-FFF2-40B4-BE49-F238E27FC236}">
                <a16:creationId xmlns:a16="http://schemas.microsoft.com/office/drawing/2014/main" id="{25501807-99BE-84DD-9B5B-CB838D04BE4D}"/>
              </a:ext>
            </a:extLst>
          </p:cNvPr>
          <p:cNvSpPr txBox="1"/>
          <p:nvPr/>
        </p:nvSpPr>
        <p:spPr>
          <a:xfrm>
            <a:off x="514350" y="2095500"/>
            <a:ext cx="11211781" cy="3903954"/>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Sau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UBND </a:t>
            </a:r>
            <a:r>
              <a:rPr lang="en-US" sz="2400" dirty="0" err="1">
                <a:latin typeface="Times New Roman" panose="02020603050405020304" pitchFamily="18" charset="0"/>
                <a:cs typeface="Times New Roman" panose="02020603050405020304" pitchFamily="18" charset="0"/>
              </a:rPr>
              <a:t>tỉnh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HĐND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UBND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I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phạm</a:t>
            </a:r>
            <a:r>
              <a:rPr lang="en-US" sz="2400" dirty="0">
                <a:latin typeface="Times New Roman" panose="02020603050405020304" pitchFamily="18" charset="0"/>
                <a:cs typeface="Times New Roman" panose="02020603050405020304" pitchFamily="18" charset="0"/>
              </a:rPr>
              <a:t> vi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tầng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PL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vận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tầng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gửi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KBNN </a:t>
            </a:r>
            <a:r>
              <a:rPr lang="en-US" sz="2400" dirty="0" err="1">
                <a:latin typeface="Times New Roman" panose="02020603050405020304" pitchFamily="18" charset="0"/>
                <a:cs typeface="Times New Roman" panose="02020603050405020304" pitchFamily="18" charset="0"/>
              </a:rPr>
              <a:t>nơi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dịch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193713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05367-7071-3A58-1FBA-6C47B214D8D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DAD92D2-7C8D-FB07-8FF3-63C8CC315342}"/>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C955E2BF-B8EB-DEF6-4100-7929F422F34C}"/>
              </a:ext>
            </a:extLst>
          </p:cNvPr>
          <p:cNvSpPr txBox="1">
            <a:spLocks/>
          </p:cNvSpPr>
          <p:nvPr/>
        </p:nvSpPr>
        <p:spPr>
          <a:xfrm>
            <a:off x="344342" y="13385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Phân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bổ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và</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giao</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NS </a:t>
            </a:r>
            <a:r>
              <a:rPr lang="en-US" b="1" dirty="0" err="1">
                <a:solidFill>
                  <a:srgbClr val="FF0000"/>
                </a:solidFill>
                <a:latin typeface="Times New Roman" panose="02020603050405020304" pitchFamily="18" charset="0"/>
                <a:cs typeface="Times New Roman" panose="02020603050405020304" pitchFamily="18" charset="0"/>
              </a:rPr>
              <a:t>xã</a:t>
            </a:r>
            <a:endParaRPr lang="en-US" b="1" dirty="0">
              <a:latin typeface="Times New Roman" panose="02020603050405020304" pitchFamily="18" charset="0"/>
              <a:cs typeface="Times New Roman" panose="02020603050405020304" pitchFamily="18" charset="0"/>
            </a:endParaRP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3200" dirty="0"/>
          </a:p>
        </p:txBody>
      </p:sp>
      <p:sp>
        <p:nvSpPr>
          <p:cNvPr id="5" name="TextBox 4">
            <a:extLst>
              <a:ext uri="{FF2B5EF4-FFF2-40B4-BE49-F238E27FC236}">
                <a16:creationId xmlns:a16="http://schemas.microsoft.com/office/drawing/2014/main" id="{C4B733F0-B547-4685-550A-C7BB04242907}"/>
              </a:ext>
            </a:extLst>
          </p:cNvPr>
          <p:cNvSpPr txBox="1"/>
          <p:nvPr/>
        </p:nvSpPr>
        <p:spPr>
          <a:xfrm>
            <a:off x="232934" y="1898899"/>
            <a:ext cx="11726131" cy="4154984"/>
          </a:xfrm>
          <a:prstGeom prst="rect">
            <a:avLst/>
          </a:prstGeom>
          <a:noFill/>
        </p:spPr>
        <p:txBody>
          <a:bodyPr wrap="square" rtlCol="0">
            <a:spAutoFit/>
          </a:bodyPr>
          <a:lstStyle/>
          <a:p>
            <a:pPr algn="just"/>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I </a:t>
            </a:r>
            <a:r>
              <a:rPr lang="en-US" sz="2400" dirty="0" err="1">
                <a:latin typeface="Times New Roman" panose="02020603050405020304" pitchFamily="18" charset="0"/>
                <a:cs typeface="Times New Roman" panose="02020603050405020304" pitchFamily="18" charset="0"/>
              </a:rPr>
              <a:t>đã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tiết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lĩnh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hoặc</a:t>
            </a:r>
            <a:r>
              <a:rPr lang="en-US" sz="2400" dirty="0">
                <a:latin typeface="Times New Roman" panose="02020603050405020304" pitchFamily="18" charset="0"/>
                <a:cs typeface="Times New Roman" panose="02020603050405020304" pitchFamily="18" charset="0"/>
              </a:rPr>
              <a:t> UBND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p>
          <a:p>
            <a:pPr algn="just"/>
            <a:r>
              <a:rPr lang="en-US" sz="2400" dirty="0">
                <a:latin typeface="Times New Roman" panose="02020603050405020304" pitchFamily="18" charset="0"/>
                <a:cs typeface="Times New Roman" panose="02020603050405020304" pitchFamily="18" charset="0"/>
              </a:rPr>
              <a:t>Trường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đúng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tiết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lĩnh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I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chậm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10 </a:t>
            </a:r>
            <a:r>
              <a:rPr lang="en-US" sz="2400" dirty="0" err="1">
                <a:latin typeface="Times New Roman" panose="02020603050405020304" pitchFamily="18" charset="0"/>
                <a:cs typeface="Times New Roman" panose="02020603050405020304" pitchFamily="18" charset="0"/>
              </a:rPr>
              <a:t>ngày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ngày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Sau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I </a:t>
            </a:r>
            <a:r>
              <a:rPr lang="en-US" sz="2400" dirty="0" err="1">
                <a:latin typeface="Times New Roman" panose="02020603050405020304" pitchFamily="18" charset="0"/>
                <a:cs typeface="Times New Roman" panose="02020603050405020304" pitchFamily="18" charset="0"/>
              </a:rPr>
              <a:t>gửi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KBNN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a:t>
            </a:r>
          </a:p>
          <a:p>
            <a:pPr algn="just"/>
            <a:r>
              <a:rPr lang="en-US" sz="2400" dirty="0" err="1">
                <a:latin typeface="Times New Roman" panose="02020603050405020304" pitchFamily="18" charset="0"/>
                <a:cs typeface="Times New Roman" panose="02020603050405020304" pitchFamily="18" charset="0"/>
              </a:rPr>
              <a:t>Ngoài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thẩm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nào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đổi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352010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57AA6-E349-496D-469A-5793C58B924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70289A2-2C65-CAED-0387-5786D421754D}"/>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C7217211-559D-EBA6-6D21-934354EA19E9}"/>
              </a:ext>
            </a:extLst>
          </p:cNvPr>
          <p:cNvSpPr txBox="1">
            <a:spLocks/>
          </p:cNvSpPr>
          <p:nvPr/>
        </p:nvSpPr>
        <p:spPr>
          <a:xfrm>
            <a:off x="344342" y="13385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thu</a:t>
            </a:r>
            <a:r>
              <a:rPr lang="en-US" b="1" dirty="0">
                <a:solidFill>
                  <a:srgbClr val="FF0000"/>
                </a:solidFill>
                <a:latin typeface="Times New Roman" panose="02020603050405020304" pitchFamily="18" charset="0"/>
                <a:cs typeface="Times New Roman" panose="02020603050405020304" pitchFamily="18" charset="0"/>
              </a:rPr>
              <a:t> </a:t>
            </a:r>
          </a:p>
          <a:p>
            <a:pPr marL="0" indent="0">
              <a:buNone/>
            </a:pPr>
            <a:endParaRPr lang="en-US" sz="3200" dirty="0"/>
          </a:p>
        </p:txBody>
      </p:sp>
      <p:sp>
        <p:nvSpPr>
          <p:cNvPr id="5" name="TextBox 4">
            <a:extLst>
              <a:ext uri="{FF2B5EF4-FFF2-40B4-BE49-F238E27FC236}">
                <a16:creationId xmlns:a16="http://schemas.microsoft.com/office/drawing/2014/main" id="{811836EC-B477-4948-6F1E-513ED69B514C}"/>
              </a:ext>
            </a:extLst>
          </p:cNvPr>
          <p:cNvSpPr txBox="1"/>
          <p:nvPr/>
        </p:nvSpPr>
        <p:spPr>
          <a:xfrm>
            <a:off x="514350" y="2095500"/>
            <a:ext cx="11211781" cy="1569660"/>
          </a:xfrm>
          <a:prstGeom prst="rect">
            <a:avLst/>
          </a:prstGeom>
          <a:noFill/>
        </p:spPr>
        <p:txBody>
          <a:bodyPr wrap="square" rtlCol="0">
            <a:spAutoFit/>
          </a:bodyPr>
          <a:lstStyle/>
          <a:p>
            <a:pPr algn="just"/>
            <a:r>
              <a:rPr lang="vi-VN" sz="2400" dirty="0">
                <a:solidFill>
                  <a:srgbClr val="000000"/>
                </a:solidFill>
                <a:latin typeface="Times New Roman" panose="02020603050405020304" pitchFamily="18" charset="0"/>
              </a:rPr>
              <a:t>Tổ chức thực hiện thu ngân sách là quá trình sử dụng tổng hòa các biện pháp kinh tế, tài chính, hành chính nhằm biến các chỉ tiêu thu trong kế hoạch ngân sách xã thành hiện thực</a:t>
            </a:r>
            <a:endParaRPr lang="en-US" sz="2400" dirty="0">
              <a:solidFill>
                <a:srgbClr val="000000"/>
              </a:solidFill>
              <a:latin typeface="Times New Roman" panose="02020603050405020304" pitchFamily="18" charset="0"/>
            </a:endParaRPr>
          </a:p>
          <a:p>
            <a:pPr algn="just"/>
            <a:endParaRPr lang="en-US" sz="2400" b="1" i="1" dirty="0">
              <a:solidFill>
                <a:srgbClr val="000000"/>
              </a:solidFill>
              <a:latin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78632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A1FE8-D21F-C546-8E80-C169DFA9311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B9680FB-05C6-6E8B-F235-2B89B726C559}"/>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9C074CDE-E02F-DD29-07C4-66E1DEC8CC7D}"/>
              </a:ext>
            </a:extLst>
          </p:cNvPr>
          <p:cNvSpPr txBox="1">
            <a:spLocks/>
          </p:cNvSpPr>
          <p:nvPr/>
        </p:nvSpPr>
        <p:spPr>
          <a:xfrm>
            <a:off x="344342" y="13385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thu</a:t>
            </a:r>
            <a:r>
              <a:rPr lang="en-US" b="1" dirty="0">
                <a:solidFill>
                  <a:srgbClr val="FF0000"/>
                </a:solidFill>
                <a:latin typeface="Times New Roman" panose="02020603050405020304" pitchFamily="18" charset="0"/>
                <a:cs typeface="Times New Roman" panose="02020603050405020304" pitchFamily="18" charset="0"/>
              </a:rPr>
              <a:t> </a:t>
            </a:r>
          </a:p>
          <a:p>
            <a:pPr marL="0" indent="0">
              <a:buNone/>
            </a:pPr>
            <a:endParaRPr lang="en-US" sz="3200" dirty="0"/>
          </a:p>
        </p:txBody>
      </p:sp>
      <p:sp>
        <p:nvSpPr>
          <p:cNvPr id="7" name="TextBox 6">
            <a:extLst>
              <a:ext uri="{FF2B5EF4-FFF2-40B4-BE49-F238E27FC236}">
                <a16:creationId xmlns:a16="http://schemas.microsoft.com/office/drawing/2014/main" id="{1F10F424-3A0E-C659-F1F6-409B6C555206}"/>
              </a:ext>
            </a:extLst>
          </p:cNvPr>
          <p:cNvSpPr txBox="1"/>
          <p:nvPr/>
        </p:nvSpPr>
        <p:spPr>
          <a:xfrm>
            <a:off x="495299" y="2214880"/>
            <a:ext cx="11060823" cy="2712859"/>
          </a:xfrm>
          <a:prstGeom prst="rect">
            <a:avLst/>
          </a:prstGeom>
          <a:noFill/>
        </p:spPr>
        <p:txBody>
          <a:bodyPr wrap="square">
            <a:spAutoFit/>
          </a:bodyPr>
          <a:lstStyle/>
          <a:p>
            <a:pPr marL="0" indent="0" algn="just">
              <a:lnSpc>
                <a:spcPct val="120000"/>
              </a:lnSpc>
              <a:buNone/>
            </a:pPr>
            <a:r>
              <a:rPr lang="vi-VN" sz="2400" b="1" i="1" dirty="0">
                <a:latin typeface="Times New Roman" panose="02020603050405020304" pitchFamily="18" charset="0"/>
                <a:ea typeface="Times New Roman" panose="02020603050405020304" pitchFamily="18" charset="0"/>
                <a:cs typeface="Times New Roman" panose="02020603050405020304" pitchFamily="18" charset="0"/>
              </a:rPr>
              <a:t>- </a:t>
            </a:r>
            <a:r>
              <a:rPr lang="vi-VN" sz="2400" b="1" dirty="0">
                <a:latin typeface="Times New Roman" panose="02020603050405020304" pitchFamily="18" charset="0"/>
                <a:ea typeface="Times New Roman" panose="02020603050405020304" pitchFamily="18" charset="0"/>
                <a:cs typeface="Times New Roman" panose="02020603050405020304" pitchFamily="18" charset="0"/>
              </a:rPr>
              <a:t>Nguyên tắc chung</a:t>
            </a:r>
          </a:p>
          <a:p>
            <a:pPr marL="0" indent="0" algn="just">
              <a:lnSpc>
                <a:spcPct val="120000"/>
              </a:lnSpc>
              <a:buNone/>
            </a:pPr>
            <a:r>
              <a:rPr lang="vi-VN" sz="2400" dirty="0">
                <a:latin typeface="Times New Roman" panose="02020603050405020304" pitchFamily="18" charset="0"/>
                <a:cs typeface="Times New Roman" panose="02020603050405020304" pitchFamily="18" charset="0"/>
              </a:rPr>
              <a:t>	+ </a:t>
            </a:r>
            <a:r>
              <a:rPr lang="en-US" sz="2400" dirty="0">
                <a:solidFill>
                  <a:srgbClr val="000000"/>
                </a:solidFill>
                <a:effectLst/>
                <a:latin typeface="Times New Roman" panose="02020603050405020304" pitchFamily="18" charset="0"/>
                <a:cs typeface="Times New Roman" panose="02020603050405020304" pitchFamily="18" charset="0"/>
              </a:rPr>
              <a:t>Thu </a:t>
            </a:r>
            <a:r>
              <a:rPr lang="en-US" sz="2400" dirty="0" err="1">
                <a:solidFill>
                  <a:srgbClr val="000000"/>
                </a:solidFill>
                <a:effectLst/>
                <a:latin typeface="Times New Roman" panose="02020603050405020304" pitchFamily="18" charset="0"/>
                <a:cs typeface="Times New Roman" panose="02020603050405020304" pitchFamily="18" charset="0"/>
              </a:rPr>
              <a:t>đúng</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thu</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đủ</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các</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khoản</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thu</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theo</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quy</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định</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của</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pháp</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luật</a:t>
            </a:r>
            <a:endParaRPr lang="vi-VN" sz="2400" dirty="0">
              <a:solidFill>
                <a:srgbClr val="000000"/>
              </a:solidFill>
              <a:effectLst/>
              <a:latin typeface="Times New Roman" panose="02020603050405020304" pitchFamily="18" charset="0"/>
              <a:cs typeface="Times New Roman" panose="02020603050405020304" pitchFamily="18" charset="0"/>
            </a:endParaRPr>
          </a:p>
          <a:p>
            <a:pPr marL="0" indent="0">
              <a:lnSpc>
                <a:spcPct val="120000"/>
              </a:lnSpc>
              <a:buNone/>
            </a:pPr>
            <a:r>
              <a:rPr lang="vi-VN" sz="2400" dirty="0">
                <a:solidFill>
                  <a:srgbClr val="000000"/>
                </a:solidFill>
                <a:latin typeface="Times New Roman" panose="02020603050405020304" pitchFamily="18" charset="0"/>
                <a:cs typeface="Times New Roman" panose="02020603050405020304" pitchFamily="18" charset="0"/>
              </a:rPr>
              <a:t>	+ </a:t>
            </a:r>
            <a:r>
              <a:rPr lang="en-US" sz="2400" dirty="0" err="1">
                <a:solidFill>
                  <a:srgbClr val="000000"/>
                </a:solidFill>
                <a:effectLst/>
                <a:latin typeface="Times New Roman" panose="02020603050405020304" pitchFamily="18" charset="0"/>
                <a:cs typeface="Times New Roman" panose="02020603050405020304" pitchFamily="18" charset="0"/>
              </a:rPr>
              <a:t>Đảm</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bảo</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công</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khai</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minh</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bạch</a:t>
            </a:r>
            <a:r>
              <a:rPr lang="en-US" sz="2400" dirty="0">
                <a:latin typeface="Times New Roman" panose="02020603050405020304" pitchFamily="18" charset="0"/>
                <a:cs typeface="Times New Roman" panose="02020603050405020304" pitchFamily="18" charset="0"/>
              </a:rPr>
              <a:t> </a:t>
            </a:r>
            <a:endParaRPr lang="vi-VN" sz="2400" dirty="0">
              <a:latin typeface="Times New Roman" panose="02020603050405020304" pitchFamily="18" charset="0"/>
              <a:cs typeface="Times New Roman" panose="02020603050405020304" pitchFamily="18" charset="0"/>
            </a:endParaRPr>
          </a:p>
          <a:p>
            <a:pPr marL="0" indent="0">
              <a:lnSpc>
                <a:spcPct val="120000"/>
              </a:lnSpc>
              <a:buNone/>
            </a:pPr>
            <a:r>
              <a:rPr lang="vi-VN" sz="2400" dirty="0">
                <a:solidFill>
                  <a:srgbClr val="000000"/>
                </a:solidFill>
                <a:effectLst/>
                <a:latin typeface="Times New Roman" panose="02020603050405020304" pitchFamily="18" charset="0"/>
                <a:cs typeface="Times New Roman" panose="02020603050405020304" pitchFamily="18" charset="0"/>
              </a:rPr>
              <a:t>	+ </a:t>
            </a:r>
            <a:r>
              <a:rPr lang="en-US" sz="2400" dirty="0" err="1">
                <a:solidFill>
                  <a:srgbClr val="000000"/>
                </a:solidFill>
                <a:effectLst/>
                <a:latin typeface="Times New Roman" panose="02020603050405020304" pitchFamily="18" charset="0"/>
                <a:cs typeface="Times New Roman" panose="02020603050405020304" pitchFamily="18" charset="0"/>
              </a:rPr>
              <a:t>Hạch</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toán</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thu</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ngân</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sách</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đúng</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quy</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endParaRPr lang="vi-VN" sz="2400" dirty="0">
              <a:latin typeface="Times New Roman" panose="02020603050405020304" pitchFamily="18" charset="0"/>
              <a:cs typeface="Times New Roman" panose="02020603050405020304" pitchFamily="18" charset="0"/>
            </a:endParaRPr>
          </a:p>
          <a:p>
            <a:pPr marL="0" indent="0" algn="just">
              <a:lnSpc>
                <a:spcPct val="120000"/>
              </a:lnSpc>
              <a:buNone/>
            </a:pPr>
            <a:r>
              <a:rPr lang="vi-VN" sz="2400" dirty="0">
                <a:latin typeface="Times New Roman" panose="02020603050405020304" pitchFamily="18" charset="0"/>
                <a:cs typeface="Times New Roman" panose="02020603050405020304" pitchFamily="18" charset="0"/>
              </a:rPr>
              <a:t>	+ </a:t>
            </a:r>
            <a:r>
              <a:rPr lang="en-US" sz="2400" dirty="0" err="1">
                <a:solidFill>
                  <a:srgbClr val="000000"/>
                </a:solidFill>
                <a:effectLst/>
                <a:latin typeface="Times New Roman" panose="02020603050405020304" pitchFamily="18" charset="0"/>
                <a:cs typeface="Times New Roman" panose="02020603050405020304" pitchFamily="18" charset="0"/>
              </a:rPr>
              <a:t>Chủ</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động</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khai</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thác</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nguồn</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thu</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trên</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địa</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bàn</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thực</a:t>
            </a:r>
            <a:r>
              <a:rPr lang="en-US" sz="2400" dirty="0">
                <a:solidFill>
                  <a:srgbClr val="000000"/>
                </a:solidFill>
                <a:effectLst/>
                <a:latin typeface="Times New Roman" panose="02020603050405020304" pitchFamily="18" charset="0"/>
                <a:cs typeface="Times New Roman" panose="02020603050405020304" pitchFamily="18" charset="0"/>
              </a:rPr>
              <a:t> </a:t>
            </a:r>
            <a:r>
              <a:rPr lang="en-US" sz="2400" dirty="0" err="1">
                <a:solidFill>
                  <a:srgbClr val="000000"/>
                </a:solidFill>
                <a:effectLst/>
                <a:latin typeface="Times New Roman" panose="02020603050405020304" pitchFamily="18" charset="0"/>
                <a:cs typeface="Times New Roman" panose="02020603050405020304" pitchFamily="18" charset="0"/>
              </a:rPr>
              <a:t>hiện</a:t>
            </a:r>
            <a:r>
              <a:rPr lang="en-US" sz="2400" dirty="0">
                <a:solidFill>
                  <a:srgbClr val="000000"/>
                </a:solidFill>
                <a:effectLst/>
                <a:latin typeface="Times New Roman" panose="02020603050405020304" pitchFamily="18" charset="0"/>
                <a:cs typeface="Times New Roman" panose="02020603050405020304" pitchFamily="18" charset="0"/>
              </a:rPr>
              <a:t> </a:t>
            </a:r>
            <a:r>
              <a:rPr lang="vi-VN" sz="2400" dirty="0">
                <a:solidFill>
                  <a:srgbClr val="000000"/>
                </a:solidFill>
                <a:effectLst/>
                <a:latin typeface="Times New Roman" panose="02020603050405020304" pitchFamily="18" charset="0"/>
                <a:cs typeface="Times New Roman" panose="02020603050405020304" pitchFamily="18" charset="0"/>
              </a:rPr>
              <a:t>các mục tiêu phát triển KT – XH của xã</a:t>
            </a:r>
          </a:p>
        </p:txBody>
      </p:sp>
    </p:spTree>
    <p:extLst>
      <p:ext uri="{BB962C8B-B14F-4D97-AF65-F5344CB8AC3E}">
        <p14:creationId xmlns:p14="http://schemas.microsoft.com/office/powerpoint/2010/main" val="6931259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A47A4-A39D-D816-3A0C-A64D710B09C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9C858E7-4968-7CBF-4FFA-E028C7374971}"/>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F6372EAD-55FA-22E0-B295-A9BEBA16C90D}"/>
              </a:ext>
            </a:extLst>
          </p:cNvPr>
          <p:cNvSpPr txBox="1">
            <a:spLocks/>
          </p:cNvSpPr>
          <p:nvPr/>
        </p:nvSpPr>
        <p:spPr>
          <a:xfrm>
            <a:off x="344342" y="13385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thu</a:t>
            </a:r>
            <a:r>
              <a:rPr lang="en-US" b="1" dirty="0">
                <a:solidFill>
                  <a:srgbClr val="FF0000"/>
                </a:solidFill>
                <a:latin typeface="Times New Roman" panose="02020603050405020304" pitchFamily="18" charset="0"/>
                <a:cs typeface="Times New Roman" panose="02020603050405020304" pitchFamily="18" charset="0"/>
              </a:rPr>
              <a:t> </a:t>
            </a:r>
          </a:p>
          <a:p>
            <a:pPr marL="0" indent="0">
              <a:buNone/>
            </a:pPr>
            <a:endParaRPr lang="en-US" sz="3200" dirty="0"/>
          </a:p>
        </p:txBody>
      </p:sp>
      <p:sp>
        <p:nvSpPr>
          <p:cNvPr id="3" name="Content Placeholder 5">
            <a:extLst>
              <a:ext uri="{FF2B5EF4-FFF2-40B4-BE49-F238E27FC236}">
                <a16:creationId xmlns:a16="http://schemas.microsoft.com/office/drawing/2014/main" id="{E2EB0ECE-5CE4-F9F8-106A-DA4270FB15DB}"/>
              </a:ext>
            </a:extLst>
          </p:cNvPr>
          <p:cNvSpPr txBox="1">
            <a:spLocks/>
          </p:cNvSpPr>
          <p:nvPr/>
        </p:nvSpPr>
        <p:spPr>
          <a:xfrm>
            <a:off x="261257" y="1831782"/>
            <a:ext cx="11648995" cy="4998363"/>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Font typeface="Arial" panose="020B0604020202020204" pitchFamily="34" charset="0"/>
              <a:buNone/>
            </a:pPr>
            <a:r>
              <a:rPr lang="vi-VN" sz="3600" b="1" i="1" dirty="0">
                <a:solidFill>
                  <a:srgbClr val="C00000"/>
                </a:solidFill>
                <a:latin typeface="+mj-lt"/>
                <a:ea typeface="Times New Roman" panose="02020603050405020304" pitchFamily="18" charset="0"/>
                <a:cs typeface="Times New Roman" panose="02020603050405020304" pitchFamily="18" charset="0"/>
              </a:rPr>
              <a:t>Nguyên tắc t</a:t>
            </a:r>
            <a:r>
              <a:rPr lang="en-US" sz="3600" b="1" i="1" dirty="0">
                <a:solidFill>
                  <a:srgbClr val="C00000"/>
                </a:solidFill>
                <a:latin typeface="Times" panose="02020603050405020304" pitchFamily="18" charset="0"/>
                <a:cs typeface="Times" panose="02020603050405020304" pitchFamily="18" charset="0"/>
              </a:rPr>
              <a:t>hu </a:t>
            </a:r>
            <a:r>
              <a:rPr lang="en-US" sz="3600" b="1" i="1" dirty="0" err="1">
                <a:solidFill>
                  <a:srgbClr val="C00000"/>
                </a:solidFill>
                <a:latin typeface="Times" panose="02020603050405020304" pitchFamily="18" charset="0"/>
                <a:cs typeface="Times" panose="02020603050405020304" pitchFamily="18" charset="0"/>
              </a:rPr>
              <a:t>đúng</a:t>
            </a:r>
            <a:r>
              <a:rPr lang="en-US" sz="3600" b="1" i="1" dirty="0">
                <a:solidFill>
                  <a:srgbClr val="C00000"/>
                </a:solidFill>
                <a:latin typeface="Times" panose="02020603050405020304" pitchFamily="18" charset="0"/>
                <a:cs typeface="Times" panose="02020603050405020304" pitchFamily="18" charset="0"/>
              </a:rPr>
              <a:t>, </a:t>
            </a:r>
            <a:r>
              <a:rPr lang="en-US" sz="3600" b="1" i="1" dirty="0" err="1">
                <a:solidFill>
                  <a:srgbClr val="C00000"/>
                </a:solidFill>
                <a:latin typeface="Times" panose="02020603050405020304" pitchFamily="18" charset="0"/>
                <a:cs typeface="Times" panose="02020603050405020304" pitchFamily="18" charset="0"/>
              </a:rPr>
              <a:t>thu</a:t>
            </a:r>
            <a:r>
              <a:rPr lang="en-US" sz="3600" b="1" i="1" dirty="0">
                <a:solidFill>
                  <a:srgbClr val="C00000"/>
                </a:solidFill>
                <a:latin typeface="Times" panose="02020603050405020304" pitchFamily="18" charset="0"/>
                <a:cs typeface="Times" panose="02020603050405020304" pitchFamily="18" charset="0"/>
              </a:rPr>
              <a:t> </a:t>
            </a:r>
            <a:r>
              <a:rPr lang="en-US" sz="3600" b="1" i="1" dirty="0" err="1">
                <a:solidFill>
                  <a:srgbClr val="C00000"/>
                </a:solidFill>
                <a:latin typeface="Times" panose="02020603050405020304" pitchFamily="18" charset="0"/>
                <a:cs typeface="Times" panose="02020603050405020304" pitchFamily="18" charset="0"/>
              </a:rPr>
              <a:t>đủ</a:t>
            </a:r>
            <a:r>
              <a:rPr lang="en-US" sz="3600" b="1" i="1" dirty="0">
                <a:solidFill>
                  <a:srgbClr val="C00000"/>
                </a:solidFill>
                <a:latin typeface="Times" panose="02020603050405020304" pitchFamily="18" charset="0"/>
                <a:cs typeface="Times" panose="02020603050405020304" pitchFamily="18" charset="0"/>
              </a:rPr>
              <a:t> </a:t>
            </a:r>
            <a:r>
              <a:rPr lang="en-US" sz="3600" b="1" i="1" dirty="0" err="1">
                <a:solidFill>
                  <a:srgbClr val="C00000"/>
                </a:solidFill>
                <a:latin typeface="Times" panose="02020603050405020304" pitchFamily="18" charset="0"/>
                <a:cs typeface="Times" panose="02020603050405020304" pitchFamily="18" charset="0"/>
              </a:rPr>
              <a:t>các</a:t>
            </a:r>
            <a:r>
              <a:rPr lang="en-US" sz="3600" b="1" i="1" dirty="0">
                <a:solidFill>
                  <a:srgbClr val="C00000"/>
                </a:solidFill>
                <a:latin typeface="Times" panose="02020603050405020304" pitchFamily="18" charset="0"/>
                <a:cs typeface="Times" panose="02020603050405020304" pitchFamily="18" charset="0"/>
              </a:rPr>
              <a:t> </a:t>
            </a:r>
            <a:r>
              <a:rPr lang="en-US" sz="3600" b="1" i="1" dirty="0" err="1">
                <a:solidFill>
                  <a:srgbClr val="C00000"/>
                </a:solidFill>
                <a:latin typeface="Times" panose="02020603050405020304" pitchFamily="18" charset="0"/>
                <a:cs typeface="Times" panose="02020603050405020304" pitchFamily="18" charset="0"/>
              </a:rPr>
              <a:t>khoản</a:t>
            </a:r>
            <a:r>
              <a:rPr lang="en-US" sz="3600" b="1" i="1" dirty="0">
                <a:solidFill>
                  <a:srgbClr val="C00000"/>
                </a:solidFill>
                <a:latin typeface="Times" panose="02020603050405020304" pitchFamily="18" charset="0"/>
                <a:cs typeface="Times" panose="02020603050405020304" pitchFamily="18" charset="0"/>
              </a:rPr>
              <a:t> </a:t>
            </a:r>
            <a:r>
              <a:rPr lang="en-US" sz="3600" b="1" i="1" dirty="0" err="1">
                <a:solidFill>
                  <a:srgbClr val="C00000"/>
                </a:solidFill>
                <a:latin typeface="Times" panose="02020603050405020304" pitchFamily="18" charset="0"/>
                <a:cs typeface="Times" panose="02020603050405020304" pitchFamily="18" charset="0"/>
              </a:rPr>
              <a:t>thu</a:t>
            </a:r>
            <a:r>
              <a:rPr lang="en-US" sz="3600" b="1" i="1" dirty="0">
                <a:solidFill>
                  <a:srgbClr val="C00000"/>
                </a:solidFill>
                <a:latin typeface="Times" panose="02020603050405020304" pitchFamily="18" charset="0"/>
                <a:cs typeface="Times" panose="02020603050405020304" pitchFamily="18" charset="0"/>
              </a:rPr>
              <a:t> </a:t>
            </a:r>
            <a:r>
              <a:rPr lang="en-US" sz="3600" b="1" i="1" dirty="0" err="1">
                <a:solidFill>
                  <a:srgbClr val="C00000"/>
                </a:solidFill>
                <a:latin typeface="Times" panose="02020603050405020304" pitchFamily="18" charset="0"/>
                <a:cs typeface="Times" panose="02020603050405020304" pitchFamily="18" charset="0"/>
              </a:rPr>
              <a:t>theo</a:t>
            </a:r>
            <a:r>
              <a:rPr lang="en-US" sz="3600" b="1" i="1" dirty="0">
                <a:solidFill>
                  <a:srgbClr val="C00000"/>
                </a:solidFill>
                <a:latin typeface="Times" panose="02020603050405020304" pitchFamily="18" charset="0"/>
                <a:cs typeface="Times" panose="02020603050405020304" pitchFamily="18" charset="0"/>
              </a:rPr>
              <a:t> </a:t>
            </a:r>
            <a:r>
              <a:rPr lang="en-US" sz="3600" b="1" i="1" dirty="0" err="1">
                <a:solidFill>
                  <a:srgbClr val="C00000"/>
                </a:solidFill>
                <a:latin typeface="Times" panose="02020603050405020304" pitchFamily="18" charset="0"/>
                <a:cs typeface="Times" panose="02020603050405020304" pitchFamily="18" charset="0"/>
              </a:rPr>
              <a:t>quy</a:t>
            </a:r>
            <a:r>
              <a:rPr lang="en-US" sz="3600" b="1" i="1" dirty="0">
                <a:solidFill>
                  <a:srgbClr val="C00000"/>
                </a:solidFill>
                <a:latin typeface="Times" panose="02020603050405020304" pitchFamily="18" charset="0"/>
                <a:cs typeface="Times" panose="02020603050405020304" pitchFamily="18" charset="0"/>
              </a:rPr>
              <a:t> </a:t>
            </a:r>
            <a:r>
              <a:rPr lang="en-US" sz="3600" b="1" i="1" dirty="0" err="1">
                <a:solidFill>
                  <a:srgbClr val="C00000"/>
                </a:solidFill>
                <a:latin typeface="Times" panose="02020603050405020304" pitchFamily="18" charset="0"/>
                <a:cs typeface="Times" panose="02020603050405020304" pitchFamily="18" charset="0"/>
              </a:rPr>
              <a:t>định</a:t>
            </a:r>
            <a:r>
              <a:rPr lang="en-US" sz="3600" b="1" i="1" dirty="0">
                <a:solidFill>
                  <a:srgbClr val="C00000"/>
                </a:solidFill>
                <a:latin typeface="Times" panose="02020603050405020304" pitchFamily="18" charset="0"/>
                <a:cs typeface="Times" panose="02020603050405020304" pitchFamily="18" charset="0"/>
              </a:rPr>
              <a:t> </a:t>
            </a:r>
            <a:r>
              <a:rPr lang="en-US" sz="3600" b="1" i="1" dirty="0" err="1">
                <a:solidFill>
                  <a:srgbClr val="C00000"/>
                </a:solidFill>
                <a:latin typeface="Times" panose="02020603050405020304" pitchFamily="18" charset="0"/>
                <a:cs typeface="Times" panose="02020603050405020304" pitchFamily="18" charset="0"/>
              </a:rPr>
              <a:t>của</a:t>
            </a:r>
            <a:r>
              <a:rPr lang="en-US" sz="3600" b="1" i="1" dirty="0">
                <a:solidFill>
                  <a:srgbClr val="C00000"/>
                </a:solidFill>
                <a:latin typeface="Times" panose="02020603050405020304" pitchFamily="18" charset="0"/>
                <a:cs typeface="Times" panose="02020603050405020304" pitchFamily="18" charset="0"/>
              </a:rPr>
              <a:t> </a:t>
            </a:r>
            <a:r>
              <a:rPr lang="en-US" sz="3600" b="1" i="1" dirty="0" err="1">
                <a:solidFill>
                  <a:srgbClr val="C00000"/>
                </a:solidFill>
                <a:latin typeface="Times" panose="02020603050405020304" pitchFamily="18" charset="0"/>
                <a:cs typeface="Times" panose="02020603050405020304" pitchFamily="18" charset="0"/>
              </a:rPr>
              <a:t>pháp</a:t>
            </a:r>
            <a:r>
              <a:rPr lang="en-US" sz="3600" b="1" i="1" dirty="0">
                <a:solidFill>
                  <a:srgbClr val="C00000"/>
                </a:solidFill>
                <a:latin typeface="Times" panose="02020603050405020304" pitchFamily="18" charset="0"/>
                <a:cs typeface="Times" panose="02020603050405020304" pitchFamily="18" charset="0"/>
              </a:rPr>
              <a:t> </a:t>
            </a:r>
            <a:r>
              <a:rPr lang="en-US" sz="3600" b="1" i="1" dirty="0" err="1">
                <a:solidFill>
                  <a:srgbClr val="C00000"/>
                </a:solidFill>
                <a:latin typeface="Times" panose="02020603050405020304" pitchFamily="18" charset="0"/>
                <a:cs typeface="Times" panose="02020603050405020304" pitchFamily="18" charset="0"/>
              </a:rPr>
              <a:t>luật</a:t>
            </a:r>
            <a:endParaRPr lang="en-US" sz="3600" b="1" i="1" dirty="0">
              <a:solidFill>
                <a:srgbClr val="C00000"/>
              </a:solidFill>
              <a:latin typeface="Times" panose="02020603050405020304" pitchFamily="18" charset="0"/>
              <a:cs typeface="Times" panose="02020603050405020304" pitchFamily="18" charset="0"/>
            </a:endParaRPr>
          </a:p>
          <a:p>
            <a:pPr marL="0" indent="0" algn="just">
              <a:lnSpc>
                <a:spcPct val="120000"/>
              </a:lnSpc>
              <a:buFont typeface="Arial" panose="020B0604020202020204" pitchFamily="34" charset="0"/>
              <a:buNone/>
            </a:pPr>
            <a:r>
              <a:rPr lang="en-US" sz="3600" b="1" i="1" dirty="0">
                <a:solidFill>
                  <a:srgbClr val="C00000"/>
                </a:solidFill>
                <a:latin typeface="Times" panose="02020603050405020304" pitchFamily="18" charset="0"/>
                <a:cs typeface="Times" panose="02020603050405020304" pitchFamily="18" charset="0"/>
              </a:rPr>
              <a:t>	</a:t>
            </a:r>
            <a:r>
              <a:rPr lang="vi-VN" sz="3200" i="1" dirty="0">
                <a:solidFill>
                  <a:srgbClr val="000000"/>
                </a:solidFill>
                <a:latin typeface="Times New Roman" panose="02020603050405020304" pitchFamily="18" charset="0"/>
                <a:cs typeface="Times" panose="02020603050405020304" pitchFamily="18" charset="0"/>
              </a:rPr>
              <a:t> </a:t>
            </a:r>
            <a:r>
              <a:rPr lang="vi-VN" sz="3200" b="1" i="1" dirty="0">
                <a:solidFill>
                  <a:srgbClr val="000000"/>
                </a:solidFill>
                <a:latin typeface="Times" panose="02020603050405020304" pitchFamily="18" charset="0"/>
                <a:cs typeface="Times" panose="02020603050405020304" pitchFamily="18" charset="0"/>
              </a:rPr>
              <a:t> </a:t>
            </a:r>
            <a:r>
              <a:rPr lang="vi-VN" sz="3200" b="1" i="1" dirty="0">
                <a:solidFill>
                  <a:srgbClr val="000000"/>
                </a:solidFill>
                <a:latin typeface="Times New Roman" panose="02020603050405020304" pitchFamily="18" charset="0"/>
              </a:rPr>
              <a:t>Thu đúng, thu đủ được hiểu là quản lý thu để tránh bỏ sót nguồn thu cho NSX </a:t>
            </a:r>
          </a:p>
          <a:p>
            <a:pPr marL="0" indent="0" algn="just">
              <a:lnSpc>
                <a:spcPct val="120000"/>
              </a:lnSpc>
              <a:buFont typeface="Arial" panose="020B0604020202020204" pitchFamily="34" charset="0"/>
              <a:buNone/>
            </a:pPr>
            <a:r>
              <a:rPr lang="vi-VN" sz="3200" b="1" dirty="0">
                <a:solidFill>
                  <a:srgbClr val="000000"/>
                </a:solidFill>
                <a:latin typeface="Times" panose="02020603050405020304" pitchFamily="18" charset="0"/>
                <a:cs typeface="Times" panose="02020603050405020304" pitchFamily="18" charset="0"/>
              </a:rPr>
              <a:t>Lý do:</a:t>
            </a:r>
          </a:p>
          <a:p>
            <a:pPr marL="0" indent="0" algn="just">
              <a:lnSpc>
                <a:spcPct val="120000"/>
              </a:lnSpc>
              <a:buFont typeface="Arial" panose="020B0604020202020204" pitchFamily="34" charset="0"/>
              <a:buNone/>
            </a:pPr>
            <a:r>
              <a:rPr lang="vi-VN" sz="3300" b="1" dirty="0">
                <a:solidFill>
                  <a:srgbClr val="000000"/>
                </a:solidFill>
                <a:latin typeface="Times" panose="02020603050405020304" pitchFamily="18" charset="0"/>
                <a:cs typeface="Times" panose="02020603050405020304" pitchFamily="18" charset="0"/>
              </a:rPr>
              <a:t>	- N</a:t>
            </a:r>
            <a:r>
              <a:rPr lang="vi-VN" sz="3600" dirty="0">
                <a:solidFill>
                  <a:srgbClr val="000000"/>
                </a:solidFill>
                <a:latin typeface="Times New Roman" panose="02020603050405020304" pitchFamily="18" charset="0"/>
              </a:rPr>
              <a:t>ếu không đảm bảo được nguồn thu cho NSX nói riêng, NSNN nói chung sẽ phá vỡ các kế hoạch chi tiêu dự kiến của nhà nước, tác động tiêu cực đến quá trình phát triển của đất nước. </a:t>
            </a:r>
          </a:p>
          <a:p>
            <a:pPr marL="0" indent="0" algn="just">
              <a:lnSpc>
                <a:spcPct val="120000"/>
              </a:lnSpc>
              <a:buFont typeface="Arial" panose="020B0604020202020204" pitchFamily="34" charset="0"/>
              <a:buNone/>
            </a:pPr>
            <a:r>
              <a:rPr lang="vi-VN" sz="3600" dirty="0">
                <a:solidFill>
                  <a:srgbClr val="000000"/>
                </a:solidFill>
                <a:latin typeface="Times New Roman" panose="02020603050405020304" pitchFamily="18" charset="0"/>
                <a:cs typeface="Times" panose="02020603050405020304" pitchFamily="18" charset="0"/>
              </a:rPr>
              <a:t>	</a:t>
            </a:r>
            <a:r>
              <a:rPr lang="vi-VN" sz="3300" dirty="0">
                <a:solidFill>
                  <a:srgbClr val="000000"/>
                </a:solidFill>
                <a:latin typeface="Times New Roman" panose="02020603050405020304" pitchFamily="18" charset="0"/>
              </a:rPr>
              <a:t>- Xét trong năm tài chính, thực hiện nguyên tắc này này chính là đảm bảo thực hiện kế hoạch thu đã được ấn định</a:t>
            </a:r>
          </a:p>
          <a:p>
            <a:pPr marL="0" indent="0" algn="just">
              <a:lnSpc>
                <a:spcPct val="120000"/>
              </a:lnSpc>
              <a:buFont typeface="Arial" panose="020B0604020202020204" pitchFamily="34" charset="0"/>
              <a:buNone/>
            </a:pPr>
            <a:r>
              <a:rPr lang="vi-VN" sz="3300" dirty="0">
                <a:solidFill>
                  <a:srgbClr val="000000"/>
                </a:solidFill>
                <a:latin typeface="Times New Roman" panose="02020603050405020304" pitchFamily="18" charset="0"/>
              </a:rPr>
              <a:t> 	</a:t>
            </a:r>
            <a:r>
              <a:rPr lang="vi-VN" sz="3200" dirty="0">
                <a:solidFill>
                  <a:srgbClr val="000000"/>
                </a:solidFill>
                <a:latin typeface="Times New Roman" panose="02020603050405020304" pitchFamily="18" charset="0"/>
              </a:rPr>
              <a:t>Vì vậy, tổ chức thực hiện dự toán thu trước hết phải đảm bảo nguồn thu được tập trung một cách nhanh chóng, thường xuyên và ổn định</a:t>
            </a:r>
          </a:p>
          <a:p>
            <a:pPr marL="0" indent="0" algn="just">
              <a:lnSpc>
                <a:spcPct val="120000"/>
              </a:lnSpc>
              <a:buFont typeface="Arial" panose="020B0604020202020204" pitchFamily="34" charset="0"/>
              <a:buNone/>
            </a:pPr>
            <a:endParaRPr lang="en-US" dirty="0"/>
          </a:p>
        </p:txBody>
      </p:sp>
    </p:spTree>
    <p:extLst>
      <p:ext uri="{BB962C8B-B14F-4D97-AF65-F5344CB8AC3E}">
        <p14:creationId xmlns:p14="http://schemas.microsoft.com/office/powerpoint/2010/main" val="930579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8AC4E-7E72-00A9-07D8-1458EFBFC0B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ED75E56-0C4A-F695-ACC8-6DD141C2F721}"/>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AB387ABF-2A42-A200-35A7-8204240C52E3}"/>
              </a:ext>
            </a:extLst>
          </p:cNvPr>
          <p:cNvSpPr txBox="1">
            <a:spLocks/>
          </p:cNvSpPr>
          <p:nvPr/>
        </p:nvSpPr>
        <p:spPr>
          <a:xfrm>
            <a:off x="344342" y="13385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thu</a:t>
            </a:r>
            <a:r>
              <a:rPr lang="en-US" b="1" dirty="0">
                <a:solidFill>
                  <a:srgbClr val="FF0000"/>
                </a:solidFill>
                <a:latin typeface="Times New Roman" panose="02020603050405020304" pitchFamily="18" charset="0"/>
                <a:cs typeface="Times New Roman" panose="02020603050405020304" pitchFamily="18" charset="0"/>
              </a:rPr>
              <a:t> </a:t>
            </a:r>
          </a:p>
          <a:p>
            <a:pPr marL="0" indent="0">
              <a:buNone/>
            </a:pPr>
            <a:endParaRPr lang="en-US" sz="3200" dirty="0"/>
          </a:p>
        </p:txBody>
      </p:sp>
      <p:sp>
        <p:nvSpPr>
          <p:cNvPr id="5" name="Content Placeholder 5">
            <a:extLst>
              <a:ext uri="{FF2B5EF4-FFF2-40B4-BE49-F238E27FC236}">
                <a16:creationId xmlns:a16="http://schemas.microsoft.com/office/drawing/2014/main" id="{208FA74E-F09C-0491-C7EC-66AFE8A2555F}"/>
              </a:ext>
            </a:extLst>
          </p:cNvPr>
          <p:cNvSpPr txBox="1">
            <a:spLocks/>
          </p:cNvSpPr>
          <p:nvPr/>
        </p:nvSpPr>
        <p:spPr>
          <a:xfrm>
            <a:off x="153681" y="1860605"/>
            <a:ext cx="11860740" cy="4855240"/>
          </a:xfrm>
          <a:prstGeom prst="rect">
            <a:avLst/>
          </a:prstGeom>
        </p:spPr>
        <p:txBody>
          <a:bodyPr>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Font typeface="Arial" panose="020B0604020202020204" pitchFamily="34" charset="0"/>
              <a:buNone/>
            </a:pPr>
            <a:r>
              <a:rPr lang="en-US" sz="5100" b="1" i="1" dirty="0">
                <a:solidFill>
                  <a:srgbClr val="C00000"/>
                </a:solidFill>
                <a:latin typeface="+mj-lt"/>
                <a:ea typeface="Times New Roman" panose="02020603050405020304" pitchFamily="18" charset="0"/>
                <a:cs typeface="Times New Roman" panose="02020603050405020304" pitchFamily="18" charset="0"/>
              </a:rPr>
              <a:t>      </a:t>
            </a:r>
            <a:r>
              <a:rPr lang="vi-VN" sz="5100" b="1" i="1" dirty="0">
                <a:solidFill>
                  <a:srgbClr val="C00000"/>
                </a:solidFill>
                <a:latin typeface="+mj-lt"/>
                <a:ea typeface="Times New Roman" panose="02020603050405020304" pitchFamily="18" charset="0"/>
                <a:cs typeface="Times New Roman" panose="02020603050405020304" pitchFamily="18" charset="0"/>
              </a:rPr>
              <a:t>Nguyên tắc t</a:t>
            </a:r>
            <a:r>
              <a:rPr lang="en-US" sz="5100" b="1" i="1" dirty="0">
                <a:solidFill>
                  <a:srgbClr val="C00000"/>
                </a:solidFill>
                <a:latin typeface="Times" panose="02020603050405020304" pitchFamily="18" charset="0"/>
                <a:cs typeface="Times" panose="02020603050405020304" pitchFamily="18" charset="0"/>
              </a:rPr>
              <a:t>hu </a:t>
            </a:r>
            <a:r>
              <a:rPr lang="en-US" sz="5100" b="1" i="1" dirty="0" err="1">
                <a:solidFill>
                  <a:srgbClr val="C00000"/>
                </a:solidFill>
                <a:latin typeface="Times" panose="02020603050405020304" pitchFamily="18" charset="0"/>
                <a:cs typeface="Times" panose="02020603050405020304" pitchFamily="18" charset="0"/>
              </a:rPr>
              <a:t>đúng</a:t>
            </a:r>
            <a:r>
              <a:rPr lang="en-US" sz="5100" b="1" i="1" dirty="0">
                <a:solidFill>
                  <a:srgbClr val="C00000"/>
                </a:solidFill>
                <a:latin typeface="Times" panose="02020603050405020304" pitchFamily="18" charset="0"/>
                <a:cs typeface="Times" panose="02020603050405020304" pitchFamily="18" charset="0"/>
              </a:rPr>
              <a:t>, </a:t>
            </a:r>
            <a:r>
              <a:rPr lang="en-US" sz="5100" b="1" i="1" dirty="0" err="1">
                <a:solidFill>
                  <a:srgbClr val="C00000"/>
                </a:solidFill>
                <a:latin typeface="Times" panose="02020603050405020304" pitchFamily="18" charset="0"/>
                <a:cs typeface="Times" panose="02020603050405020304" pitchFamily="18" charset="0"/>
              </a:rPr>
              <a:t>thu</a:t>
            </a:r>
            <a:r>
              <a:rPr lang="en-US" sz="5100" b="1" i="1" dirty="0">
                <a:solidFill>
                  <a:srgbClr val="C00000"/>
                </a:solidFill>
                <a:latin typeface="Times" panose="02020603050405020304" pitchFamily="18" charset="0"/>
                <a:cs typeface="Times" panose="02020603050405020304" pitchFamily="18" charset="0"/>
              </a:rPr>
              <a:t> </a:t>
            </a:r>
            <a:r>
              <a:rPr lang="en-US" sz="5100" b="1" i="1" dirty="0" err="1">
                <a:solidFill>
                  <a:srgbClr val="C00000"/>
                </a:solidFill>
                <a:latin typeface="Times" panose="02020603050405020304" pitchFamily="18" charset="0"/>
                <a:cs typeface="Times" panose="02020603050405020304" pitchFamily="18" charset="0"/>
              </a:rPr>
              <a:t>đủ</a:t>
            </a:r>
            <a:r>
              <a:rPr lang="en-US" sz="5100" b="1" i="1" dirty="0">
                <a:solidFill>
                  <a:srgbClr val="C00000"/>
                </a:solidFill>
                <a:latin typeface="Times" panose="02020603050405020304" pitchFamily="18" charset="0"/>
                <a:cs typeface="Times" panose="02020603050405020304" pitchFamily="18" charset="0"/>
              </a:rPr>
              <a:t> </a:t>
            </a:r>
            <a:r>
              <a:rPr lang="en-US" sz="5100" b="1" i="1" dirty="0" err="1">
                <a:solidFill>
                  <a:srgbClr val="C00000"/>
                </a:solidFill>
                <a:latin typeface="Times" panose="02020603050405020304" pitchFamily="18" charset="0"/>
                <a:cs typeface="Times" panose="02020603050405020304" pitchFamily="18" charset="0"/>
              </a:rPr>
              <a:t>các</a:t>
            </a:r>
            <a:r>
              <a:rPr lang="en-US" sz="5100" b="1" i="1" dirty="0">
                <a:solidFill>
                  <a:srgbClr val="C00000"/>
                </a:solidFill>
                <a:latin typeface="Times" panose="02020603050405020304" pitchFamily="18" charset="0"/>
                <a:cs typeface="Times" panose="02020603050405020304" pitchFamily="18" charset="0"/>
              </a:rPr>
              <a:t> </a:t>
            </a:r>
            <a:r>
              <a:rPr lang="en-US" sz="5100" b="1" i="1" dirty="0" err="1">
                <a:solidFill>
                  <a:srgbClr val="C00000"/>
                </a:solidFill>
                <a:latin typeface="Times" panose="02020603050405020304" pitchFamily="18" charset="0"/>
                <a:cs typeface="Times" panose="02020603050405020304" pitchFamily="18" charset="0"/>
              </a:rPr>
              <a:t>khoản</a:t>
            </a:r>
            <a:r>
              <a:rPr lang="en-US" sz="5100" b="1" i="1" dirty="0">
                <a:solidFill>
                  <a:srgbClr val="C00000"/>
                </a:solidFill>
                <a:latin typeface="Times" panose="02020603050405020304" pitchFamily="18" charset="0"/>
                <a:cs typeface="Times" panose="02020603050405020304" pitchFamily="18" charset="0"/>
              </a:rPr>
              <a:t> </a:t>
            </a:r>
            <a:r>
              <a:rPr lang="en-US" sz="5100" b="1" i="1" dirty="0" err="1">
                <a:solidFill>
                  <a:srgbClr val="C00000"/>
                </a:solidFill>
                <a:latin typeface="Times" panose="02020603050405020304" pitchFamily="18" charset="0"/>
                <a:cs typeface="Times" panose="02020603050405020304" pitchFamily="18" charset="0"/>
              </a:rPr>
              <a:t>thu</a:t>
            </a:r>
            <a:r>
              <a:rPr lang="en-US" sz="5100" b="1" i="1" dirty="0">
                <a:solidFill>
                  <a:srgbClr val="C00000"/>
                </a:solidFill>
                <a:latin typeface="Times" panose="02020603050405020304" pitchFamily="18" charset="0"/>
                <a:cs typeface="Times" panose="02020603050405020304" pitchFamily="18" charset="0"/>
              </a:rPr>
              <a:t> </a:t>
            </a:r>
            <a:r>
              <a:rPr lang="en-US" sz="5100" b="1" i="1" dirty="0" err="1">
                <a:solidFill>
                  <a:srgbClr val="C00000"/>
                </a:solidFill>
                <a:latin typeface="Times" panose="02020603050405020304" pitchFamily="18" charset="0"/>
                <a:cs typeface="Times" panose="02020603050405020304" pitchFamily="18" charset="0"/>
              </a:rPr>
              <a:t>theo</a:t>
            </a:r>
            <a:r>
              <a:rPr lang="en-US" sz="5100" b="1" i="1" dirty="0">
                <a:solidFill>
                  <a:srgbClr val="C00000"/>
                </a:solidFill>
                <a:latin typeface="Times" panose="02020603050405020304" pitchFamily="18" charset="0"/>
                <a:cs typeface="Times" panose="02020603050405020304" pitchFamily="18" charset="0"/>
              </a:rPr>
              <a:t> </a:t>
            </a:r>
            <a:r>
              <a:rPr lang="en-US" sz="5100" b="1" i="1" dirty="0" err="1">
                <a:solidFill>
                  <a:srgbClr val="C00000"/>
                </a:solidFill>
                <a:latin typeface="Times" panose="02020603050405020304" pitchFamily="18" charset="0"/>
                <a:cs typeface="Times" panose="02020603050405020304" pitchFamily="18" charset="0"/>
              </a:rPr>
              <a:t>quy</a:t>
            </a:r>
            <a:r>
              <a:rPr lang="en-US" sz="5100" b="1" i="1" dirty="0">
                <a:solidFill>
                  <a:srgbClr val="C00000"/>
                </a:solidFill>
                <a:latin typeface="Times" panose="02020603050405020304" pitchFamily="18" charset="0"/>
                <a:cs typeface="Times" panose="02020603050405020304" pitchFamily="18" charset="0"/>
              </a:rPr>
              <a:t> </a:t>
            </a:r>
            <a:r>
              <a:rPr lang="en-US" sz="5100" b="1" i="1" dirty="0" err="1">
                <a:solidFill>
                  <a:srgbClr val="C00000"/>
                </a:solidFill>
                <a:latin typeface="Times" panose="02020603050405020304" pitchFamily="18" charset="0"/>
                <a:cs typeface="Times" panose="02020603050405020304" pitchFamily="18" charset="0"/>
              </a:rPr>
              <a:t>định</a:t>
            </a:r>
            <a:r>
              <a:rPr lang="en-US" sz="5100" b="1" i="1" dirty="0">
                <a:solidFill>
                  <a:srgbClr val="C00000"/>
                </a:solidFill>
                <a:latin typeface="Times" panose="02020603050405020304" pitchFamily="18" charset="0"/>
                <a:cs typeface="Times" panose="02020603050405020304" pitchFamily="18" charset="0"/>
              </a:rPr>
              <a:t> </a:t>
            </a:r>
            <a:r>
              <a:rPr lang="en-US" sz="5100" b="1" i="1" dirty="0" err="1">
                <a:solidFill>
                  <a:srgbClr val="C00000"/>
                </a:solidFill>
                <a:latin typeface="Times" panose="02020603050405020304" pitchFamily="18" charset="0"/>
                <a:cs typeface="Times" panose="02020603050405020304" pitchFamily="18" charset="0"/>
              </a:rPr>
              <a:t>của</a:t>
            </a:r>
            <a:r>
              <a:rPr lang="en-US" sz="5100" b="1" i="1" dirty="0">
                <a:solidFill>
                  <a:srgbClr val="C00000"/>
                </a:solidFill>
                <a:latin typeface="Times" panose="02020603050405020304" pitchFamily="18" charset="0"/>
                <a:cs typeface="Times" panose="02020603050405020304" pitchFamily="18" charset="0"/>
              </a:rPr>
              <a:t> </a:t>
            </a:r>
            <a:r>
              <a:rPr lang="en-US" sz="5100" b="1" i="1" dirty="0" err="1">
                <a:solidFill>
                  <a:srgbClr val="C00000"/>
                </a:solidFill>
                <a:latin typeface="Times" panose="02020603050405020304" pitchFamily="18" charset="0"/>
                <a:cs typeface="Times" panose="02020603050405020304" pitchFamily="18" charset="0"/>
              </a:rPr>
              <a:t>pháp</a:t>
            </a:r>
            <a:r>
              <a:rPr lang="en-US" sz="5100" b="1" i="1" dirty="0">
                <a:solidFill>
                  <a:srgbClr val="C00000"/>
                </a:solidFill>
                <a:latin typeface="Times" panose="02020603050405020304" pitchFamily="18" charset="0"/>
                <a:cs typeface="Times" panose="02020603050405020304" pitchFamily="18" charset="0"/>
              </a:rPr>
              <a:t> </a:t>
            </a:r>
            <a:r>
              <a:rPr lang="en-US" sz="5100" b="1" i="1" dirty="0" err="1">
                <a:solidFill>
                  <a:srgbClr val="C00000"/>
                </a:solidFill>
                <a:latin typeface="Times" panose="02020603050405020304" pitchFamily="18" charset="0"/>
                <a:cs typeface="Times" panose="02020603050405020304" pitchFamily="18" charset="0"/>
              </a:rPr>
              <a:t>luật</a:t>
            </a:r>
            <a:endParaRPr lang="vi-VN" sz="5100" b="1" i="1" dirty="0">
              <a:solidFill>
                <a:srgbClr val="C00000"/>
              </a:solidFill>
              <a:latin typeface="Times" panose="02020603050405020304" pitchFamily="18" charset="0"/>
              <a:cs typeface="Times" panose="02020603050405020304" pitchFamily="18" charset="0"/>
            </a:endParaRPr>
          </a:p>
          <a:p>
            <a:pPr marL="0" indent="0" algn="just">
              <a:lnSpc>
                <a:spcPct val="120000"/>
              </a:lnSpc>
              <a:buFont typeface="Arial" panose="020B0604020202020204" pitchFamily="34" charset="0"/>
              <a:buNone/>
            </a:pPr>
            <a:r>
              <a:rPr lang="vi-VN" sz="4500" b="1" dirty="0">
                <a:solidFill>
                  <a:srgbClr val="000000"/>
                </a:solidFill>
                <a:latin typeface="Times" panose="02020603050405020304" pitchFamily="18" charset="0"/>
                <a:cs typeface="Times" panose="02020603050405020304" pitchFamily="18" charset="0"/>
              </a:rPr>
              <a:t>	</a:t>
            </a:r>
            <a:endParaRPr lang="en-US" sz="4500" b="1" dirty="0">
              <a:solidFill>
                <a:srgbClr val="000000"/>
              </a:solidFill>
              <a:latin typeface="Times" panose="02020603050405020304" pitchFamily="18" charset="0"/>
              <a:cs typeface="Times" panose="02020603050405020304" pitchFamily="18" charset="0"/>
            </a:endParaRPr>
          </a:p>
          <a:p>
            <a:pPr marL="0" indent="0" algn="just">
              <a:lnSpc>
                <a:spcPct val="120000"/>
              </a:lnSpc>
              <a:buFont typeface="Arial" panose="020B0604020202020204" pitchFamily="34" charset="0"/>
              <a:buNone/>
            </a:pPr>
            <a:r>
              <a:rPr lang="vi-VN" sz="4500" b="1" dirty="0">
                <a:solidFill>
                  <a:srgbClr val="000000"/>
                </a:solidFill>
                <a:latin typeface="Times" panose="02020603050405020304" pitchFamily="18" charset="0"/>
                <a:cs typeface="Times" panose="02020603050405020304" pitchFamily="18" charset="0"/>
              </a:rPr>
              <a:t>Yêu cầu: </a:t>
            </a:r>
          </a:p>
          <a:p>
            <a:pPr marL="0" indent="0" algn="just">
              <a:lnSpc>
                <a:spcPct val="120000"/>
              </a:lnSpc>
              <a:buFont typeface="Arial" panose="020B0604020202020204" pitchFamily="34" charset="0"/>
              <a:buNone/>
            </a:pPr>
            <a:r>
              <a:rPr lang="en-US" sz="4500" b="1" dirty="0">
                <a:solidFill>
                  <a:srgbClr val="000000"/>
                </a:solidFill>
                <a:latin typeface="Times" panose="02020603050405020304" pitchFamily="18" charset="0"/>
                <a:cs typeface="Times" panose="02020603050405020304" pitchFamily="18" charset="0"/>
              </a:rPr>
              <a:t>	</a:t>
            </a:r>
            <a:r>
              <a:rPr lang="vi-VN" sz="4500" dirty="0">
                <a:solidFill>
                  <a:srgbClr val="000000"/>
                </a:solidFill>
                <a:latin typeface="Times New Roman" panose="02020603050405020304" pitchFamily="18" charset="0"/>
              </a:rPr>
              <a:t>- Nguyên tắc này cho phép các xã chỉ được thu vào NSX các khoản </a:t>
            </a:r>
            <a:r>
              <a:rPr lang="vi-VN" sz="4500" dirty="0">
                <a:solidFill>
                  <a:srgbClr val="FF0000"/>
                </a:solidFill>
                <a:latin typeface="Times New Roman" panose="02020603050405020304" pitchFamily="18" charset="0"/>
              </a:rPr>
              <a:t>được thu</a:t>
            </a:r>
            <a:r>
              <a:rPr lang="vi-VN" sz="4500" dirty="0">
                <a:solidFill>
                  <a:srgbClr val="000000"/>
                </a:solidFill>
                <a:latin typeface="Times New Roman" panose="02020603050405020304" pitchFamily="18" charset="0"/>
              </a:rPr>
              <a:t>, nếu thu vào ngân sách các khoản thu không đúng quy định hoặc thu ở các đối tượng thuộc diện được miễn, giảm thì phải hoàn trả. </a:t>
            </a:r>
          </a:p>
          <a:p>
            <a:pPr marL="0" indent="0" algn="just">
              <a:lnSpc>
                <a:spcPct val="120000"/>
              </a:lnSpc>
              <a:buFont typeface="Arial" panose="020B0604020202020204" pitchFamily="34" charset="0"/>
              <a:buNone/>
            </a:pPr>
            <a:r>
              <a:rPr lang="vi-VN" sz="4500" dirty="0">
                <a:solidFill>
                  <a:srgbClr val="000000"/>
                </a:solidFill>
                <a:latin typeface="Times New Roman" panose="02020603050405020304" pitchFamily="18" charset="0"/>
              </a:rPr>
              <a:t>	-  Thực hiện nguyên tắc thu đúng, thu đủ xã cũng cần lưu ý:</a:t>
            </a:r>
          </a:p>
          <a:p>
            <a:pPr marL="0" indent="0" algn="just">
              <a:lnSpc>
                <a:spcPct val="120000"/>
              </a:lnSpc>
              <a:buFont typeface="Arial" panose="020B0604020202020204" pitchFamily="34" charset="0"/>
              <a:buNone/>
            </a:pPr>
            <a:r>
              <a:rPr lang="vi-VN" sz="4500" dirty="0">
                <a:solidFill>
                  <a:srgbClr val="000000"/>
                </a:solidFill>
                <a:latin typeface="Times New Roman" panose="02020603050405020304" pitchFamily="18" charset="0"/>
              </a:rPr>
              <a:t>		</a:t>
            </a:r>
            <a:r>
              <a:rPr lang="vi-VN" sz="4500" b="1" dirty="0">
                <a:solidFill>
                  <a:srgbClr val="000000"/>
                </a:solidFill>
                <a:latin typeface="Times New Roman" panose="02020603050405020304" pitchFamily="18" charset="0"/>
              </a:rPr>
              <a:t>Không tăng thu bằng mọi giá</a:t>
            </a:r>
          </a:p>
          <a:p>
            <a:pPr marL="0" indent="0" algn="just">
              <a:lnSpc>
                <a:spcPct val="120000"/>
              </a:lnSpc>
              <a:buFont typeface="Arial" panose="020B0604020202020204" pitchFamily="34" charset="0"/>
              <a:buNone/>
            </a:pPr>
            <a:endParaRPr lang="vi-VN" sz="3300" dirty="0">
              <a:solidFill>
                <a:srgbClr val="000000"/>
              </a:solidFill>
              <a:latin typeface="Times New Roman" panose="02020603050405020304" pitchFamily="18" charset="0"/>
            </a:endParaRPr>
          </a:p>
          <a:p>
            <a:pPr marL="0" indent="0" algn="just">
              <a:lnSpc>
                <a:spcPct val="120000"/>
              </a:lnSpc>
              <a:buFont typeface="Arial" panose="020B0604020202020204" pitchFamily="34" charset="0"/>
              <a:buNone/>
            </a:pPr>
            <a:r>
              <a:rPr lang="vi-VN" dirty="0">
                <a:solidFill>
                  <a:srgbClr val="000000"/>
                </a:solidFill>
                <a:latin typeface="Times New Roman" panose="02020603050405020304" pitchFamily="18" charset="0"/>
              </a:rPr>
              <a:t>	</a:t>
            </a:r>
            <a:endParaRPr lang="en-US" dirty="0"/>
          </a:p>
        </p:txBody>
      </p:sp>
    </p:spTree>
    <p:extLst>
      <p:ext uri="{BB962C8B-B14F-4D97-AF65-F5344CB8AC3E}">
        <p14:creationId xmlns:p14="http://schemas.microsoft.com/office/powerpoint/2010/main" val="278342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txEl>
                                              <p:pRg st="7" end="7"/>
                                            </p:txEl>
                                          </p:spTgt>
                                        </p:tgtEl>
                                        <p:attrNameLst>
                                          <p:attrName>style.visibility</p:attrName>
                                        </p:attrNameLst>
                                      </p:cBhvr>
                                      <p:to>
                                        <p:strVal val="visible"/>
                                      </p:to>
                                    </p:set>
                                    <p:anim calcmode="lin" valueType="num">
                                      <p:cBhvr additive="base">
                                        <p:cTn id="43"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AAADB-682F-2D98-10ED-CD6BB2C3CDF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4EE7A81-BF53-A749-F0FB-D1AED853BA1C}"/>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580E1776-9B1D-6C46-3E05-9F84291F0B90}"/>
              </a:ext>
            </a:extLst>
          </p:cNvPr>
          <p:cNvSpPr txBox="1">
            <a:spLocks/>
          </p:cNvSpPr>
          <p:nvPr/>
        </p:nvSpPr>
        <p:spPr>
          <a:xfrm>
            <a:off x="344342" y="13385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thu</a:t>
            </a:r>
            <a:r>
              <a:rPr lang="en-US" b="1" dirty="0">
                <a:solidFill>
                  <a:srgbClr val="FF0000"/>
                </a:solidFill>
                <a:latin typeface="Times New Roman" panose="02020603050405020304" pitchFamily="18" charset="0"/>
                <a:cs typeface="Times New Roman" panose="02020603050405020304" pitchFamily="18" charset="0"/>
              </a:rPr>
              <a:t> </a:t>
            </a:r>
          </a:p>
          <a:p>
            <a:pPr marL="0" indent="0">
              <a:buNone/>
            </a:pPr>
            <a:endParaRPr lang="en-US" sz="3200" dirty="0"/>
          </a:p>
        </p:txBody>
      </p:sp>
      <p:sp>
        <p:nvSpPr>
          <p:cNvPr id="6" name="Content Placeholder 5">
            <a:extLst>
              <a:ext uri="{FF2B5EF4-FFF2-40B4-BE49-F238E27FC236}">
                <a16:creationId xmlns:a16="http://schemas.microsoft.com/office/drawing/2014/main" id="{B550B91C-A96E-1C10-18DF-E92DB0ED8035}"/>
              </a:ext>
            </a:extLst>
          </p:cNvPr>
          <p:cNvSpPr txBox="1">
            <a:spLocks/>
          </p:cNvSpPr>
          <p:nvPr/>
        </p:nvSpPr>
        <p:spPr>
          <a:xfrm>
            <a:off x="485029" y="2001941"/>
            <a:ext cx="11274949" cy="4675484"/>
          </a:xfrm>
          <a:prstGeom prst="rect">
            <a:avLst/>
          </a:prstGeom>
        </p:spPr>
        <p:txBody>
          <a:bodyP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Font typeface="Arial" panose="020B0604020202020204" pitchFamily="34" charset="0"/>
              <a:buNone/>
            </a:pPr>
            <a:r>
              <a:rPr lang="vi-VN" sz="3200" b="1" i="1">
                <a:solidFill>
                  <a:srgbClr val="C00000"/>
                </a:solidFill>
                <a:latin typeface="+mj-lt"/>
                <a:ea typeface="Times New Roman" panose="02020603050405020304" pitchFamily="18" charset="0"/>
                <a:cs typeface="Times New Roman" panose="02020603050405020304" pitchFamily="18" charset="0"/>
              </a:rPr>
              <a:t>Nguyên tắc t</a:t>
            </a:r>
            <a:r>
              <a:rPr lang="en-US" sz="3200" b="1" i="1">
                <a:solidFill>
                  <a:srgbClr val="C00000"/>
                </a:solidFill>
                <a:latin typeface="Times" panose="02020603050405020304" pitchFamily="18" charset="0"/>
                <a:cs typeface="Times" panose="02020603050405020304" pitchFamily="18" charset="0"/>
              </a:rPr>
              <a:t>hu đúng, thu đủ các khoản thu theo quy định của pháp luật</a:t>
            </a:r>
            <a:endParaRPr lang="vi-VN" sz="3200" b="1" i="1">
              <a:solidFill>
                <a:srgbClr val="C00000"/>
              </a:solidFill>
              <a:latin typeface="Times" panose="02020603050405020304" pitchFamily="18" charset="0"/>
              <a:cs typeface="Times" panose="02020603050405020304" pitchFamily="18" charset="0"/>
            </a:endParaRPr>
          </a:p>
          <a:p>
            <a:pPr marL="0" indent="0" algn="just">
              <a:lnSpc>
                <a:spcPct val="120000"/>
              </a:lnSpc>
              <a:buFont typeface="Arial" panose="020B0604020202020204" pitchFamily="34" charset="0"/>
              <a:buNone/>
            </a:pPr>
            <a:r>
              <a:rPr lang="vi-VN" sz="3200" b="1">
                <a:solidFill>
                  <a:srgbClr val="000000"/>
                </a:solidFill>
                <a:latin typeface="Times" panose="02020603050405020304" pitchFamily="18" charset="0"/>
                <a:cs typeface="Times" panose="02020603050405020304" pitchFamily="18" charset="0"/>
              </a:rPr>
              <a:t>	</a:t>
            </a:r>
            <a:r>
              <a:rPr lang="en-US" altLang="en-US" sz="3200" b="1" i="1">
                <a:latin typeface="Times" panose="02020603050405020304" pitchFamily="18" charset="0"/>
                <a:cs typeface="Times" panose="02020603050405020304" pitchFamily="18" charset="0"/>
              </a:rPr>
              <a:t>Thu đúng pháp luật</a:t>
            </a:r>
            <a:endParaRPr lang="vi-VN" altLang="en-US" sz="3200" b="1" i="1">
              <a:latin typeface="Times" panose="02020603050405020304" pitchFamily="18" charset="0"/>
              <a:cs typeface="Times" panose="02020603050405020304" pitchFamily="18" charset="0"/>
            </a:endParaRPr>
          </a:p>
          <a:p>
            <a:pPr marL="0" indent="0" algn="just">
              <a:lnSpc>
                <a:spcPct val="110000"/>
              </a:lnSpc>
              <a:buFont typeface="Arial" panose="020B0604020202020204" pitchFamily="34" charset="0"/>
              <a:buNone/>
            </a:pPr>
            <a:r>
              <a:rPr lang="vi-VN" altLang="en-US" sz="3200">
                <a:latin typeface="Times" panose="02020603050405020304" pitchFamily="18" charset="0"/>
                <a:cs typeface="Times" panose="02020603050405020304" pitchFamily="18" charset="0"/>
              </a:rPr>
              <a:t>		</a:t>
            </a:r>
            <a:r>
              <a:rPr lang="en-US" altLang="en-US" sz="3200">
                <a:latin typeface="Times" panose="02020603050405020304" pitchFamily="18" charset="0"/>
                <a:cs typeface="Times" panose="02020603050405020304" pitchFamily="18" charset="0"/>
              </a:rPr>
              <a:t>+ Đúng khoản được thu </a:t>
            </a:r>
            <a:endParaRPr lang="vi-VN" altLang="en-US" sz="3200">
              <a:latin typeface="Times" panose="02020603050405020304" pitchFamily="18" charset="0"/>
              <a:cs typeface="Times" panose="02020603050405020304" pitchFamily="18" charset="0"/>
            </a:endParaRPr>
          </a:p>
          <a:p>
            <a:pPr marL="0" indent="0" algn="just">
              <a:lnSpc>
                <a:spcPct val="110000"/>
              </a:lnSpc>
              <a:buFont typeface="Arial" panose="020B0604020202020204" pitchFamily="34" charset="0"/>
              <a:buNone/>
            </a:pPr>
            <a:r>
              <a:rPr lang="vi-VN" altLang="en-US" sz="3200">
                <a:latin typeface="Times" panose="02020603050405020304" pitchFamily="18" charset="0"/>
                <a:cs typeface="Times" panose="02020603050405020304" pitchFamily="18" charset="0"/>
              </a:rPr>
              <a:t>		</a:t>
            </a:r>
            <a:r>
              <a:rPr lang="en-US" altLang="en-US" sz="3200">
                <a:latin typeface="Times" panose="02020603050405020304" pitchFamily="18" charset="0"/>
                <a:cs typeface="Times" panose="02020603050405020304" pitchFamily="18" charset="0"/>
              </a:rPr>
              <a:t> + Đúng thẩm quyền </a:t>
            </a:r>
            <a:endParaRPr lang="vi-VN" altLang="en-US" sz="3200">
              <a:latin typeface="Times" panose="02020603050405020304" pitchFamily="18" charset="0"/>
              <a:cs typeface="Times" panose="02020603050405020304" pitchFamily="18" charset="0"/>
            </a:endParaRPr>
          </a:p>
          <a:p>
            <a:pPr marL="0" indent="0" algn="just">
              <a:lnSpc>
                <a:spcPct val="110000"/>
              </a:lnSpc>
              <a:buFont typeface="Arial" panose="020B0604020202020204" pitchFamily="34" charset="0"/>
              <a:buNone/>
            </a:pPr>
            <a:r>
              <a:rPr lang="vi-VN" altLang="en-US" sz="3200">
                <a:latin typeface="Times" panose="02020603050405020304" pitchFamily="18" charset="0"/>
                <a:cs typeface="Times" panose="02020603050405020304" pitchFamily="18" charset="0"/>
              </a:rPr>
              <a:t>		</a:t>
            </a:r>
            <a:r>
              <a:rPr lang="en-US" altLang="en-US" sz="3200">
                <a:latin typeface="Times" panose="02020603050405020304" pitchFamily="18" charset="0"/>
                <a:cs typeface="Times" panose="02020603050405020304" pitchFamily="18" charset="0"/>
              </a:rPr>
              <a:t> + Đúng quy trình</a:t>
            </a:r>
            <a:endParaRPr lang="vi-VN" altLang="en-US" sz="3200">
              <a:latin typeface="Times" panose="02020603050405020304" pitchFamily="18" charset="0"/>
              <a:cs typeface="Times" panose="02020603050405020304" pitchFamily="18" charset="0"/>
            </a:endParaRPr>
          </a:p>
          <a:p>
            <a:pPr marL="0" indent="0" algn="just">
              <a:lnSpc>
                <a:spcPct val="110000"/>
              </a:lnSpc>
              <a:buFont typeface="Arial" panose="020B0604020202020204" pitchFamily="34" charset="0"/>
              <a:buNone/>
            </a:pPr>
            <a:r>
              <a:rPr lang="vi-VN" altLang="en-US" sz="3200">
                <a:latin typeface="Times" panose="02020603050405020304" pitchFamily="18" charset="0"/>
                <a:cs typeface="Times" panose="02020603050405020304" pitchFamily="18" charset="0"/>
              </a:rPr>
              <a:t>		</a:t>
            </a:r>
            <a:r>
              <a:rPr lang="en-US" altLang="en-US" sz="3200">
                <a:latin typeface="Times" panose="02020603050405020304" pitchFamily="18" charset="0"/>
                <a:cs typeface="Times" panose="02020603050405020304" pitchFamily="18" charset="0"/>
              </a:rPr>
              <a:t> + Đúng thời hạn</a:t>
            </a:r>
            <a:endParaRPr lang="vi-VN" altLang="en-US" sz="3200">
              <a:latin typeface="Times" panose="02020603050405020304" pitchFamily="18" charset="0"/>
              <a:cs typeface="Times" panose="02020603050405020304" pitchFamily="18" charset="0"/>
            </a:endParaRPr>
          </a:p>
          <a:p>
            <a:pPr marL="0" indent="0" algn="just">
              <a:lnSpc>
                <a:spcPct val="110000"/>
              </a:lnSpc>
              <a:buFont typeface="Arial" panose="020B0604020202020204" pitchFamily="34" charset="0"/>
              <a:buNone/>
            </a:pPr>
            <a:r>
              <a:rPr lang="vi-VN" altLang="en-US" sz="3200">
                <a:latin typeface="Times" panose="02020603050405020304" pitchFamily="18" charset="0"/>
                <a:cs typeface="Times" panose="02020603050405020304" pitchFamily="18" charset="0"/>
              </a:rPr>
              <a:t>		</a:t>
            </a:r>
            <a:r>
              <a:rPr lang="en-US" altLang="en-US" sz="3200">
                <a:latin typeface="Times" panose="02020603050405020304" pitchFamily="18" charset="0"/>
                <a:cs typeface="Times" panose="02020603050405020304" pitchFamily="18" charset="0"/>
              </a:rPr>
              <a:t>+ Cân đối thu chi </a:t>
            </a:r>
          </a:p>
          <a:p>
            <a:pPr marL="0" indent="0" algn="just">
              <a:lnSpc>
                <a:spcPct val="120000"/>
              </a:lnSpc>
              <a:buFont typeface="Arial" panose="020B0604020202020204" pitchFamily="34" charset="0"/>
              <a:buNone/>
            </a:pPr>
            <a:r>
              <a:rPr lang="vi-VN" sz="3200">
                <a:solidFill>
                  <a:srgbClr val="000000"/>
                </a:solidFill>
                <a:latin typeface="Times New Roman" panose="02020603050405020304" pitchFamily="18" charset="0"/>
              </a:rPr>
              <a:t>	</a:t>
            </a:r>
            <a:endParaRPr lang="en-US" dirty="0"/>
          </a:p>
        </p:txBody>
      </p:sp>
    </p:spTree>
    <p:extLst>
      <p:ext uri="{BB962C8B-B14F-4D97-AF65-F5344CB8AC3E}">
        <p14:creationId xmlns:p14="http://schemas.microsoft.com/office/powerpoint/2010/main" val="14135881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B5EF4-6E8C-827F-6506-F85DD9CCA35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B656F53-19AE-3461-CB6C-E6D093A2A50C}"/>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6D284608-981C-DE98-19E2-BDB3FD21162F}"/>
              </a:ext>
            </a:extLst>
          </p:cNvPr>
          <p:cNvSpPr txBox="1">
            <a:spLocks/>
          </p:cNvSpPr>
          <p:nvPr/>
        </p:nvSpPr>
        <p:spPr>
          <a:xfrm>
            <a:off x="344342" y="13385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thu</a:t>
            </a:r>
            <a:r>
              <a:rPr lang="en-US" b="1" dirty="0">
                <a:solidFill>
                  <a:srgbClr val="FF0000"/>
                </a:solidFill>
                <a:latin typeface="Times New Roman" panose="02020603050405020304" pitchFamily="18" charset="0"/>
                <a:cs typeface="Times New Roman" panose="02020603050405020304" pitchFamily="18" charset="0"/>
              </a:rPr>
              <a:t> </a:t>
            </a:r>
          </a:p>
          <a:p>
            <a:pPr marL="0" indent="0">
              <a:buNone/>
            </a:pPr>
            <a:endParaRPr lang="en-US" sz="3200" dirty="0"/>
          </a:p>
        </p:txBody>
      </p:sp>
      <p:sp>
        <p:nvSpPr>
          <p:cNvPr id="3" name="Content Placeholder 5">
            <a:extLst>
              <a:ext uri="{FF2B5EF4-FFF2-40B4-BE49-F238E27FC236}">
                <a16:creationId xmlns:a16="http://schemas.microsoft.com/office/drawing/2014/main" id="{E92EEC1C-496B-6E58-40EA-60FB269C10E0}"/>
              </a:ext>
            </a:extLst>
          </p:cNvPr>
          <p:cNvSpPr txBox="1">
            <a:spLocks/>
          </p:cNvSpPr>
          <p:nvPr/>
        </p:nvSpPr>
        <p:spPr>
          <a:xfrm>
            <a:off x="294199" y="2001941"/>
            <a:ext cx="11465780" cy="474076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buFont typeface="Wingdings" panose="05000000000000000000" pitchFamily="2" charset="2"/>
              <a:buChar char="ü"/>
            </a:pPr>
            <a:r>
              <a:rPr lang="vi-VN" sz="3600" b="1" i="1" dirty="0">
                <a:solidFill>
                  <a:srgbClr val="C00000"/>
                </a:solidFill>
                <a:latin typeface="+mj-lt"/>
                <a:ea typeface="Times New Roman" panose="02020603050405020304" pitchFamily="18" charset="0"/>
                <a:cs typeface="Times New Roman" panose="02020603050405020304" pitchFamily="18" charset="0"/>
              </a:rPr>
              <a:t>Nguyên tắc đ</a:t>
            </a:r>
            <a:r>
              <a:rPr lang="en-US" sz="3600" b="1" i="1" dirty="0" err="1">
                <a:solidFill>
                  <a:srgbClr val="C00000"/>
                </a:solidFill>
                <a:latin typeface="Times" panose="02020603050405020304" pitchFamily="18" charset="0"/>
                <a:cs typeface="Times" panose="02020603050405020304" pitchFamily="18" charset="0"/>
              </a:rPr>
              <a:t>ảm</a:t>
            </a:r>
            <a:r>
              <a:rPr lang="en-US" sz="3600" b="1" i="1" dirty="0">
                <a:solidFill>
                  <a:srgbClr val="C00000"/>
                </a:solidFill>
                <a:latin typeface="Times" panose="02020603050405020304" pitchFamily="18" charset="0"/>
                <a:cs typeface="Times" panose="02020603050405020304" pitchFamily="18" charset="0"/>
              </a:rPr>
              <a:t> </a:t>
            </a:r>
            <a:r>
              <a:rPr lang="en-US" sz="3600" b="1" i="1" dirty="0" err="1">
                <a:solidFill>
                  <a:srgbClr val="C00000"/>
                </a:solidFill>
                <a:latin typeface="Times" panose="02020603050405020304" pitchFamily="18" charset="0"/>
                <a:cs typeface="Times" panose="02020603050405020304" pitchFamily="18" charset="0"/>
              </a:rPr>
              <a:t>bảo</a:t>
            </a:r>
            <a:r>
              <a:rPr lang="en-US" sz="3600" b="1" i="1" dirty="0">
                <a:solidFill>
                  <a:srgbClr val="C00000"/>
                </a:solidFill>
                <a:latin typeface="Times" panose="02020603050405020304" pitchFamily="18" charset="0"/>
                <a:cs typeface="Times" panose="02020603050405020304" pitchFamily="18" charset="0"/>
              </a:rPr>
              <a:t> </a:t>
            </a:r>
            <a:r>
              <a:rPr lang="en-US" sz="3600" b="1" i="1" dirty="0" err="1">
                <a:solidFill>
                  <a:srgbClr val="C00000"/>
                </a:solidFill>
                <a:latin typeface="Times" panose="02020603050405020304" pitchFamily="18" charset="0"/>
                <a:cs typeface="Times" panose="02020603050405020304" pitchFamily="18" charset="0"/>
              </a:rPr>
              <a:t>công</a:t>
            </a:r>
            <a:r>
              <a:rPr lang="en-US" sz="3600" b="1" i="1" dirty="0">
                <a:solidFill>
                  <a:srgbClr val="C00000"/>
                </a:solidFill>
                <a:latin typeface="Times" panose="02020603050405020304" pitchFamily="18" charset="0"/>
                <a:cs typeface="Times" panose="02020603050405020304" pitchFamily="18" charset="0"/>
              </a:rPr>
              <a:t> </a:t>
            </a:r>
            <a:r>
              <a:rPr lang="en-US" sz="3600" b="1" i="1" dirty="0" err="1">
                <a:solidFill>
                  <a:srgbClr val="C00000"/>
                </a:solidFill>
                <a:latin typeface="Times" panose="02020603050405020304" pitchFamily="18" charset="0"/>
                <a:cs typeface="Times" panose="02020603050405020304" pitchFamily="18" charset="0"/>
              </a:rPr>
              <a:t>khai</a:t>
            </a:r>
            <a:r>
              <a:rPr lang="en-US" sz="3600" b="1" i="1" dirty="0">
                <a:solidFill>
                  <a:srgbClr val="C00000"/>
                </a:solidFill>
                <a:latin typeface="Times" panose="02020603050405020304" pitchFamily="18" charset="0"/>
                <a:cs typeface="Times" panose="02020603050405020304" pitchFamily="18" charset="0"/>
              </a:rPr>
              <a:t>, </a:t>
            </a:r>
            <a:r>
              <a:rPr lang="en-US" sz="3600" b="1" i="1" dirty="0" err="1">
                <a:solidFill>
                  <a:srgbClr val="C00000"/>
                </a:solidFill>
                <a:latin typeface="Times" panose="02020603050405020304" pitchFamily="18" charset="0"/>
                <a:cs typeface="Times" panose="02020603050405020304" pitchFamily="18" charset="0"/>
              </a:rPr>
              <a:t>minh</a:t>
            </a:r>
            <a:r>
              <a:rPr lang="en-US" sz="3600" b="1" i="1" dirty="0">
                <a:solidFill>
                  <a:srgbClr val="C00000"/>
                </a:solidFill>
                <a:latin typeface="Times" panose="02020603050405020304" pitchFamily="18" charset="0"/>
                <a:cs typeface="Times" panose="02020603050405020304" pitchFamily="18" charset="0"/>
              </a:rPr>
              <a:t> </a:t>
            </a:r>
            <a:r>
              <a:rPr lang="vi-VN" sz="3600" b="1" i="1" dirty="0">
                <a:solidFill>
                  <a:srgbClr val="C00000"/>
                </a:solidFill>
                <a:latin typeface="Times" panose="02020603050405020304" pitchFamily="18" charset="0"/>
                <a:cs typeface="Times" panose="02020603050405020304" pitchFamily="18" charset="0"/>
              </a:rPr>
              <a:t>bạch,</a:t>
            </a:r>
            <a:r>
              <a:rPr lang="en-US" sz="3600" b="1" i="1" dirty="0">
                <a:solidFill>
                  <a:srgbClr val="C00000"/>
                </a:solidFill>
                <a:latin typeface="Times" panose="02020603050405020304" pitchFamily="18" charset="0"/>
                <a:cs typeface="Times" panose="02020603050405020304" pitchFamily="18" charset="0"/>
              </a:rPr>
              <a:t> </a:t>
            </a:r>
            <a:r>
              <a:rPr lang="vi-VN" sz="3600" b="1" i="1" dirty="0">
                <a:solidFill>
                  <a:srgbClr val="C00000"/>
                </a:solidFill>
                <a:latin typeface="Times" panose="02020603050405020304" pitchFamily="18" charset="0"/>
                <a:cs typeface="Times" panose="02020603050405020304" pitchFamily="18" charset="0"/>
              </a:rPr>
              <a:t>dân chủ</a:t>
            </a:r>
          </a:p>
          <a:p>
            <a:pPr marL="0" indent="0" algn="just">
              <a:lnSpc>
                <a:spcPct val="120000"/>
              </a:lnSpc>
              <a:buFont typeface="Arial" panose="020B0604020202020204" pitchFamily="34" charset="0"/>
              <a:buNone/>
            </a:pPr>
            <a:r>
              <a:rPr lang="vi-VN" sz="3600" dirty="0">
                <a:solidFill>
                  <a:srgbClr val="000000"/>
                </a:solidFill>
                <a:latin typeface="+mj-lt"/>
                <a:cs typeface="Times" panose="02020603050405020304" pitchFamily="18" charset="0"/>
              </a:rPr>
              <a:t>	</a:t>
            </a:r>
            <a:r>
              <a:rPr lang="vi-VN" sz="3600" b="1" dirty="0">
                <a:solidFill>
                  <a:srgbClr val="000000"/>
                </a:solidFill>
                <a:latin typeface="+mj-lt"/>
                <a:cs typeface="Times" panose="02020603050405020304" pitchFamily="18" charset="0"/>
              </a:rPr>
              <a:t>Lý do:</a:t>
            </a:r>
          </a:p>
          <a:p>
            <a:pPr marL="0" indent="0" algn="just">
              <a:lnSpc>
                <a:spcPct val="120000"/>
              </a:lnSpc>
              <a:buFont typeface="Arial" panose="020B0604020202020204" pitchFamily="34" charset="0"/>
              <a:buNone/>
            </a:pPr>
            <a:r>
              <a:rPr lang="vi-VN" sz="3600" dirty="0">
                <a:solidFill>
                  <a:srgbClr val="000000"/>
                </a:solidFill>
                <a:latin typeface="+mj-lt"/>
                <a:cs typeface="Times" panose="02020603050405020304" pitchFamily="18" charset="0"/>
              </a:rPr>
              <a:t>	</a:t>
            </a:r>
            <a:r>
              <a:rPr lang="vi-VN" sz="3600" dirty="0">
                <a:latin typeface="Times New Roman" panose="02020603050405020304" pitchFamily="18" charset="0"/>
                <a:cs typeface="Times New Roman" panose="02020603050405020304" pitchFamily="18" charset="0"/>
              </a:rPr>
              <a:t>Công khai NSX, trong đó có việc công khai trong thu NSX là </a:t>
            </a:r>
            <a:r>
              <a:rPr lang="vi-VN" sz="3600" b="1" dirty="0">
                <a:solidFill>
                  <a:srgbClr val="FF0000"/>
                </a:solidFill>
                <a:latin typeface="Times New Roman" panose="02020603050405020304" pitchFamily="18" charset="0"/>
                <a:cs typeface="Times New Roman" panose="02020603050405020304" pitchFamily="18" charset="0"/>
              </a:rPr>
              <a:t>quy định bắt buộc theo Luật NSNN 20</a:t>
            </a:r>
            <a:r>
              <a:rPr lang="en-US" sz="3600" b="1" dirty="0">
                <a:solidFill>
                  <a:srgbClr val="FF0000"/>
                </a:solidFill>
                <a:latin typeface="Times New Roman" panose="02020603050405020304" pitchFamily="18" charset="0"/>
                <a:cs typeface="Times New Roman" panose="02020603050405020304" pitchFamily="18" charset="0"/>
              </a:rPr>
              <a:t>25</a:t>
            </a:r>
            <a:endParaRPr lang="vi-VN" sz="3600" b="1" dirty="0">
              <a:solidFill>
                <a:srgbClr val="FF0000"/>
              </a:solidFill>
              <a:latin typeface="Times New Roman" panose="02020603050405020304" pitchFamily="18" charset="0"/>
              <a:cs typeface="Times New Roman" panose="02020603050405020304" pitchFamily="18" charset="0"/>
            </a:endParaRPr>
          </a:p>
          <a:p>
            <a:pPr marL="0" indent="0" algn="just">
              <a:lnSpc>
                <a:spcPct val="120000"/>
              </a:lnSpc>
              <a:buFont typeface="Arial" panose="020B0604020202020204" pitchFamily="34" charset="0"/>
              <a:buNone/>
            </a:pPr>
            <a:r>
              <a:rPr lang="vi-VN" sz="3600" dirty="0">
                <a:latin typeface="+mj-lt"/>
              </a:rPr>
              <a:t>	</a:t>
            </a:r>
          </a:p>
        </p:txBody>
      </p:sp>
    </p:spTree>
    <p:extLst>
      <p:ext uri="{BB962C8B-B14F-4D97-AF65-F5344CB8AC3E}">
        <p14:creationId xmlns:p14="http://schemas.microsoft.com/office/powerpoint/2010/main" val="28326479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6A949-21AC-4B23-B0D7-7C4990265B2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4EC5D9C-3B37-8411-662F-678EDD2E6503}"/>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09594B9B-D4ED-BD7B-734C-B69AC8DB24F9}"/>
              </a:ext>
            </a:extLst>
          </p:cNvPr>
          <p:cNvSpPr txBox="1">
            <a:spLocks/>
          </p:cNvSpPr>
          <p:nvPr/>
        </p:nvSpPr>
        <p:spPr>
          <a:xfrm>
            <a:off x="344342" y="13385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thu</a:t>
            </a:r>
            <a:r>
              <a:rPr lang="en-US" b="1" dirty="0">
                <a:solidFill>
                  <a:srgbClr val="FF0000"/>
                </a:solidFill>
                <a:latin typeface="Times New Roman" panose="02020603050405020304" pitchFamily="18" charset="0"/>
                <a:cs typeface="Times New Roman" panose="02020603050405020304" pitchFamily="18" charset="0"/>
              </a:rPr>
              <a:t> </a:t>
            </a:r>
          </a:p>
          <a:p>
            <a:pPr marL="0" indent="0">
              <a:buNone/>
            </a:pPr>
            <a:endParaRPr lang="en-US" sz="3200" dirty="0"/>
          </a:p>
        </p:txBody>
      </p:sp>
      <p:sp>
        <p:nvSpPr>
          <p:cNvPr id="5" name="Content Placeholder 5">
            <a:extLst>
              <a:ext uri="{FF2B5EF4-FFF2-40B4-BE49-F238E27FC236}">
                <a16:creationId xmlns:a16="http://schemas.microsoft.com/office/drawing/2014/main" id="{7826066A-6F16-B206-B07D-D517996782B3}"/>
              </a:ext>
            </a:extLst>
          </p:cNvPr>
          <p:cNvSpPr txBox="1">
            <a:spLocks/>
          </p:cNvSpPr>
          <p:nvPr/>
        </p:nvSpPr>
        <p:spPr>
          <a:xfrm>
            <a:off x="133350" y="2001941"/>
            <a:ext cx="12058650" cy="474076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buFont typeface="Wingdings" panose="05000000000000000000" pitchFamily="2" charset="2"/>
              <a:buChar char="ü"/>
            </a:pPr>
            <a:r>
              <a:rPr lang="vi-VN" sz="2400" b="1" i="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Nguyên tắc đ</a:t>
            </a:r>
            <a:r>
              <a:rPr lang="en-US" sz="2400" b="1" i="1" dirty="0" err="1">
                <a:solidFill>
                  <a:srgbClr val="C00000"/>
                </a:solidFill>
                <a:latin typeface="Times New Roman" panose="02020603050405020304" pitchFamily="18" charset="0"/>
                <a:cs typeface="Times New Roman" panose="02020603050405020304" pitchFamily="18" charset="0"/>
              </a:rPr>
              <a:t>ảm</a:t>
            </a:r>
            <a:r>
              <a:rPr lang="en-US" sz="2400" b="1" i="1" dirty="0">
                <a:solidFill>
                  <a:srgbClr val="C00000"/>
                </a:solidFill>
                <a:latin typeface="Times New Roman" panose="02020603050405020304" pitchFamily="18" charset="0"/>
                <a:cs typeface="Times New Roman" panose="02020603050405020304" pitchFamily="18" charset="0"/>
              </a:rPr>
              <a:t> </a:t>
            </a:r>
            <a:r>
              <a:rPr lang="en-US" sz="2400" b="1" i="1" dirty="0" err="1">
                <a:solidFill>
                  <a:srgbClr val="C00000"/>
                </a:solidFill>
                <a:latin typeface="Times New Roman" panose="02020603050405020304" pitchFamily="18" charset="0"/>
                <a:cs typeface="Times New Roman" panose="02020603050405020304" pitchFamily="18" charset="0"/>
              </a:rPr>
              <a:t>bảo</a:t>
            </a:r>
            <a:r>
              <a:rPr lang="en-US" sz="2400" b="1" i="1" dirty="0">
                <a:solidFill>
                  <a:srgbClr val="C00000"/>
                </a:solidFill>
                <a:latin typeface="Times New Roman" panose="02020603050405020304" pitchFamily="18" charset="0"/>
                <a:cs typeface="Times New Roman" panose="02020603050405020304" pitchFamily="18" charset="0"/>
              </a:rPr>
              <a:t> </a:t>
            </a:r>
            <a:r>
              <a:rPr lang="en-US" sz="2400" b="1" i="1" dirty="0" err="1">
                <a:solidFill>
                  <a:srgbClr val="C00000"/>
                </a:solidFill>
                <a:latin typeface="Times New Roman" panose="02020603050405020304" pitchFamily="18" charset="0"/>
                <a:cs typeface="Times New Roman" panose="02020603050405020304" pitchFamily="18" charset="0"/>
              </a:rPr>
              <a:t>công</a:t>
            </a:r>
            <a:r>
              <a:rPr lang="en-US" sz="2400" b="1" i="1" dirty="0">
                <a:solidFill>
                  <a:srgbClr val="C00000"/>
                </a:solidFill>
                <a:latin typeface="Times New Roman" panose="02020603050405020304" pitchFamily="18" charset="0"/>
                <a:cs typeface="Times New Roman" panose="02020603050405020304" pitchFamily="18" charset="0"/>
              </a:rPr>
              <a:t> </a:t>
            </a:r>
            <a:r>
              <a:rPr lang="en-US" sz="2400" b="1" i="1" dirty="0" err="1">
                <a:solidFill>
                  <a:srgbClr val="C00000"/>
                </a:solidFill>
                <a:latin typeface="Times New Roman" panose="02020603050405020304" pitchFamily="18" charset="0"/>
                <a:cs typeface="Times New Roman" panose="02020603050405020304" pitchFamily="18" charset="0"/>
              </a:rPr>
              <a:t>khai</a:t>
            </a:r>
            <a:r>
              <a:rPr lang="en-US" sz="2400" b="1" i="1" dirty="0">
                <a:solidFill>
                  <a:srgbClr val="C00000"/>
                </a:solidFill>
                <a:latin typeface="Times New Roman" panose="02020603050405020304" pitchFamily="18" charset="0"/>
                <a:cs typeface="Times New Roman" panose="02020603050405020304" pitchFamily="18" charset="0"/>
              </a:rPr>
              <a:t>, </a:t>
            </a:r>
            <a:r>
              <a:rPr lang="en-US" sz="2400" b="1" i="1" dirty="0" err="1">
                <a:solidFill>
                  <a:srgbClr val="C00000"/>
                </a:solidFill>
                <a:latin typeface="Times New Roman" panose="02020603050405020304" pitchFamily="18" charset="0"/>
                <a:cs typeface="Times New Roman" panose="02020603050405020304" pitchFamily="18" charset="0"/>
              </a:rPr>
              <a:t>minh</a:t>
            </a:r>
            <a:r>
              <a:rPr lang="en-US" sz="2400" b="1" i="1" dirty="0">
                <a:solidFill>
                  <a:srgbClr val="C00000"/>
                </a:solidFill>
                <a:latin typeface="Times New Roman" panose="02020603050405020304" pitchFamily="18" charset="0"/>
                <a:cs typeface="Times New Roman" panose="02020603050405020304" pitchFamily="18" charset="0"/>
              </a:rPr>
              <a:t> </a:t>
            </a:r>
            <a:r>
              <a:rPr lang="vi-VN" sz="2400" b="1" i="1" dirty="0">
                <a:solidFill>
                  <a:srgbClr val="C00000"/>
                </a:solidFill>
                <a:latin typeface="Times New Roman" panose="02020603050405020304" pitchFamily="18" charset="0"/>
                <a:cs typeface="Times New Roman" panose="02020603050405020304" pitchFamily="18" charset="0"/>
              </a:rPr>
              <a:t>bạch, dân chủ</a:t>
            </a:r>
          </a:p>
          <a:p>
            <a:pPr marL="0" indent="0" algn="just">
              <a:lnSpc>
                <a:spcPct val="120000"/>
              </a:lnSpc>
              <a:buFont typeface="Arial" panose="020B0604020202020204" pitchFamily="34" charset="0"/>
              <a:buNone/>
            </a:pPr>
            <a:r>
              <a:rPr lang="en-US" sz="2400" b="1" dirty="0">
                <a:solidFill>
                  <a:srgbClr val="000000"/>
                </a:solidFill>
                <a:latin typeface="Times New Roman" panose="02020603050405020304" pitchFamily="18" charset="0"/>
                <a:cs typeface="Times New Roman" panose="02020603050405020304" pitchFamily="18" charset="0"/>
              </a:rPr>
              <a:t>	</a:t>
            </a:r>
            <a:r>
              <a:rPr lang="vi-VN" sz="2400" b="1" dirty="0">
                <a:solidFill>
                  <a:srgbClr val="000000"/>
                </a:solidFill>
                <a:latin typeface="Times New Roman" panose="02020603050405020304" pitchFamily="18" charset="0"/>
                <a:cs typeface="Times New Roman" panose="02020603050405020304" pitchFamily="18" charset="0"/>
              </a:rPr>
              <a:t>Đòi hỏi</a:t>
            </a:r>
            <a:endParaRPr lang="vi-VN" sz="2400" b="1" dirty="0">
              <a:solidFill>
                <a:srgbClr val="FF0000"/>
              </a:solidFill>
              <a:latin typeface="Times New Roman" panose="02020603050405020304" pitchFamily="18" charset="0"/>
              <a:cs typeface="Times New Roman" panose="02020603050405020304" pitchFamily="18" charset="0"/>
            </a:endParaRPr>
          </a:p>
          <a:p>
            <a:pPr marL="0" indent="0" algn="just">
              <a:lnSpc>
                <a:spcPct val="120000"/>
              </a:lnSpc>
              <a:buFont typeface="Arial" panose="020B0604020202020204" pitchFamily="34" charset="0"/>
              <a:buNone/>
            </a:pPr>
            <a:r>
              <a:rPr lang="vi-VN" sz="2400" dirty="0">
                <a:latin typeface="Times New Roman" panose="02020603050405020304" pitchFamily="18" charset="0"/>
                <a:cs typeface="Times New Roman" panose="02020603050405020304" pitchFamily="18" charset="0"/>
              </a:rPr>
              <a:t>	- Chính quyền công khai quy trình, thủ tục thu ngân sách</a:t>
            </a:r>
          </a:p>
          <a:p>
            <a:pPr marL="0" indent="0" algn="just">
              <a:lnSpc>
                <a:spcPct val="120000"/>
              </a:lnSpc>
              <a:buFont typeface="Arial" panose="020B0604020202020204" pitchFamily="34" charset="0"/>
              <a:buNone/>
            </a:pPr>
            <a:r>
              <a:rPr lang="vi-VN" sz="2400" dirty="0">
                <a:latin typeface="Times New Roman" panose="02020603050405020304" pitchFamily="18" charset="0"/>
                <a:cs typeface="Times New Roman" panose="02020603050405020304" pitchFamily="18" charset="0"/>
              </a:rPr>
              <a:t>	- Người dân có quyền được biết, được bàn bạc và kiểm tra đối với các khoản xã được thu.</a:t>
            </a:r>
          </a:p>
          <a:p>
            <a:pPr marL="0" indent="0" algn="just">
              <a:lnSpc>
                <a:spcPct val="120000"/>
              </a:lnSpc>
              <a:buFont typeface="Arial" panose="020B0604020202020204" pitchFamily="34" charset="0"/>
              <a:buNone/>
            </a:pPr>
            <a:r>
              <a:rPr lang="vi-VN" sz="2400" dirty="0">
                <a:latin typeface="Times New Roman" panose="02020603050405020304" pitchFamily="18" charset="0"/>
                <a:cs typeface="Times New Roman" panose="02020603050405020304" pitchFamily="18" charset="0"/>
              </a:rPr>
              <a:t>	- Công khai, minh bạch cần được thực hiện trước, trong và sau quá trình tổ chức thu nộp</a:t>
            </a:r>
            <a:r>
              <a:rPr lang="en-US" sz="2400" dirty="0">
                <a:latin typeface="Times New Roman" panose="02020603050405020304" pitchFamily="18" charset="0"/>
                <a:cs typeface="Times New Roman" panose="02020603050405020304" pitchFamily="18" charset="0"/>
              </a:rPr>
              <a:t>.</a:t>
            </a:r>
          </a:p>
          <a:p>
            <a:pPr marL="0" indent="0" algn="just">
              <a:lnSpc>
                <a:spcPct val="120000"/>
              </a:lnSpc>
              <a:buNone/>
            </a:pP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 Thông tin và số liệu thu NSX cần được báo cáo theo đúng quy định về công khai ngân sách theo Luật NSNN.</a:t>
            </a:r>
          </a:p>
          <a:p>
            <a:pPr marL="0" indent="0" algn="just">
              <a:lnSpc>
                <a:spcPct val="120000"/>
              </a:lnSpc>
              <a:buFont typeface="Arial" panose="020B0604020202020204" pitchFamily="34" charset="0"/>
              <a:buNone/>
            </a:pPr>
            <a:r>
              <a:rPr lang="vi-V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839028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C85A4-F670-B4DF-B181-483C2CF8D84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3F868E3-7DDD-8A29-8C55-9A6DD1148433}"/>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B7423999-6A61-3264-1A25-D51039CBAFA1}"/>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thu</a:t>
            </a:r>
            <a:r>
              <a:rPr lang="en-US" b="1" dirty="0">
                <a:solidFill>
                  <a:srgbClr val="FF0000"/>
                </a:solidFill>
                <a:latin typeface="Times New Roman" panose="02020603050405020304" pitchFamily="18" charset="0"/>
                <a:cs typeface="Times New Roman" panose="02020603050405020304" pitchFamily="18" charset="0"/>
              </a:rPr>
              <a:t> </a:t>
            </a:r>
          </a:p>
          <a:p>
            <a:pPr marL="0" indent="0">
              <a:buNone/>
            </a:pPr>
            <a:endParaRPr lang="en-US" sz="3200" dirty="0"/>
          </a:p>
        </p:txBody>
      </p:sp>
      <p:sp>
        <p:nvSpPr>
          <p:cNvPr id="5" name="TextBox 4">
            <a:extLst>
              <a:ext uri="{FF2B5EF4-FFF2-40B4-BE49-F238E27FC236}">
                <a16:creationId xmlns:a16="http://schemas.microsoft.com/office/drawing/2014/main" id="{1DDC1A44-9B4A-59AA-053D-0004D3039E22}"/>
              </a:ext>
            </a:extLst>
          </p:cNvPr>
          <p:cNvSpPr txBox="1"/>
          <p:nvPr/>
        </p:nvSpPr>
        <p:spPr>
          <a:xfrm>
            <a:off x="36658" y="1798030"/>
            <a:ext cx="12001500" cy="3933384"/>
          </a:xfrm>
          <a:prstGeom prst="rect">
            <a:avLst/>
          </a:prstGeom>
          <a:noFill/>
        </p:spPr>
        <p:txBody>
          <a:bodyPr wrap="square" rtlCol="0">
            <a:spAutoFit/>
          </a:bodyPr>
          <a:lstStyle/>
          <a:p>
            <a:pPr algn="just">
              <a:lnSpc>
                <a:spcPct val="120000"/>
              </a:lnSpc>
            </a:pPr>
            <a:r>
              <a:rPr lang="vi-VN" sz="2400" dirty="0">
                <a:latin typeface="Times New Roman" pitchFamily="18" charset="0"/>
                <a:cs typeface="Times New Roman" pitchFamily="18" charset="0"/>
              </a:rPr>
              <a:t>+ Thực hiện các khoản thu về thuế, phí, lệ phí, các khoản vay và các khoản thu khác trên cơ sở hệ thống pháp luật hiện hành</a:t>
            </a:r>
          </a:p>
          <a:p>
            <a:pPr algn="just">
              <a:lnSpc>
                <a:spcPct val="120000"/>
              </a:lnSpc>
            </a:pPr>
            <a:r>
              <a:rPr lang="vi-VN" sz="2400" dirty="0">
                <a:latin typeface="Times" panose="02020603050405020304" pitchFamily="18" charset="0"/>
                <a:cs typeface="Times" panose="02020603050405020304" pitchFamily="18" charset="0"/>
              </a:rPr>
              <a:t>+ Các tổ chức cá nhân có nghĩa vụ nộp đầy đủ, đúng hạn các khoản thuế, phí, lệ phí và các khoản thu khác vào </a:t>
            </a:r>
            <a:r>
              <a:rPr lang="en-US" sz="2400" dirty="0">
                <a:latin typeface="Times" panose="02020603050405020304" pitchFamily="18" charset="0"/>
                <a:cs typeface="Times" panose="02020603050405020304" pitchFamily="18" charset="0"/>
              </a:rPr>
              <a:t>NSNN </a:t>
            </a:r>
            <a:r>
              <a:rPr lang="vi-VN" sz="2400" dirty="0">
                <a:latin typeface="Times" panose="02020603050405020304" pitchFamily="18" charset="0"/>
                <a:cs typeface="Times" panose="02020603050405020304" pitchFamily="18" charset="0"/>
              </a:rPr>
              <a:t>theo quy định của </a:t>
            </a:r>
            <a:r>
              <a:rPr lang="en-US" sz="2400" dirty="0">
                <a:latin typeface="Times" panose="02020603050405020304" pitchFamily="18" charset="0"/>
                <a:cs typeface="Times" panose="02020603050405020304" pitchFamily="18" charset="0"/>
              </a:rPr>
              <a:t>PL</a:t>
            </a:r>
            <a:endParaRPr lang="vi-VN" sz="2400" dirty="0">
              <a:latin typeface="Times" panose="02020603050405020304" pitchFamily="18" charset="0"/>
              <a:cs typeface="Times" panose="02020603050405020304" pitchFamily="18" charset="0"/>
            </a:endParaRPr>
          </a:p>
          <a:p>
            <a:pPr algn="just">
              <a:lnSpc>
                <a:spcPct val="120000"/>
              </a:lnSpc>
            </a:pPr>
            <a:r>
              <a:rPr lang="vi-VN" sz="2400" dirty="0">
                <a:latin typeface="Times" panose="02020603050405020304" pitchFamily="18" charset="0"/>
                <a:cs typeface="Times" panose="02020603050405020304" pitchFamily="18" charset="0"/>
              </a:rPr>
              <a:t>+ </a:t>
            </a:r>
            <a:r>
              <a:rPr lang="en-US" sz="2400" dirty="0">
                <a:latin typeface="Times" panose="02020603050405020304" pitchFamily="18" charset="0"/>
                <a:cs typeface="Times" panose="02020603050405020304" pitchFamily="18" charset="0"/>
              </a:rPr>
              <a:t>T</a:t>
            </a:r>
            <a:r>
              <a:rPr lang="vi-VN" sz="2400" dirty="0">
                <a:latin typeface="Times" panose="02020603050405020304" pitchFamily="18" charset="0"/>
                <a:cs typeface="Times" panose="02020603050405020304" pitchFamily="18" charset="0"/>
              </a:rPr>
              <a:t>oàn bộ các khoản thu </a:t>
            </a:r>
            <a:r>
              <a:rPr lang="en-US" sz="2400" dirty="0">
                <a:latin typeface="Times" panose="02020603050405020304" pitchFamily="18" charset="0"/>
                <a:cs typeface="Times" panose="02020603050405020304" pitchFamily="18" charset="0"/>
              </a:rPr>
              <a:t>NSNN </a:t>
            </a:r>
            <a:r>
              <a:rPr lang="vi-VN" sz="2400" dirty="0">
                <a:latin typeface="Times" panose="02020603050405020304" pitchFamily="18" charset="0"/>
                <a:cs typeface="Times" panose="02020603050405020304" pitchFamily="18" charset="0"/>
              </a:rPr>
              <a:t>phải thực hiện qua </a:t>
            </a:r>
            <a:r>
              <a:rPr lang="en-US" sz="2400" dirty="0">
                <a:latin typeface="Times" panose="02020603050405020304" pitchFamily="18" charset="0"/>
                <a:cs typeface="Times" panose="02020603050405020304" pitchFamily="18" charset="0"/>
              </a:rPr>
              <a:t>KBNN</a:t>
            </a:r>
            <a:r>
              <a:rPr lang="vi-VN" sz="2400" dirty="0">
                <a:latin typeface="Times" panose="02020603050405020304" pitchFamily="18" charset="0"/>
                <a:cs typeface="Times" panose="02020603050405020304" pitchFamily="18" charset="0"/>
              </a:rPr>
              <a:t>, trừ một số trường hợp có thể được thực hiện thu qua ngân hàng được ủy quyền bởi KBNN</a:t>
            </a:r>
          </a:p>
          <a:p>
            <a:pPr algn="just">
              <a:lnSpc>
                <a:spcPct val="120000"/>
              </a:lnSpc>
            </a:pPr>
            <a:r>
              <a:rPr lang="vi-VN" sz="2400" dirty="0">
                <a:latin typeface="Times" panose="02020603050405020304" pitchFamily="18" charset="0"/>
                <a:cs typeface="Times" panose="02020603050405020304" pitchFamily="18" charset="0"/>
              </a:rPr>
              <a:t>+ Đảm bảo theo luật định về số thu và thời hạn.</a:t>
            </a:r>
            <a:endParaRPr lang="en-US" sz="2400" dirty="0">
              <a:latin typeface="Times" panose="02020603050405020304" pitchFamily="18" charset="0"/>
              <a:cs typeface="Times" panose="02020603050405020304" pitchFamily="18" charset="0"/>
            </a:endParaRPr>
          </a:p>
          <a:p>
            <a:pPr algn="just"/>
            <a:endParaRPr lang="en-US" sz="2400" dirty="0">
              <a:solidFill>
                <a:srgbClr val="000000"/>
              </a:solidFill>
              <a:latin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16036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370E4-215F-7F42-87F0-A21BB42665B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7F4EF13-0D58-196D-3B83-78D64CF4EDBE}"/>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919AB791-0053-F7FC-FF6B-047868A7DED3}"/>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thu</a:t>
            </a:r>
            <a:r>
              <a:rPr lang="en-US" b="1" dirty="0">
                <a:solidFill>
                  <a:srgbClr val="FF0000"/>
                </a:solidFill>
                <a:latin typeface="Times New Roman" panose="02020603050405020304" pitchFamily="18" charset="0"/>
                <a:cs typeface="Times New Roman" panose="02020603050405020304" pitchFamily="18" charset="0"/>
              </a:rPr>
              <a:t> </a:t>
            </a:r>
          </a:p>
          <a:p>
            <a:pPr marL="0" indent="0">
              <a:buNone/>
            </a:pPr>
            <a:endParaRPr lang="en-US" sz="3200" dirty="0"/>
          </a:p>
        </p:txBody>
      </p:sp>
      <p:sp>
        <p:nvSpPr>
          <p:cNvPr id="5" name="TextBox 4">
            <a:extLst>
              <a:ext uri="{FF2B5EF4-FFF2-40B4-BE49-F238E27FC236}">
                <a16:creationId xmlns:a16="http://schemas.microsoft.com/office/drawing/2014/main" id="{5C4DC982-00DD-94C5-9496-654D9D4060C6}"/>
              </a:ext>
            </a:extLst>
          </p:cNvPr>
          <p:cNvSpPr txBox="1"/>
          <p:nvPr/>
        </p:nvSpPr>
        <p:spPr>
          <a:xfrm>
            <a:off x="0" y="1657350"/>
            <a:ext cx="12001500" cy="3600986"/>
          </a:xfrm>
          <a:prstGeom prst="rect">
            <a:avLst/>
          </a:prstGeom>
          <a:noFill/>
        </p:spPr>
        <p:txBody>
          <a:bodyPr wrap="square" rtlCol="0">
            <a:spAutoFit/>
          </a:bodyPr>
          <a:lstStyle/>
          <a:p>
            <a:pPr algn="just"/>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Chỉ</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cơ</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quan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thu</a:t>
            </a:r>
            <a:r>
              <a:rPr lang="en-US" sz="2400" dirty="0">
                <a:solidFill>
                  <a:srgbClr val="000000"/>
                </a:solidFill>
                <a:latin typeface="Times New Roman" panose="02020603050405020304" pitchFamily="18" charset="0"/>
                <a:cs typeface="Times New Roman" panose="02020603050405020304" pitchFamily="18" charset="0"/>
              </a:rPr>
              <a:t> NS </a:t>
            </a:r>
            <a:r>
              <a:rPr lang="en-US" sz="2400" dirty="0" err="1">
                <a:solidFill>
                  <a:srgbClr val="000000"/>
                </a:solidFill>
                <a:latin typeface="Times New Roman" panose="02020603050405020304" pitchFamily="18" charset="0"/>
                <a:cs typeface="Times New Roman" panose="02020603050405020304" pitchFamily="18" charset="0"/>
              </a:rPr>
              <a:t>được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tổ</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chức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thu</a:t>
            </a:r>
            <a:r>
              <a:rPr lang="en-US" sz="2400" dirty="0">
                <a:solidFill>
                  <a:srgbClr val="000000"/>
                </a:solidFill>
                <a:latin typeface="Times New Roman" panose="02020603050405020304" pitchFamily="18" charset="0"/>
                <a:cs typeface="Times New Roman" panose="02020603050405020304" pitchFamily="18" charset="0"/>
              </a:rPr>
              <a:t> NS.</a:t>
            </a:r>
          </a:p>
          <a:p>
            <a:pPr lvl="0" algn="just">
              <a:lnSpc>
                <a:spcPct val="150000"/>
              </a:lnSpc>
            </a:pP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Cơ</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quan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thu</a:t>
            </a:r>
            <a:r>
              <a:rPr lang="en-US" sz="2400" b="1" dirty="0">
                <a:latin typeface="Times New Roman" panose="02020603050405020304" pitchFamily="18" charset="0"/>
                <a:cs typeface="Times New Roman" panose="02020603050405020304" pitchFamily="18" charset="0"/>
              </a:rPr>
              <a:t>:</a:t>
            </a:r>
          </a:p>
          <a:p>
            <a:pPr lvl="0" algn="just">
              <a:lnSpc>
                <a:spcPct val="150000"/>
              </a:lnSpc>
            </a:pPr>
            <a:r>
              <a:rPr lang="en-US" sz="2400" b="1"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Thuế</a:t>
            </a:r>
            <a:endParaRPr lang="en-US" sz="2400" dirty="0">
              <a:latin typeface="Times New Roman" panose="02020603050405020304" pitchFamily="18" charset="0"/>
              <a:cs typeface="Times New Roman" panose="02020603050405020304" pitchFamily="18" charset="0"/>
            </a:endParaRPr>
          </a:p>
          <a:p>
            <a:pPr lvl="0" algn="just">
              <a:lnSpc>
                <a:spcPct val="150000"/>
              </a:lnSpc>
            </a:pP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Hải </a:t>
            </a:r>
            <a:r>
              <a:rPr lang="en-US" sz="2400" dirty="0" err="1">
                <a:latin typeface="Times New Roman" panose="02020603050405020304" pitchFamily="18" charset="0"/>
                <a:cs typeface="Times New Roman" panose="02020603050405020304" pitchFamily="18" charset="0"/>
              </a:rPr>
              <a:t>quan</a:t>
            </a:r>
            <a:endParaRPr lang="en-US" sz="2400" dirty="0">
              <a:latin typeface="Times New Roman" panose="02020603050405020304" pitchFamily="18" charset="0"/>
              <a:cs typeface="Times New Roman" panose="02020603050405020304" pitchFamily="18" charset="0"/>
            </a:endParaRPr>
          </a:p>
          <a:p>
            <a:pPr lvl="1" algn="just">
              <a:lnSpc>
                <a:spcPct val="150000"/>
              </a:lnSpc>
            </a:pPr>
            <a:r>
              <a:rPr lang="en-US" sz="2400" dirty="0">
                <a:latin typeface="Times New Roman" panose="02020603050405020304" pitchFamily="18" charset="0"/>
                <a:cs typeface="Times New Roman" panose="02020603050405020304" pitchFamily="18" charset="0"/>
              </a:rPr>
              <a:t>	+ Các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nước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thẩm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ủy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NSNN.</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48859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5DB93-F4C9-7956-6483-D762E7E748A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EAA4D73-2921-DA42-3535-0D2111B64D10}"/>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9182171F-089E-2D0F-0D82-23CBF3480723}"/>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thu</a:t>
            </a:r>
            <a:r>
              <a:rPr lang="en-US" b="1" dirty="0">
                <a:solidFill>
                  <a:srgbClr val="FF0000"/>
                </a:solidFill>
                <a:latin typeface="Times New Roman" panose="02020603050405020304" pitchFamily="18" charset="0"/>
                <a:cs typeface="Times New Roman" panose="02020603050405020304" pitchFamily="18" charset="0"/>
              </a:rPr>
              <a:t> </a:t>
            </a:r>
          </a:p>
          <a:p>
            <a:pPr marL="0" indent="0">
              <a:buNone/>
            </a:pPr>
            <a:endParaRPr lang="en-US" sz="3200" dirty="0"/>
          </a:p>
        </p:txBody>
      </p:sp>
      <p:sp>
        <p:nvSpPr>
          <p:cNvPr id="5" name="TextBox 4">
            <a:extLst>
              <a:ext uri="{FF2B5EF4-FFF2-40B4-BE49-F238E27FC236}">
                <a16:creationId xmlns:a16="http://schemas.microsoft.com/office/drawing/2014/main" id="{0D9088D9-CAF9-5F7F-BA23-9DF7D4295D64}"/>
              </a:ext>
            </a:extLst>
          </p:cNvPr>
          <p:cNvSpPr txBox="1"/>
          <p:nvPr/>
        </p:nvSpPr>
        <p:spPr>
          <a:xfrm>
            <a:off x="0" y="1657350"/>
            <a:ext cx="12001500" cy="5262979"/>
          </a:xfrm>
          <a:prstGeom prst="rect">
            <a:avLst/>
          </a:prstGeom>
          <a:noFill/>
        </p:spPr>
        <p:txBody>
          <a:bodyPr wrap="square" rtlCol="0">
            <a:spAutoFit/>
          </a:bodyPr>
          <a:lstStyle/>
          <a:p>
            <a:pPr algn="just"/>
            <a:r>
              <a:rPr lang="en-US" sz="2400" dirty="0" err="1">
                <a:solidFill>
                  <a:srgbClr val="000000"/>
                </a:solidFill>
                <a:latin typeface="Times New Roman" panose="02020603050405020304" pitchFamily="18" charset="0"/>
              </a:rPr>
              <a:t>Cơ</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có</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nhiệm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vụ</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quyền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sau</a:t>
            </a:r>
            <a:r>
              <a:rPr lang="en-US" sz="2400" dirty="0">
                <a:solidFill>
                  <a:srgbClr val="000000"/>
                </a:solidFill>
                <a:latin typeface="Times New Roman" panose="02020603050405020304" pitchFamily="18" charset="0"/>
              </a:rPr>
              <a:t>:</a:t>
            </a:r>
          </a:p>
          <a:p>
            <a:pPr algn="just"/>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Phối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hợp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với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cơ</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nước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liên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tổ</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chức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đúng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đủ</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kịp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thời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PL; </a:t>
            </a:r>
            <a:r>
              <a:rPr lang="en-US" sz="2400" dirty="0" err="1">
                <a:solidFill>
                  <a:srgbClr val="000000"/>
                </a:solidFill>
                <a:latin typeface="Times New Roman" panose="02020603050405020304" pitchFamily="18" charset="0"/>
              </a:rPr>
              <a:t>chịu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chỉ</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đạo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kiểm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BTC, </a:t>
            </a:r>
            <a:r>
              <a:rPr lang="en-US" sz="2400" dirty="0" err="1">
                <a:solidFill>
                  <a:srgbClr val="000000"/>
                </a:solidFill>
                <a:latin typeface="Times New Roman" panose="02020603050405020304" pitchFamily="18" charset="0"/>
              </a:rPr>
              <a:t>cơ</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quản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lý</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trên</a:t>
            </a:r>
            <a:r>
              <a:rPr lang="en-US" sz="2400" dirty="0">
                <a:solidFill>
                  <a:srgbClr val="000000"/>
                </a:solidFill>
                <a:latin typeface="Times New Roman" panose="02020603050405020304" pitchFamily="18" charset="0"/>
              </a:rPr>
              <a:t>, UBND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giám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sát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HĐND </a:t>
            </a:r>
            <a:r>
              <a:rPr lang="en-US" sz="2400" dirty="0" err="1">
                <a:solidFill>
                  <a:srgbClr val="000000"/>
                </a:solidFill>
                <a:latin typeface="Times New Roman" panose="02020603050405020304" pitchFamily="18" charset="0"/>
              </a:rPr>
              <a:t>về</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công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tại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phương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phối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hợp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với</a:t>
            </a:r>
            <a:r>
              <a:rPr lang="en-US" sz="2400" dirty="0">
                <a:solidFill>
                  <a:srgbClr val="000000"/>
                </a:solidFill>
                <a:latin typeface="Times New Roman" panose="02020603050405020304" pitchFamily="18" charset="0"/>
              </a:rPr>
              <a:t> Mặt </a:t>
            </a:r>
            <a:r>
              <a:rPr lang="en-US" sz="2400" dirty="0" err="1">
                <a:solidFill>
                  <a:srgbClr val="000000"/>
                </a:solidFill>
                <a:latin typeface="Times New Roman" panose="02020603050405020304" pitchFamily="18" charset="0"/>
              </a:rPr>
              <a:t>trận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tổ</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quốc</a:t>
            </a:r>
            <a:r>
              <a:rPr lang="en-US" sz="2400" dirty="0">
                <a:solidFill>
                  <a:srgbClr val="000000"/>
                </a:solidFill>
                <a:latin typeface="Times New Roman" panose="02020603050405020304" pitchFamily="18" charset="0"/>
              </a:rPr>
              <a:t> Việt Nam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tổ</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chức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thành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viên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tuyên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truyền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vận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động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tổ</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chức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nhân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hiện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nghiêm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nghĩa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vụ</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nộp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ngân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sách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Luật </a:t>
            </a:r>
            <a:r>
              <a:rPr lang="en-US" sz="2400" dirty="0" err="1">
                <a:solidFill>
                  <a:srgbClr val="000000"/>
                </a:solidFill>
                <a:latin typeface="Times New Roman" panose="02020603050405020304" pitchFamily="18" charset="0"/>
              </a:rPr>
              <a:t>này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PL </a:t>
            </a:r>
            <a:r>
              <a:rPr lang="en-US" sz="2400" dirty="0" err="1">
                <a:solidFill>
                  <a:srgbClr val="000000"/>
                </a:solidFill>
                <a:latin typeface="Times New Roman" panose="02020603050405020304" pitchFamily="18" charset="0"/>
              </a:rPr>
              <a:t>có</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liên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a:t>
            </a:r>
          </a:p>
          <a:p>
            <a:pPr algn="just"/>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Tổ</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chức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quản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lý</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hiện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thuế</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lệ</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thuộc</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nộp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tiếp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tại</a:t>
            </a:r>
            <a:r>
              <a:rPr lang="en-US" sz="2400" dirty="0">
                <a:solidFill>
                  <a:srgbClr val="000000"/>
                </a:solidFill>
                <a:latin typeface="Times New Roman" panose="02020603050405020304" pitchFamily="18" charset="0"/>
              </a:rPr>
              <a:t> KBNN; </a:t>
            </a:r>
            <a:r>
              <a:rPr lang="en-US" sz="2400" dirty="0" err="1">
                <a:solidFill>
                  <a:srgbClr val="000000"/>
                </a:solidFill>
                <a:latin typeface="Times New Roman" panose="02020603050405020304" pitchFamily="18" charset="0"/>
              </a:rPr>
              <a:t>trường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hợp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phép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qua </a:t>
            </a:r>
            <a:r>
              <a:rPr lang="en-US" sz="2400" dirty="0" err="1">
                <a:solidFill>
                  <a:srgbClr val="000000"/>
                </a:solidFill>
                <a:latin typeface="Times New Roman" panose="02020603050405020304" pitchFamily="18" charset="0"/>
              </a:rPr>
              <a:t>ủy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nhiệm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thì</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phải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nộp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đầy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đủ</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đúng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thời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vào</a:t>
            </a:r>
            <a:r>
              <a:rPr lang="en-US" sz="2400" dirty="0">
                <a:solidFill>
                  <a:srgbClr val="000000"/>
                </a:solidFill>
                <a:latin typeface="Times New Roman" panose="02020603050405020304" pitchFamily="18" charset="0"/>
              </a:rPr>
              <a:t> KBNN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BTC;</a:t>
            </a:r>
          </a:p>
          <a:p>
            <a:pPr algn="just"/>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Cơ</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có</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trách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nhiệm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kiểm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cơ</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tổ</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chức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vị</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nhân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nộp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đầy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đủ</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đúng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phải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nộp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vào</a:t>
            </a:r>
            <a:r>
              <a:rPr lang="en-US" sz="2400" dirty="0">
                <a:solidFill>
                  <a:srgbClr val="000000"/>
                </a:solidFill>
                <a:latin typeface="Times New Roman" panose="02020603050405020304" pitchFamily="18" charset="0"/>
              </a:rPr>
              <a:t> NSNN;</a:t>
            </a:r>
          </a:p>
          <a:p>
            <a:pPr algn="just"/>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Kiểm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kiểm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soát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nguồn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kiểm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việc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hành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kê</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khai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nộp</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lý</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hành</a:t>
            </a:r>
            <a:r>
              <a:rPr lang="en-US" sz="2400" dirty="0">
                <a:solidFill>
                  <a:srgbClr val="000000"/>
                </a:solidFill>
                <a:latin typeface="Times New Roman" panose="02020603050405020304" pitchFamily="18" charset="0"/>
              </a:rPr>
              <a:t> vi </a:t>
            </a:r>
            <a:r>
              <a:rPr lang="en-US" sz="2400" dirty="0" err="1">
                <a:solidFill>
                  <a:srgbClr val="000000"/>
                </a:solidFill>
                <a:latin typeface="Times New Roman" panose="02020603050405020304" pitchFamily="18" charset="0"/>
              </a:rPr>
              <a:t>vi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phạm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PL</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8515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5D748-CB85-DC99-CA18-EF69DDE7589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67A0A8-1342-DC86-498A-2FD2DC3AE575}"/>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AAF1A00B-1E69-82EC-36D9-F9197F38BE42}"/>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thu</a:t>
            </a:r>
            <a:r>
              <a:rPr lang="en-US" b="1" dirty="0">
                <a:solidFill>
                  <a:srgbClr val="FF0000"/>
                </a:solidFill>
                <a:latin typeface="Times New Roman" panose="02020603050405020304" pitchFamily="18" charset="0"/>
                <a:cs typeface="Times New Roman" panose="02020603050405020304" pitchFamily="18" charset="0"/>
              </a:rPr>
              <a:t> </a:t>
            </a:r>
          </a:p>
          <a:p>
            <a:pPr marL="0" indent="0">
              <a:buNone/>
            </a:pPr>
            <a:endParaRPr lang="en-US" sz="3200" dirty="0"/>
          </a:p>
        </p:txBody>
      </p:sp>
      <p:sp>
        <p:nvSpPr>
          <p:cNvPr id="5" name="TextBox 4">
            <a:extLst>
              <a:ext uri="{FF2B5EF4-FFF2-40B4-BE49-F238E27FC236}">
                <a16:creationId xmlns:a16="http://schemas.microsoft.com/office/drawing/2014/main" id="{E75F82BD-66BD-55B8-6A86-F4B08EE35B4C}"/>
              </a:ext>
            </a:extLst>
          </p:cNvPr>
          <p:cNvSpPr txBox="1"/>
          <p:nvPr/>
        </p:nvSpPr>
        <p:spPr>
          <a:xfrm>
            <a:off x="0" y="1752600"/>
            <a:ext cx="12001500" cy="5262979"/>
          </a:xfrm>
          <a:prstGeom prst="rect">
            <a:avLst/>
          </a:prstGeom>
          <a:noFill/>
        </p:spPr>
        <p:txBody>
          <a:bodyPr wrap="square" rtlCol="0">
            <a:spAutoFit/>
          </a:bodyPr>
          <a:lstStyle/>
          <a:p>
            <a:pPr algn="just"/>
            <a:r>
              <a:rPr lang="en-US" sz="2400" dirty="0" err="1">
                <a:solidFill>
                  <a:srgbClr val="000000"/>
                </a:solidFill>
                <a:latin typeface="Times New Roman" panose="02020603050405020304" pitchFamily="18" charset="0"/>
                <a:cs typeface="Times New Roman" panose="02020603050405020304" pitchFamily="18" charset="0"/>
              </a:rPr>
              <a:t>Tổ</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chức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quản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lý</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và</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thực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hiện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thu</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thuế</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phí</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lệ</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phí</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và</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các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khoản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thu</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khác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thuộc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ngân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sách</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theo</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quy</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định</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của</a:t>
            </a:r>
            <a:r>
              <a:rPr lang="en-US" sz="2400" dirty="0">
                <a:solidFill>
                  <a:srgbClr val="000000"/>
                </a:solidFill>
                <a:latin typeface="Times New Roman" panose="02020603050405020304" pitchFamily="18" charset="0"/>
                <a:cs typeface="Times New Roman" panose="02020603050405020304" pitchFamily="18" charset="0"/>
              </a:rPr>
              <a:t> PL </a:t>
            </a:r>
            <a:r>
              <a:rPr lang="en-US" sz="2400" dirty="0" err="1">
                <a:solidFill>
                  <a:srgbClr val="000000"/>
                </a:solidFill>
                <a:latin typeface="Times New Roman" panose="02020603050405020304" pitchFamily="18" charset="0"/>
                <a:cs typeface="Times New Roman" panose="02020603050405020304" pitchFamily="18" charset="0"/>
              </a:rPr>
              <a:t>nộp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trực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tiếp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vào</a:t>
            </a:r>
            <a:r>
              <a:rPr lang="en-US" sz="2400" dirty="0">
                <a:solidFill>
                  <a:srgbClr val="000000"/>
                </a:solidFill>
                <a:latin typeface="Times New Roman" panose="02020603050405020304" pitchFamily="18" charset="0"/>
                <a:cs typeface="Times New Roman" panose="02020603050405020304" pitchFamily="18" charset="0"/>
              </a:rPr>
              <a:t> KBNN. Trường </a:t>
            </a:r>
            <a:r>
              <a:rPr lang="en-US" sz="2400" dirty="0" err="1">
                <a:solidFill>
                  <a:srgbClr val="000000"/>
                </a:solidFill>
                <a:latin typeface="Times New Roman" panose="02020603050405020304" pitchFamily="18" charset="0"/>
                <a:cs typeface="Times New Roman" panose="02020603050405020304" pitchFamily="18" charset="0"/>
              </a:rPr>
              <a:t>hợp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được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phép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thu</a:t>
            </a:r>
            <a:r>
              <a:rPr lang="en-US" sz="2400" dirty="0">
                <a:solidFill>
                  <a:srgbClr val="000000"/>
                </a:solidFill>
                <a:latin typeface="Times New Roman" panose="02020603050405020304" pitchFamily="18" charset="0"/>
                <a:cs typeface="Times New Roman" panose="02020603050405020304" pitchFamily="18" charset="0"/>
              </a:rPr>
              <a:t> qua </a:t>
            </a:r>
            <a:r>
              <a:rPr lang="en-US" sz="2400" dirty="0" err="1">
                <a:solidFill>
                  <a:srgbClr val="000000"/>
                </a:solidFill>
                <a:latin typeface="Times New Roman" panose="02020603050405020304" pitchFamily="18" charset="0"/>
                <a:cs typeface="Times New Roman" panose="02020603050405020304" pitchFamily="18" charset="0"/>
              </a:rPr>
              <a:t>ủy</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nhiệm</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thu</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thì</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phải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nộp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đầy</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đủ</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đúng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thời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hạn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vào</a:t>
            </a:r>
            <a:r>
              <a:rPr lang="en-US" sz="2400" dirty="0">
                <a:solidFill>
                  <a:srgbClr val="000000"/>
                </a:solidFill>
                <a:latin typeface="Times New Roman" panose="02020603050405020304" pitchFamily="18" charset="0"/>
                <a:cs typeface="Times New Roman" panose="02020603050405020304" pitchFamily="18" charset="0"/>
              </a:rPr>
              <a:t> KBNN </a:t>
            </a:r>
            <a:r>
              <a:rPr lang="en-US" sz="2400" dirty="0" err="1">
                <a:solidFill>
                  <a:srgbClr val="000000"/>
                </a:solidFill>
                <a:latin typeface="Times New Roman" panose="02020603050405020304" pitchFamily="18" charset="0"/>
                <a:cs typeface="Times New Roman" panose="02020603050405020304" pitchFamily="18" charset="0"/>
              </a:rPr>
              <a:t>theo</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quy</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định</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của</a:t>
            </a:r>
            <a:r>
              <a:rPr lang="en-US" sz="2400" dirty="0">
                <a:solidFill>
                  <a:srgbClr val="000000"/>
                </a:solidFill>
                <a:latin typeface="Times New Roman" panose="02020603050405020304" pitchFamily="18" charset="0"/>
                <a:cs typeface="Times New Roman" panose="02020603050405020304" pitchFamily="18" charset="0"/>
              </a:rPr>
              <a:t> BTC.</a:t>
            </a:r>
          </a:p>
          <a:p>
            <a:pPr algn="just"/>
            <a:r>
              <a:rPr lang="en-US" sz="2400" dirty="0">
                <a:solidFill>
                  <a:srgbClr val="000000"/>
                </a:solidFill>
                <a:latin typeface="Times New Roman" panose="02020603050405020304" pitchFamily="18" charset="0"/>
                <a:cs typeface="Times New Roman" panose="02020603050405020304" pitchFamily="18" charset="0"/>
              </a:rPr>
              <a:t>Các </a:t>
            </a:r>
            <a:r>
              <a:rPr lang="en-US" sz="2400" dirty="0" err="1">
                <a:solidFill>
                  <a:srgbClr val="000000"/>
                </a:solidFill>
                <a:latin typeface="Times New Roman" panose="02020603050405020304" pitchFamily="18" charset="0"/>
                <a:cs typeface="Times New Roman" panose="02020603050405020304" pitchFamily="18" charset="0"/>
              </a:rPr>
              <a:t>khoản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viện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trợ</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không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hoàn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lại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bằng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tiền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của</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Chính</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phủ</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các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nước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các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tổ</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chức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cá</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nhân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ngoài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nước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cho</a:t>
            </a:r>
            <a:r>
              <a:rPr lang="en-US" sz="2400" dirty="0">
                <a:solidFill>
                  <a:srgbClr val="000000"/>
                </a:solidFill>
                <a:latin typeface="Times New Roman" panose="02020603050405020304" pitchFamily="18" charset="0"/>
                <a:cs typeface="Times New Roman" panose="02020603050405020304" pitchFamily="18" charset="0"/>
              </a:rPr>
              <a:t> NN, </a:t>
            </a:r>
            <a:r>
              <a:rPr lang="en-US" sz="2400" dirty="0" err="1">
                <a:solidFill>
                  <a:srgbClr val="000000"/>
                </a:solidFill>
                <a:latin typeface="Times New Roman" panose="02020603050405020304" pitchFamily="18" charset="0"/>
                <a:cs typeface="Times New Roman" panose="02020603050405020304" pitchFamily="18" charset="0"/>
              </a:rPr>
              <a:t>Chính</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phủ</a:t>
            </a:r>
            <a:r>
              <a:rPr lang="en-US" sz="2400" dirty="0">
                <a:solidFill>
                  <a:srgbClr val="000000"/>
                </a:solidFill>
                <a:latin typeface="Times New Roman" panose="02020603050405020304" pitchFamily="18" charset="0"/>
                <a:cs typeface="Times New Roman" panose="02020603050405020304" pitchFamily="18" charset="0"/>
              </a:rPr>
              <a:t> Việt Nam </a:t>
            </a:r>
            <a:r>
              <a:rPr lang="en-US" sz="2400" dirty="0" err="1">
                <a:solidFill>
                  <a:srgbClr val="000000"/>
                </a:solidFill>
                <a:latin typeface="Times New Roman" panose="02020603050405020304" pitchFamily="18" charset="0"/>
                <a:cs typeface="Times New Roman" panose="02020603050405020304" pitchFamily="18" charset="0"/>
              </a:rPr>
              <a:t>và</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chính</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quyền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địa</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phương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phải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thu</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nộp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kịp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thời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vào</a:t>
            </a:r>
            <a:r>
              <a:rPr lang="en-US" sz="2400" dirty="0">
                <a:solidFill>
                  <a:srgbClr val="000000"/>
                </a:solidFill>
                <a:latin typeface="Times New Roman" panose="02020603050405020304" pitchFamily="18" charset="0"/>
                <a:cs typeface="Times New Roman" panose="02020603050405020304" pitchFamily="18" charset="0"/>
              </a:rPr>
              <a:t> NSNN, </a:t>
            </a:r>
            <a:r>
              <a:rPr lang="en-US" sz="2400" dirty="0" err="1">
                <a:solidFill>
                  <a:srgbClr val="000000"/>
                </a:solidFill>
                <a:latin typeface="Times New Roman" panose="02020603050405020304" pitchFamily="18" charset="0"/>
                <a:cs typeface="Times New Roman" panose="02020603050405020304" pitchFamily="18" charset="0"/>
              </a:rPr>
              <a:t>trường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hợp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theo</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hiệp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định</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hoặc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thỏa</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thuận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tài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trợ</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có</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quy</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định</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giải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ngân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trực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tiếp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đến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chương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trình</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dự</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án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thì</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định</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kỳ</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phải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hạch</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toán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đầy</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đủ</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vào</a:t>
            </a:r>
            <a:r>
              <a:rPr lang="en-US" sz="2400" dirty="0">
                <a:solidFill>
                  <a:srgbClr val="000000"/>
                </a:solidFill>
                <a:latin typeface="Times New Roman" panose="02020603050405020304" pitchFamily="18" charset="0"/>
                <a:cs typeface="Times New Roman" panose="02020603050405020304" pitchFamily="18" charset="0"/>
              </a:rPr>
              <a:t> NSNN </a:t>
            </a:r>
            <a:r>
              <a:rPr lang="en-US" sz="2400" dirty="0" err="1">
                <a:solidFill>
                  <a:srgbClr val="000000"/>
                </a:solidFill>
                <a:latin typeface="Times New Roman" panose="02020603050405020304" pitchFamily="18" charset="0"/>
                <a:cs typeface="Times New Roman" panose="02020603050405020304" pitchFamily="18" charset="0"/>
              </a:rPr>
              <a:t>theo</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quy</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định</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của</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Bộ</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trưởng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Bộ</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tài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chính</a:t>
            </a:r>
            <a:r>
              <a:rPr lang="en-US" sz="2400" dirty="0">
                <a:solidFill>
                  <a:srgbClr val="000000"/>
                </a:solidFill>
                <a:latin typeface="Times New Roman" panose="02020603050405020304" pitchFamily="18" charset="0"/>
                <a:cs typeface="Times New Roman" panose="02020603050405020304" pitchFamily="18" charset="0"/>
              </a:rPr>
              <a:t>.</a:t>
            </a:r>
          </a:p>
          <a:p>
            <a:pPr algn="just"/>
            <a:r>
              <a:rPr lang="en-US" sz="2400" dirty="0">
                <a:solidFill>
                  <a:srgbClr val="000000"/>
                </a:solidFill>
                <a:latin typeface="Times New Roman" panose="02020603050405020304" pitchFamily="18" charset="0"/>
                <a:cs typeface="Times New Roman" panose="02020603050405020304" pitchFamily="18" charset="0"/>
              </a:rPr>
              <a:t>KBNN </a:t>
            </a:r>
            <a:r>
              <a:rPr lang="en-US" sz="2400" dirty="0" err="1">
                <a:solidFill>
                  <a:srgbClr val="000000"/>
                </a:solidFill>
                <a:latin typeface="Times New Roman" panose="02020603050405020304" pitchFamily="18" charset="0"/>
                <a:cs typeface="Times New Roman" panose="02020603050405020304" pitchFamily="18" charset="0"/>
              </a:rPr>
              <a:t>được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mở</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tài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khoản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tại</a:t>
            </a:r>
            <a:r>
              <a:rPr lang="en-US" sz="2400" dirty="0">
                <a:solidFill>
                  <a:srgbClr val="000000"/>
                </a:solidFill>
                <a:latin typeface="Times New Roman" panose="02020603050405020304" pitchFamily="18" charset="0"/>
                <a:cs typeface="Times New Roman" panose="02020603050405020304" pitchFamily="18" charset="0"/>
              </a:rPr>
              <a:t> NHNN Việt Nam </a:t>
            </a:r>
            <a:r>
              <a:rPr lang="en-US" sz="2400" dirty="0" err="1">
                <a:solidFill>
                  <a:srgbClr val="000000"/>
                </a:solidFill>
                <a:latin typeface="Times New Roman" panose="02020603050405020304" pitchFamily="18" charset="0"/>
                <a:cs typeface="Times New Roman" panose="02020603050405020304" pitchFamily="18" charset="0"/>
              </a:rPr>
              <a:t>và</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ngân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hàng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thương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mại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để</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tập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trung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các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khoản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thu</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của</a:t>
            </a:r>
            <a:r>
              <a:rPr lang="en-US" sz="2400" dirty="0">
                <a:solidFill>
                  <a:srgbClr val="000000"/>
                </a:solidFill>
                <a:latin typeface="Times New Roman" panose="02020603050405020304" pitchFamily="18" charset="0"/>
                <a:cs typeface="Times New Roman" panose="02020603050405020304" pitchFamily="18" charset="0"/>
              </a:rPr>
              <a:t> NSX; </a:t>
            </a:r>
            <a:r>
              <a:rPr lang="en-US" sz="2400" dirty="0" err="1">
                <a:solidFill>
                  <a:srgbClr val="000000"/>
                </a:solidFill>
                <a:latin typeface="Times New Roman" panose="02020603050405020304" pitchFamily="18" charset="0"/>
                <a:cs typeface="Times New Roman" panose="02020603050405020304" pitchFamily="18" charset="0"/>
              </a:rPr>
              <a:t>hạch</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toán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đầy</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đủ</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kịp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thời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các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khoản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thu</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vào</a:t>
            </a:r>
            <a:r>
              <a:rPr lang="en-US" sz="2400" dirty="0">
                <a:solidFill>
                  <a:srgbClr val="000000"/>
                </a:solidFill>
                <a:latin typeface="Times New Roman" panose="02020603050405020304" pitchFamily="18" charset="0"/>
                <a:cs typeface="Times New Roman" panose="02020603050405020304" pitchFamily="18" charset="0"/>
              </a:rPr>
              <a:t> NS, </a:t>
            </a:r>
            <a:r>
              <a:rPr lang="en-US" sz="2400" dirty="0" err="1">
                <a:solidFill>
                  <a:srgbClr val="000000"/>
                </a:solidFill>
                <a:latin typeface="Times New Roman" panose="02020603050405020304" pitchFamily="18" charset="0"/>
                <a:cs typeface="Times New Roman" panose="02020603050405020304" pitchFamily="18" charset="0"/>
              </a:rPr>
              <a:t>điều</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tiết</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các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khoản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thu</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cho</a:t>
            </a:r>
            <a:r>
              <a:rPr lang="en-US" sz="2400" dirty="0">
                <a:solidFill>
                  <a:srgbClr val="000000"/>
                </a:solidFill>
                <a:latin typeface="Times New Roman" panose="02020603050405020304" pitchFamily="18" charset="0"/>
                <a:cs typeface="Times New Roman" panose="02020603050405020304" pitchFamily="18" charset="0"/>
              </a:rPr>
              <a:t> NS </a:t>
            </a:r>
            <a:r>
              <a:rPr lang="en-US" sz="2400" dirty="0" err="1">
                <a:solidFill>
                  <a:srgbClr val="000000"/>
                </a:solidFill>
                <a:latin typeface="Times New Roman" panose="02020603050405020304" pitchFamily="18" charset="0"/>
                <a:cs typeface="Times New Roman" panose="02020603050405020304" pitchFamily="18" charset="0"/>
              </a:rPr>
              <a:t>các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cấp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theo</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đúng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quy</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định</a:t>
            </a:r>
            <a:r>
              <a:rPr lang="en-US" sz="2400" dirty="0">
                <a:solidFill>
                  <a:srgbClr val="000000"/>
                </a:solidFill>
                <a:latin typeface="Times New Roman" panose="02020603050405020304" pitchFamily="18" charset="0"/>
                <a:cs typeface="Times New Roman" panose="02020603050405020304" pitchFamily="18" charset="0"/>
              </a:rPr>
              <a:t>.</a:t>
            </a:r>
          </a:p>
          <a:p>
            <a:pPr algn="just"/>
            <a:endParaRPr lang="en-US" sz="2400" dirty="0">
              <a:solidFill>
                <a:srgbClr val="000000"/>
              </a:solidFill>
              <a:latin typeface="Times New Roman" panose="02020603050405020304" pitchFamily="18" charset="0"/>
              <a:cs typeface="Times New Roman" panose="02020603050405020304" pitchFamily="18" charset="0"/>
            </a:endParaRPr>
          </a:p>
          <a:p>
            <a:pPr algn="just"/>
            <a:endParaRPr lang="en-US" sz="2400" dirty="0">
              <a:solidFill>
                <a:srgbClr val="000000"/>
              </a:solidFill>
              <a:latin typeface="Times New Roman" panose="02020603050405020304" pitchFamily="18" charset="0"/>
              <a:cs typeface="Times New Roman" panose="02020603050405020304" pitchFamily="18" charset="0"/>
            </a:endParaRPr>
          </a:p>
          <a:p>
            <a:pPr algn="just"/>
            <a:endParaRPr 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89107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D7C2A-C1C1-8EA2-7AF7-8EE82984F92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929D197-5E20-76BD-9B19-F3F53BB76967}"/>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9971D066-D967-E6F3-82A6-DF11BE146AC4}"/>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thu</a:t>
            </a:r>
            <a:r>
              <a:rPr lang="en-US" b="1" dirty="0">
                <a:solidFill>
                  <a:srgbClr val="FF0000"/>
                </a:solidFill>
                <a:latin typeface="Times New Roman" panose="02020603050405020304" pitchFamily="18" charset="0"/>
                <a:cs typeface="Times New Roman" panose="02020603050405020304" pitchFamily="18" charset="0"/>
              </a:rPr>
              <a:t> </a:t>
            </a:r>
          </a:p>
          <a:p>
            <a:pPr marL="0" indent="0">
              <a:buNone/>
            </a:pPr>
            <a:endParaRPr lang="en-US" sz="3200" dirty="0"/>
          </a:p>
        </p:txBody>
      </p:sp>
      <p:sp>
        <p:nvSpPr>
          <p:cNvPr id="5" name="TextBox 4">
            <a:extLst>
              <a:ext uri="{FF2B5EF4-FFF2-40B4-BE49-F238E27FC236}">
                <a16:creationId xmlns:a16="http://schemas.microsoft.com/office/drawing/2014/main" id="{67927E56-C249-83DB-511A-ECB6B4C2E14D}"/>
              </a:ext>
            </a:extLst>
          </p:cNvPr>
          <p:cNvSpPr txBox="1"/>
          <p:nvPr/>
        </p:nvSpPr>
        <p:spPr>
          <a:xfrm>
            <a:off x="0" y="1799898"/>
            <a:ext cx="12001500" cy="1200329"/>
          </a:xfrm>
          <a:prstGeom prst="rect">
            <a:avLst/>
          </a:prstGeom>
          <a:noFill/>
        </p:spPr>
        <p:txBody>
          <a:bodyPr wrap="square" rtlCol="0">
            <a:spAutoFit/>
          </a:bodyPr>
          <a:lstStyle/>
          <a:p>
            <a:pPr algn="just"/>
            <a:r>
              <a:rPr lang="en-US" sz="2400" dirty="0">
                <a:solidFill>
                  <a:srgbClr val="000000"/>
                </a:solidFill>
                <a:latin typeface="Times New Roman" panose="02020603050405020304" pitchFamily="18" charset="0"/>
                <a:cs typeface="Times New Roman" panose="02020603050405020304" pitchFamily="18" charset="0"/>
              </a:rPr>
              <a:t>Các </a:t>
            </a:r>
            <a:r>
              <a:rPr lang="en-US" sz="2400" dirty="0" err="1">
                <a:solidFill>
                  <a:srgbClr val="000000"/>
                </a:solidFill>
                <a:latin typeface="Times New Roman" panose="02020603050405020304" pitchFamily="18" charset="0"/>
                <a:cs typeface="Times New Roman" panose="02020603050405020304" pitchFamily="18" charset="0"/>
              </a:rPr>
              <a:t>khoản</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thu</a:t>
            </a:r>
            <a:r>
              <a:rPr lang="en-US" sz="2400" dirty="0">
                <a:solidFill>
                  <a:srgbClr val="000000"/>
                </a:solidFill>
                <a:latin typeface="Times New Roman" panose="02020603050405020304" pitchFamily="18" charset="0"/>
                <a:cs typeface="Times New Roman" panose="02020603050405020304" pitchFamily="18" charset="0"/>
              </a:rPr>
              <a:t> NS </a:t>
            </a:r>
            <a:r>
              <a:rPr lang="en-US" sz="2400" dirty="0" err="1">
                <a:solidFill>
                  <a:srgbClr val="000000"/>
                </a:solidFill>
                <a:latin typeface="Times New Roman" panose="02020603050405020304" pitchFamily="18" charset="0"/>
                <a:cs typeface="Times New Roman" panose="02020603050405020304" pitchFamily="18" charset="0"/>
              </a:rPr>
              <a:t>bằng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ngoại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tệ</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phát</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sinh</a:t>
            </a:r>
            <a:r>
              <a:rPr lang="en-US" sz="2400" dirty="0">
                <a:solidFill>
                  <a:srgbClr val="000000"/>
                </a:solidFill>
                <a:latin typeface="Times New Roman" panose="02020603050405020304" pitchFamily="18" charset="0"/>
                <a:cs typeface="Times New Roman" panose="02020603050405020304" pitchFamily="18" charset="0"/>
              </a:rPr>
              <a:t> ở </a:t>
            </a:r>
            <a:r>
              <a:rPr lang="en-US" sz="2400" dirty="0" err="1">
                <a:solidFill>
                  <a:srgbClr val="000000"/>
                </a:solidFill>
                <a:latin typeface="Times New Roman" panose="02020603050405020304" pitchFamily="18" charset="0"/>
                <a:cs typeface="Times New Roman" panose="02020603050405020304" pitchFamily="18" charset="0"/>
              </a:rPr>
              <a:t>địa</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phương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phải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tập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trung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về</a:t>
            </a:r>
            <a:r>
              <a:rPr lang="en-US" sz="2400" dirty="0">
                <a:solidFill>
                  <a:srgbClr val="000000"/>
                </a:solidFill>
                <a:latin typeface="Times New Roman" panose="02020603050405020304" pitchFamily="18" charset="0"/>
                <a:cs typeface="Times New Roman" panose="02020603050405020304" pitchFamily="18" charset="0"/>
              </a:rPr>
              <a:t> KBNN </a:t>
            </a:r>
            <a:r>
              <a:rPr lang="en-US" sz="2400" dirty="0" err="1">
                <a:solidFill>
                  <a:srgbClr val="000000"/>
                </a:solidFill>
                <a:latin typeface="Times New Roman" panose="02020603050405020304" pitchFamily="18" charset="0"/>
                <a:cs typeface="Times New Roman" panose="02020603050405020304" pitchFamily="18" charset="0"/>
              </a:rPr>
              <a:t>theo</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quy</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định</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của</a:t>
            </a:r>
            <a:r>
              <a:rPr lang="en-US" sz="2400" dirty="0">
                <a:solidFill>
                  <a:srgbClr val="000000"/>
                </a:solidFill>
                <a:latin typeface="Times New Roman" panose="02020603050405020304" pitchFamily="18" charset="0"/>
                <a:cs typeface="Times New Roman" panose="02020603050405020304" pitchFamily="18" charset="0"/>
              </a:rPr>
              <a:t> BTC. NS </a:t>
            </a:r>
            <a:r>
              <a:rPr lang="en-US" sz="2400" dirty="0" err="1">
                <a:solidFill>
                  <a:srgbClr val="000000"/>
                </a:solidFill>
                <a:latin typeface="Times New Roman" panose="02020603050405020304" pitchFamily="18" charset="0"/>
                <a:cs typeface="Times New Roman" panose="02020603050405020304" pitchFamily="18" charset="0"/>
              </a:rPr>
              <a:t>các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cấp</a:t>
            </a:r>
            <a:r>
              <a:rPr lang="en-US" sz="2400" dirty="0">
                <a:solidFill>
                  <a:srgbClr val="000000"/>
                </a:solidFill>
                <a:latin typeface="Times New Roman" panose="02020603050405020304" pitchFamily="18" charset="0"/>
                <a:cs typeface="Times New Roman" panose="02020603050405020304" pitchFamily="18" charset="0"/>
              </a:rPr>
              <a:t> ở </a:t>
            </a:r>
            <a:r>
              <a:rPr lang="en-US" sz="2400" dirty="0" err="1">
                <a:solidFill>
                  <a:srgbClr val="000000"/>
                </a:solidFill>
                <a:latin typeface="Times New Roman" panose="02020603050405020304" pitchFamily="18" charset="0"/>
                <a:cs typeface="Times New Roman" panose="02020603050405020304" pitchFamily="18" charset="0"/>
              </a:rPr>
              <a:t>địa</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phương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không</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được</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thành</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lập</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quỹ</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ngoại</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000000"/>
                </a:solidFill>
                <a:latin typeface="Times New Roman" panose="02020603050405020304" pitchFamily="18" charset="0"/>
                <a:cs typeface="Times New Roman" panose="02020603050405020304" pitchFamily="18" charset="0"/>
              </a:rPr>
              <a:t>tệ</a:t>
            </a:r>
            <a:r>
              <a:rPr lang="en-US" sz="2400" dirty="0">
                <a:solidFill>
                  <a:srgbClr val="000000"/>
                </a:solidFill>
                <a:latin typeface="Times New Roman" panose="02020603050405020304" pitchFamily="18" charset="0"/>
                <a:cs typeface="Times New Roman" panose="02020603050405020304" pitchFamily="18" charset="0"/>
              </a:rPr>
              <a:t>.</a:t>
            </a:r>
          </a:p>
          <a:p>
            <a:pPr algn="just"/>
            <a:endParaRPr lang="en-US"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10511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BBEBD-EE0E-CAC4-C0B7-F42F78D0453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40A6FD5-91B7-D9E6-5141-534BDE10C565}"/>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A9B49307-40CD-19D1-0E54-82A15F2D84F8}"/>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chi </a:t>
            </a:r>
          </a:p>
          <a:p>
            <a:pPr marL="0" indent="0">
              <a:buNone/>
            </a:pPr>
            <a:endParaRPr lang="en-US" sz="3200" dirty="0"/>
          </a:p>
        </p:txBody>
      </p:sp>
      <p:sp>
        <p:nvSpPr>
          <p:cNvPr id="5" name="TextBox 4">
            <a:extLst>
              <a:ext uri="{FF2B5EF4-FFF2-40B4-BE49-F238E27FC236}">
                <a16:creationId xmlns:a16="http://schemas.microsoft.com/office/drawing/2014/main" id="{2B12CB38-B626-525B-1FFB-B179749A60DA}"/>
              </a:ext>
            </a:extLst>
          </p:cNvPr>
          <p:cNvSpPr txBox="1"/>
          <p:nvPr/>
        </p:nvSpPr>
        <p:spPr>
          <a:xfrm>
            <a:off x="76200" y="1905000"/>
            <a:ext cx="12001500" cy="1133965"/>
          </a:xfrm>
          <a:prstGeom prst="rect">
            <a:avLst/>
          </a:prstGeom>
          <a:noFill/>
        </p:spPr>
        <p:txBody>
          <a:bodyPr wrap="square" rtlCol="0">
            <a:spAutoFit/>
          </a:bodyPr>
          <a:lstStyle/>
          <a:p>
            <a:pPr algn="just">
              <a:lnSpc>
                <a:spcPct val="150000"/>
              </a:lnSpc>
            </a:pPr>
            <a:r>
              <a:rPr lang="vi-VN" sz="2400" b="1" i="1" dirty="0">
                <a:solidFill>
                  <a:srgbClr val="000000"/>
                </a:solidFill>
                <a:latin typeface="Times New Roman" panose="02020603050405020304" pitchFamily="18" charset="0"/>
              </a:rPr>
              <a:t>Chấp hành dự toán chi NSX là quá trình các đơn vị xã tiến hành ch</a:t>
            </a:r>
            <a:r>
              <a:rPr lang="en-US" sz="2400" b="1" i="1" dirty="0" err="1">
                <a:solidFill>
                  <a:srgbClr val="000000"/>
                </a:solidFill>
                <a:latin typeface="Times New Roman" panose="02020603050405020304" pitchFamily="18" charset="0"/>
              </a:rPr>
              <a:t>i</a:t>
            </a:r>
            <a:r>
              <a:rPr lang="en-US" sz="2400" b="1" i="1" dirty="0">
                <a:solidFill>
                  <a:srgbClr val="000000"/>
                </a:solidFill>
                <a:latin typeface="Times New Roman" panose="02020603050405020304" pitchFamily="18" charset="0"/>
              </a:rPr>
              <a:t> </a:t>
            </a:r>
            <a:r>
              <a:rPr lang="vi-VN" sz="2400" b="1" i="1" dirty="0">
                <a:solidFill>
                  <a:srgbClr val="000000"/>
                </a:solidFill>
                <a:latin typeface="Times New Roman" panose="02020603050405020304" pitchFamily="18" charset="0"/>
              </a:rPr>
              <a:t>tiêu dựa trên dự toán đã được quyết định để thực hiện các nhiệm vụ của mình. </a:t>
            </a:r>
          </a:p>
        </p:txBody>
      </p:sp>
    </p:spTree>
    <p:extLst>
      <p:ext uri="{BB962C8B-B14F-4D97-AF65-F5344CB8AC3E}">
        <p14:creationId xmlns:p14="http://schemas.microsoft.com/office/powerpoint/2010/main" val="21153759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F990A-CA63-4809-0E51-17574C1154D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60C7004-AE13-B24C-A069-11F4B17965F4}"/>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B6EDB2BF-50F8-DC4B-BA13-9E3381A90C69}"/>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chi </a:t>
            </a:r>
          </a:p>
          <a:p>
            <a:pPr marL="0" indent="0">
              <a:buNone/>
            </a:pPr>
            <a:endParaRPr lang="en-US" sz="3200" dirty="0"/>
          </a:p>
        </p:txBody>
      </p:sp>
      <p:sp>
        <p:nvSpPr>
          <p:cNvPr id="3" name="TextBox 2">
            <a:extLst>
              <a:ext uri="{FF2B5EF4-FFF2-40B4-BE49-F238E27FC236}">
                <a16:creationId xmlns:a16="http://schemas.microsoft.com/office/drawing/2014/main" id="{F8429B18-54A8-B136-6B0E-1F38AFA68400}"/>
              </a:ext>
            </a:extLst>
          </p:cNvPr>
          <p:cNvSpPr txBox="1"/>
          <p:nvPr/>
        </p:nvSpPr>
        <p:spPr>
          <a:xfrm>
            <a:off x="268014" y="2033746"/>
            <a:ext cx="11698014" cy="3046988"/>
          </a:xfrm>
          <a:prstGeom prst="rect">
            <a:avLst/>
          </a:prstGeom>
          <a:noFill/>
        </p:spPr>
        <p:txBody>
          <a:bodyPr wrap="square" rtlCol="0">
            <a:spAutoFit/>
          </a:bodyPr>
          <a:lstStyle/>
          <a:p>
            <a:pPr algn="just"/>
            <a:r>
              <a:rPr lang="en-US" sz="2400" b="1" dirty="0" err="1">
                <a:latin typeface="Arial" panose="020B0604020202020204" pitchFamily="34" charset="0"/>
                <a:cs typeface="Arial" panose="020B0604020202020204" pitchFamily="34" charset="0"/>
              </a:rPr>
              <a:t>Tạm</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ứng</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và</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thu</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hồi</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vốn</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kinh</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phí</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cho</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các</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đơn</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vị</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sử</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dụng</a:t>
            </a:r>
            <a:r>
              <a:rPr lang="en-US" sz="2400" b="1" dirty="0">
                <a:latin typeface="Arial" panose="020B0604020202020204" pitchFamily="34" charset="0"/>
                <a:cs typeface="Arial" panose="020B0604020202020204" pitchFamily="34" charset="0"/>
              </a:rPr>
              <a:t> NS, </a:t>
            </a:r>
            <a:r>
              <a:rPr lang="en-US" sz="2400" b="1" dirty="0" err="1">
                <a:latin typeface="Arial" panose="020B0604020202020204" pitchFamily="34" charset="0"/>
                <a:cs typeface="Arial" panose="020B0604020202020204" pitchFamily="34" charset="0"/>
              </a:rPr>
              <a:t>chủ</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đầu</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tư</a:t>
            </a:r>
            <a:r>
              <a:rPr lang="en-US" sz="2400" b="1" dirty="0">
                <a:latin typeface="Arial" panose="020B0604020202020204" pitchFamily="34" charset="0"/>
                <a:cs typeface="Arial" panose="020B0604020202020204" pitchFamily="34" charset="0"/>
              </a:rPr>
              <a:t>:</a:t>
            </a:r>
          </a:p>
          <a:p>
            <a:pPr algn="just"/>
            <a:r>
              <a:rPr lang="en-US" sz="2400" dirty="0">
                <a:latin typeface="Arial" panose="020B0604020202020204" pitchFamily="34" charset="0"/>
                <a:cs typeface="Arial" panose="020B0604020202020204" pitchFamily="34" charset="0"/>
              </a:rPr>
              <a:t>Các </a:t>
            </a:r>
            <a:r>
              <a:rPr lang="en-US" sz="2400" dirty="0" err="1">
                <a:latin typeface="Arial" panose="020B0604020202020204" pitchFamily="34" charset="0"/>
                <a:cs typeface="Arial" panose="020B0604020202020204" pitchFamily="34" charset="0"/>
              </a:rPr>
              <a:t>dự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đầu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tư</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nhiệm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vụ</a:t>
            </a:r>
            <a:r>
              <a:rPr lang="en-US" sz="2400" dirty="0">
                <a:latin typeface="Arial" panose="020B0604020202020204" pitchFamily="34" charset="0"/>
                <a:cs typeface="Arial" panose="020B0604020202020204" pitchFamily="34" charset="0"/>
              </a:rPr>
              <a:t> chi </a:t>
            </a:r>
            <a:r>
              <a:rPr lang="en-US" sz="2400" dirty="0" err="1">
                <a:latin typeface="Arial" panose="020B0604020202020204" pitchFamily="34" charset="0"/>
                <a:cs typeface="Arial" panose="020B0604020202020204" pitchFamily="34" charset="0"/>
              </a:rPr>
              <a:t>cấp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thiết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được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tạm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ứng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vốn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kinh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phí</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thực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hiện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các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công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việc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theo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hợp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đồng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ký</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Mức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tạm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ứng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căn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cứ</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trị</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hợp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đồng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trong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phạm</a:t>
            </a:r>
            <a:r>
              <a:rPr lang="en-US" sz="2400" dirty="0">
                <a:latin typeface="Arial" panose="020B0604020202020204" pitchFamily="34" charset="0"/>
                <a:cs typeface="Arial" panose="020B0604020202020204" pitchFamily="34" charset="0"/>
              </a:rPr>
              <a:t> vi </a:t>
            </a:r>
            <a:r>
              <a:rPr lang="en-US" sz="2400" dirty="0" err="1">
                <a:latin typeface="Arial" panose="020B0604020202020204" pitchFamily="34" charset="0"/>
                <a:cs typeface="Arial" panose="020B0604020202020204" pitchFamily="34" charset="0"/>
              </a:rPr>
              <a:t>dự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ngân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sách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được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giao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theo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định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của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pháp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luật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liên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quan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Vốn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kinh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phí</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tạm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ứng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được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hồi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thanh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khối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lượng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nhiệm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vụ</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hoàn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thành</a:t>
            </a:r>
            <a:r>
              <a:rPr lang="en-US" sz="2400" dirty="0">
                <a:latin typeface="Arial" panose="020B0604020202020204" pitchFamily="34" charset="0"/>
                <a:cs typeface="Arial" panose="020B0604020202020204" pitchFamily="34" charset="0"/>
              </a:rPr>
              <a:t>.</a:t>
            </a:r>
          </a:p>
          <a:p>
            <a:pPr algn="just"/>
            <a:r>
              <a:rPr lang="en-US" sz="2400" dirty="0">
                <a:latin typeface="Arial" panose="020B0604020202020204" pitchFamily="34" charset="0"/>
                <a:cs typeface="Arial" panose="020B0604020202020204" pitchFamily="34" charset="0"/>
              </a:rPr>
              <a:t>Ngân </a:t>
            </a:r>
            <a:r>
              <a:rPr lang="en-US" sz="2400" dirty="0" err="1">
                <a:latin typeface="Arial" panose="020B0604020202020204" pitchFamily="34" charset="0"/>
                <a:cs typeface="Arial" panose="020B0604020202020204" pitchFamily="34" charset="0"/>
              </a:rPr>
              <a:t>sách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cấp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xã</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được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tạm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ứng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từ</a:t>
            </a:r>
            <a:r>
              <a:rPr lang="en-US" sz="2400" dirty="0">
                <a:latin typeface="Arial" panose="020B0604020202020204" pitchFamily="34" charset="0"/>
                <a:cs typeface="Arial" panose="020B0604020202020204" pitchFamily="34" charset="0"/>
              </a:rPr>
              <a:t> NS </a:t>
            </a:r>
            <a:r>
              <a:rPr lang="en-US" sz="2400" dirty="0" err="1">
                <a:latin typeface="Arial" panose="020B0604020202020204" pitchFamily="34" charset="0"/>
                <a:cs typeface="Arial" panose="020B0604020202020204" pitchFamily="34" charset="0"/>
              </a:rPr>
              <a:t>cấp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tỉnh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để</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thực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hiện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nhiệm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vụ</a:t>
            </a:r>
            <a:r>
              <a:rPr lang="en-US" sz="2400" dirty="0">
                <a:latin typeface="Arial" panose="020B0604020202020204" pitchFamily="34" charset="0"/>
                <a:cs typeface="Arial" panose="020B0604020202020204" pitchFamily="34" charset="0"/>
              </a:rPr>
              <a:t> chi </a:t>
            </a:r>
            <a:r>
              <a:rPr lang="en-US" sz="2400" dirty="0" err="1">
                <a:latin typeface="Arial" panose="020B0604020202020204" pitchFamily="34" charset="0"/>
                <a:cs typeface="Arial" panose="020B0604020202020204" pitchFamily="34" charset="0"/>
              </a:rPr>
              <a:t>theo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ngân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sách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được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giao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trong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trường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hợp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cần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thiết</a:t>
            </a:r>
            <a:r>
              <a:rPr lang="en-US" sz="2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5762315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96E27-8031-B10A-2032-57DBD30BEFE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8760F73-53BD-FDB4-6842-75F19B0C36EC}"/>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22854990-48BC-79EE-B483-27AD63478D03}"/>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chi </a:t>
            </a:r>
          </a:p>
          <a:p>
            <a:pPr marL="0" indent="0">
              <a:buNone/>
            </a:pPr>
            <a:endParaRPr lang="en-US" sz="3200" dirty="0"/>
          </a:p>
        </p:txBody>
      </p:sp>
      <p:sp>
        <p:nvSpPr>
          <p:cNvPr id="3" name="TextBox 2">
            <a:extLst>
              <a:ext uri="{FF2B5EF4-FFF2-40B4-BE49-F238E27FC236}">
                <a16:creationId xmlns:a16="http://schemas.microsoft.com/office/drawing/2014/main" id="{CCDDB4DB-349E-AD99-22C4-7C3EF77EC05E}"/>
              </a:ext>
            </a:extLst>
          </p:cNvPr>
          <p:cNvSpPr txBox="1"/>
          <p:nvPr/>
        </p:nvSpPr>
        <p:spPr>
          <a:xfrm>
            <a:off x="268014" y="2033746"/>
            <a:ext cx="11698014" cy="2308324"/>
          </a:xfrm>
          <a:prstGeom prst="rect">
            <a:avLst/>
          </a:prstGeom>
          <a:noFill/>
        </p:spPr>
        <p:txBody>
          <a:bodyPr wrap="square" rtlCol="0">
            <a:spAutoFit/>
          </a:bodyPr>
          <a:lstStyle/>
          <a:p>
            <a:pPr algn="just"/>
            <a:r>
              <a:rPr lang="en-US" sz="2400" dirty="0" err="1">
                <a:latin typeface="Times New Roman" panose="02020603050405020304" pitchFamily="18" charset="0"/>
                <a:cs typeface="Times New Roman" panose="02020603050405020304" pitchFamily="18" charset="0"/>
              </a:rPr>
              <a:t>Căn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cứ</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a:t>
            </a:r>
          </a:p>
          <a:p>
            <a:pPr marL="342900" indent="-342900" algn="just">
              <a:buFontTx/>
              <a:buChar char="-"/>
            </a:pPr>
            <a:r>
              <a:rPr lang="en-US" sz="2400" dirty="0" err="1">
                <a:latin typeface="Times New Roman" panose="02020603050405020304" pitchFamily="18" charset="0"/>
                <a:cs typeface="Times New Roman" panose="02020603050405020304" pitchFamily="18" charset="0"/>
              </a:rPr>
              <a:t>Thủ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trưởng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chịu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đúng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Pháp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đảm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đáp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ứng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kiện</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2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12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NSNN 2025,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rút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KBNN </a:t>
            </a:r>
            <a:r>
              <a:rPr lang="en-US" sz="2400" dirty="0" err="1">
                <a:latin typeface="Times New Roman" panose="02020603050405020304" pitchFamily="18" charset="0"/>
                <a:cs typeface="Times New Roman" panose="02020603050405020304" pitchFamily="18" charset="0"/>
              </a:rPr>
              <a:t>nơi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dịch</a:t>
            </a:r>
            <a:r>
              <a:rPr lang="en-US" sz="2400" dirty="0">
                <a:latin typeface="Times New Roman" panose="02020603050405020304" pitchFamily="18" charset="0"/>
                <a:cs typeface="Times New Roman" panose="02020603050405020304" pitchFamily="18" charset="0"/>
              </a:rPr>
              <a:t>;</a:t>
            </a:r>
          </a:p>
          <a:p>
            <a:pPr marL="342900" indent="-342900" algn="just">
              <a:buFontTx/>
              <a:buChar char="-"/>
            </a:pP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rút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sung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KBNN.</a:t>
            </a:r>
          </a:p>
        </p:txBody>
      </p:sp>
    </p:spTree>
    <p:extLst>
      <p:ext uri="{BB962C8B-B14F-4D97-AF65-F5344CB8AC3E}">
        <p14:creationId xmlns:p14="http://schemas.microsoft.com/office/powerpoint/2010/main" val="23457586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954AD-0986-448B-7C94-53A8979B2B7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EC4FC53-FC4A-50F1-88D0-51FDBC699EDB}"/>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03A9C60A-317D-09A9-F274-C0413D086F78}"/>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chi </a:t>
            </a:r>
          </a:p>
          <a:p>
            <a:pPr marL="0" indent="0">
              <a:buNone/>
            </a:pPr>
            <a:endParaRPr lang="en-US" sz="3200" dirty="0"/>
          </a:p>
        </p:txBody>
      </p:sp>
      <p:sp>
        <p:nvSpPr>
          <p:cNvPr id="5" name="TextBox 4">
            <a:extLst>
              <a:ext uri="{FF2B5EF4-FFF2-40B4-BE49-F238E27FC236}">
                <a16:creationId xmlns:a16="http://schemas.microsoft.com/office/drawing/2014/main" id="{69C4C87D-519F-A2FD-DBF1-493A575FD234}"/>
              </a:ext>
            </a:extLst>
          </p:cNvPr>
          <p:cNvSpPr txBox="1"/>
          <p:nvPr/>
        </p:nvSpPr>
        <p:spPr>
          <a:xfrm>
            <a:off x="76200" y="1790700"/>
            <a:ext cx="12001500" cy="1938992"/>
          </a:xfrm>
          <a:prstGeom prst="rect">
            <a:avLst/>
          </a:prstGeom>
          <a:noFill/>
        </p:spPr>
        <p:txBody>
          <a:bodyPr wrap="square" rtlCol="0">
            <a:spAutoFit/>
          </a:bodyPr>
          <a:lstStyle/>
          <a:p>
            <a:pPr algn="just"/>
            <a:r>
              <a:rPr lang="en-US" sz="2400" b="1" dirty="0" err="1">
                <a:solidFill>
                  <a:srgbClr val="000000"/>
                </a:solidFill>
                <a:latin typeface="Times New Roman" panose="02020603050405020304" pitchFamily="18" charset="0"/>
              </a:rPr>
              <a:t>Điều</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kiện</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thực</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hiện</a:t>
            </a:r>
            <a:r>
              <a:rPr lang="en-US" sz="2400" b="1" dirty="0">
                <a:solidFill>
                  <a:srgbClr val="000000"/>
                </a:solidFill>
                <a:latin typeface="Times New Roman" panose="02020603050405020304" pitchFamily="18" charset="0"/>
              </a:rPr>
              <a:t> chi NS </a:t>
            </a:r>
            <a:r>
              <a:rPr lang="en-US" sz="2400" b="1" dirty="0" err="1">
                <a:solidFill>
                  <a:srgbClr val="000000"/>
                </a:solidFill>
                <a:latin typeface="Times New Roman" panose="02020603050405020304" pitchFamily="18" charset="0"/>
              </a:rPr>
              <a:t>xã</a:t>
            </a:r>
            <a:endParaRPr lang="en-US" sz="2400" b="1" dirty="0">
              <a:solidFill>
                <a:srgbClr val="000000"/>
              </a:solidFill>
              <a:latin typeface="Times New Roman" panose="02020603050405020304" pitchFamily="18" charset="0"/>
            </a:endParaRPr>
          </a:p>
          <a:p>
            <a:pPr algn="just"/>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Có</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trong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giao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trừ</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trường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hợp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endParaRPr lang="en-US" sz="2400" dirty="0">
              <a:solidFill>
                <a:srgbClr val="000000"/>
              </a:solidFill>
              <a:latin typeface="Times New Roman" panose="02020603050405020304" pitchFamily="18" charset="0"/>
            </a:endParaRPr>
          </a:p>
          <a:p>
            <a:pPr algn="just"/>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thủ</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trưởng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vị</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dụng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ngân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sách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chủ</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đầu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tư</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hoặc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người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ủy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quyền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chi.</a:t>
            </a:r>
          </a:p>
          <a:p>
            <a:pPr algn="just"/>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Đáp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ứng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điều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kiện</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trong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từng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trường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hợp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cụ</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thể</a:t>
            </a:r>
            <a:r>
              <a:rPr lang="en-US" sz="2400" dirty="0">
                <a:solidFill>
                  <a:srgbClr val="000000"/>
                </a:solidFill>
                <a:latin typeface="Times New Roman" panose="02020603050405020304" pitchFamily="18" charset="0"/>
              </a:rPr>
              <a:t> ???</a:t>
            </a:r>
          </a:p>
        </p:txBody>
      </p:sp>
    </p:spTree>
    <p:extLst>
      <p:ext uri="{BB962C8B-B14F-4D97-AF65-F5344CB8AC3E}">
        <p14:creationId xmlns:p14="http://schemas.microsoft.com/office/powerpoint/2010/main" val="10927422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9BBC9-A654-8AF7-7742-1DB85208DC1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D4EE86E-84B2-887A-6D8E-F7C6872B7D5E}"/>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4D95CEFD-ECBB-EBC8-8EF7-F855B575413F}"/>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chi </a:t>
            </a:r>
          </a:p>
          <a:p>
            <a:pPr marL="0" indent="0">
              <a:buNone/>
            </a:pPr>
            <a:endParaRPr lang="en-US" sz="3200" dirty="0"/>
          </a:p>
        </p:txBody>
      </p:sp>
      <p:sp>
        <p:nvSpPr>
          <p:cNvPr id="5" name="TextBox 4">
            <a:extLst>
              <a:ext uri="{FF2B5EF4-FFF2-40B4-BE49-F238E27FC236}">
                <a16:creationId xmlns:a16="http://schemas.microsoft.com/office/drawing/2014/main" id="{0CB3E20E-EEC3-4996-2268-6956101C2F67}"/>
              </a:ext>
            </a:extLst>
          </p:cNvPr>
          <p:cNvSpPr txBox="1"/>
          <p:nvPr/>
        </p:nvSpPr>
        <p:spPr>
          <a:xfrm>
            <a:off x="76200" y="1790700"/>
            <a:ext cx="12001500" cy="5463034"/>
          </a:xfrm>
          <a:prstGeom prst="rect">
            <a:avLst/>
          </a:prstGeom>
          <a:noFill/>
        </p:spPr>
        <p:txBody>
          <a:bodyPr wrap="square" rtlCol="0">
            <a:spAutoFit/>
          </a:bodyPr>
          <a:lstStyle/>
          <a:p>
            <a:pPr algn="just"/>
            <a:r>
              <a:rPr lang="en-US" sz="2400" b="1" dirty="0" err="1">
                <a:solidFill>
                  <a:srgbClr val="000000"/>
                </a:solidFill>
                <a:latin typeface="Times New Roman" panose="02020603050405020304" pitchFamily="18" charset="0"/>
              </a:rPr>
              <a:t>Điều</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kiện</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thực</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hiện</a:t>
            </a:r>
            <a:r>
              <a:rPr lang="en-US" sz="2400" b="1" dirty="0">
                <a:solidFill>
                  <a:srgbClr val="000000"/>
                </a:solidFill>
                <a:latin typeface="Times New Roman" panose="02020603050405020304" pitchFamily="18" charset="0"/>
              </a:rPr>
              <a:t> chi NS </a:t>
            </a:r>
            <a:r>
              <a:rPr lang="en-US" sz="2400" b="1" dirty="0" err="1">
                <a:solidFill>
                  <a:srgbClr val="000000"/>
                </a:solidFill>
                <a:latin typeface="Times New Roman" panose="02020603050405020304" pitchFamily="18" charset="0"/>
              </a:rPr>
              <a:t>xã</a:t>
            </a:r>
            <a:endParaRPr lang="en-US" sz="2400" b="1" dirty="0">
              <a:solidFill>
                <a:srgbClr val="000000"/>
              </a:solidFill>
              <a:latin typeface="Times New Roman" panose="02020603050405020304" pitchFamily="18" charset="0"/>
            </a:endParaRPr>
          </a:p>
          <a:p>
            <a:pPr algn="just"/>
            <a:r>
              <a:rPr lang="en-US" sz="2400" i="1" dirty="0">
                <a:solidFill>
                  <a:srgbClr val="FF0000"/>
                </a:solidFill>
                <a:latin typeface="Times New Roman" panose="02020603050405020304" pitchFamily="18" charset="0"/>
              </a:rPr>
              <a:t>- </a:t>
            </a:r>
            <a:r>
              <a:rPr lang="en-US" sz="2300" i="1" dirty="0" err="1">
                <a:solidFill>
                  <a:srgbClr val="FF0000"/>
                </a:solidFill>
                <a:latin typeface="Times New Roman" panose="02020603050405020304" pitchFamily="18" charset="0"/>
              </a:rPr>
              <a:t>Điều</a:t>
            </a:r>
            <a:r>
              <a:rPr lang="en-US" sz="2300" i="1" dirty="0">
                <a:solidFill>
                  <a:srgbClr val="FF0000"/>
                </a:solidFill>
                <a:latin typeface="Times New Roman" panose="02020603050405020304" pitchFamily="18" charset="0"/>
              </a:rPr>
              <a:t> </a:t>
            </a:r>
            <a:r>
              <a:rPr lang="en-US" sz="2300" i="1" dirty="0" err="1">
                <a:solidFill>
                  <a:srgbClr val="FF0000"/>
                </a:solidFill>
                <a:latin typeface="Times New Roman" panose="02020603050405020304" pitchFamily="18" charset="0"/>
              </a:rPr>
              <a:t>kiện</a:t>
            </a:r>
            <a:r>
              <a:rPr lang="en-US" sz="2300" i="1" dirty="0">
                <a:solidFill>
                  <a:srgbClr val="FF0000"/>
                </a:solidFill>
                <a:latin typeface="Times New Roman" panose="02020603050405020304" pitchFamily="18" charset="0"/>
              </a:rPr>
              <a:t> </a:t>
            </a:r>
            <a:r>
              <a:rPr lang="en-US" sz="2300" i="1" dirty="0" err="1">
                <a:solidFill>
                  <a:srgbClr val="FF0000"/>
                </a:solidFill>
                <a:latin typeface="Times New Roman" panose="02020603050405020304" pitchFamily="18" charset="0"/>
              </a:rPr>
              <a:t>trong</a:t>
            </a:r>
            <a:r>
              <a:rPr lang="en-US" sz="2300" i="1" dirty="0">
                <a:solidFill>
                  <a:srgbClr val="FF0000"/>
                </a:solidFill>
                <a:latin typeface="Times New Roman" panose="02020603050405020304" pitchFamily="18" charset="0"/>
              </a:rPr>
              <a:t> </a:t>
            </a:r>
            <a:r>
              <a:rPr lang="en-US" sz="2300" i="1" dirty="0" err="1">
                <a:solidFill>
                  <a:srgbClr val="FF0000"/>
                </a:solidFill>
                <a:latin typeface="Times New Roman" panose="02020603050405020304" pitchFamily="18" charset="0"/>
              </a:rPr>
              <a:t>từng</a:t>
            </a:r>
            <a:r>
              <a:rPr lang="en-US" sz="2300" i="1" dirty="0">
                <a:solidFill>
                  <a:srgbClr val="FF0000"/>
                </a:solidFill>
                <a:latin typeface="Times New Roman" panose="02020603050405020304" pitchFamily="18" charset="0"/>
              </a:rPr>
              <a:t> </a:t>
            </a:r>
            <a:r>
              <a:rPr lang="en-US" sz="2300" i="1" dirty="0" err="1">
                <a:solidFill>
                  <a:srgbClr val="FF0000"/>
                </a:solidFill>
                <a:latin typeface="Times New Roman" panose="02020603050405020304" pitchFamily="18" charset="0"/>
              </a:rPr>
              <a:t>trường</a:t>
            </a:r>
            <a:r>
              <a:rPr lang="en-US" sz="2300" i="1" dirty="0">
                <a:solidFill>
                  <a:srgbClr val="FF0000"/>
                </a:solidFill>
                <a:latin typeface="Times New Roman" panose="02020603050405020304" pitchFamily="18" charset="0"/>
              </a:rPr>
              <a:t> </a:t>
            </a:r>
            <a:r>
              <a:rPr lang="en-US" sz="2300" i="1" dirty="0" err="1">
                <a:solidFill>
                  <a:srgbClr val="FF0000"/>
                </a:solidFill>
                <a:latin typeface="Times New Roman" panose="02020603050405020304" pitchFamily="18" charset="0"/>
              </a:rPr>
              <a:t>hợp</a:t>
            </a:r>
            <a:r>
              <a:rPr lang="en-US" sz="2300" i="1" dirty="0">
                <a:solidFill>
                  <a:srgbClr val="FF0000"/>
                </a:solidFill>
                <a:latin typeface="Times New Roman" panose="02020603050405020304" pitchFamily="18" charset="0"/>
              </a:rPr>
              <a:t> </a:t>
            </a:r>
            <a:r>
              <a:rPr lang="en-US" sz="2300" i="1" dirty="0" err="1">
                <a:solidFill>
                  <a:srgbClr val="FF0000"/>
                </a:solidFill>
                <a:latin typeface="Times New Roman" panose="02020603050405020304" pitchFamily="18" charset="0"/>
              </a:rPr>
              <a:t>cụ</a:t>
            </a:r>
            <a:r>
              <a:rPr lang="en-US" sz="2300" i="1" dirty="0">
                <a:solidFill>
                  <a:srgbClr val="FF0000"/>
                </a:solidFill>
                <a:latin typeface="Times New Roman" panose="02020603050405020304" pitchFamily="18" charset="0"/>
              </a:rPr>
              <a:t> </a:t>
            </a:r>
            <a:r>
              <a:rPr lang="en-US" sz="2300" i="1" dirty="0" err="1">
                <a:solidFill>
                  <a:srgbClr val="FF0000"/>
                </a:solidFill>
                <a:latin typeface="Times New Roman" panose="02020603050405020304" pitchFamily="18" charset="0"/>
              </a:rPr>
              <a:t>thể</a:t>
            </a:r>
            <a:r>
              <a:rPr lang="en-US" sz="2300" i="1" dirty="0">
                <a:solidFill>
                  <a:srgbClr val="FF0000"/>
                </a:solidFill>
                <a:latin typeface="Times New Roman" panose="02020603050405020304" pitchFamily="18" charset="0"/>
              </a:rPr>
              <a:t>:</a:t>
            </a:r>
          </a:p>
          <a:p>
            <a:pPr algn="just"/>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Đối</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với</a:t>
            </a:r>
            <a:r>
              <a:rPr lang="en-US" sz="2300" dirty="0">
                <a:solidFill>
                  <a:srgbClr val="000000"/>
                </a:solidFill>
                <a:latin typeface="Times New Roman" panose="02020603050405020304" pitchFamily="18" charset="0"/>
              </a:rPr>
              <a:t> chi ĐTPT </a:t>
            </a:r>
            <a:r>
              <a:rPr lang="en-US" sz="2300" dirty="0" err="1">
                <a:solidFill>
                  <a:srgbClr val="000000"/>
                </a:solidFill>
                <a:latin typeface="Times New Roman" panose="02020603050405020304" pitchFamily="18" charset="0"/>
              </a:rPr>
              <a:t>phải</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đáp</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ứng</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các</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điều</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kiện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theo</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quy</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định</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của</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Luật</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đầu</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tư</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công</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và</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quy</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định</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của</a:t>
            </a:r>
            <a:r>
              <a:rPr lang="en-US" sz="2300" dirty="0">
                <a:solidFill>
                  <a:srgbClr val="000000"/>
                </a:solidFill>
                <a:latin typeface="Times New Roman" panose="02020603050405020304" pitchFamily="18" charset="0"/>
              </a:rPr>
              <a:t> PL </a:t>
            </a:r>
            <a:r>
              <a:rPr lang="en-US" sz="2300" dirty="0" err="1">
                <a:solidFill>
                  <a:srgbClr val="000000"/>
                </a:solidFill>
                <a:latin typeface="Times New Roman" panose="02020603050405020304" pitchFamily="18" charset="0"/>
              </a:rPr>
              <a:t>khác</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có</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liên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quan</a:t>
            </a:r>
            <a:r>
              <a:rPr lang="en-US" sz="2300" dirty="0">
                <a:solidFill>
                  <a:srgbClr val="000000"/>
                </a:solidFill>
                <a:latin typeface="Times New Roman" panose="02020603050405020304" pitchFamily="18" charset="0"/>
              </a:rPr>
              <a:t>;</a:t>
            </a:r>
          </a:p>
          <a:p>
            <a:pPr algn="just"/>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Đối</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với</a:t>
            </a:r>
            <a:r>
              <a:rPr lang="en-US" sz="2300" dirty="0">
                <a:solidFill>
                  <a:srgbClr val="000000"/>
                </a:solidFill>
                <a:latin typeface="Times New Roman" panose="02020603050405020304" pitchFamily="18" charset="0"/>
              </a:rPr>
              <a:t> chi </a:t>
            </a:r>
            <a:r>
              <a:rPr lang="en-US" sz="2300" dirty="0" err="1">
                <a:solidFill>
                  <a:srgbClr val="000000"/>
                </a:solidFill>
                <a:latin typeface="Times New Roman" panose="02020603050405020304" pitchFamily="18" charset="0"/>
              </a:rPr>
              <a:t>thường</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xuyên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phải</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bảo</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đảm</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bảo</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đúng</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chế</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độ</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tiêu</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chuẩn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định</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mức</a:t>
            </a:r>
            <a:r>
              <a:rPr lang="en-US" sz="2300" dirty="0">
                <a:solidFill>
                  <a:srgbClr val="000000"/>
                </a:solidFill>
                <a:latin typeface="Times New Roman" panose="02020603050405020304" pitchFamily="18" charset="0"/>
              </a:rPr>
              <a:t> chi NS do </a:t>
            </a:r>
            <a:r>
              <a:rPr lang="en-US" sz="2300" dirty="0" err="1">
                <a:solidFill>
                  <a:srgbClr val="000000"/>
                </a:solidFill>
                <a:latin typeface="Times New Roman" panose="02020603050405020304" pitchFamily="18" charset="0"/>
              </a:rPr>
              <a:t>Cơ</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quan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nhà</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nước</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có</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thẩm</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quyền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quy</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định</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trường</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hợp</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cơ</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quan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đơn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vị</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đã</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được</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cấp</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có</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thẩm</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quyền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cho</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phép</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thực</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hiện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theo</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cơ</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chế</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tự</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chủ</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tự</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chịu</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trách</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nhiệm</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về</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sử</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dụng</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biên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chế</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và</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kinh</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phí</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thì</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thực</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hiện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theo</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quy</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chế</a:t>
            </a:r>
            <a:r>
              <a:rPr lang="en-US" sz="2300" dirty="0">
                <a:solidFill>
                  <a:srgbClr val="000000"/>
                </a:solidFill>
                <a:latin typeface="Times New Roman" panose="02020603050405020304" pitchFamily="18" charset="0"/>
              </a:rPr>
              <a:t> chi </a:t>
            </a:r>
            <a:r>
              <a:rPr lang="en-US" sz="2300" dirty="0" err="1">
                <a:solidFill>
                  <a:srgbClr val="000000"/>
                </a:solidFill>
                <a:latin typeface="Times New Roman" panose="02020603050405020304" pitchFamily="18" charset="0"/>
              </a:rPr>
              <a:t>tiêu</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nội</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bộ</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và</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phù</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hợp</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với</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dự</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toán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được</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giao</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tự</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chủ</a:t>
            </a:r>
            <a:r>
              <a:rPr lang="en-US" sz="2300" dirty="0">
                <a:solidFill>
                  <a:srgbClr val="000000"/>
                </a:solidFill>
                <a:latin typeface="Times New Roman" panose="02020603050405020304" pitchFamily="18" charset="0"/>
              </a:rPr>
              <a:t>; </a:t>
            </a:r>
          </a:p>
          <a:p>
            <a:pPr algn="just"/>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Đối</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với</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những</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gói</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thầu</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thuộc</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các</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nhiệm</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vụ</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chương</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trình</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dự</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án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cần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phải</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lựa</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chọn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nhà</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thầu</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cung</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cấp</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dịch</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vụ</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tư</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vấn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mua</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sắm</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hàng</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hóa</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xây</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lắp</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phải</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tổ</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chức</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thực</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hiện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theo</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quy</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định</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của</a:t>
            </a:r>
            <a:r>
              <a:rPr lang="en-US" sz="2300" dirty="0">
                <a:solidFill>
                  <a:srgbClr val="000000"/>
                </a:solidFill>
                <a:latin typeface="Times New Roman" panose="02020603050405020304" pitchFamily="18" charset="0"/>
              </a:rPr>
              <a:t> PL </a:t>
            </a:r>
            <a:r>
              <a:rPr lang="en-US" sz="2300" dirty="0" err="1">
                <a:solidFill>
                  <a:srgbClr val="000000"/>
                </a:solidFill>
                <a:latin typeface="Times New Roman" panose="02020603050405020304" pitchFamily="18" charset="0"/>
              </a:rPr>
              <a:t>về</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đấu</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thầu</a:t>
            </a:r>
            <a:r>
              <a:rPr lang="en-US" sz="2300" dirty="0">
                <a:solidFill>
                  <a:srgbClr val="000000"/>
                </a:solidFill>
                <a:latin typeface="Times New Roman" panose="02020603050405020304" pitchFamily="18" charset="0"/>
              </a:rPr>
              <a:t>.</a:t>
            </a:r>
          </a:p>
          <a:p>
            <a:pPr algn="just"/>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Đối</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với</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những</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khoản</a:t>
            </a:r>
            <a:r>
              <a:rPr lang="en-US" sz="2300" dirty="0">
                <a:solidFill>
                  <a:srgbClr val="000000"/>
                </a:solidFill>
                <a:latin typeface="Times New Roman" panose="02020603050405020304" pitchFamily="18" charset="0"/>
              </a:rPr>
              <a:t> chi </a:t>
            </a:r>
            <a:r>
              <a:rPr lang="en-US" sz="2300" dirty="0" err="1">
                <a:solidFill>
                  <a:srgbClr val="000000"/>
                </a:solidFill>
                <a:latin typeface="Times New Roman" panose="02020603050405020304" pitchFamily="18" charset="0"/>
              </a:rPr>
              <a:t>cho</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công</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việc</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thưc</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hiện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theo</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phương</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thức</a:t>
            </a:r>
            <a:r>
              <a:rPr lang="en-US" sz="2300" dirty="0">
                <a:solidFill>
                  <a:srgbClr val="000000"/>
                </a:solidFill>
                <a:latin typeface="Times New Roman" panose="02020603050405020304" pitchFamily="18" charset="0"/>
              </a:rPr>
              <a:t> Nhà </a:t>
            </a:r>
            <a:r>
              <a:rPr lang="en-US" sz="2300" dirty="0" err="1">
                <a:solidFill>
                  <a:srgbClr val="000000"/>
                </a:solidFill>
                <a:latin typeface="Times New Roman" panose="02020603050405020304" pitchFamily="18" charset="0"/>
              </a:rPr>
              <a:t>nước</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đặt</a:t>
            </a:r>
            <a:r>
              <a:rPr lang="en-US" sz="2300" dirty="0">
                <a:solidFill>
                  <a:srgbClr val="000000"/>
                </a:solidFill>
                <a:latin typeface="Times New Roman" panose="02020603050405020304" pitchFamily="18" charset="0"/>
              </a:rPr>
              <a:t> hang </a:t>
            </a:r>
            <a:r>
              <a:rPr lang="en-US" sz="2300" dirty="0" err="1">
                <a:solidFill>
                  <a:srgbClr val="000000"/>
                </a:solidFill>
                <a:latin typeface="Times New Roman" panose="02020603050405020304" pitchFamily="18" charset="0"/>
              </a:rPr>
              <a:t>phải</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theo</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quy</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định</a:t>
            </a:r>
            <a:r>
              <a:rPr lang="en-US" sz="2300" dirty="0">
                <a:solidFill>
                  <a:srgbClr val="000000"/>
                </a:solidFill>
                <a:latin typeface="Times New Roman" panose="02020603050405020304" pitchFamily="18" charset="0"/>
              </a:rPr>
              <a:t> PL </a:t>
            </a:r>
            <a:r>
              <a:rPr lang="en-US" sz="2300" dirty="0" err="1">
                <a:solidFill>
                  <a:srgbClr val="000000"/>
                </a:solidFill>
                <a:latin typeface="Times New Roman" panose="02020603050405020304" pitchFamily="18" charset="0"/>
              </a:rPr>
              <a:t>về</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giá</a:t>
            </a:r>
            <a:r>
              <a:rPr lang="en-US" sz="2300" dirty="0">
                <a:solidFill>
                  <a:srgbClr val="000000"/>
                </a:solidFill>
                <a:latin typeface="Times New Roman" panose="02020603050405020304" pitchFamily="18" charset="0"/>
              </a:rPr>
              <a:t> do </a:t>
            </a:r>
            <a:r>
              <a:rPr lang="en-US" sz="2300" dirty="0" err="1">
                <a:solidFill>
                  <a:srgbClr val="000000"/>
                </a:solidFill>
                <a:latin typeface="Times New Roman" panose="02020603050405020304" pitchFamily="18" charset="0"/>
              </a:rPr>
              <a:t>cấp</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có</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thẩm</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quyền</a:t>
            </a:r>
            <a:r>
              <a:rPr lang="en-US" sz="2300" dirty="0">
                <a:solidFill>
                  <a:srgbClr val="000000"/>
                </a:solidFill>
                <a:latin typeface="Times New Roman" panose="02020603050405020304" pitchFamily="18" charset="0"/>
              </a:rPr>
              <a:t> ban </a:t>
            </a:r>
            <a:r>
              <a:rPr lang="en-US" sz="2300" dirty="0" err="1">
                <a:solidFill>
                  <a:srgbClr val="000000"/>
                </a:solidFill>
                <a:latin typeface="Times New Roman" panose="02020603050405020304" pitchFamily="18" charset="0"/>
              </a:rPr>
              <a:t>hành</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trừ</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thực</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hiện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nhiệm</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vụ</a:t>
            </a:r>
            <a:r>
              <a:rPr lang="en-US" sz="2300" dirty="0">
                <a:solidFill>
                  <a:srgbClr val="000000"/>
                </a:solidFill>
                <a:latin typeface="Times New Roman" panose="02020603050405020304" pitchFamily="18" charset="0"/>
              </a:rPr>
              <a:t> khoa </a:t>
            </a:r>
            <a:r>
              <a:rPr lang="en-US" sz="2300" dirty="0" err="1">
                <a:solidFill>
                  <a:srgbClr val="000000"/>
                </a:solidFill>
                <a:latin typeface="Times New Roman" panose="02020603050405020304" pitchFamily="18" charset="0"/>
              </a:rPr>
              <a:t>học</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công</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nghệ</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và</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đổi</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mới</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sáng</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tạo</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thực</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hiện</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theo</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quy</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định</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của</a:t>
            </a:r>
            <a:r>
              <a:rPr lang="en-US" sz="2300" dirty="0">
                <a:solidFill>
                  <a:srgbClr val="000000"/>
                </a:solidFill>
                <a:latin typeface="Times New Roman" panose="02020603050405020304" pitchFamily="18" charset="0"/>
              </a:rPr>
              <a:t> PL </a:t>
            </a:r>
            <a:r>
              <a:rPr lang="en-US" sz="2300" dirty="0" err="1">
                <a:solidFill>
                  <a:srgbClr val="000000"/>
                </a:solidFill>
                <a:latin typeface="Times New Roman" panose="02020603050405020304" pitchFamily="18" charset="0"/>
              </a:rPr>
              <a:t>về</a:t>
            </a:r>
            <a:r>
              <a:rPr lang="en-US" sz="2300" dirty="0">
                <a:solidFill>
                  <a:srgbClr val="000000"/>
                </a:solidFill>
                <a:latin typeface="Times New Roman" panose="02020603050405020304" pitchFamily="18" charset="0"/>
              </a:rPr>
              <a:t> Khoa </a:t>
            </a:r>
            <a:r>
              <a:rPr lang="en-US" sz="2300" dirty="0" err="1">
                <a:solidFill>
                  <a:srgbClr val="000000"/>
                </a:solidFill>
                <a:latin typeface="Times New Roman" panose="02020603050405020304" pitchFamily="18" charset="0"/>
              </a:rPr>
              <a:t>học</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công</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nghệ</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và</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đổi</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mới</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sáng</a:t>
            </a:r>
            <a:r>
              <a:rPr lang="en-US" sz="2300" dirty="0">
                <a:solidFill>
                  <a:srgbClr val="000000"/>
                </a:solidFill>
                <a:latin typeface="Times New Roman" panose="02020603050405020304" pitchFamily="18" charset="0"/>
              </a:rPr>
              <a:t> </a:t>
            </a:r>
            <a:r>
              <a:rPr lang="en-US" sz="2300" dirty="0" err="1">
                <a:solidFill>
                  <a:srgbClr val="000000"/>
                </a:solidFill>
                <a:latin typeface="Times New Roman" panose="02020603050405020304" pitchFamily="18" charset="0"/>
              </a:rPr>
              <a:t>tạo</a:t>
            </a:r>
            <a:r>
              <a:rPr lang="en-US" sz="2400" dirty="0">
                <a:solidFill>
                  <a:srgbClr val="000000"/>
                </a:solidFill>
                <a:latin typeface="Times New Roman" panose="02020603050405020304" pitchFamily="18" charset="0"/>
              </a:rPr>
              <a:t>.</a:t>
            </a:r>
          </a:p>
          <a:p>
            <a:pPr algn="just"/>
            <a:endParaRPr lang="en-US"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3853636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8B05B-3AFB-F2E7-7639-8A4AE0A3FC9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0348285-EE9B-E366-6819-E1A92138DE0C}"/>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A309980A-5338-037A-90B0-A1349C6BF03A}"/>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chi </a:t>
            </a:r>
          </a:p>
          <a:p>
            <a:pPr marL="0" indent="0">
              <a:buNone/>
            </a:pPr>
            <a:endParaRPr lang="en-US" sz="3200" dirty="0"/>
          </a:p>
        </p:txBody>
      </p:sp>
      <p:sp>
        <p:nvSpPr>
          <p:cNvPr id="5" name="TextBox 4">
            <a:extLst>
              <a:ext uri="{FF2B5EF4-FFF2-40B4-BE49-F238E27FC236}">
                <a16:creationId xmlns:a16="http://schemas.microsoft.com/office/drawing/2014/main" id="{4B9D5634-C3C4-92D8-F753-97B6FE7A49EC}"/>
              </a:ext>
            </a:extLst>
          </p:cNvPr>
          <p:cNvSpPr txBox="1"/>
          <p:nvPr/>
        </p:nvSpPr>
        <p:spPr>
          <a:xfrm>
            <a:off x="76200" y="1790700"/>
            <a:ext cx="12001500" cy="3416320"/>
          </a:xfrm>
          <a:prstGeom prst="rect">
            <a:avLst/>
          </a:prstGeom>
          <a:noFill/>
        </p:spPr>
        <p:txBody>
          <a:bodyPr wrap="square" rtlCol="0">
            <a:spAutoFit/>
          </a:bodyPr>
          <a:lstStyle/>
          <a:p>
            <a:pPr algn="just"/>
            <a:r>
              <a:rPr lang="en-US" sz="2400" b="1" dirty="0">
                <a:solidFill>
                  <a:srgbClr val="000000"/>
                </a:solidFill>
                <a:latin typeface="Times New Roman" panose="02020603050405020304" pitchFamily="18" charset="0"/>
              </a:rPr>
              <a:t>Quy </a:t>
            </a:r>
            <a:r>
              <a:rPr lang="en-US" sz="2400" b="1" dirty="0" err="1">
                <a:solidFill>
                  <a:srgbClr val="000000"/>
                </a:solidFill>
                <a:latin typeface="Times New Roman" panose="02020603050405020304" pitchFamily="18" charset="0"/>
              </a:rPr>
              <a:t>trình</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tổ</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chức</a:t>
            </a:r>
            <a:r>
              <a:rPr lang="en-US" sz="2400" b="1" dirty="0">
                <a:solidFill>
                  <a:srgbClr val="000000"/>
                </a:solidFill>
                <a:latin typeface="Times New Roman" panose="02020603050405020304" pitchFamily="18" charset="0"/>
              </a:rPr>
              <a:t> chi NS </a:t>
            </a:r>
            <a:r>
              <a:rPr lang="en-US" sz="2400" b="1" dirty="0" err="1">
                <a:solidFill>
                  <a:srgbClr val="000000"/>
                </a:solidFill>
                <a:latin typeface="Times New Roman" panose="02020603050405020304" pitchFamily="18" charset="0"/>
              </a:rPr>
              <a:t>xã</a:t>
            </a:r>
            <a:endParaRPr lang="en-US" sz="2400" b="1" dirty="0">
              <a:solidFill>
                <a:srgbClr val="000000"/>
              </a:solidFill>
              <a:latin typeface="Times New Roman" panose="02020603050405020304" pitchFamily="18" charset="0"/>
            </a:endParaRPr>
          </a:p>
          <a:p>
            <a:pPr algn="just"/>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Căn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cứ</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điều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kiện</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thủ</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trưởng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vị</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dụng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ngân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sách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lập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hồ</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sơ</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đề</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nghị</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gửi</a:t>
            </a:r>
            <a:r>
              <a:rPr lang="en-US" sz="2400" dirty="0">
                <a:solidFill>
                  <a:srgbClr val="000000"/>
                </a:solidFill>
                <a:latin typeface="Times New Roman" panose="02020603050405020304" pitchFamily="18" charset="0"/>
              </a:rPr>
              <a:t> KBNN </a:t>
            </a:r>
            <a:r>
              <a:rPr lang="en-US" sz="2400" dirty="0" err="1">
                <a:solidFill>
                  <a:srgbClr val="000000"/>
                </a:solidFill>
                <a:latin typeface="Times New Roman" panose="02020603050405020304" pitchFamily="18" charset="0"/>
              </a:rPr>
              <a:t>để</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thanh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hoặc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ứng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a:t>
            </a:r>
          </a:p>
          <a:p>
            <a:pPr algn="just"/>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Căn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cứ</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hồ</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sơ</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đề</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nghị</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vị</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dụng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ngân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sách</a:t>
            </a:r>
            <a:r>
              <a:rPr lang="en-US" sz="2400" dirty="0">
                <a:solidFill>
                  <a:srgbClr val="000000"/>
                </a:solidFill>
                <a:latin typeface="Times New Roman" panose="02020603050405020304" pitchFamily="18" charset="0"/>
              </a:rPr>
              <a:t>, KBNN </a:t>
            </a:r>
            <a:r>
              <a:rPr lang="en-US" sz="2400" dirty="0" err="1">
                <a:solidFill>
                  <a:srgbClr val="000000"/>
                </a:solidFill>
                <a:latin typeface="Times New Roman" panose="02020603050405020304" pitchFamily="18" charset="0"/>
              </a:rPr>
              <a:t>kiểm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hồ</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sơ</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đối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chiếu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với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giao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vị</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hiện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thanh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đề</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nghị</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có</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quyền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từ</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chối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thanh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không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có</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trong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trừ</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trường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hợp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hoặc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từ</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chối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thanh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Chính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phủ</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về</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thủ</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tục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hành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chính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thuộc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lĩnh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vực</a:t>
            </a:r>
            <a:r>
              <a:rPr lang="en-US" sz="2400" dirty="0">
                <a:solidFill>
                  <a:srgbClr val="000000"/>
                </a:solidFill>
                <a:latin typeface="Times New Roman" panose="02020603050405020304" pitchFamily="18" charset="0"/>
              </a:rPr>
              <a:t> KBNN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về</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quản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lý</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thanh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dụng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vốn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đầu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tư</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công</a:t>
            </a:r>
            <a:r>
              <a:rPr lang="en-US" sz="2400" dirty="0">
                <a:solidFill>
                  <a:srgbClr val="000000"/>
                </a:solidFill>
                <a:latin typeface="Times New Roman" panose="02020603050405020304" pitchFamily="18" charset="0"/>
              </a:rPr>
              <a:t>.</a:t>
            </a:r>
          </a:p>
          <a:p>
            <a:pPr algn="just"/>
            <a:endParaRPr lang="en-US"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4874012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3D83C-2556-B492-C568-647BEA41F79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FA36F46-3921-BE74-E382-8871DD2DDCC6}"/>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EA705180-46DA-AC98-64CB-CB0ACFF429EC}"/>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chi </a:t>
            </a:r>
          </a:p>
          <a:p>
            <a:pPr marL="0" indent="0">
              <a:buNone/>
            </a:pPr>
            <a:endParaRPr lang="en-US" sz="3200" dirty="0"/>
          </a:p>
        </p:txBody>
      </p:sp>
      <p:sp>
        <p:nvSpPr>
          <p:cNvPr id="5" name="TextBox 4">
            <a:extLst>
              <a:ext uri="{FF2B5EF4-FFF2-40B4-BE49-F238E27FC236}">
                <a16:creationId xmlns:a16="http://schemas.microsoft.com/office/drawing/2014/main" id="{D92B0D75-F856-637D-BBEA-6401A9F884BD}"/>
              </a:ext>
            </a:extLst>
          </p:cNvPr>
          <p:cNvSpPr txBox="1"/>
          <p:nvPr/>
        </p:nvSpPr>
        <p:spPr>
          <a:xfrm>
            <a:off x="76200" y="1790700"/>
            <a:ext cx="12001500" cy="3416320"/>
          </a:xfrm>
          <a:prstGeom prst="rect">
            <a:avLst/>
          </a:prstGeom>
          <a:noFill/>
        </p:spPr>
        <p:txBody>
          <a:bodyPr wrap="square" rtlCol="0">
            <a:spAutoFit/>
          </a:bodyPr>
          <a:lstStyle/>
          <a:p>
            <a:pPr algn="just"/>
            <a:r>
              <a:rPr lang="en-US" sz="2400" b="1" dirty="0">
                <a:solidFill>
                  <a:srgbClr val="000000"/>
                </a:solidFill>
                <a:latin typeface="Times New Roman" panose="02020603050405020304" pitchFamily="18" charset="0"/>
              </a:rPr>
              <a:t>Yêu </a:t>
            </a:r>
            <a:r>
              <a:rPr lang="en-US" sz="2400" b="1" dirty="0" err="1">
                <a:solidFill>
                  <a:srgbClr val="000000"/>
                </a:solidFill>
                <a:latin typeface="Times New Roman" panose="02020603050405020304" pitchFamily="18" charset="0"/>
              </a:rPr>
              <a:t>cầu</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tổ</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chức</a:t>
            </a:r>
            <a:r>
              <a:rPr lang="en-US" sz="2400" b="1" dirty="0">
                <a:solidFill>
                  <a:srgbClr val="000000"/>
                </a:solidFill>
                <a:latin typeface="Times New Roman" panose="02020603050405020304" pitchFamily="18" charset="0"/>
              </a:rPr>
              <a:t> chi NS </a:t>
            </a:r>
            <a:r>
              <a:rPr lang="en-US" sz="2400" b="1" dirty="0" err="1">
                <a:solidFill>
                  <a:srgbClr val="000000"/>
                </a:solidFill>
                <a:latin typeface="Times New Roman" panose="02020603050405020304" pitchFamily="18" charset="0"/>
              </a:rPr>
              <a:t>xã</a:t>
            </a:r>
            <a:endParaRPr lang="en-US" sz="2400" b="1" i="1" dirty="0">
              <a:solidFill>
                <a:srgbClr val="000000"/>
              </a:solidFill>
              <a:latin typeface="Times New Roman" panose="02020603050405020304" pitchFamily="18" charset="0"/>
            </a:endParaRPr>
          </a:p>
          <a:p>
            <a:pPr algn="just"/>
            <a:r>
              <a:rPr lang="en-US" sz="2400" dirty="0">
                <a:solidFill>
                  <a:srgbClr val="000000"/>
                </a:solidFill>
                <a:latin typeface="Times New Roman" panose="02020603050405020304" pitchFamily="18" charset="0"/>
              </a:rPr>
              <a:t>Các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lương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phụ</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hội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học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bổng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nhiệm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vụ</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phát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sinh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thường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xuyên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hằng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tháng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để</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đảm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bảo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hoạt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động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cơ</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vị</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phù</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hợp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với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tiến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độ</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hiện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hằng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tháng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trong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năm</a:t>
            </a:r>
            <a:r>
              <a:rPr lang="en-US" sz="2400" dirty="0">
                <a:solidFill>
                  <a:srgbClr val="000000"/>
                </a:solidFill>
                <a:latin typeface="Times New Roman" panose="02020603050405020304" pitchFamily="18" charset="0"/>
              </a:rPr>
              <a:t>.</a:t>
            </a:r>
            <a:endParaRPr lang="en-US" sz="2400" b="1" i="1" dirty="0">
              <a:solidFill>
                <a:srgbClr val="000000"/>
              </a:solidFill>
              <a:latin typeface="Times New Roman" panose="02020603050405020304" pitchFamily="18" charset="0"/>
            </a:endParaRPr>
          </a:p>
          <a:p>
            <a:pPr algn="just"/>
            <a:r>
              <a:rPr lang="en-US" sz="2400" dirty="0">
                <a:solidFill>
                  <a:srgbClr val="000000"/>
                </a:solidFill>
                <a:latin typeface="Times New Roman" panose="02020603050405020304" pitchFamily="18" charset="0"/>
              </a:rPr>
              <a:t>Các </a:t>
            </a:r>
            <a:r>
              <a:rPr lang="en-US" sz="2400" dirty="0" err="1">
                <a:solidFill>
                  <a:srgbClr val="000000"/>
                </a:solidFill>
                <a:latin typeface="Times New Roman" panose="02020603050405020304" pitchFamily="18" charset="0"/>
              </a:rPr>
              <a:t>nhiệm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vụ</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đầu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tư</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phát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triển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nhiệm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vụ</a:t>
            </a:r>
            <a:r>
              <a:rPr lang="en-US" sz="2400" dirty="0">
                <a:solidFill>
                  <a:srgbClr val="000000"/>
                </a:solidFill>
                <a:latin typeface="Times New Roman" panose="02020603050405020304" pitchFamily="18" charset="0"/>
              </a:rPr>
              <a:t> chi NSNN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bố</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từ</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hai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nguồn</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đầu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tư</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công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thường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xuyên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không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phát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sinh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thường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xuyên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thanh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trong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phạm</a:t>
            </a:r>
            <a:r>
              <a:rPr lang="en-US" sz="2400" dirty="0">
                <a:solidFill>
                  <a:srgbClr val="000000"/>
                </a:solidFill>
                <a:latin typeface="Times New Roman" panose="02020603050405020304" pitchFamily="18" charset="0"/>
              </a:rPr>
              <a:t> vi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giao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tiến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độ</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hiện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PL </a:t>
            </a:r>
            <a:r>
              <a:rPr lang="en-US" sz="2400" dirty="0" err="1">
                <a:solidFill>
                  <a:srgbClr val="000000"/>
                </a:solidFill>
                <a:latin typeface="Times New Roman" panose="02020603050405020304" pitchFamily="18" charset="0"/>
              </a:rPr>
              <a:t>có</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liên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a:t>
            </a:r>
          </a:p>
          <a:p>
            <a:pPr algn="just"/>
            <a:endParaRPr lang="en-US" sz="2400" b="1"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41984941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4A404-602D-EFE0-AB52-444E7985680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4D767DD-5990-E958-24D2-2533AE440F58}"/>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21AA4AFA-8566-37E4-2BA0-BA6950E3F20D}"/>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chi </a:t>
            </a:r>
          </a:p>
          <a:p>
            <a:pPr marL="0" indent="0">
              <a:buNone/>
            </a:pPr>
            <a:endParaRPr lang="en-US" sz="3200" dirty="0"/>
          </a:p>
        </p:txBody>
      </p:sp>
      <p:sp>
        <p:nvSpPr>
          <p:cNvPr id="5" name="TextBox 4">
            <a:extLst>
              <a:ext uri="{FF2B5EF4-FFF2-40B4-BE49-F238E27FC236}">
                <a16:creationId xmlns:a16="http://schemas.microsoft.com/office/drawing/2014/main" id="{396DC20B-16F7-8147-D1EF-14DC841D9D32}"/>
              </a:ext>
            </a:extLst>
          </p:cNvPr>
          <p:cNvSpPr txBox="1"/>
          <p:nvPr/>
        </p:nvSpPr>
        <p:spPr>
          <a:xfrm>
            <a:off x="76200" y="1790700"/>
            <a:ext cx="12001500" cy="3785652"/>
          </a:xfrm>
          <a:prstGeom prst="rect">
            <a:avLst/>
          </a:prstGeom>
          <a:noFill/>
        </p:spPr>
        <p:txBody>
          <a:bodyPr wrap="square" rtlCol="0">
            <a:spAutoFit/>
          </a:bodyPr>
          <a:lstStyle/>
          <a:p>
            <a:pPr algn="just"/>
            <a:r>
              <a:rPr lang="en-US" sz="2400" b="1" dirty="0" err="1">
                <a:solidFill>
                  <a:srgbClr val="000000"/>
                </a:solidFill>
                <a:latin typeface="Times New Roman" panose="02020603050405020304" pitchFamily="18" charset="0"/>
              </a:rPr>
              <a:t>Yêu</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cầu</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tổ</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chức</a:t>
            </a:r>
            <a:r>
              <a:rPr lang="en-US" sz="2400" b="1" dirty="0">
                <a:solidFill>
                  <a:srgbClr val="000000"/>
                </a:solidFill>
                <a:latin typeface="Times New Roman" panose="02020603050405020304" pitchFamily="18" charset="0"/>
              </a:rPr>
              <a:t> chi NS </a:t>
            </a:r>
            <a:r>
              <a:rPr lang="en-US" sz="2400" b="1" dirty="0" err="1">
                <a:solidFill>
                  <a:srgbClr val="000000"/>
                </a:solidFill>
                <a:latin typeface="Times New Roman" panose="02020603050405020304" pitchFamily="18" charset="0"/>
              </a:rPr>
              <a:t>xã</a:t>
            </a:r>
            <a:endParaRPr lang="en-US" sz="2400" b="1" dirty="0">
              <a:solidFill>
                <a:srgbClr val="000000"/>
              </a:solidFill>
              <a:latin typeface="Times New Roman" panose="02020603050405020304" pitchFamily="18" charset="0"/>
            </a:endParaRPr>
          </a:p>
          <a:p>
            <a:pPr algn="just"/>
            <a:r>
              <a:rPr lang="en-US" sz="2400" dirty="0">
                <a:solidFill>
                  <a:srgbClr val="000000"/>
                </a:solidFill>
                <a:latin typeface="Times New Roman" panose="02020603050405020304" pitchFamily="18" charset="0"/>
              </a:rPr>
              <a:t>Trường </a:t>
            </a:r>
            <a:r>
              <a:rPr lang="en-US" sz="2400" dirty="0" err="1">
                <a:solidFill>
                  <a:srgbClr val="000000"/>
                </a:solidFill>
                <a:latin typeface="Times New Roman" panose="02020603050405020304" pitchFamily="18" charset="0"/>
              </a:rPr>
              <a:t>hợp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cơ</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tổ</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chức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vị</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không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hành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đầy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đủ</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kịp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thời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chế</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độ</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báo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báo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tài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chính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báo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cơ</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tài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chính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có</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quyền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yêu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cầu</a:t>
            </a:r>
            <a:r>
              <a:rPr lang="en-US" sz="2400" dirty="0">
                <a:solidFill>
                  <a:srgbClr val="000000"/>
                </a:solidFill>
                <a:latin typeface="Times New Roman" panose="02020603050405020304" pitchFamily="18" charset="0"/>
              </a:rPr>
              <a:t> KBNN </a:t>
            </a:r>
            <a:r>
              <a:rPr lang="en-US" sz="2400" dirty="0" err="1">
                <a:solidFill>
                  <a:srgbClr val="000000"/>
                </a:solidFill>
                <a:latin typeface="Times New Roman" panose="02020603050405020304" pitchFamily="18" charset="0"/>
              </a:rPr>
              <a:t>tạm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đình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chỉ</a:t>
            </a:r>
            <a:r>
              <a:rPr lang="en-US" sz="2400" dirty="0">
                <a:solidFill>
                  <a:srgbClr val="000000"/>
                </a:solidFill>
                <a:latin typeface="Times New Roman" panose="02020603050405020304" pitchFamily="18" charset="0"/>
              </a:rPr>
              <a:t> chi NS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trừ</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lương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phụ</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hội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học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bổng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một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số</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cần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thiết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để</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bảo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đảm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hoạt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động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Bộ</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máy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nước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không</a:t>
            </a:r>
            <a:r>
              <a:rPr lang="en-US" sz="2400" dirty="0">
                <a:solidFill>
                  <a:srgbClr val="000000"/>
                </a:solidFill>
                <a:latin typeface="Times New Roman" panose="02020603050405020304" pitchFamily="18" charset="0"/>
              </a:rPr>
              <a:t> bao </a:t>
            </a:r>
            <a:r>
              <a:rPr lang="en-US" sz="2400" dirty="0" err="1">
                <a:solidFill>
                  <a:srgbClr val="000000"/>
                </a:solidFill>
                <a:latin typeface="Times New Roman" panose="02020603050405020304" pitchFamily="18" charset="0"/>
              </a:rPr>
              <a:t>gồm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mua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sắm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trang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thiết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bị</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sửa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chữa</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bổ</a:t>
            </a:r>
            <a:r>
              <a:rPr lang="en-US" sz="2400" dirty="0">
                <a:solidFill>
                  <a:srgbClr val="000000"/>
                </a:solidFill>
                <a:latin typeface="Times New Roman" panose="02020603050405020304" pitchFamily="18" charset="0"/>
              </a:rPr>
              <a:t> sung </a:t>
            </a:r>
            <a:r>
              <a:rPr lang="en-US" sz="2400" dirty="0" err="1">
                <a:solidFill>
                  <a:srgbClr val="000000"/>
                </a:solidFill>
                <a:latin typeface="Times New Roman" panose="02020603050405020304" pitchFamily="18" charset="0"/>
              </a:rPr>
              <a:t>cân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đối</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cho</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dưới</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cho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chuyển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tiếp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thuộc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chương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trình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mục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tiêu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quốc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gia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trọng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quốc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gia</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cho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đầu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tư</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chuyển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tiếp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trọng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bách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để</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khắc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phục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hậu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thiên</a:t>
            </a:r>
            <a:r>
              <a:rPr lang="en-US" sz="2400" dirty="0">
                <a:solidFill>
                  <a:srgbClr val="000000"/>
                </a:solidFill>
                <a:latin typeface="Times New Roman" panose="02020603050405020304" pitchFamily="18" charset="0"/>
              </a:rPr>
              <a:t> tai, </a:t>
            </a:r>
            <a:r>
              <a:rPr lang="en-US" sz="2400" dirty="0" err="1">
                <a:solidFill>
                  <a:srgbClr val="000000"/>
                </a:solidFill>
                <a:latin typeface="Times New Roman" panose="02020603050405020304" pitchFamily="18" charset="0"/>
              </a:rPr>
              <a:t>thảm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họa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dịch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bệnh</a:t>
            </a:r>
            <a:r>
              <a:rPr lang="en-US" sz="2400" dirty="0">
                <a:solidFill>
                  <a:srgbClr val="000000"/>
                </a:solidFill>
                <a:latin typeface="Times New Roman" panose="02020603050405020304" pitchFamily="18" charset="0"/>
              </a:rPr>
              <a:t>.</a:t>
            </a:r>
          </a:p>
          <a:p>
            <a:pPr algn="just"/>
            <a:endParaRPr lang="en-US" sz="2400" b="1"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7993592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2A19E-D8CF-F268-BB30-280925187BE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FBBE163-B23A-25AD-988B-7E49D2D61AEE}"/>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79A120B1-049A-40F3-B03F-9BF10A42E92C}"/>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chi </a:t>
            </a:r>
          </a:p>
          <a:p>
            <a:pPr marL="0" indent="0">
              <a:buNone/>
            </a:pPr>
            <a:endParaRPr lang="en-US" sz="3200" dirty="0"/>
          </a:p>
        </p:txBody>
      </p:sp>
      <p:sp>
        <p:nvSpPr>
          <p:cNvPr id="5" name="TextBox 4">
            <a:extLst>
              <a:ext uri="{FF2B5EF4-FFF2-40B4-BE49-F238E27FC236}">
                <a16:creationId xmlns:a16="http://schemas.microsoft.com/office/drawing/2014/main" id="{AEE1AB3D-9D2D-4EBA-15A2-BE2AF6A33AB9}"/>
              </a:ext>
            </a:extLst>
          </p:cNvPr>
          <p:cNvSpPr txBox="1"/>
          <p:nvPr/>
        </p:nvSpPr>
        <p:spPr>
          <a:xfrm>
            <a:off x="76200" y="1790700"/>
            <a:ext cx="12001500" cy="1200329"/>
          </a:xfrm>
          <a:prstGeom prst="rect">
            <a:avLst/>
          </a:prstGeom>
          <a:noFill/>
        </p:spPr>
        <p:txBody>
          <a:bodyPr wrap="square" rtlCol="0">
            <a:spAutoFit/>
          </a:bodyPr>
          <a:lstStyle/>
          <a:p>
            <a:pPr algn="just"/>
            <a:r>
              <a:rPr lang="en-US" sz="2400" b="1" dirty="0" err="1">
                <a:solidFill>
                  <a:srgbClr val="000000"/>
                </a:solidFill>
                <a:latin typeface="Times New Roman" panose="02020603050405020304" pitchFamily="18" charset="0"/>
              </a:rPr>
              <a:t>Hình</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thức</a:t>
            </a:r>
            <a:r>
              <a:rPr lang="en-US" sz="2400" b="1" dirty="0">
                <a:solidFill>
                  <a:srgbClr val="000000"/>
                </a:solidFill>
                <a:latin typeface="Times New Roman" panose="02020603050405020304" pitchFamily="18" charset="0"/>
              </a:rPr>
              <a:t> chi NS </a:t>
            </a:r>
            <a:r>
              <a:rPr lang="en-US" sz="2400" b="1" dirty="0" err="1">
                <a:solidFill>
                  <a:srgbClr val="000000"/>
                </a:solidFill>
                <a:latin typeface="Times New Roman" panose="02020603050405020304" pitchFamily="18" charset="0"/>
              </a:rPr>
              <a:t>xã</a:t>
            </a:r>
            <a:endParaRPr lang="en-US" sz="2400" b="1" dirty="0">
              <a:solidFill>
                <a:srgbClr val="000000"/>
              </a:solidFill>
              <a:latin typeface="Times New Roman" panose="02020603050405020304" pitchFamily="18" charset="0"/>
            </a:endParaRPr>
          </a:p>
          <a:p>
            <a:pPr marL="342900" indent="-342900" algn="just">
              <a:buFontTx/>
              <a:buChar char="-"/>
            </a:pPr>
            <a:r>
              <a:rPr lang="en-US" sz="2400" dirty="0">
                <a:solidFill>
                  <a:srgbClr val="000000"/>
                </a:solidFill>
                <a:latin typeface="Times New Roman" panose="02020603050405020304" pitchFamily="18" charset="0"/>
              </a:rPr>
              <a:t>Chi NS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hình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thức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rút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endParaRPr lang="en-US" sz="2400" dirty="0">
              <a:solidFill>
                <a:srgbClr val="000000"/>
              </a:solidFill>
              <a:latin typeface="Times New Roman" panose="02020603050405020304" pitchFamily="18" charset="0"/>
            </a:endParaRPr>
          </a:p>
          <a:p>
            <a:pPr marL="342900" indent="-342900" algn="just">
              <a:buFontTx/>
              <a:buChar char="-"/>
            </a:pPr>
            <a:r>
              <a:rPr lang="en-US" sz="2400" dirty="0">
                <a:solidFill>
                  <a:srgbClr val="000000"/>
                </a:solidFill>
                <a:latin typeface="Times New Roman" panose="02020603050405020304" pitchFamily="18" charset="0"/>
              </a:rPr>
              <a:t>Chi NS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hình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thức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lệnh</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tiền</a:t>
            </a:r>
            <a:endParaRPr lang="en-US"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40782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FE4BE-3C19-C224-9357-70DA5591C03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DBB9920-5AEB-9765-6668-FEAC2D9046D3}"/>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694E8C6B-37A2-4AF8-25FC-E61E0C5AF3DF}"/>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chi </a:t>
            </a:r>
          </a:p>
          <a:p>
            <a:pPr marL="0" indent="0">
              <a:buNone/>
            </a:pPr>
            <a:endParaRPr lang="en-US" sz="3200" dirty="0"/>
          </a:p>
        </p:txBody>
      </p:sp>
      <p:sp>
        <p:nvSpPr>
          <p:cNvPr id="5" name="TextBox 4">
            <a:extLst>
              <a:ext uri="{FF2B5EF4-FFF2-40B4-BE49-F238E27FC236}">
                <a16:creationId xmlns:a16="http://schemas.microsoft.com/office/drawing/2014/main" id="{23E62015-1B84-5CBF-ED13-DA49B4B97455}"/>
              </a:ext>
            </a:extLst>
          </p:cNvPr>
          <p:cNvSpPr txBox="1"/>
          <p:nvPr/>
        </p:nvSpPr>
        <p:spPr>
          <a:xfrm>
            <a:off x="76200" y="1790700"/>
            <a:ext cx="12001500" cy="3046988"/>
          </a:xfrm>
          <a:prstGeom prst="rect">
            <a:avLst/>
          </a:prstGeom>
          <a:noFill/>
        </p:spPr>
        <p:txBody>
          <a:bodyPr wrap="square" rtlCol="0">
            <a:spAutoFit/>
          </a:bodyPr>
          <a:lstStyle/>
          <a:p>
            <a:pPr algn="just"/>
            <a:r>
              <a:rPr lang="en-US" sz="2400" b="1" i="1" dirty="0">
                <a:solidFill>
                  <a:srgbClr val="000000"/>
                </a:solidFill>
                <a:latin typeface="Times New Roman" panose="02020603050405020304" pitchFamily="18" charset="0"/>
              </a:rPr>
              <a:t>Chi </a:t>
            </a:r>
            <a:r>
              <a:rPr lang="en-US" sz="2400" b="1" i="1" dirty="0" err="1">
                <a:solidFill>
                  <a:srgbClr val="000000"/>
                </a:solidFill>
                <a:latin typeface="Times New Roman" panose="02020603050405020304" pitchFamily="18" charset="0"/>
              </a:rPr>
              <a:t>bổ</a:t>
            </a:r>
            <a:r>
              <a:rPr lang="en-US" sz="2400" b="1" i="1" dirty="0">
                <a:solidFill>
                  <a:srgbClr val="000000"/>
                </a:solidFill>
                <a:latin typeface="Times New Roman" panose="02020603050405020304" pitchFamily="18" charset="0"/>
              </a:rPr>
              <a:t> sung </a:t>
            </a:r>
            <a:r>
              <a:rPr lang="en-US" sz="2400" b="1" i="1" dirty="0" err="1">
                <a:solidFill>
                  <a:srgbClr val="000000"/>
                </a:solidFill>
                <a:latin typeface="Times New Roman" panose="02020603050405020304" pitchFamily="18" charset="0"/>
              </a:rPr>
              <a:t>từ</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ngân</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sách</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cấp</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trên</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cho</a:t>
            </a:r>
            <a:r>
              <a:rPr lang="en-US" sz="2400" b="1" i="1" dirty="0">
                <a:solidFill>
                  <a:srgbClr val="000000"/>
                </a:solidFill>
                <a:latin typeface="Times New Roman" panose="02020603050405020304" pitchFamily="18" charset="0"/>
              </a:rPr>
              <a:t> NS </a:t>
            </a:r>
            <a:r>
              <a:rPr lang="en-US" sz="2400" b="1" i="1" dirty="0" err="1">
                <a:solidFill>
                  <a:srgbClr val="000000"/>
                </a:solidFill>
                <a:latin typeface="Times New Roman" panose="02020603050405020304" pitchFamily="18" charset="0"/>
              </a:rPr>
              <a:t>cấp</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xã</a:t>
            </a:r>
            <a:endParaRPr lang="en-US" sz="2400" b="1" i="1" dirty="0">
              <a:solidFill>
                <a:srgbClr val="000000"/>
              </a:solidFill>
              <a:latin typeface="Times New Roman" panose="02020603050405020304" pitchFamily="18" charset="0"/>
            </a:endParaRPr>
          </a:p>
          <a:p>
            <a:pPr algn="just"/>
            <a:r>
              <a:rPr lang="en-US" sz="2400" dirty="0" err="1">
                <a:solidFill>
                  <a:srgbClr val="000000"/>
                </a:solidFill>
                <a:latin typeface="Times New Roman" panose="02020603050405020304" pitchFamily="18" charset="0"/>
              </a:rPr>
              <a:t>Đối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với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số</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bổ</a:t>
            </a:r>
            <a:r>
              <a:rPr lang="en-US" sz="2400" dirty="0">
                <a:solidFill>
                  <a:srgbClr val="000000"/>
                </a:solidFill>
                <a:latin typeface="Times New Roman" panose="02020603050405020304" pitchFamily="18" charset="0"/>
              </a:rPr>
              <a:t> sung </a:t>
            </a:r>
            <a:r>
              <a:rPr lang="en-US" sz="2400" dirty="0" err="1">
                <a:solidFill>
                  <a:srgbClr val="000000"/>
                </a:solidFill>
                <a:latin typeface="Times New Roman" panose="02020603050405020304" pitchFamily="18" charset="0"/>
              </a:rPr>
              <a:t>từ</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ngân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sách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trên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cho</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dưới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cơ</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tài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chính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hiện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rút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tại</a:t>
            </a:r>
            <a:r>
              <a:rPr lang="en-US" sz="2400" dirty="0">
                <a:solidFill>
                  <a:srgbClr val="000000"/>
                </a:solidFill>
                <a:latin typeface="Times New Roman" panose="02020603050405020304" pitchFamily="18" charset="0"/>
              </a:rPr>
              <a:t> KBNN.</a:t>
            </a:r>
            <a:endParaRPr lang="en-US" sz="2400" b="1" dirty="0">
              <a:solidFill>
                <a:srgbClr val="000000"/>
              </a:solidFill>
              <a:latin typeface="Times New Roman" panose="02020603050405020304" pitchFamily="18" charset="0"/>
            </a:endParaRPr>
          </a:p>
          <a:p>
            <a:pPr algn="just"/>
            <a:r>
              <a:rPr lang="en-US" sz="2400" dirty="0" err="1">
                <a:solidFill>
                  <a:srgbClr val="000000"/>
                </a:solidFill>
                <a:latin typeface="Times New Roman" panose="02020603050405020304" pitchFamily="18" charset="0"/>
              </a:rPr>
              <a:t>Căn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cứ</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năng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nguồn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yêu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cầu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hiện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nhiệm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vụ</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UBND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tỉnh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mức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rút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bổ</a:t>
            </a:r>
            <a:r>
              <a:rPr lang="en-US" sz="2400" dirty="0">
                <a:solidFill>
                  <a:srgbClr val="000000"/>
                </a:solidFill>
                <a:latin typeface="Times New Roman" panose="02020603050405020304" pitchFamily="18" charset="0"/>
              </a:rPr>
              <a:t> sung </a:t>
            </a:r>
            <a:r>
              <a:rPr lang="en-US" sz="2400" dirty="0" err="1">
                <a:solidFill>
                  <a:srgbClr val="000000"/>
                </a:solidFill>
                <a:latin typeface="Times New Roman" panose="02020603050405020304" pitchFamily="18" charset="0"/>
              </a:rPr>
              <a:t>cân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đối</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hàng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tháng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cho</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phù</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hợp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với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tế</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phương</a:t>
            </a:r>
            <a:r>
              <a:rPr lang="en-US" sz="2400" dirty="0">
                <a:solidFill>
                  <a:srgbClr val="000000"/>
                </a:solidFill>
                <a:latin typeface="Times New Roman" panose="02020603050405020304" pitchFamily="18" charset="0"/>
              </a:rPr>
              <a:t>;</a:t>
            </a:r>
          </a:p>
          <a:p>
            <a:pPr algn="just"/>
            <a:r>
              <a:rPr lang="en-US" sz="2400" dirty="0" err="1">
                <a:solidFill>
                  <a:srgbClr val="000000"/>
                </a:solidFill>
                <a:latin typeface="Times New Roman" panose="02020603050405020304" pitchFamily="18" charset="0"/>
              </a:rPr>
              <a:t>Đối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với</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bổ</a:t>
            </a:r>
            <a:r>
              <a:rPr lang="en-US" sz="2400" dirty="0">
                <a:solidFill>
                  <a:srgbClr val="000000"/>
                </a:solidFill>
                <a:latin typeface="Times New Roman" panose="02020603050405020304" pitchFamily="18" charset="0"/>
              </a:rPr>
              <a:t> sung </a:t>
            </a:r>
            <a:r>
              <a:rPr lang="en-US" sz="2400" dirty="0" err="1">
                <a:solidFill>
                  <a:srgbClr val="000000"/>
                </a:solidFill>
                <a:latin typeface="Times New Roman" panose="02020603050405020304" pitchFamily="18" charset="0"/>
              </a:rPr>
              <a:t>có</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mục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tiêu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từ</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tỉnh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cho</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UBND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tỉnh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việc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rút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phù</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hợp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với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tế</a:t>
            </a:r>
            <a:r>
              <a:rPr lang="en-US" sz="2400" dirty="0">
                <a:solidFill>
                  <a:srgbClr val="000000"/>
                </a:solidFill>
                <a:latin typeface="Times New Roman" panose="02020603050405020304" pitchFamily="18" charset="0"/>
              </a:rPr>
              <a:t> ở </a:t>
            </a:r>
            <a:r>
              <a:rPr lang="en-US" sz="2400" dirty="0" err="1">
                <a:solidFill>
                  <a:srgbClr val="000000"/>
                </a:solidFill>
                <a:latin typeface="Times New Roman" panose="02020603050405020304" pitchFamily="18" charset="0"/>
              </a:rPr>
              <a:t>địa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phương</a:t>
            </a:r>
            <a:r>
              <a:rPr lang="en-US" sz="2400" dirty="0">
                <a:solidFill>
                  <a:srgbClr val="000000"/>
                </a:solidFill>
                <a:latin typeface="Times New Roman" panose="02020603050405020304" pitchFamily="18" charset="0"/>
              </a:rPr>
              <a:t>.</a:t>
            </a:r>
          </a:p>
        </p:txBody>
      </p:sp>
    </p:spTree>
    <p:extLst>
      <p:ext uri="{BB962C8B-B14F-4D97-AF65-F5344CB8AC3E}">
        <p14:creationId xmlns:p14="http://schemas.microsoft.com/office/powerpoint/2010/main" val="27647480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0AFBA-8083-3FBA-7F4D-05E7759BFCD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B49D4A7-FCF6-D377-30F3-EBE5C0FB267F}"/>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260DA789-8B28-C89B-27FB-F59BA5A9AC81}"/>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chi </a:t>
            </a:r>
          </a:p>
          <a:p>
            <a:pPr marL="0" indent="0">
              <a:buNone/>
            </a:pPr>
            <a:endParaRPr lang="en-US" sz="3200" dirty="0"/>
          </a:p>
        </p:txBody>
      </p:sp>
      <p:sp>
        <p:nvSpPr>
          <p:cNvPr id="5" name="TextBox 4">
            <a:extLst>
              <a:ext uri="{FF2B5EF4-FFF2-40B4-BE49-F238E27FC236}">
                <a16:creationId xmlns:a16="http://schemas.microsoft.com/office/drawing/2014/main" id="{41132F16-FEB5-13BC-3D62-1F7743E52452}"/>
              </a:ext>
            </a:extLst>
          </p:cNvPr>
          <p:cNvSpPr txBox="1"/>
          <p:nvPr/>
        </p:nvSpPr>
        <p:spPr>
          <a:xfrm>
            <a:off x="76200" y="1790700"/>
            <a:ext cx="12001500" cy="4893647"/>
          </a:xfrm>
          <a:prstGeom prst="rect">
            <a:avLst/>
          </a:prstGeom>
          <a:noFill/>
        </p:spPr>
        <p:txBody>
          <a:bodyPr wrap="square" rtlCol="0">
            <a:spAutoFit/>
          </a:bodyPr>
          <a:lstStyle/>
          <a:p>
            <a:pPr algn="just"/>
            <a:r>
              <a:rPr lang="en-US" sz="2400" b="1" i="1" dirty="0" err="1">
                <a:solidFill>
                  <a:srgbClr val="000000"/>
                </a:solidFill>
                <a:latin typeface="Times New Roman" panose="02020603050405020304" pitchFamily="18" charset="0"/>
              </a:rPr>
              <a:t>Tạm</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cấp</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ngân</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sách</a:t>
            </a:r>
            <a:endParaRPr lang="en-US" sz="2400" b="1" i="1" dirty="0">
              <a:solidFill>
                <a:srgbClr val="000000"/>
              </a:solidFill>
              <a:latin typeface="Times New Roman" panose="02020603050405020304" pitchFamily="18" charset="0"/>
            </a:endParaRPr>
          </a:p>
          <a:p>
            <a:pPr algn="just"/>
            <a:r>
              <a:rPr lang="en-US" sz="2400" dirty="0" err="1">
                <a:solidFill>
                  <a:srgbClr val="000000"/>
                </a:solidFill>
                <a:latin typeface="Times New Roman" panose="02020603050405020304" pitchFamily="18" charset="0"/>
              </a:rPr>
              <a:t>Việc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thực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hiện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Điều</a:t>
            </a:r>
            <a:r>
              <a:rPr lang="en-US" sz="2400" dirty="0">
                <a:solidFill>
                  <a:srgbClr val="000000"/>
                </a:solidFill>
                <a:latin typeface="Times New Roman" panose="02020603050405020304" pitchFamily="18" charset="0"/>
              </a:rPr>
              <a:t> 53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Luật</a:t>
            </a:r>
            <a:r>
              <a:rPr lang="en-US" sz="2400" dirty="0">
                <a:solidFill>
                  <a:srgbClr val="000000"/>
                </a:solidFill>
                <a:latin typeface="Times New Roman" panose="02020603050405020304" pitchFamily="18" charset="0"/>
              </a:rPr>
              <a:t> NSNN:</a:t>
            </a:r>
          </a:p>
          <a:p>
            <a:pPr algn="just"/>
            <a:r>
              <a:rPr lang="en-US" sz="2400" dirty="0">
                <a:solidFill>
                  <a:srgbClr val="000000"/>
                </a:solidFill>
                <a:latin typeface="Times New Roman" panose="02020603050405020304" pitchFamily="18" charset="0"/>
              </a:rPr>
              <a:t>a) </a:t>
            </a:r>
            <a:r>
              <a:rPr lang="en-US" sz="2400" dirty="0" err="1">
                <a:solidFill>
                  <a:srgbClr val="000000"/>
                </a:solidFill>
                <a:latin typeface="Times New Roman" panose="02020603050405020304" pitchFamily="18" charset="0"/>
              </a:rPr>
              <a:t>Căn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cứ</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đề</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nghị</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vị</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dụng</a:t>
            </a:r>
            <a:r>
              <a:rPr lang="en-US" sz="2400" dirty="0">
                <a:solidFill>
                  <a:srgbClr val="000000"/>
                </a:solidFill>
                <a:latin typeface="Times New Roman" panose="02020603050405020304" pitchFamily="18" charset="0"/>
              </a:rPr>
              <a:t> Ngân </a:t>
            </a:r>
            <a:r>
              <a:rPr lang="en-US" sz="2400" dirty="0" err="1">
                <a:solidFill>
                  <a:srgbClr val="000000"/>
                </a:solidFill>
                <a:latin typeface="Times New Roman" panose="02020603050405020304" pitchFamily="18" charset="0"/>
              </a:rPr>
              <a:t>sách</a:t>
            </a:r>
            <a:r>
              <a:rPr lang="en-US" sz="2400" dirty="0">
                <a:solidFill>
                  <a:srgbClr val="000000"/>
                </a:solidFill>
                <a:latin typeface="Times New Roman" panose="02020603050405020304" pitchFamily="18" charset="0"/>
              </a:rPr>
              <a:t>, KBNN </a:t>
            </a:r>
            <a:r>
              <a:rPr lang="en-US" sz="2400" dirty="0" err="1">
                <a:solidFill>
                  <a:srgbClr val="000000"/>
                </a:solidFill>
                <a:latin typeface="Times New Roman" panose="02020603050405020304" pitchFamily="18" charset="0"/>
              </a:rPr>
              <a:t>nơi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giao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dịch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hiện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cho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nhiệm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vụ</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lương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có</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tính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chất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tiền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lương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nghiệp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vụ</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công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vụ</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điểm</a:t>
            </a:r>
            <a:r>
              <a:rPr lang="en-US" sz="2400" dirty="0">
                <a:solidFill>
                  <a:srgbClr val="000000"/>
                </a:solidFill>
                <a:latin typeface="Times New Roman" panose="02020603050405020304" pitchFamily="18" charset="0"/>
              </a:rPr>
              <a:t> a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điểm</a:t>
            </a:r>
            <a:r>
              <a:rPr lang="en-US" sz="2400" dirty="0">
                <a:solidFill>
                  <a:srgbClr val="000000"/>
                </a:solidFill>
                <a:latin typeface="Times New Roman" panose="02020603050405020304" pitchFamily="18" charset="0"/>
              </a:rPr>
              <a:t> b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2 </a:t>
            </a:r>
            <a:r>
              <a:rPr lang="en-US" sz="2400" dirty="0" err="1">
                <a:solidFill>
                  <a:srgbClr val="000000"/>
                </a:solidFill>
                <a:latin typeface="Times New Roman" panose="02020603050405020304" pitchFamily="18" charset="0"/>
              </a:rPr>
              <a:t>Điều</a:t>
            </a:r>
            <a:r>
              <a:rPr lang="en-US" sz="2400" dirty="0">
                <a:solidFill>
                  <a:srgbClr val="000000"/>
                </a:solidFill>
                <a:latin typeface="Times New Roman" panose="02020603050405020304" pitchFamily="18" charset="0"/>
              </a:rPr>
              <a:t> 53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Luật</a:t>
            </a:r>
            <a:r>
              <a:rPr lang="en-US" sz="2400" dirty="0">
                <a:solidFill>
                  <a:srgbClr val="000000"/>
                </a:solidFill>
                <a:latin typeface="Times New Roman" panose="02020603050405020304" pitchFamily="18" charset="0"/>
              </a:rPr>
              <a:t> NSNN;</a:t>
            </a:r>
          </a:p>
          <a:p>
            <a:pPr algn="just"/>
            <a:r>
              <a:rPr lang="en-US" sz="2400" dirty="0">
                <a:solidFill>
                  <a:srgbClr val="000000"/>
                </a:solidFill>
                <a:latin typeface="Times New Roman" panose="02020603050405020304" pitchFamily="18" charset="0"/>
              </a:rPr>
              <a:t>b) </a:t>
            </a:r>
            <a:r>
              <a:rPr lang="en-US" sz="2400" dirty="0" err="1">
                <a:solidFill>
                  <a:srgbClr val="000000"/>
                </a:solidFill>
                <a:latin typeface="Times New Roman" panose="02020603050405020304" pitchFamily="18" charset="0"/>
              </a:rPr>
              <a:t>Căn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cứ</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đề</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nghị</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vị</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I, </a:t>
            </a:r>
            <a:r>
              <a:rPr lang="en-US" sz="2400" dirty="0" err="1">
                <a:solidFill>
                  <a:srgbClr val="000000"/>
                </a:solidFill>
                <a:latin typeface="Times New Roman" panose="02020603050405020304" pitchFamily="18" charset="0"/>
              </a:rPr>
              <a:t>cơ</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tài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chính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cùng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có</a:t>
            </a:r>
            <a:r>
              <a:rPr lang="en-US" sz="2400" dirty="0">
                <a:solidFill>
                  <a:srgbClr val="000000"/>
                </a:solidFill>
                <a:latin typeface="Times New Roman" panose="02020603050405020304" pitchFamily="18" charset="0"/>
              </a:rPr>
              <a:t> ý </a:t>
            </a:r>
            <a:r>
              <a:rPr lang="en-US" sz="2400" dirty="0" err="1">
                <a:solidFill>
                  <a:srgbClr val="000000"/>
                </a:solidFill>
                <a:latin typeface="Times New Roman" panose="02020603050405020304" pitchFamily="18" charset="0"/>
              </a:rPr>
              <a:t>kiến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bằng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văn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bản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về</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việc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cho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nhiệm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vụ</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điểm</a:t>
            </a:r>
            <a:r>
              <a:rPr lang="en-US" sz="2400" dirty="0">
                <a:solidFill>
                  <a:srgbClr val="000000"/>
                </a:solidFill>
                <a:latin typeface="Times New Roman" panose="02020603050405020304" pitchFamily="18" charset="0"/>
              </a:rPr>
              <a:t> d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điểm</a:t>
            </a:r>
            <a:r>
              <a:rPr lang="en-US" sz="2400" dirty="0">
                <a:solidFill>
                  <a:srgbClr val="000000"/>
                </a:solidFill>
                <a:latin typeface="Times New Roman" panose="02020603050405020304" pitchFamily="18" charset="0"/>
              </a:rPr>
              <a:t> đ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2 </a:t>
            </a:r>
            <a:r>
              <a:rPr lang="en-US" sz="2400" dirty="0" err="1">
                <a:solidFill>
                  <a:srgbClr val="000000"/>
                </a:solidFill>
                <a:latin typeface="Times New Roman" panose="02020603050405020304" pitchFamily="18" charset="0"/>
              </a:rPr>
              <a:t>Điều</a:t>
            </a:r>
            <a:r>
              <a:rPr lang="en-US" sz="2400" dirty="0">
                <a:solidFill>
                  <a:srgbClr val="000000"/>
                </a:solidFill>
                <a:latin typeface="Times New Roman" panose="02020603050405020304" pitchFamily="18" charset="0"/>
              </a:rPr>
              <a:t> 54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Luật</a:t>
            </a:r>
            <a:r>
              <a:rPr lang="en-US" sz="2400" dirty="0">
                <a:solidFill>
                  <a:srgbClr val="000000"/>
                </a:solidFill>
                <a:latin typeface="Times New Roman" panose="02020603050405020304" pitchFamily="18" charset="0"/>
              </a:rPr>
              <a:t> NSNN, </a:t>
            </a:r>
            <a:r>
              <a:rPr lang="en-US" sz="2400" dirty="0" err="1">
                <a:solidFill>
                  <a:srgbClr val="000000"/>
                </a:solidFill>
                <a:latin typeface="Times New Roman" panose="02020603050405020304" pitchFamily="18" charset="0"/>
              </a:rPr>
              <a:t>gửi</a:t>
            </a:r>
            <a:r>
              <a:rPr lang="en-US" sz="2400" dirty="0">
                <a:solidFill>
                  <a:srgbClr val="000000"/>
                </a:solidFill>
                <a:latin typeface="Times New Roman" panose="02020603050405020304" pitchFamily="18" charset="0"/>
              </a:rPr>
              <a:t> KBNN </a:t>
            </a:r>
            <a:r>
              <a:rPr lang="en-US" sz="2400" dirty="0" err="1">
                <a:solidFill>
                  <a:srgbClr val="000000"/>
                </a:solidFill>
                <a:latin typeface="Times New Roman" panose="02020603050405020304" pitchFamily="18" charset="0"/>
              </a:rPr>
              <a:t>để</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hiện</a:t>
            </a:r>
            <a:r>
              <a:rPr lang="en-US" sz="2400" dirty="0">
                <a:solidFill>
                  <a:srgbClr val="000000"/>
                </a:solidFill>
                <a:latin typeface="Times New Roman" panose="02020603050405020304" pitchFamily="18" charset="0"/>
              </a:rPr>
              <a:t>;</a:t>
            </a:r>
          </a:p>
          <a:p>
            <a:pPr algn="just"/>
            <a:r>
              <a:rPr lang="en-US" sz="2400" dirty="0">
                <a:solidFill>
                  <a:srgbClr val="000000"/>
                </a:solidFill>
                <a:latin typeface="Times New Roman" panose="02020603050405020304" pitchFamily="18" charset="0"/>
              </a:rPr>
              <a:t>c) </a:t>
            </a:r>
            <a:r>
              <a:rPr lang="en-US" sz="2400" dirty="0" err="1">
                <a:solidFill>
                  <a:srgbClr val="000000"/>
                </a:solidFill>
                <a:latin typeface="Times New Roman" panose="02020603050405020304" pitchFamily="18" charset="0"/>
              </a:rPr>
              <a:t>Căn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cứ</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đề</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nghị</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UBND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Sở</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tài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chính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có</a:t>
            </a:r>
            <a:r>
              <a:rPr lang="en-US" sz="2400" dirty="0">
                <a:solidFill>
                  <a:srgbClr val="000000"/>
                </a:solidFill>
                <a:latin typeface="Times New Roman" panose="02020603050405020304" pitchFamily="18" charset="0"/>
              </a:rPr>
              <a:t> ý </a:t>
            </a:r>
            <a:r>
              <a:rPr lang="en-US" sz="2400" dirty="0" err="1">
                <a:solidFill>
                  <a:srgbClr val="000000"/>
                </a:solidFill>
                <a:latin typeface="Times New Roman" panose="02020603050405020304" pitchFamily="18" charset="0"/>
              </a:rPr>
              <a:t>kiến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bằng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vản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bản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về</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việc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số</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bổ</a:t>
            </a:r>
            <a:r>
              <a:rPr lang="en-US" sz="2400" dirty="0">
                <a:solidFill>
                  <a:srgbClr val="000000"/>
                </a:solidFill>
                <a:latin typeface="Times New Roman" panose="02020603050405020304" pitchFamily="18" charset="0"/>
              </a:rPr>
              <a:t> sung </a:t>
            </a:r>
            <a:r>
              <a:rPr lang="en-US" sz="2400" dirty="0" err="1">
                <a:solidFill>
                  <a:srgbClr val="000000"/>
                </a:solidFill>
                <a:latin typeface="Times New Roman" panose="02020603050405020304" pitchFamily="18" charset="0"/>
              </a:rPr>
              <a:t>cân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đối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từ</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trên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cho</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dưới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điểm</a:t>
            </a:r>
            <a:r>
              <a:rPr lang="en-US" sz="2400" dirty="0">
                <a:solidFill>
                  <a:srgbClr val="000000"/>
                </a:solidFill>
                <a:latin typeface="Times New Roman" panose="02020603050405020304" pitchFamily="18" charset="0"/>
              </a:rPr>
              <a:t> c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2 </a:t>
            </a:r>
            <a:r>
              <a:rPr lang="en-US" sz="2400" dirty="0" err="1">
                <a:solidFill>
                  <a:srgbClr val="000000"/>
                </a:solidFill>
                <a:latin typeface="Times New Roman" panose="02020603050405020304" pitchFamily="18" charset="0"/>
              </a:rPr>
              <a:t>Điều</a:t>
            </a:r>
            <a:r>
              <a:rPr lang="en-US" sz="2400" dirty="0">
                <a:solidFill>
                  <a:srgbClr val="000000"/>
                </a:solidFill>
                <a:latin typeface="Times New Roman" panose="02020603050405020304" pitchFamily="18" charset="0"/>
              </a:rPr>
              <a:t> 53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Luật</a:t>
            </a:r>
            <a:r>
              <a:rPr lang="en-US" sz="2400" dirty="0">
                <a:solidFill>
                  <a:srgbClr val="000000"/>
                </a:solidFill>
                <a:latin typeface="Times New Roman" panose="02020603050405020304" pitchFamily="18" charset="0"/>
              </a:rPr>
              <a:t> NSNN, </a:t>
            </a:r>
            <a:r>
              <a:rPr lang="en-US" sz="2400" dirty="0" err="1">
                <a:solidFill>
                  <a:srgbClr val="000000"/>
                </a:solidFill>
                <a:latin typeface="Times New Roman" panose="02020603050405020304" pitchFamily="18" charset="0"/>
              </a:rPr>
              <a:t>gửi</a:t>
            </a:r>
            <a:r>
              <a:rPr lang="en-US" sz="2400" dirty="0">
                <a:solidFill>
                  <a:srgbClr val="000000"/>
                </a:solidFill>
                <a:latin typeface="Times New Roman" panose="02020603050405020304" pitchFamily="18" charset="0"/>
              </a:rPr>
              <a:t> KBNN </a:t>
            </a:r>
            <a:r>
              <a:rPr lang="en-US" sz="2400" dirty="0" err="1">
                <a:solidFill>
                  <a:srgbClr val="000000"/>
                </a:solidFill>
                <a:latin typeface="Times New Roman" panose="02020603050405020304" pitchFamily="18" charset="0"/>
              </a:rPr>
              <a:t>để</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hiện</a:t>
            </a:r>
            <a:r>
              <a:rPr lang="en-US" sz="2400" dirty="0">
                <a:solidFill>
                  <a:srgbClr val="000000"/>
                </a:solidFill>
                <a:latin typeface="Times New Roman" panose="02020603050405020304" pitchFamily="18" charset="0"/>
              </a:rPr>
              <a:t>;</a:t>
            </a:r>
          </a:p>
          <a:p>
            <a:pPr algn="just"/>
            <a:r>
              <a:rPr lang="en-US" sz="2400" dirty="0">
                <a:solidFill>
                  <a:srgbClr val="000000"/>
                </a:solidFill>
                <a:latin typeface="Times New Roman" panose="02020603050405020304" pitchFamily="18" charset="0"/>
              </a:rPr>
              <a:t>d) Sau </a:t>
            </a:r>
            <a:r>
              <a:rPr lang="en-US" sz="2400" dirty="0" err="1">
                <a:solidFill>
                  <a:srgbClr val="000000"/>
                </a:solidFill>
                <a:latin typeface="Times New Roman" panose="02020603050405020304" pitchFamily="18" charset="0"/>
              </a:rPr>
              <a:t>khi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có</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thẩm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quyền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giao</a:t>
            </a:r>
            <a:r>
              <a:rPr lang="en-US" sz="2400" dirty="0">
                <a:solidFill>
                  <a:srgbClr val="000000"/>
                </a:solidFill>
                <a:latin typeface="Times New Roman" panose="02020603050405020304" pitchFamily="18" charset="0"/>
              </a:rPr>
              <a:t>, KBNN </a:t>
            </a:r>
            <a:r>
              <a:rPr lang="en-US" sz="2400" dirty="0" err="1">
                <a:solidFill>
                  <a:srgbClr val="000000"/>
                </a:solidFill>
                <a:latin typeface="Times New Roman" panose="02020603050405020304" pitchFamily="18" charset="0"/>
              </a:rPr>
              <a:t>hạch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hồi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kinh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điểm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a,b</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c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này</a:t>
            </a:r>
            <a:r>
              <a:rPr lang="en-US" sz="2400" dirty="0">
                <a:solidFill>
                  <a:srgbClr val="000000"/>
                </a:solidFill>
                <a:latin typeface="Times New Roman" panose="02020603050405020304" pitchFamily="18" charset="0"/>
              </a:rPr>
              <a:t>.</a:t>
            </a:r>
          </a:p>
        </p:txBody>
      </p:sp>
    </p:spTree>
    <p:extLst>
      <p:ext uri="{BB962C8B-B14F-4D97-AF65-F5344CB8AC3E}">
        <p14:creationId xmlns:p14="http://schemas.microsoft.com/office/powerpoint/2010/main" val="40239103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E622F-401F-A943-255A-2E1117684ED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8CAA0B4-C1FA-704A-934C-1B74E2503426}"/>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9EB2B0AA-B8DC-5B83-CE30-902C98927481}"/>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chi </a:t>
            </a:r>
          </a:p>
          <a:p>
            <a:pPr marL="0" indent="0">
              <a:buNone/>
            </a:pPr>
            <a:endParaRPr lang="en-US" sz="3200" dirty="0"/>
          </a:p>
        </p:txBody>
      </p:sp>
      <p:sp>
        <p:nvSpPr>
          <p:cNvPr id="5" name="TextBox 4">
            <a:extLst>
              <a:ext uri="{FF2B5EF4-FFF2-40B4-BE49-F238E27FC236}">
                <a16:creationId xmlns:a16="http://schemas.microsoft.com/office/drawing/2014/main" id="{3D98B304-2FE3-B5AA-64FD-1C401F42D61B}"/>
              </a:ext>
            </a:extLst>
          </p:cNvPr>
          <p:cNvSpPr txBox="1"/>
          <p:nvPr/>
        </p:nvSpPr>
        <p:spPr>
          <a:xfrm>
            <a:off x="76200" y="1790700"/>
            <a:ext cx="12001500" cy="4524315"/>
          </a:xfrm>
          <a:prstGeom prst="rect">
            <a:avLst/>
          </a:prstGeom>
          <a:noFill/>
        </p:spPr>
        <p:txBody>
          <a:bodyPr wrap="square" rtlCol="0">
            <a:spAutoFit/>
          </a:bodyPr>
          <a:lstStyle/>
          <a:p>
            <a:pPr algn="just"/>
            <a:r>
              <a:rPr lang="en-US" sz="2400" b="1" i="1" dirty="0" err="1">
                <a:solidFill>
                  <a:srgbClr val="000000"/>
                </a:solidFill>
                <a:latin typeface="Times New Roman" panose="02020603050405020304" pitchFamily="18" charset="0"/>
              </a:rPr>
              <a:t>Điều</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chỉnh</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dự</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toán</a:t>
            </a:r>
            <a:r>
              <a:rPr lang="en-US" sz="2400" b="1" i="1" dirty="0">
                <a:solidFill>
                  <a:srgbClr val="000000"/>
                </a:solidFill>
                <a:latin typeface="Times New Roman" panose="02020603050405020304" pitchFamily="18" charset="0"/>
              </a:rPr>
              <a:t> NS </a:t>
            </a:r>
            <a:r>
              <a:rPr lang="en-US" sz="2400" b="1" i="1" dirty="0" err="1">
                <a:solidFill>
                  <a:srgbClr val="000000"/>
                </a:solidFill>
                <a:latin typeface="Times New Roman" panose="02020603050405020304" pitchFamily="18" charset="0"/>
              </a:rPr>
              <a:t>xã</a:t>
            </a:r>
            <a:endParaRPr lang="en-US" sz="2400" b="1" i="1" dirty="0">
              <a:solidFill>
                <a:srgbClr val="000000"/>
              </a:solidFill>
              <a:latin typeface="Times New Roman" panose="02020603050405020304" pitchFamily="18" charset="0"/>
            </a:endParaRPr>
          </a:p>
          <a:p>
            <a:pPr algn="just"/>
            <a:r>
              <a:rPr lang="en-US" sz="2400" b="1" dirty="0">
                <a:solidFill>
                  <a:srgbClr val="000000"/>
                </a:solidFill>
                <a:latin typeface="Times New Roman" panose="02020603050405020304" pitchFamily="18" charset="0"/>
              </a:rPr>
              <a:t>UBND </a:t>
            </a:r>
            <a:r>
              <a:rPr lang="en-US" sz="2400" b="1" dirty="0" err="1">
                <a:solidFill>
                  <a:srgbClr val="000000"/>
                </a:solidFill>
                <a:latin typeface="Times New Roman" panose="02020603050405020304" pitchFamily="18" charset="0"/>
              </a:rPr>
              <a:t>cấp</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xã</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quyết</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định</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điều</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chỉnh</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dự</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toán</a:t>
            </a:r>
            <a:r>
              <a:rPr lang="en-US" sz="2400" b="1" dirty="0">
                <a:solidFill>
                  <a:srgbClr val="000000"/>
                </a:solidFill>
                <a:latin typeface="Times New Roman" panose="02020603050405020304" pitchFamily="18" charset="0"/>
              </a:rPr>
              <a:t> NS </a:t>
            </a:r>
            <a:r>
              <a:rPr lang="en-US" sz="2400" b="1" dirty="0" err="1">
                <a:solidFill>
                  <a:srgbClr val="000000"/>
                </a:solidFill>
                <a:latin typeface="Times New Roman" panose="02020603050405020304" pitchFamily="18" charset="0"/>
              </a:rPr>
              <a:t>xã</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định</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kỳ</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báo</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cáo</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thường</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trực</a:t>
            </a:r>
            <a:r>
              <a:rPr lang="en-US" sz="2400" b="1" dirty="0">
                <a:solidFill>
                  <a:srgbClr val="000000"/>
                </a:solidFill>
                <a:latin typeface="Times New Roman" panose="02020603050405020304" pitchFamily="18" charset="0"/>
              </a:rPr>
              <a:t> HĐND </a:t>
            </a:r>
            <a:r>
              <a:rPr lang="en-US" sz="2400" b="1" dirty="0" err="1">
                <a:solidFill>
                  <a:srgbClr val="000000"/>
                </a:solidFill>
                <a:latin typeface="Times New Roman" panose="02020603050405020304" pitchFamily="18" charset="0"/>
              </a:rPr>
              <a:t>và</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báo</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cáo</a:t>
            </a:r>
            <a:r>
              <a:rPr lang="en-US" sz="2400" b="1" dirty="0">
                <a:solidFill>
                  <a:srgbClr val="000000"/>
                </a:solidFill>
                <a:latin typeface="Times New Roman" panose="02020603050405020304" pitchFamily="18" charset="0"/>
              </a:rPr>
              <a:t> HĐND </a:t>
            </a:r>
            <a:r>
              <a:rPr lang="en-US" sz="2400" b="1" dirty="0" err="1">
                <a:solidFill>
                  <a:srgbClr val="000000"/>
                </a:solidFill>
                <a:latin typeface="Times New Roman" panose="02020603050405020304" pitchFamily="18" charset="0"/>
              </a:rPr>
              <a:t>tại</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kỳ</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họp</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gần</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nhất</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trong</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các</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trường</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hợp</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sau</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đây</a:t>
            </a:r>
            <a:r>
              <a:rPr lang="en-US" sz="2400" b="1" dirty="0">
                <a:solidFill>
                  <a:srgbClr val="000000"/>
                </a:solidFill>
                <a:latin typeface="Times New Roman" panose="02020603050405020304" pitchFamily="18" charset="0"/>
              </a:rPr>
              <a:t>:</a:t>
            </a:r>
          </a:p>
          <a:p>
            <a:pPr algn="just"/>
            <a:r>
              <a:rPr lang="en-US" sz="2400" dirty="0">
                <a:solidFill>
                  <a:srgbClr val="000000"/>
                </a:solidFill>
                <a:latin typeface="Times New Roman" panose="02020603050405020304" pitchFamily="18" charset="0"/>
              </a:rPr>
              <a:t>a) </a:t>
            </a:r>
            <a:r>
              <a:rPr lang="en-US" sz="2400" dirty="0" err="1">
                <a:solidFill>
                  <a:srgbClr val="000000"/>
                </a:solidFill>
                <a:latin typeface="Times New Roman" panose="02020603050405020304" pitchFamily="18" charset="0"/>
              </a:rPr>
              <a:t>Số</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kiến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tăng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hoặc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không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đạt</a:t>
            </a:r>
            <a:r>
              <a:rPr lang="en-US" sz="2400" dirty="0">
                <a:solidFill>
                  <a:srgbClr val="000000"/>
                </a:solidFill>
                <a:latin typeface="Times New Roman" panose="02020603050405020304" pitchFamily="18" charset="0"/>
              </a:rPr>
              <a:t> do </a:t>
            </a:r>
            <a:r>
              <a:rPr lang="en-US" sz="2400" dirty="0" err="1">
                <a:solidFill>
                  <a:srgbClr val="000000"/>
                </a:solidFill>
                <a:latin typeface="Times New Roman" panose="02020603050405020304" pitchFamily="18" charset="0"/>
              </a:rPr>
              <a:t>với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cần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phải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điều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chỉnh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nhiệm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vụ</a:t>
            </a:r>
            <a:r>
              <a:rPr lang="en-US" sz="2400" dirty="0">
                <a:solidFill>
                  <a:srgbClr val="000000"/>
                </a:solidFill>
                <a:latin typeface="Times New Roman" panose="02020603050405020304" pitchFamily="18" charset="0"/>
              </a:rPr>
              <a:t> chi so </a:t>
            </a:r>
            <a:r>
              <a:rPr lang="en-US" sz="2400" dirty="0" err="1">
                <a:solidFill>
                  <a:srgbClr val="000000"/>
                </a:solidFill>
                <a:latin typeface="Times New Roman" panose="02020603050405020304" pitchFamily="18" charset="0"/>
              </a:rPr>
              <a:t>với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HĐND </a:t>
            </a:r>
            <a:r>
              <a:rPr lang="en-US" sz="2400" dirty="0" err="1">
                <a:solidFill>
                  <a:srgbClr val="000000"/>
                </a:solidFill>
                <a:latin typeface="Times New Roman" panose="02020603050405020304" pitchFamily="18" charset="0"/>
              </a:rPr>
              <a:t>quyết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a:t>
            </a:r>
          </a:p>
          <a:p>
            <a:pPr algn="just"/>
            <a:r>
              <a:rPr lang="en-US" sz="2400" dirty="0">
                <a:solidFill>
                  <a:srgbClr val="000000"/>
                </a:solidFill>
                <a:latin typeface="Times New Roman" panose="02020603050405020304" pitchFamily="18" charset="0"/>
              </a:rPr>
              <a:t>b) </a:t>
            </a:r>
            <a:r>
              <a:rPr lang="en-US" sz="2400" dirty="0" err="1">
                <a:solidFill>
                  <a:srgbClr val="000000"/>
                </a:solidFill>
                <a:latin typeface="Times New Roman" panose="02020603050405020304" pitchFamily="18" charset="0"/>
              </a:rPr>
              <a:t>Điều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chỉnh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cơ</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cấu</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đầu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tư</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phát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triển</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thường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xuyên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UBND </a:t>
            </a:r>
            <a:r>
              <a:rPr lang="en-US" sz="2400" dirty="0" err="1">
                <a:solidFill>
                  <a:srgbClr val="000000"/>
                </a:solidFill>
                <a:latin typeface="Times New Roman" panose="02020603050405020304" pitchFamily="18" charset="0"/>
              </a:rPr>
              <a:t>giao</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tiết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hoặc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điều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chỉnh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lĩnh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vực</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đã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HĐND </a:t>
            </a:r>
            <a:r>
              <a:rPr lang="en-US" sz="2400" dirty="0" err="1">
                <a:solidFill>
                  <a:srgbClr val="000000"/>
                </a:solidFill>
                <a:latin typeface="Times New Roman" panose="02020603050405020304" pitchFamily="18" charset="0"/>
              </a:rPr>
              <a:t>quyết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a:t>
            </a:r>
          </a:p>
          <a:p>
            <a:pPr algn="just"/>
            <a:r>
              <a:rPr lang="en-US" sz="2400" dirty="0">
                <a:solidFill>
                  <a:srgbClr val="000000"/>
                </a:solidFill>
                <a:latin typeface="Times New Roman" panose="02020603050405020304" pitchFamily="18" charset="0"/>
              </a:rPr>
              <a:t>c) </a:t>
            </a:r>
            <a:r>
              <a:rPr lang="en-US" sz="2400" dirty="0" err="1">
                <a:solidFill>
                  <a:srgbClr val="000000"/>
                </a:solidFill>
                <a:latin typeface="Times New Roman" panose="02020603050405020304" pitchFamily="18" charset="0"/>
              </a:rPr>
              <a:t>Có</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yêu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cầu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bách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về</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quốc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phòng</a:t>
            </a:r>
            <a:r>
              <a:rPr lang="en-US" sz="2400" dirty="0">
                <a:solidFill>
                  <a:srgbClr val="000000"/>
                </a:solidFill>
                <a:latin typeface="Times New Roman" panose="02020603050405020304" pitchFamily="18" charset="0"/>
              </a:rPr>
              <a:t>, an </a:t>
            </a:r>
            <a:r>
              <a:rPr lang="en-US" sz="2400" dirty="0" err="1">
                <a:solidFill>
                  <a:srgbClr val="000000"/>
                </a:solidFill>
                <a:latin typeface="Times New Roman" panose="02020603050405020304" pitchFamily="18" charset="0"/>
              </a:rPr>
              <a:t>ninh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hoặc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vì</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lý</a:t>
            </a:r>
            <a:r>
              <a:rPr lang="en-US" sz="2400" dirty="0">
                <a:solidFill>
                  <a:srgbClr val="000000"/>
                </a:solidFill>
                <a:latin typeface="Times New Roman" panose="02020603050405020304" pitchFamily="18" charset="0"/>
              </a:rPr>
              <a:t> do </a:t>
            </a:r>
            <a:r>
              <a:rPr lang="en-US" sz="2400" dirty="0" err="1">
                <a:solidFill>
                  <a:srgbClr val="000000"/>
                </a:solidFill>
                <a:latin typeface="Times New Roman" panose="02020603050405020304" pitchFamily="18" charset="0"/>
              </a:rPr>
              <a:t>khách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cần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phải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điều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chỉnh</a:t>
            </a:r>
            <a:r>
              <a:rPr lang="en-US" sz="2400" dirty="0">
                <a:solidFill>
                  <a:srgbClr val="000000"/>
                </a:solidFill>
                <a:latin typeface="Times New Roman" panose="02020603050405020304" pitchFamily="18" charset="0"/>
              </a:rPr>
              <a:t>;</a:t>
            </a:r>
          </a:p>
          <a:p>
            <a:pPr algn="just"/>
            <a:r>
              <a:rPr lang="en-US" sz="2400" dirty="0">
                <a:solidFill>
                  <a:srgbClr val="000000"/>
                </a:solidFill>
                <a:latin typeface="Times New Roman" panose="02020603050405020304" pitchFamily="18" charset="0"/>
              </a:rPr>
              <a:t>d) </a:t>
            </a:r>
            <a:r>
              <a:rPr lang="en-US" sz="2400" dirty="0" err="1">
                <a:solidFill>
                  <a:srgbClr val="000000"/>
                </a:solidFill>
                <a:latin typeface="Times New Roman" panose="02020603050405020304" pitchFamily="18" charset="0"/>
              </a:rPr>
              <a:t>Chính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phủ</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điều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chỉnh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2 </a:t>
            </a:r>
            <a:r>
              <a:rPr lang="en-US" sz="2400" dirty="0" err="1">
                <a:solidFill>
                  <a:srgbClr val="000000"/>
                </a:solidFill>
                <a:latin typeface="Times New Roman" panose="02020603050405020304" pitchFamily="18" charset="0"/>
              </a:rPr>
              <a:t>điều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này</a:t>
            </a:r>
            <a:r>
              <a:rPr lang="en-US" sz="2400" dirty="0">
                <a:solidFill>
                  <a:srgbClr val="000000"/>
                </a:solidFill>
                <a:latin typeface="Times New Roman" panose="02020603050405020304" pitchFamily="18" charset="0"/>
              </a:rPr>
              <a:t>;</a:t>
            </a:r>
          </a:p>
          <a:p>
            <a:pPr algn="just"/>
            <a:r>
              <a:rPr lang="en-US" sz="2400" dirty="0">
                <a:solidFill>
                  <a:srgbClr val="000000"/>
                </a:solidFill>
                <a:latin typeface="Times New Roman" panose="02020603050405020304" pitchFamily="18" charset="0"/>
              </a:rPr>
              <a:t>đ) Khi </a:t>
            </a:r>
            <a:r>
              <a:rPr lang="en-US" sz="2400" dirty="0" err="1">
                <a:solidFill>
                  <a:srgbClr val="000000"/>
                </a:solidFill>
                <a:latin typeface="Times New Roman" panose="02020603050405020304" pitchFamily="18" charset="0"/>
              </a:rPr>
              <a:t>cần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điều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chỉnh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một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số</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vị</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hoặc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phương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dưới</a:t>
            </a:r>
            <a:r>
              <a:rPr lang="en-US" sz="2400" dirty="0">
                <a:solidFill>
                  <a:srgbClr val="000000"/>
                </a:solidFill>
                <a:latin typeface="Times New Roman" panose="02020603050405020304" pitchFamily="18" charset="0"/>
              </a:rPr>
              <a:t>. </a:t>
            </a:r>
          </a:p>
          <a:p>
            <a:pPr algn="just"/>
            <a:r>
              <a:rPr lang="en-US" sz="2400" b="1" dirty="0">
                <a:solidFill>
                  <a:srgbClr val="000000"/>
                </a:solidFill>
                <a:latin typeface="Times New Roman" panose="02020603050405020304" pitchFamily="18" charset="0"/>
              </a:rPr>
              <a:t>UBND </a:t>
            </a:r>
            <a:r>
              <a:rPr lang="en-US" sz="2400" b="1" dirty="0" err="1">
                <a:solidFill>
                  <a:srgbClr val="000000"/>
                </a:solidFill>
                <a:latin typeface="Times New Roman" panose="02020603050405020304" pitchFamily="18" charset="0"/>
              </a:rPr>
              <a:t>cấp</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tỉnh</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yêu</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cầu</a:t>
            </a:r>
            <a:r>
              <a:rPr lang="en-US" sz="2400" b="1" dirty="0">
                <a:solidFill>
                  <a:srgbClr val="000000"/>
                </a:solidFill>
                <a:latin typeface="Times New Roman" panose="02020603050405020304" pitchFamily="18" charset="0"/>
              </a:rPr>
              <a:t> HĐND </a:t>
            </a:r>
            <a:r>
              <a:rPr lang="en-US" sz="2400" b="1" dirty="0" err="1">
                <a:solidFill>
                  <a:srgbClr val="000000"/>
                </a:solidFill>
                <a:latin typeface="Times New Roman" panose="02020603050405020304" pitchFamily="18" charset="0"/>
              </a:rPr>
              <a:t>cấp</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xã</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điều</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chỉnh</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dự</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toán</a:t>
            </a:r>
            <a:r>
              <a:rPr lang="en-US" sz="2400" b="1" dirty="0">
                <a:solidFill>
                  <a:srgbClr val="000000"/>
                </a:solidFill>
                <a:latin typeface="Times New Roman" panose="02020603050405020304" pitchFamily="18" charset="0"/>
              </a:rPr>
              <a:t> NS </a:t>
            </a:r>
            <a:r>
              <a:rPr lang="en-US" sz="2400" b="1" dirty="0" err="1">
                <a:solidFill>
                  <a:srgbClr val="000000"/>
                </a:solidFill>
                <a:latin typeface="Times New Roman" panose="02020603050405020304" pitchFamily="18" charset="0"/>
              </a:rPr>
              <a:t>nếu</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việc</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bố</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trí</a:t>
            </a:r>
            <a:r>
              <a:rPr lang="en-US" sz="2400" b="1" dirty="0">
                <a:solidFill>
                  <a:srgbClr val="000000"/>
                </a:solidFill>
                <a:latin typeface="Times New Roman" panose="02020603050405020304" pitchFamily="18" charset="0"/>
              </a:rPr>
              <a:t> NS </a:t>
            </a:r>
            <a:r>
              <a:rPr lang="en-US" sz="2400" b="1" dirty="0" err="1">
                <a:solidFill>
                  <a:srgbClr val="000000"/>
                </a:solidFill>
                <a:latin typeface="Times New Roman" panose="02020603050405020304" pitchFamily="18" charset="0"/>
              </a:rPr>
              <a:t>địa</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phương</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không</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phù</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hợp</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với</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nghị</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quyết</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của</a:t>
            </a:r>
            <a:r>
              <a:rPr lang="en-US" sz="2400" b="1" dirty="0">
                <a:solidFill>
                  <a:srgbClr val="000000"/>
                </a:solidFill>
                <a:latin typeface="Times New Roman" panose="02020603050405020304" pitchFamily="18" charset="0"/>
              </a:rPr>
              <a:t> HĐND </a:t>
            </a:r>
            <a:r>
              <a:rPr lang="en-US" sz="2400" b="1" dirty="0" err="1">
                <a:solidFill>
                  <a:srgbClr val="000000"/>
                </a:solidFill>
                <a:latin typeface="Times New Roman" panose="02020603050405020304" pitchFamily="18" charset="0"/>
              </a:rPr>
              <a:t>cấp</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tỉnh</a:t>
            </a:r>
            <a:r>
              <a:rPr lang="en-US" sz="2400" b="1" i="1" dirty="0">
                <a:solidFill>
                  <a:srgbClr val="000000"/>
                </a:solidFill>
                <a:latin typeface="Times New Roman" panose="02020603050405020304" pitchFamily="18" charset="0"/>
              </a:rPr>
              <a:t>.</a:t>
            </a:r>
          </a:p>
        </p:txBody>
      </p:sp>
    </p:spTree>
    <p:extLst>
      <p:ext uri="{BB962C8B-B14F-4D97-AF65-F5344CB8AC3E}">
        <p14:creationId xmlns:p14="http://schemas.microsoft.com/office/powerpoint/2010/main" val="16792407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1DE55-ED81-915C-1C72-51314244ABD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D5B40AC-8540-A665-0E5E-E0EE4CFA12EE}"/>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1D3EDBFC-40F9-E6DE-B8A2-D6B1F601060C}"/>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chi </a:t>
            </a:r>
          </a:p>
          <a:p>
            <a:pPr marL="0" indent="0">
              <a:buNone/>
            </a:pPr>
            <a:endParaRPr lang="en-US" sz="3200" dirty="0"/>
          </a:p>
        </p:txBody>
      </p:sp>
      <p:sp>
        <p:nvSpPr>
          <p:cNvPr id="5" name="TextBox 4">
            <a:extLst>
              <a:ext uri="{FF2B5EF4-FFF2-40B4-BE49-F238E27FC236}">
                <a16:creationId xmlns:a16="http://schemas.microsoft.com/office/drawing/2014/main" id="{81EB305B-28FB-25C8-546F-3ACF87039238}"/>
              </a:ext>
            </a:extLst>
          </p:cNvPr>
          <p:cNvSpPr txBox="1"/>
          <p:nvPr/>
        </p:nvSpPr>
        <p:spPr>
          <a:xfrm>
            <a:off x="76200" y="1790700"/>
            <a:ext cx="12001500" cy="3046988"/>
          </a:xfrm>
          <a:prstGeom prst="rect">
            <a:avLst/>
          </a:prstGeom>
          <a:noFill/>
        </p:spPr>
        <p:txBody>
          <a:bodyPr wrap="square" rtlCol="0">
            <a:spAutoFit/>
          </a:bodyPr>
          <a:lstStyle/>
          <a:p>
            <a:pPr algn="just"/>
            <a:r>
              <a:rPr lang="en-US" sz="2400" b="1" dirty="0" err="1">
                <a:solidFill>
                  <a:srgbClr val="000000"/>
                </a:solidFill>
                <a:latin typeface="Times New Roman" panose="02020603050405020304" pitchFamily="18" charset="0"/>
              </a:rPr>
              <a:t>Ứng</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trước</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dự</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toán</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năm</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sau</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Điều</a:t>
            </a:r>
            <a:r>
              <a:rPr lang="en-US" sz="2400" b="1" dirty="0">
                <a:solidFill>
                  <a:srgbClr val="000000"/>
                </a:solidFill>
                <a:latin typeface="Times New Roman" panose="02020603050405020304" pitchFamily="18" charset="0"/>
              </a:rPr>
              <a:t> 59 </a:t>
            </a:r>
            <a:r>
              <a:rPr lang="en-US" sz="2400" b="1" dirty="0" err="1">
                <a:solidFill>
                  <a:srgbClr val="000000"/>
                </a:solidFill>
                <a:latin typeface="Times New Roman" panose="02020603050405020304" pitchFamily="18" charset="0"/>
              </a:rPr>
              <a:t>Luật</a:t>
            </a:r>
            <a:r>
              <a:rPr lang="en-US" sz="2400" b="1" dirty="0">
                <a:solidFill>
                  <a:srgbClr val="000000"/>
                </a:solidFill>
                <a:latin typeface="Times New Roman" panose="02020603050405020304" pitchFamily="18" charset="0"/>
              </a:rPr>
              <a:t> NSNN 2025)</a:t>
            </a:r>
          </a:p>
          <a:p>
            <a:pPr algn="just"/>
            <a:r>
              <a:rPr lang="en-US" sz="2400" dirty="0">
                <a:solidFill>
                  <a:srgbClr val="000000"/>
                </a:solidFill>
                <a:latin typeface="Times New Roman" panose="02020603050405020304" pitchFamily="18" charset="0"/>
              </a:rPr>
              <a:t>NS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ứng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trước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năm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sau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để</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hiện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chương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trình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nhiệm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vụ</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trọng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bách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có</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thẩm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quyền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Mức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ứng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trước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không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vượt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quá</a:t>
            </a:r>
            <a:r>
              <a:rPr lang="en-US" sz="2400" dirty="0">
                <a:solidFill>
                  <a:srgbClr val="000000"/>
                </a:solidFill>
                <a:latin typeface="Times New Roman" panose="02020603050405020304" pitchFamily="18" charset="0"/>
              </a:rPr>
              <a:t> 30% </a:t>
            </a:r>
            <a:r>
              <a:rPr lang="en-US" sz="2400" dirty="0" err="1">
                <a:solidFill>
                  <a:srgbClr val="000000"/>
                </a:solidFill>
                <a:latin typeface="Times New Roman" panose="02020603050405020304" pitchFamily="18" charset="0"/>
              </a:rPr>
              <a:t>tổng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chương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trình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nhiệm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vụ</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án</a:t>
            </a:r>
            <a:r>
              <a:rPr lang="en-US" sz="2400" dirty="0">
                <a:solidFill>
                  <a:srgbClr val="000000"/>
                </a:solidFill>
                <a:latin typeface="Times New Roman" panose="02020603050405020304" pitchFamily="18" charset="0"/>
              </a:rPr>
              <a:t>. Khi </a:t>
            </a:r>
            <a:r>
              <a:rPr lang="en-US" sz="2400" dirty="0" err="1">
                <a:solidFill>
                  <a:srgbClr val="000000"/>
                </a:solidFill>
                <a:latin typeface="Times New Roman" panose="02020603050405020304" pitchFamily="18" charset="0"/>
              </a:rPr>
              <a:t>phẩn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bổ</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năm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sau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phải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bố</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đủ</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để</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hồi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số</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ứng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trước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không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ứng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trước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năm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sau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chưa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hồi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số</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vốn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ứng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trước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không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ứng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trước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năm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sau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chưa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hồi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số</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ngân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sách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ứng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trước</a:t>
            </a:r>
            <a:endParaRPr lang="en-US" sz="2400" dirty="0">
              <a:solidFill>
                <a:srgbClr val="000000"/>
              </a:solidFill>
              <a:latin typeface="Times New Roman" panose="02020603050405020304" pitchFamily="18" charset="0"/>
            </a:endParaRPr>
          </a:p>
          <a:p>
            <a:pPr algn="just"/>
            <a:endParaRPr lang="en-US"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7135491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97E24-7B3B-0FF6-5F0F-595F6BC1A17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7C48DCA-ADA0-77B5-50EB-776A390920B0}"/>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F74A1259-88DE-F4B3-754A-FB7E3A0CF869}"/>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chi </a:t>
            </a:r>
          </a:p>
          <a:p>
            <a:pPr marL="0" indent="0">
              <a:buNone/>
            </a:pPr>
            <a:endParaRPr lang="en-US" sz="3200" dirty="0"/>
          </a:p>
        </p:txBody>
      </p:sp>
      <p:sp>
        <p:nvSpPr>
          <p:cNvPr id="5" name="TextBox 4">
            <a:extLst>
              <a:ext uri="{FF2B5EF4-FFF2-40B4-BE49-F238E27FC236}">
                <a16:creationId xmlns:a16="http://schemas.microsoft.com/office/drawing/2014/main" id="{E3F8D5D9-2B62-AA0E-49B2-CF280AC0DB67}"/>
              </a:ext>
            </a:extLst>
          </p:cNvPr>
          <p:cNvSpPr txBox="1"/>
          <p:nvPr/>
        </p:nvSpPr>
        <p:spPr>
          <a:xfrm>
            <a:off x="153842" y="1825329"/>
            <a:ext cx="12001500" cy="2308324"/>
          </a:xfrm>
          <a:prstGeom prst="rect">
            <a:avLst/>
          </a:prstGeom>
          <a:noFill/>
        </p:spPr>
        <p:txBody>
          <a:bodyPr wrap="square" rtlCol="0">
            <a:spAutoFit/>
          </a:bodyPr>
          <a:lstStyle/>
          <a:p>
            <a:pPr algn="just"/>
            <a:r>
              <a:rPr lang="en-US" sz="2400" b="1" dirty="0" err="1">
                <a:solidFill>
                  <a:srgbClr val="000000"/>
                </a:solidFill>
                <a:latin typeface="Times New Roman" panose="02020603050405020304" pitchFamily="18" charset="0"/>
              </a:rPr>
              <a:t>Xử</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lý</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thiếu</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hụt</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tạm</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thời</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quỹ</a:t>
            </a:r>
            <a:r>
              <a:rPr lang="en-US" sz="2400" b="1" dirty="0">
                <a:solidFill>
                  <a:srgbClr val="000000"/>
                </a:solidFill>
                <a:latin typeface="Times New Roman" panose="02020603050405020304" pitchFamily="18" charset="0"/>
              </a:rPr>
              <a:t> NS </a:t>
            </a:r>
            <a:r>
              <a:rPr lang="en-US" sz="2400" b="1" dirty="0" err="1">
                <a:solidFill>
                  <a:srgbClr val="000000"/>
                </a:solidFill>
                <a:latin typeface="Times New Roman" panose="02020603050405020304" pitchFamily="18" charset="0"/>
              </a:rPr>
              <a:t>cấp</a:t>
            </a:r>
            <a:r>
              <a:rPr lang="en-US" sz="2400" b="1" dirty="0">
                <a:solidFill>
                  <a:srgbClr val="000000"/>
                </a:solidFill>
                <a:latin typeface="Times New Roman" panose="02020603050405020304" pitchFamily="18" charset="0"/>
              </a:rPr>
              <a:t> </a:t>
            </a:r>
            <a:r>
              <a:rPr lang="en-US" sz="2400" b="1" dirty="0" err="1">
                <a:solidFill>
                  <a:srgbClr val="000000"/>
                </a:solidFill>
                <a:latin typeface="Times New Roman" panose="02020603050405020304" pitchFamily="18" charset="0"/>
              </a:rPr>
              <a:t>xã</a:t>
            </a:r>
            <a:r>
              <a:rPr lang="en-US" sz="2400" b="1" dirty="0">
                <a:solidFill>
                  <a:srgbClr val="000000"/>
                </a:solidFill>
                <a:latin typeface="Times New Roman" panose="02020603050405020304" pitchFamily="18" charset="0"/>
              </a:rPr>
              <a:t> </a:t>
            </a:r>
          </a:p>
          <a:p>
            <a:pPr algn="just"/>
            <a:r>
              <a:rPr lang="en-US" sz="2400" dirty="0">
                <a:solidFill>
                  <a:srgbClr val="000000"/>
                </a:solidFill>
                <a:latin typeface="Times New Roman" panose="02020603050405020304" pitchFamily="18" charset="0"/>
              </a:rPr>
              <a:t>Trường </a:t>
            </a:r>
            <a:r>
              <a:rPr lang="en-US" sz="2400" dirty="0" err="1">
                <a:solidFill>
                  <a:srgbClr val="000000"/>
                </a:solidFill>
                <a:latin typeface="Times New Roman" panose="02020603050405020304" pitchFamily="18" charset="0"/>
              </a:rPr>
              <a:t>hợp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quỹ</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ngân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sách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thiếu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hụt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thời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chưa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đáp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ứng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cầu</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căn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cứ</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đề</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nghị</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UBND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Sở</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tài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chính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trình</a:t>
            </a:r>
            <a:r>
              <a:rPr lang="en-US" sz="2400" dirty="0">
                <a:solidFill>
                  <a:srgbClr val="000000"/>
                </a:solidFill>
                <a:latin typeface="Times New Roman" panose="02020603050405020304" pitchFamily="18" charset="0"/>
              </a:rPr>
              <a:t> UBND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tỉnh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ứng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cho</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từ</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quỹ</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trữ</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tài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chính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tỉnh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ngân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sách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tỉnh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nguồn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tài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chính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hợp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pháp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phương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để</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lý</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phải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hoàn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trong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vòng</a:t>
            </a:r>
            <a:r>
              <a:rPr lang="en-US" sz="2400" dirty="0">
                <a:solidFill>
                  <a:srgbClr val="000000"/>
                </a:solidFill>
                <a:latin typeface="Times New Roman" panose="02020603050405020304" pitchFamily="18" charset="0"/>
              </a:rPr>
              <a:t> 12 </a:t>
            </a:r>
            <a:r>
              <a:rPr lang="en-US" sz="2400" dirty="0" err="1">
                <a:solidFill>
                  <a:srgbClr val="000000"/>
                </a:solidFill>
                <a:latin typeface="Times New Roman" panose="02020603050405020304" pitchFamily="18" charset="0"/>
              </a:rPr>
              <a:t>tháng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kể</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từ</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ngày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ứng</a:t>
            </a:r>
            <a:r>
              <a:rPr lang="en-US" sz="2400" dirty="0">
                <a:solidFill>
                  <a:srgbClr val="000000"/>
                </a:solidFill>
                <a:latin typeface="Times New Roman" panose="02020603050405020304" pitchFamily="18" charset="0"/>
              </a:rPr>
              <a:t>.</a:t>
            </a:r>
          </a:p>
          <a:p>
            <a:pPr algn="just"/>
            <a:endParaRPr lang="en-US"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5756234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2C823-2BE7-9D1F-4F32-D1C629FFDF3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0404C08-C118-ABA6-3962-4D85F152A2EC}"/>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F774BE81-9B03-ABE3-3DF3-219B8CD443D7}"/>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chi </a:t>
            </a:r>
          </a:p>
          <a:p>
            <a:pPr marL="0" indent="0">
              <a:buNone/>
            </a:pPr>
            <a:endParaRPr lang="en-US" sz="3200" dirty="0"/>
          </a:p>
        </p:txBody>
      </p:sp>
      <p:sp>
        <p:nvSpPr>
          <p:cNvPr id="5" name="TextBox 4">
            <a:extLst>
              <a:ext uri="{FF2B5EF4-FFF2-40B4-BE49-F238E27FC236}">
                <a16:creationId xmlns:a16="http://schemas.microsoft.com/office/drawing/2014/main" id="{D58F6306-0F88-1490-0469-E79D566E8EF4}"/>
              </a:ext>
            </a:extLst>
          </p:cNvPr>
          <p:cNvSpPr txBox="1"/>
          <p:nvPr/>
        </p:nvSpPr>
        <p:spPr>
          <a:xfrm>
            <a:off x="153842" y="1698717"/>
            <a:ext cx="12001500" cy="5262979"/>
          </a:xfrm>
          <a:prstGeom prst="rect">
            <a:avLst/>
          </a:prstGeom>
          <a:noFill/>
        </p:spPr>
        <p:txBody>
          <a:bodyPr wrap="square" rtlCol="0">
            <a:spAutoFit/>
          </a:bodyPr>
          <a:lstStyle/>
          <a:p>
            <a:pPr algn="just"/>
            <a:r>
              <a:rPr lang="en-US" sz="2400" b="1" i="1" dirty="0" err="1">
                <a:solidFill>
                  <a:srgbClr val="000000"/>
                </a:solidFill>
                <a:latin typeface="Times New Roman" panose="02020603050405020304" pitchFamily="18" charset="0"/>
              </a:rPr>
              <a:t>Xử</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lý</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tăng</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giảm</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thu</a:t>
            </a:r>
            <a:r>
              <a:rPr lang="en-US" sz="2400" b="1" i="1" dirty="0">
                <a:solidFill>
                  <a:srgbClr val="000000"/>
                </a:solidFill>
                <a:latin typeface="Times New Roman" panose="02020603050405020304" pitchFamily="18" charset="0"/>
              </a:rPr>
              <a:t>, chi so </a:t>
            </a:r>
            <a:r>
              <a:rPr lang="en-US" sz="2400" b="1" i="1" dirty="0" err="1">
                <a:solidFill>
                  <a:srgbClr val="000000"/>
                </a:solidFill>
                <a:latin typeface="Times New Roman" panose="02020603050405020304" pitchFamily="18" charset="0"/>
              </a:rPr>
              <a:t>với</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dự</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toán</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trong</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quá</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trình</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điều</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hành</a:t>
            </a:r>
            <a:r>
              <a:rPr lang="en-US" sz="2400" b="1" i="1" dirty="0">
                <a:solidFill>
                  <a:srgbClr val="000000"/>
                </a:solidFill>
                <a:latin typeface="Times New Roman" panose="02020603050405020304" pitchFamily="18" charset="0"/>
              </a:rPr>
              <a:t> NS </a:t>
            </a:r>
            <a:r>
              <a:rPr lang="en-US" sz="2400" b="1" i="1" dirty="0" err="1">
                <a:solidFill>
                  <a:srgbClr val="000000"/>
                </a:solidFill>
                <a:latin typeface="Times New Roman" panose="02020603050405020304" pitchFamily="18" charset="0"/>
              </a:rPr>
              <a:t>xã</a:t>
            </a:r>
            <a:r>
              <a:rPr lang="en-US" sz="2400" b="1" i="1" dirty="0">
                <a:solidFill>
                  <a:srgbClr val="000000"/>
                </a:solidFill>
                <a:latin typeface="Times New Roman" panose="02020603050405020304" pitchFamily="18" charset="0"/>
              </a:rPr>
              <a:t> </a:t>
            </a:r>
          </a:p>
          <a:p>
            <a:pPr algn="just"/>
            <a:r>
              <a:rPr lang="en-US" sz="2400" dirty="0">
                <a:solidFill>
                  <a:srgbClr val="000000"/>
                </a:solidFill>
                <a:latin typeface="Times New Roman" panose="02020603050405020304" pitchFamily="18" charset="0"/>
              </a:rPr>
              <a:t>1. Trường </a:t>
            </a:r>
            <a:r>
              <a:rPr lang="en-US" sz="2400" dirty="0" err="1">
                <a:solidFill>
                  <a:srgbClr val="000000"/>
                </a:solidFill>
                <a:latin typeface="Times New Roman" panose="02020603050405020304" pitchFamily="18" charset="0"/>
              </a:rPr>
              <a:t>hơp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số</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kiến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tăng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hoặc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không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đạt</a:t>
            </a:r>
            <a:r>
              <a:rPr lang="en-US" sz="2400" dirty="0">
                <a:solidFill>
                  <a:srgbClr val="000000"/>
                </a:solidFill>
                <a:latin typeface="Times New Roman" panose="02020603050405020304" pitchFamily="18" charset="0"/>
              </a:rPr>
              <a:t> so </a:t>
            </a:r>
            <a:r>
              <a:rPr lang="en-US" sz="2400" dirty="0" err="1">
                <a:solidFill>
                  <a:srgbClr val="000000"/>
                </a:solidFill>
                <a:latin typeface="Times New Roman" panose="02020603050405020304" pitchFamily="18" charset="0"/>
              </a:rPr>
              <a:t>với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HĐND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UBND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điều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chỉnh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nhiệm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vụ</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điểm</a:t>
            </a:r>
            <a:r>
              <a:rPr lang="en-US" sz="2400" dirty="0">
                <a:solidFill>
                  <a:srgbClr val="000000"/>
                </a:solidFill>
                <a:latin typeface="Times New Roman" panose="02020603050405020304" pitchFamily="18" charset="0"/>
              </a:rPr>
              <a:t> a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3 </a:t>
            </a:r>
            <a:r>
              <a:rPr lang="en-US" sz="2400" dirty="0" err="1">
                <a:solidFill>
                  <a:srgbClr val="000000"/>
                </a:solidFill>
                <a:latin typeface="Times New Roman" panose="02020603050405020304" pitchFamily="18" charset="0"/>
              </a:rPr>
              <a:t>Điều</a:t>
            </a:r>
            <a:r>
              <a:rPr lang="en-US" sz="2400" dirty="0">
                <a:solidFill>
                  <a:srgbClr val="000000"/>
                </a:solidFill>
                <a:latin typeface="Times New Roman" panose="02020603050405020304" pitchFamily="18" charset="0"/>
              </a:rPr>
              <a:t> 54 </a:t>
            </a:r>
            <a:r>
              <a:rPr lang="en-US" sz="2400" dirty="0" err="1">
                <a:solidFill>
                  <a:srgbClr val="000000"/>
                </a:solidFill>
                <a:latin typeface="Times New Roman" panose="02020603050405020304" pitchFamily="18" charset="0"/>
              </a:rPr>
              <a:t>Luật</a:t>
            </a:r>
            <a:r>
              <a:rPr lang="en-US" sz="2400" dirty="0">
                <a:solidFill>
                  <a:srgbClr val="000000"/>
                </a:solidFill>
                <a:latin typeface="Times New Roman" panose="02020603050405020304" pitchFamily="18" charset="0"/>
              </a:rPr>
              <a:t> NSNN 2025.</a:t>
            </a:r>
          </a:p>
          <a:p>
            <a:pPr algn="just"/>
            <a:r>
              <a:rPr lang="en-US" sz="2400" dirty="0">
                <a:solidFill>
                  <a:srgbClr val="000000"/>
                </a:solidFill>
                <a:latin typeface="Times New Roman" panose="02020603050405020304" pitchFamily="18" charset="0"/>
              </a:rPr>
              <a:t>2. </a:t>
            </a:r>
            <a:r>
              <a:rPr lang="en-US" sz="2400" dirty="0" err="1">
                <a:solidFill>
                  <a:srgbClr val="000000"/>
                </a:solidFill>
                <a:latin typeface="Times New Roman" panose="02020603050405020304" pitchFamily="18" charset="0"/>
              </a:rPr>
              <a:t>Kết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thúc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năm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ngân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sách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số</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tăng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so </a:t>
            </a:r>
            <a:r>
              <a:rPr lang="en-US" sz="2400" dirty="0" err="1">
                <a:solidFill>
                  <a:srgbClr val="000000"/>
                </a:solidFill>
                <a:latin typeface="Times New Roman" panose="02020603050405020304" pitchFamily="18" charset="0"/>
              </a:rPr>
              <a:t>với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dư</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còn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lại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dụng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nội</a:t>
            </a:r>
            <a:r>
              <a:rPr lang="en-US" sz="2400" dirty="0">
                <a:solidFill>
                  <a:srgbClr val="000000"/>
                </a:solidFill>
                <a:latin typeface="Times New Roman" panose="02020603050405020304" pitchFamily="18" charset="0"/>
              </a:rPr>
              <a:t> dung </a:t>
            </a:r>
            <a:r>
              <a:rPr lang="en-US" sz="2400" dirty="0" err="1">
                <a:solidFill>
                  <a:srgbClr val="000000"/>
                </a:solidFill>
                <a:latin typeface="Times New Roman" panose="02020603050405020304" pitchFamily="18" charset="0"/>
              </a:rPr>
              <a:t>sau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đây</a:t>
            </a:r>
            <a:r>
              <a:rPr lang="en-US" sz="2400" dirty="0">
                <a:solidFill>
                  <a:srgbClr val="000000"/>
                </a:solidFill>
                <a:latin typeface="Times New Roman" panose="02020603050405020304" pitchFamily="18" charset="0"/>
              </a:rPr>
              <a:t>:</a:t>
            </a:r>
          </a:p>
          <a:p>
            <a:pPr algn="just"/>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Bổ</a:t>
            </a:r>
            <a:r>
              <a:rPr lang="en-US" sz="2400" dirty="0">
                <a:solidFill>
                  <a:srgbClr val="000000"/>
                </a:solidFill>
                <a:latin typeface="Times New Roman" panose="02020603050405020304" pitchFamily="18" charset="0"/>
              </a:rPr>
              <a:t> sung </a:t>
            </a:r>
            <a:r>
              <a:rPr lang="en-US" sz="2400" dirty="0" err="1">
                <a:solidFill>
                  <a:srgbClr val="000000"/>
                </a:solidFill>
                <a:latin typeface="Times New Roman" panose="02020603050405020304" pitchFamily="18" charset="0"/>
              </a:rPr>
              <a:t>tăng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phòng</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trong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phạm</a:t>
            </a:r>
            <a:r>
              <a:rPr lang="en-US" sz="2400" dirty="0">
                <a:solidFill>
                  <a:srgbClr val="000000"/>
                </a:solidFill>
                <a:latin typeface="Times New Roman" panose="02020603050405020304" pitchFamily="18" charset="0"/>
              </a:rPr>
              <a:t> vi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1 </a:t>
            </a:r>
            <a:r>
              <a:rPr lang="en-US" sz="2400" dirty="0" err="1">
                <a:solidFill>
                  <a:srgbClr val="000000"/>
                </a:solidFill>
                <a:latin typeface="Times New Roman" panose="02020603050405020304" pitchFamily="18" charset="0"/>
              </a:rPr>
              <a:t>Điều</a:t>
            </a:r>
            <a:r>
              <a:rPr lang="en-US" sz="2400" dirty="0">
                <a:solidFill>
                  <a:srgbClr val="000000"/>
                </a:solidFill>
                <a:latin typeface="Times New Roman" panose="02020603050405020304" pitchFamily="18" charset="0"/>
              </a:rPr>
              <a:t> 10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Luật</a:t>
            </a:r>
            <a:r>
              <a:rPr lang="en-US" sz="2400" dirty="0">
                <a:solidFill>
                  <a:srgbClr val="000000"/>
                </a:solidFill>
                <a:latin typeface="Times New Roman" panose="02020603050405020304" pitchFamily="18" charset="0"/>
              </a:rPr>
              <a:t> NSNN 2025;</a:t>
            </a:r>
          </a:p>
          <a:p>
            <a:pPr algn="just"/>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Bổ</a:t>
            </a:r>
            <a:r>
              <a:rPr lang="en-US" sz="2400" dirty="0">
                <a:solidFill>
                  <a:srgbClr val="000000"/>
                </a:solidFill>
                <a:latin typeface="Times New Roman" panose="02020603050405020304" pitchFamily="18" charset="0"/>
              </a:rPr>
              <a:t> sung </a:t>
            </a:r>
            <a:r>
              <a:rPr lang="en-US" sz="2400" dirty="0" err="1">
                <a:solidFill>
                  <a:srgbClr val="000000"/>
                </a:solidFill>
                <a:latin typeface="Times New Roman" panose="02020603050405020304" pitchFamily="18" charset="0"/>
              </a:rPr>
              <a:t>nguồn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hijen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chính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sách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tiền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lương</a:t>
            </a:r>
            <a:r>
              <a:rPr lang="en-US" sz="2400" dirty="0">
                <a:solidFill>
                  <a:srgbClr val="000000"/>
                </a:solidFill>
                <a:latin typeface="Times New Roman" panose="02020603050405020304" pitchFamily="18" charset="0"/>
              </a:rPr>
              <a:t>;</a:t>
            </a:r>
          </a:p>
          <a:p>
            <a:pPr algn="just"/>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Tăng</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đầu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tư</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một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số</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trọng</a:t>
            </a:r>
            <a:r>
              <a:rPr lang="en-US" sz="2400" dirty="0">
                <a:solidFill>
                  <a:srgbClr val="000000"/>
                </a:solidFill>
                <a:latin typeface="Times New Roman" panose="02020603050405020304" pitchFamily="18" charset="0"/>
              </a:rPr>
              <a:t>; </a:t>
            </a:r>
          </a:p>
          <a:p>
            <a:pPr marL="342900" indent="-342900" algn="just">
              <a:buFontTx/>
              <a:buChar char="-"/>
            </a:pPr>
            <a:r>
              <a:rPr lang="en-US" sz="2400" dirty="0" err="1">
                <a:solidFill>
                  <a:srgbClr val="000000"/>
                </a:solidFill>
                <a:latin typeface="Times New Roman" panose="02020603050405020304" pitchFamily="18" charset="0"/>
              </a:rPr>
              <a:t>Thực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hiện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một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số</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chính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sách</a:t>
            </a:r>
            <a:r>
              <a:rPr lang="en-US" sz="2400" dirty="0">
                <a:solidFill>
                  <a:srgbClr val="000000"/>
                </a:solidFill>
                <a:latin typeface="Times New Roman" panose="02020603050405020304" pitchFamily="18" charset="0"/>
              </a:rPr>
              <a:t> an </a:t>
            </a:r>
            <a:r>
              <a:rPr lang="en-US" sz="2400" dirty="0" err="1">
                <a:solidFill>
                  <a:srgbClr val="000000"/>
                </a:solidFill>
                <a:latin typeface="Times New Roman" panose="02020603050405020304" pitchFamily="18" charset="0"/>
              </a:rPr>
              <a:t>sinh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hội</a:t>
            </a:r>
            <a:r>
              <a:rPr lang="en-US" sz="2400" dirty="0">
                <a:solidFill>
                  <a:srgbClr val="000000"/>
                </a:solidFill>
                <a:latin typeface="Times New Roman" panose="02020603050405020304" pitchFamily="18" charset="0"/>
              </a:rPr>
              <a:t>.</a:t>
            </a:r>
          </a:p>
          <a:p>
            <a:pPr algn="just"/>
            <a:r>
              <a:rPr lang="en-US" sz="2400" dirty="0">
                <a:solidFill>
                  <a:srgbClr val="000000"/>
                </a:solidFill>
                <a:latin typeface="Times New Roman" panose="02020603050405020304" pitchFamily="18" charset="0"/>
              </a:rPr>
              <a:t>3. </a:t>
            </a:r>
            <a:r>
              <a:rPr lang="en-US" sz="2400" dirty="0" err="1">
                <a:solidFill>
                  <a:srgbClr val="000000"/>
                </a:solidFill>
                <a:latin typeface="Times New Roman" panose="02020603050405020304" pitchFamily="18" charset="0"/>
              </a:rPr>
              <a:t>Trước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ngày</a:t>
            </a:r>
            <a:r>
              <a:rPr lang="en-US" sz="2400" dirty="0">
                <a:solidFill>
                  <a:srgbClr val="000000"/>
                </a:solidFill>
                <a:latin typeface="Times New Roman" panose="02020603050405020304" pitchFamily="18" charset="0"/>
              </a:rPr>
              <a:t> 28/2 </a:t>
            </a:r>
            <a:r>
              <a:rPr lang="en-US" sz="2400" dirty="0" err="1">
                <a:solidFill>
                  <a:srgbClr val="000000"/>
                </a:solidFill>
                <a:latin typeface="Times New Roman" panose="02020603050405020304" pitchFamily="18" charset="0"/>
              </a:rPr>
              <a:t>hàng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năm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cơ</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tài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chính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chủ</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trì</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phối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hợp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với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cơ</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liên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xây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phương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dụng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số</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tăng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so </a:t>
            </a:r>
            <a:r>
              <a:rPr lang="en-US" sz="2400" dirty="0" err="1">
                <a:solidFill>
                  <a:srgbClr val="000000"/>
                </a:solidFill>
                <a:latin typeface="Times New Roman" panose="02020603050405020304" pitchFamily="18" charset="0"/>
              </a:rPr>
              <a:t>với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còn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lại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mình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năm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trước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trình</a:t>
            </a:r>
            <a:r>
              <a:rPr lang="en-US" sz="2400" dirty="0">
                <a:solidFill>
                  <a:srgbClr val="000000"/>
                </a:solidFill>
                <a:latin typeface="Times New Roman" panose="02020603050405020304" pitchFamily="18" charset="0"/>
              </a:rPr>
              <a:t> UBND </a:t>
            </a:r>
            <a:r>
              <a:rPr lang="en-US" sz="2400" dirty="0" err="1">
                <a:solidFill>
                  <a:srgbClr val="000000"/>
                </a:solidFill>
                <a:latin typeface="Times New Roman" panose="02020603050405020304" pitchFamily="18" charset="0"/>
              </a:rPr>
              <a:t>cùng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báo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thường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trực</a:t>
            </a:r>
            <a:r>
              <a:rPr lang="en-US" sz="2400" dirty="0">
                <a:solidFill>
                  <a:srgbClr val="000000"/>
                </a:solidFill>
                <a:latin typeface="Times New Roman" panose="02020603050405020304" pitchFamily="18" charset="0"/>
              </a:rPr>
              <a:t> HĐND </a:t>
            </a:r>
            <a:r>
              <a:rPr lang="en-US" sz="2400" dirty="0" err="1">
                <a:solidFill>
                  <a:srgbClr val="000000"/>
                </a:solidFill>
                <a:latin typeface="Times New Roman" panose="02020603050405020304" pitchFamily="18" charset="0"/>
              </a:rPr>
              <a:t>kết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hiện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báo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cáo</a:t>
            </a:r>
            <a:r>
              <a:rPr lang="en-US" sz="2400" dirty="0">
                <a:solidFill>
                  <a:srgbClr val="000000"/>
                </a:solidFill>
                <a:latin typeface="Times New Roman" panose="02020603050405020304" pitchFamily="18" charset="0"/>
              </a:rPr>
              <a:t> HĐND </a:t>
            </a:r>
            <a:r>
              <a:rPr lang="en-US" sz="2400" dirty="0" err="1">
                <a:solidFill>
                  <a:srgbClr val="000000"/>
                </a:solidFill>
                <a:latin typeface="Times New Roman" panose="02020603050405020304" pitchFamily="18" charset="0"/>
              </a:rPr>
              <a:t>tại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kỳ</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họp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gần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nhất</a:t>
            </a:r>
            <a:r>
              <a:rPr lang="en-US" sz="2400" dirty="0">
                <a:solidFill>
                  <a:srgbClr val="000000"/>
                </a:solidFill>
                <a:latin typeface="Times New Roman" panose="02020603050405020304" pitchFamily="18" charset="0"/>
              </a:rPr>
              <a:t>.</a:t>
            </a:r>
          </a:p>
        </p:txBody>
      </p:sp>
    </p:spTree>
    <p:extLst>
      <p:ext uri="{BB962C8B-B14F-4D97-AF65-F5344CB8AC3E}">
        <p14:creationId xmlns:p14="http://schemas.microsoft.com/office/powerpoint/2010/main" val="33828449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C0F9D-7C1C-07C1-AD9B-824BAD4BE97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0B96727-63A0-523C-5837-AF8B0359767E}"/>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7F282CA0-F47B-E874-3791-FB2D38005B34}"/>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chi </a:t>
            </a:r>
          </a:p>
          <a:p>
            <a:pPr marL="0" indent="0">
              <a:buNone/>
            </a:pPr>
            <a:endParaRPr lang="en-US" sz="3200" dirty="0"/>
          </a:p>
        </p:txBody>
      </p:sp>
      <p:sp>
        <p:nvSpPr>
          <p:cNvPr id="5" name="TextBox 4">
            <a:extLst>
              <a:ext uri="{FF2B5EF4-FFF2-40B4-BE49-F238E27FC236}">
                <a16:creationId xmlns:a16="http://schemas.microsoft.com/office/drawing/2014/main" id="{3DA18B3E-E996-0852-BC00-AEAB1FF2ABFD}"/>
              </a:ext>
            </a:extLst>
          </p:cNvPr>
          <p:cNvSpPr txBox="1"/>
          <p:nvPr/>
        </p:nvSpPr>
        <p:spPr>
          <a:xfrm>
            <a:off x="153842" y="1825329"/>
            <a:ext cx="12001500" cy="3416320"/>
          </a:xfrm>
          <a:prstGeom prst="rect">
            <a:avLst/>
          </a:prstGeom>
          <a:noFill/>
        </p:spPr>
        <p:txBody>
          <a:bodyPr wrap="square" rtlCol="0">
            <a:spAutoFit/>
          </a:bodyPr>
          <a:lstStyle/>
          <a:p>
            <a:pPr algn="just"/>
            <a:r>
              <a:rPr lang="en-US" sz="2400" b="1" i="1" dirty="0" err="1">
                <a:solidFill>
                  <a:srgbClr val="000000"/>
                </a:solidFill>
                <a:latin typeface="Times New Roman" panose="02020603050405020304" pitchFamily="18" charset="0"/>
              </a:rPr>
              <a:t>Xử</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lý</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tăng</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giảm</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thu</a:t>
            </a:r>
            <a:r>
              <a:rPr lang="en-US" sz="2400" b="1" i="1" dirty="0">
                <a:solidFill>
                  <a:srgbClr val="000000"/>
                </a:solidFill>
                <a:latin typeface="Times New Roman" panose="02020603050405020304" pitchFamily="18" charset="0"/>
              </a:rPr>
              <a:t>, chi so </a:t>
            </a:r>
            <a:r>
              <a:rPr lang="en-US" sz="2400" b="1" i="1" dirty="0" err="1">
                <a:solidFill>
                  <a:srgbClr val="000000"/>
                </a:solidFill>
                <a:latin typeface="Times New Roman" panose="02020603050405020304" pitchFamily="18" charset="0"/>
              </a:rPr>
              <a:t>với</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dự</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toán</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trong</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quá</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trình</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điều</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hành</a:t>
            </a:r>
            <a:r>
              <a:rPr lang="en-US" sz="2400" b="1" i="1" dirty="0">
                <a:solidFill>
                  <a:srgbClr val="000000"/>
                </a:solidFill>
                <a:latin typeface="Times New Roman" panose="02020603050405020304" pitchFamily="18" charset="0"/>
              </a:rPr>
              <a:t> NS </a:t>
            </a:r>
            <a:r>
              <a:rPr lang="en-US" sz="2400" b="1" i="1" dirty="0" err="1">
                <a:solidFill>
                  <a:srgbClr val="000000"/>
                </a:solidFill>
                <a:latin typeface="Times New Roman" panose="02020603050405020304" pitchFamily="18" charset="0"/>
              </a:rPr>
              <a:t>xã</a:t>
            </a:r>
            <a:r>
              <a:rPr lang="en-US" sz="2400" b="1" i="1" dirty="0">
                <a:solidFill>
                  <a:srgbClr val="000000"/>
                </a:solidFill>
                <a:latin typeface="Times New Roman" panose="02020603050405020304" pitchFamily="18" charset="0"/>
              </a:rPr>
              <a:t> </a:t>
            </a:r>
          </a:p>
          <a:p>
            <a:pPr algn="just"/>
            <a:r>
              <a:rPr lang="en-US" sz="2400" dirty="0">
                <a:solidFill>
                  <a:srgbClr val="000000"/>
                </a:solidFill>
                <a:latin typeface="Times New Roman" panose="02020603050405020304" pitchFamily="18" charset="0"/>
              </a:rPr>
              <a:t>4. UBND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tỉnh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trình</a:t>
            </a:r>
            <a:r>
              <a:rPr lang="en-US" sz="2400" dirty="0">
                <a:solidFill>
                  <a:srgbClr val="000000"/>
                </a:solidFill>
                <a:latin typeface="Times New Roman" panose="02020603050405020304" pitchFamily="18" charset="0"/>
              </a:rPr>
              <a:t> HĐND </a:t>
            </a:r>
            <a:r>
              <a:rPr lang="en-US" sz="2400" dirty="0" err="1">
                <a:solidFill>
                  <a:srgbClr val="000000"/>
                </a:solidFill>
                <a:latin typeface="Times New Roman" panose="02020603050405020304" pitchFamily="18" charset="0"/>
              </a:rPr>
              <a:t>cùng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việc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thưởng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vượt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so </a:t>
            </a:r>
            <a:r>
              <a:rPr lang="en-US" sz="2400" dirty="0" err="1">
                <a:solidFill>
                  <a:srgbClr val="000000"/>
                </a:solidFill>
                <a:latin typeface="Times New Roman" panose="02020603050405020304" pitchFamily="18" charset="0"/>
              </a:rPr>
              <a:t>với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từ</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phân</a:t>
            </a:r>
            <a:r>
              <a:rPr lang="en-US" sz="2400" dirty="0">
                <a:solidFill>
                  <a:srgbClr val="000000"/>
                </a:solidFill>
                <a:latin typeface="Times New Roman" panose="02020603050405020304" pitchFamily="18" charset="0"/>
              </a:rPr>
              <a:t> chia </a:t>
            </a:r>
            <a:r>
              <a:rPr lang="en-US" sz="2400" dirty="0" err="1">
                <a:solidFill>
                  <a:srgbClr val="000000"/>
                </a:solidFill>
                <a:latin typeface="Times New Roman" panose="02020603050405020304" pitchFamily="18" charset="0"/>
              </a:rPr>
              <a:t>giữa</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tỉnh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a:t>
            </a:r>
          </a:p>
          <a:p>
            <a:pPr algn="just"/>
            <a:r>
              <a:rPr lang="en-US" sz="2400" dirty="0">
                <a:solidFill>
                  <a:srgbClr val="000000"/>
                </a:solidFill>
                <a:latin typeface="Times New Roman" panose="02020603050405020304" pitchFamily="18" charset="0"/>
              </a:rPr>
              <a:t>5. </a:t>
            </a:r>
            <a:r>
              <a:rPr lang="en-US" sz="2400" dirty="0" err="1">
                <a:solidFill>
                  <a:srgbClr val="000000"/>
                </a:solidFill>
                <a:latin typeface="Times New Roman" panose="02020603050405020304" pitchFamily="18" charset="0"/>
              </a:rPr>
              <a:t>Kết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thúc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năm</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trường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hợp</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hụt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so </a:t>
            </a:r>
            <a:r>
              <a:rPr lang="en-US" sz="2400" dirty="0" err="1">
                <a:solidFill>
                  <a:srgbClr val="000000"/>
                </a:solidFill>
                <a:latin typeface="Times New Roman" panose="02020603050405020304" pitchFamily="18" charset="0"/>
              </a:rPr>
              <a:t>với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 do </a:t>
            </a:r>
            <a:r>
              <a:rPr lang="en-US" sz="2400" dirty="0" err="1">
                <a:solidFill>
                  <a:srgbClr val="000000"/>
                </a:solidFill>
                <a:latin typeface="Times New Roman" panose="02020603050405020304" pitchFamily="18" charset="0"/>
              </a:rPr>
              <a:t>nguyên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nhân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khách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sau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hiện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điều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chỉnh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giảm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nhiệm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vụ</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1 </a:t>
            </a:r>
            <a:r>
              <a:rPr lang="en-US" sz="2400" dirty="0" err="1">
                <a:solidFill>
                  <a:srgbClr val="000000"/>
                </a:solidFill>
                <a:latin typeface="Times New Roman" panose="02020603050405020304" pitchFamily="18" charset="0"/>
              </a:rPr>
              <a:t>Điều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này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dụng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nguồn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lực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tài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chính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hợp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pháp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mà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chưa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bảo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đảm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cân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đối</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thì</a:t>
            </a:r>
            <a:r>
              <a:rPr lang="en-US" sz="2400" dirty="0">
                <a:solidFill>
                  <a:srgbClr val="000000"/>
                </a:solidFill>
                <a:latin typeface="Times New Roman" panose="02020603050405020304" pitchFamily="18" charset="0"/>
              </a:rPr>
              <a:t> UBND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gửi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báo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Sở</a:t>
            </a:r>
            <a:r>
              <a:rPr lang="en-US" sz="2400" dirty="0">
                <a:solidFill>
                  <a:srgbClr val="000000"/>
                </a:solidFill>
                <a:latin typeface="Times New Roman" panose="02020603050405020304" pitchFamily="18" charset="0"/>
              </a:rPr>
              <a:t> Tài </a:t>
            </a:r>
            <a:r>
              <a:rPr lang="en-US" sz="2400" dirty="0" err="1">
                <a:solidFill>
                  <a:srgbClr val="000000"/>
                </a:solidFill>
                <a:latin typeface="Times New Roman" panose="02020603050405020304" pitchFamily="18" charset="0"/>
              </a:rPr>
              <a:t>chính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để</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tổng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hợp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trình</a:t>
            </a:r>
            <a:r>
              <a:rPr lang="en-US" sz="2400" dirty="0">
                <a:solidFill>
                  <a:srgbClr val="000000"/>
                </a:solidFill>
                <a:latin typeface="Times New Roman" panose="02020603050405020304" pitchFamily="18" charset="0"/>
              </a:rPr>
              <a:t> UBND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tỉnh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xem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xét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hỗ</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từ</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tỉnh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năng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tỉnh</a:t>
            </a:r>
            <a:r>
              <a:rPr lang="en-US" sz="2400" dirty="0">
                <a:solidFill>
                  <a:srgbClr val="000000"/>
                </a:solidFill>
                <a:latin typeface="Times New Roman" panose="02020603050405020304" pitchFamily="18" charset="0"/>
              </a:rPr>
              <a:t>.</a:t>
            </a:r>
          </a:p>
          <a:p>
            <a:pPr algn="just"/>
            <a:endParaRPr lang="en-US"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42919073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9A466-46CD-8C87-1FE7-E5BEF1AF8E7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8788129-2757-8F13-6E83-5E25376D4BEF}"/>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3.3.2. CHẤP HÀNH DỰ TOÁN NGÂN SÁCH XÃ</a:t>
            </a:r>
          </a:p>
        </p:txBody>
      </p:sp>
      <p:sp>
        <p:nvSpPr>
          <p:cNvPr id="2" name="Text Placeholder 2">
            <a:extLst>
              <a:ext uri="{FF2B5EF4-FFF2-40B4-BE49-F238E27FC236}">
                <a16:creationId xmlns:a16="http://schemas.microsoft.com/office/drawing/2014/main" id="{18D0C44C-DA5F-457A-21E6-EA792447615C}"/>
              </a:ext>
            </a:extLst>
          </p:cNvPr>
          <p:cNvSpPr txBox="1">
            <a:spLocks/>
          </p:cNvSpPr>
          <p:nvPr/>
        </p:nvSpPr>
        <p:spPr>
          <a:xfrm>
            <a:off x="153842" y="1262308"/>
            <a:ext cx="11211781" cy="5060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b="1" dirty="0" err="1">
                <a:solidFill>
                  <a:srgbClr val="FF0000"/>
                </a:solidFill>
                <a:latin typeface="Times New Roman" panose="02020603050405020304" pitchFamily="18" charset="0"/>
                <a:cs typeface="Times New Roman" panose="02020603050405020304" pitchFamily="18" charset="0"/>
              </a:rPr>
              <a:t>Tổ</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chức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chấp</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hành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dự</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toán</a:t>
            </a:r>
            <a:r>
              <a:rPr lang="en-US" b="1" dirty="0">
                <a:solidFill>
                  <a:srgbClr val="FF0000"/>
                </a:solidFill>
                <a:latin typeface="Times New Roman" panose="02020603050405020304" pitchFamily="18" charset="0"/>
                <a:cs typeface="Times New Roman" panose="02020603050405020304" pitchFamily="18" charset="0"/>
              </a:rPr>
              <a:t> chi </a:t>
            </a:r>
          </a:p>
          <a:p>
            <a:pPr marL="0" indent="0">
              <a:buNone/>
            </a:pPr>
            <a:endParaRPr lang="en-US" sz="3200" dirty="0"/>
          </a:p>
        </p:txBody>
      </p:sp>
      <p:sp>
        <p:nvSpPr>
          <p:cNvPr id="5" name="TextBox 4">
            <a:extLst>
              <a:ext uri="{FF2B5EF4-FFF2-40B4-BE49-F238E27FC236}">
                <a16:creationId xmlns:a16="http://schemas.microsoft.com/office/drawing/2014/main" id="{C59F37AB-F3E6-0CE6-6AF4-186A64CD6183}"/>
              </a:ext>
            </a:extLst>
          </p:cNvPr>
          <p:cNvSpPr txBox="1"/>
          <p:nvPr/>
        </p:nvSpPr>
        <p:spPr>
          <a:xfrm>
            <a:off x="153842" y="1825329"/>
            <a:ext cx="12001500" cy="4893647"/>
          </a:xfrm>
          <a:prstGeom prst="rect">
            <a:avLst/>
          </a:prstGeom>
          <a:noFill/>
        </p:spPr>
        <p:txBody>
          <a:bodyPr wrap="square" rtlCol="0">
            <a:spAutoFit/>
          </a:bodyPr>
          <a:lstStyle/>
          <a:p>
            <a:pPr algn="just"/>
            <a:r>
              <a:rPr lang="en-US" sz="2400" b="1" i="1" dirty="0" err="1">
                <a:solidFill>
                  <a:srgbClr val="000000"/>
                </a:solidFill>
                <a:latin typeface="Times New Roman" panose="02020603050405020304" pitchFamily="18" charset="0"/>
              </a:rPr>
              <a:t>Dự</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phòng</a:t>
            </a:r>
            <a:r>
              <a:rPr lang="en-US" sz="2400" b="1" i="1" dirty="0">
                <a:solidFill>
                  <a:srgbClr val="000000"/>
                </a:solidFill>
                <a:latin typeface="Times New Roman" panose="02020603050405020304" pitchFamily="18" charset="0"/>
              </a:rPr>
              <a:t> NS </a:t>
            </a:r>
            <a:r>
              <a:rPr lang="en-US" sz="2400" b="1" i="1" dirty="0" err="1">
                <a:solidFill>
                  <a:srgbClr val="000000"/>
                </a:solidFill>
                <a:latin typeface="Times New Roman" panose="02020603050405020304" pitchFamily="18" charset="0"/>
              </a:rPr>
              <a:t>cấp</a:t>
            </a:r>
            <a:r>
              <a:rPr lang="en-US" sz="2400" b="1" i="1" dirty="0">
                <a:solidFill>
                  <a:srgbClr val="000000"/>
                </a:solidFill>
                <a:latin typeface="Times New Roman" panose="02020603050405020304" pitchFamily="18" charset="0"/>
              </a:rPr>
              <a:t> </a:t>
            </a:r>
            <a:r>
              <a:rPr lang="en-US" sz="2400" b="1" i="1" dirty="0" err="1">
                <a:solidFill>
                  <a:srgbClr val="000000"/>
                </a:solidFill>
                <a:latin typeface="Times New Roman" panose="02020603050405020304" pitchFamily="18" charset="0"/>
              </a:rPr>
              <a:t>xã</a:t>
            </a:r>
            <a:endParaRPr lang="en-US" sz="2400" b="1" i="1" dirty="0">
              <a:solidFill>
                <a:srgbClr val="000000"/>
              </a:solidFill>
              <a:latin typeface="Times New Roman" panose="02020603050405020304" pitchFamily="18" charset="0"/>
            </a:endParaRPr>
          </a:p>
          <a:p>
            <a:pPr algn="just"/>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Mức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bố</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phòng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từ</a:t>
            </a:r>
            <a:r>
              <a:rPr lang="en-US" sz="2400" dirty="0">
                <a:solidFill>
                  <a:srgbClr val="000000"/>
                </a:solidFill>
                <a:latin typeface="Times New Roman" panose="02020603050405020304" pitchFamily="18" charset="0"/>
              </a:rPr>
              <a:t> 2% </a:t>
            </a:r>
            <a:r>
              <a:rPr lang="en-US" sz="2400" dirty="0" err="1">
                <a:solidFill>
                  <a:srgbClr val="000000"/>
                </a:solidFill>
                <a:latin typeface="Times New Roman" panose="02020603050405020304" pitchFamily="18" charset="0"/>
              </a:rPr>
              <a:t>đến</a:t>
            </a:r>
            <a:r>
              <a:rPr lang="en-US" sz="2400" dirty="0">
                <a:solidFill>
                  <a:srgbClr val="000000"/>
                </a:solidFill>
                <a:latin typeface="Times New Roman" panose="02020603050405020304" pitchFamily="18" charset="0"/>
              </a:rPr>
              <a:t> 5% </a:t>
            </a:r>
            <a:r>
              <a:rPr lang="en-US" sz="2400" dirty="0" err="1">
                <a:solidFill>
                  <a:srgbClr val="000000"/>
                </a:solidFill>
                <a:latin typeface="Times New Roman" panose="02020603050405020304" pitchFamily="18" charset="0"/>
              </a:rPr>
              <a:t>tổng</a:t>
            </a:r>
            <a:r>
              <a:rPr lang="en-US" sz="2400" dirty="0">
                <a:solidFill>
                  <a:srgbClr val="000000"/>
                </a:solidFill>
                <a:latin typeface="Times New Roman" panose="02020603050405020304" pitchFamily="18" charset="0"/>
              </a:rPr>
              <a:t> chi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trong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đó</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không</a:t>
            </a:r>
            <a:r>
              <a:rPr lang="en-US" sz="2400" dirty="0">
                <a:solidFill>
                  <a:srgbClr val="000000"/>
                </a:solidFill>
                <a:latin typeface="Times New Roman" panose="02020603050405020304" pitchFamily="18" charset="0"/>
              </a:rPr>
              <a:t> bao </a:t>
            </a:r>
            <a:r>
              <a:rPr lang="en-US" sz="2400" dirty="0" err="1">
                <a:solidFill>
                  <a:srgbClr val="000000"/>
                </a:solidFill>
                <a:latin typeface="Times New Roman" panose="02020603050405020304" pitchFamily="18" charset="0"/>
              </a:rPr>
              <a:t>gồm</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bổ</a:t>
            </a:r>
            <a:r>
              <a:rPr lang="en-US" sz="2400" dirty="0">
                <a:solidFill>
                  <a:srgbClr val="000000"/>
                </a:solidFill>
                <a:latin typeface="Times New Roman" panose="02020603050405020304" pitchFamily="18" charset="0"/>
              </a:rPr>
              <a:t> sung </a:t>
            </a:r>
            <a:r>
              <a:rPr lang="en-US" sz="2400" dirty="0" err="1">
                <a:solidFill>
                  <a:srgbClr val="000000"/>
                </a:solidFill>
                <a:latin typeface="Times New Roman" panose="02020603050405020304" pitchFamily="18" charset="0"/>
              </a:rPr>
              <a:t>có</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mục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tiêu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từ</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tỉnh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nếu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có</a:t>
            </a:r>
            <a:r>
              <a:rPr lang="en-US" sz="2400" dirty="0">
                <a:solidFill>
                  <a:srgbClr val="000000"/>
                </a:solidFill>
                <a:latin typeface="Times New Roman" panose="02020603050405020304" pitchFamily="18" charset="0"/>
              </a:rPr>
              <a:t>).</a:t>
            </a:r>
          </a:p>
          <a:p>
            <a:pPr algn="just"/>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phòng</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dụng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để</a:t>
            </a:r>
            <a:r>
              <a:rPr lang="en-US" sz="2400" dirty="0">
                <a:solidFill>
                  <a:srgbClr val="000000"/>
                </a:solidFill>
                <a:latin typeface="Times New Roman" panose="02020603050405020304" pitchFamily="18" charset="0"/>
              </a:rPr>
              <a:t>:</a:t>
            </a:r>
          </a:p>
          <a:p>
            <a:pPr algn="just"/>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phòng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chống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khắc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phục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hậu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thiên</a:t>
            </a:r>
            <a:r>
              <a:rPr lang="en-US" sz="2400" dirty="0">
                <a:solidFill>
                  <a:srgbClr val="000000"/>
                </a:solidFill>
                <a:latin typeface="Times New Roman" panose="02020603050405020304" pitchFamily="18" charset="0"/>
              </a:rPr>
              <a:t> tai, </a:t>
            </a:r>
            <a:r>
              <a:rPr lang="en-US" sz="2400" dirty="0" err="1">
                <a:solidFill>
                  <a:srgbClr val="000000"/>
                </a:solidFill>
                <a:latin typeface="Times New Roman" panose="02020603050405020304" pitchFamily="18" charset="0"/>
              </a:rPr>
              <a:t>thảm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họa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dịch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bệnh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cứu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đói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nhiệm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vụ</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quan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trọng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về</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quốc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phòng</a:t>
            </a:r>
            <a:r>
              <a:rPr lang="en-US" sz="2400" dirty="0">
                <a:solidFill>
                  <a:srgbClr val="000000"/>
                </a:solidFill>
                <a:latin typeface="Times New Roman" panose="02020603050405020304" pitchFamily="18" charset="0"/>
              </a:rPr>
              <a:t>, an </a:t>
            </a:r>
            <a:r>
              <a:rPr lang="en-US" sz="2400" dirty="0" err="1">
                <a:solidFill>
                  <a:srgbClr val="000000"/>
                </a:solidFill>
                <a:latin typeface="Times New Roman" panose="02020603050405020304" pitchFamily="18" charset="0"/>
              </a:rPr>
              <a:t>ninh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nhiệm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vụ</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đối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ngoại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đột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xuất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bách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NN; chia </a:t>
            </a:r>
            <a:r>
              <a:rPr lang="en-US" sz="2400" dirty="0" err="1">
                <a:solidFill>
                  <a:srgbClr val="000000"/>
                </a:solidFill>
                <a:latin typeface="Times New Roman" panose="02020603050405020304" pitchFamily="18" charset="0"/>
              </a:rPr>
              <a:t>sẻ</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phần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giảm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doanh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đối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với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án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đầu</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tư</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phương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thức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đối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công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tư</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nhiệm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vụ</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cần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thiết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thuộc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nhiệm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vụ</a:t>
            </a:r>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mình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mà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chưa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được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toán</a:t>
            </a:r>
            <a:r>
              <a:rPr lang="en-US" sz="2400" dirty="0">
                <a:solidFill>
                  <a:srgbClr val="000000"/>
                </a:solidFill>
                <a:latin typeface="Times New Roman" panose="02020603050405020304" pitchFamily="18" charset="0"/>
              </a:rPr>
              <a:t>;</a:t>
            </a:r>
          </a:p>
          <a:p>
            <a:pPr algn="just"/>
            <a:r>
              <a:rPr lang="en-US" sz="2400" dirty="0">
                <a:solidFill>
                  <a:srgbClr val="000000"/>
                </a:solidFill>
                <a:latin typeface="Times New Roman" panose="02020603050405020304" pitchFamily="18" charset="0"/>
              </a:rPr>
              <a:t>+ Chi </a:t>
            </a:r>
            <a:r>
              <a:rPr lang="en-US" sz="2400" dirty="0" err="1">
                <a:solidFill>
                  <a:srgbClr val="000000"/>
                </a:solidFill>
                <a:latin typeface="Times New Roman" panose="02020603050405020304" pitchFamily="18" charset="0"/>
              </a:rPr>
              <a:t>hỗ</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phương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khác</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theo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điểm</a:t>
            </a:r>
            <a:r>
              <a:rPr lang="en-US" sz="2400" dirty="0">
                <a:solidFill>
                  <a:srgbClr val="000000"/>
                </a:solidFill>
                <a:latin typeface="Times New Roman" panose="02020603050405020304" pitchFamily="18" charset="0"/>
              </a:rPr>
              <a:t> c </a:t>
            </a:r>
            <a:r>
              <a:rPr lang="en-US" sz="2400" dirty="0" err="1">
                <a:solidFill>
                  <a:srgbClr val="000000"/>
                </a:solidFill>
                <a:latin typeface="Times New Roman" panose="02020603050405020304" pitchFamily="18" charset="0"/>
              </a:rPr>
              <a:t>khoản</a:t>
            </a:r>
            <a:r>
              <a:rPr lang="en-US" sz="2400" dirty="0">
                <a:solidFill>
                  <a:srgbClr val="000000"/>
                </a:solidFill>
                <a:latin typeface="Times New Roman" panose="02020603050405020304" pitchFamily="18" charset="0"/>
              </a:rPr>
              <a:t> 5 </a:t>
            </a:r>
            <a:r>
              <a:rPr lang="en-US" sz="2400" dirty="0" err="1">
                <a:solidFill>
                  <a:srgbClr val="000000"/>
                </a:solidFill>
                <a:latin typeface="Times New Roman" panose="02020603050405020304" pitchFamily="18" charset="0"/>
              </a:rPr>
              <a:t>Điều</a:t>
            </a:r>
            <a:r>
              <a:rPr lang="en-US" sz="2400" dirty="0">
                <a:solidFill>
                  <a:srgbClr val="000000"/>
                </a:solidFill>
                <a:latin typeface="Times New Roman" panose="02020603050405020304" pitchFamily="18" charset="0"/>
              </a:rPr>
              <a:t> 9 </a:t>
            </a:r>
            <a:r>
              <a:rPr lang="en-US" sz="2400" dirty="0" err="1">
                <a:solidFill>
                  <a:srgbClr val="000000"/>
                </a:solidFill>
                <a:latin typeface="Times New Roman" panose="02020603050405020304" pitchFamily="18" charset="0"/>
              </a:rPr>
              <a:t>của</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Luật</a:t>
            </a:r>
            <a:r>
              <a:rPr lang="en-US" sz="2400" dirty="0">
                <a:solidFill>
                  <a:srgbClr val="000000"/>
                </a:solidFill>
                <a:latin typeface="Times New Roman" panose="02020603050405020304" pitchFamily="18" charset="0"/>
              </a:rPr>
              <a:t> NSNN 2025.</a:t>
            </a:r>
          </a:p>
          <a:p>
            <a:pPr algn="just"/>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Thẩm</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quyền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dụng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phòng</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UBND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xã</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quyết</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định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sử</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dụng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dự</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phòng</a:t>
            </a:r>
            <a:r>
              <a:rPr lang="en-US" sz="2400" dirty="0">
                <a:solidFill>
                  <a:srgbClr val="000000"/>
                </a:solidFill>
                <a:latin typeface="Times New Roman" panose="02020603050405020304" pitchFamily="18" charset="0"/>
              </a:rPr>
              <a:t> NS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mình</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báo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thường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trực</a:t>
            </a:r>
            <a:r>
              <a:rPr lang="en-US" sz="2400" dirty="0">
                <a:solidFill>
                  <a:srgbClr val="000000"/>
                </a:solidFill>
                <a:latin typeface="Times New Roman" panose="02020603050405020304" pitchFamily="18" charset="0"/>
              </a:rPr>
              <a:t> HĐND </a:t>
            </a:r>
            <a:r>
              <a:rPr lang="en-US" sz="2400" dirty="0" err="1">
                <a:solidFill>
                  <a:srgbClr val="000000"/>
                </a:solidFill>
                <a:latin typeface="Times New Roman" panose="02020603050405020304" pitchFamily="18" charset="0"/>
              </a:rPr>
              <a:t>và</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báo</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cáo</a:t>
            </a:r>
            <a:r>
              <a:rPr lang="en-US" sz="2400" dirty="0">
                <a:solidFill>
                  <a:srgbClr val="000000"/>
                </a:solidFill>
                <a:latin typeface="Times New Roman" panose="02020603050405020304" pitchFamily="18" charset="0"/>
              </a:rPr>
              <a:t> HĐND </a:t>
            </a:r>
            <a:r>
              <a:rPr lang="en-US" sz="2400" dirty="0" err="1">
                <a:solidFill>
                  <a:srgbClr val="000000"/>
                </a:solidFill>
                <a:latin typeface="Times New Roman" panose="02020603050405020304" pitchFamily="18" charset="0"/>
              </a:rPr>
              <a:t>cùng</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cấp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tại</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kỳ</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họp</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gần</a:t>
            </a:r>
            <a:r>
              <a:rPr lang="en-US" sz="2400" dirty="0">
                <a:solidFill>
                  <a:srgbClr val="000000"/>
                </a:solidFill>
                <a:latin typeface="Times New Roman" panose="02020603050405020304" pitchFamily="18" charset="0"/>
              </a:rPr>
              <a:t> </a:t>
            </a:r>
            <a:r>
              <a:rPr lang="en-US" sz="2400" dirty="0" err="1">
                <a:solidFill>
                  <a:srgbClr val="000000"/>
                </a:solidFill>
                <a:latin typeface="Times New Roman" panose="02020603050405020304" pitchFamily="18" charset="0"/>
              </a:rPr>
              <a:t>nhất</a:t>
            </a:r>
            <a:r>
              <a:rPr lang="en-US" sz="2400" dirty="0">
                <a:solidFill>
                  <a:srgbClr val="000000"/>
                </a:solidFill>
                <a:latin typeface="Times New Roman" panose="02020603050405020304" pitchFamily="18" charset="0"/>
              </a:rPr>
              <a:t>.</a:t>
            </a:r>
          </a:p>
          <a:p>
            <a:pPr algn="just"/>
            <a:endParaRPr lang="en-US"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40987764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F7A1C-51C9-EBB2-6960-BDEED8312C8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48E3BE8-C5CE-4087-F7BF-EB25D59C1A9F}"/>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3.3.3. QUYẾT TOÁN NGÂN SÁCH XÃ</a:t>
            </a:r>
          </a:p>
        </p:txBody>
      </p:sp>
      <p:graphicFrame>
        <p:nvGraphicFramePr>
          <p:cNvPr id="6" name="Content Placeholder 2">
            <a:extLst>
              <a:ext uri="{FF2B5EF4-FFF2-40B4-BE49-F238E27FC236}">
                <a16:creationId xmlns:a16="http://schemas.microsoft.com/office/drawing/2014/main" id="{B26A132A-F4E9-0D2D-49AA-12FFCB12DC5B}"/>
              </a:ext>
            </a:extLst>
          </p:cNvPr>
          <p:cNvGraphicFramePr>
            <a:graphicFrameLocks/>
          </p:cNvGraphicFramePr>
          <p:nvPr>
            <p:extLst>
              <p:ext uri="{D42A27DB-BD31-4B8C-83A1-F6EECF244321}">
                <p14:modId xmlns:p14="http://schemas.microsoft.com/office/powerpoint/2010/main" val="3703502488"/>
              </p:ext>
            </p:extLst>
          </p:nvPr>
        </p:nvGraphicFramePr>
        <p:xfrm>
          <a:off x="182881" y="1443159"/>
          <a:ext cx="11855394" cy="46992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21552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graphicEl>
                                              <a:dgm id="{80A265B4-435B-40B1-A683-11C6906BCAED}"/>
                                            </p:graphicEl>
                                          </p:spTgt>
                                        </p:tgtEl>
                                        <p:attrNameLst>
                                          <p:attrName>style.visibility</p:attrName>
                                        </p:attrNameLst>
                                      </p:cBhvr>
                                      <p:to>
                                        <p:strVal val="visible"/>
                                      </p:to>
                                    </p:set>
                                    <p:anim calcmode="lin" valueType="num">
                                      <p:cBhvr additive="base">
                                        <p:cTn id="7" dur="500" fill="hold"/>
                                        <p:tgtEl>
                                          <p:spTgt spid="6">
                                            <p:graphicEl>
                                              <a:dgm id="{80A265B4-435B-40B1-A683-11C6906BCAED}"/>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graphicEl>
                                              <a:dgm id="{80A265B4-435B-40B1-A683-11C6906BCAED}"/>
                                            </p:graphic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graphicEl>
                                              <a:dgm id="{1EB16B41-C793-4899-849E-97E82A7D139B}"/>
                                            </p:graphicEl>
                                          </p:spTgt>
                                        </p:tgtEl>
                                        <p:attrNameLst>
                                          <p:attrName>style.visibility</p:attrName>
                                        </p:attrNameLst>
                                      </p:cBhvr>
                                      <p:to>
                                        <p:strVal val="visible"/>
                                      </p:to>
                                    </p:set>
                                    <p:anim calcmode="lin" valueType="num">
                                      <p:cBhvr additive="base">
                                        <p:cTn id="11" dur="500" fill="hold"/>
                                        <p:tgtEl>
                                          <p:spTgt spid="6">
                                            <p:graphicEl>
                                              <a:dgm id="{1EB16B41-C793-4899-849E-97E82A7D139B}"/>
                                            </p:graphic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
                                            <p:graphicEl>
                                              <a:dgm id="{1EB16B41-C793-4899-849E-97E82A7D139B}"/>
                                            </p:graphic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
                                            <p:graphicEl>
                                              <a:dgm id="{72EBE424-3005-4DC3-AA5E-DDA3E8B1CD67}"/>
                                            </p:graphicEl>
                                          </p:spTgt>
                                        </p:tgtEl>
                                        <p:attrNameLst>
                                          <p:attrName>style.visibility</p:attrName>
                                        </p:attrNameLst>
                                      </p:cBhvr>
                                      <p:to>
                                        <p:strVal val="visible"/>
                                      </p:to>
                                    </p:set>
                                    <p:anim calcmode="lin" valueType="num">
                                      <p:cBhvr additive="base">
                                        <p:cTn id="15" dur="500" fill="hold"/>
                                        <p:tgtEl>
                                          <p:spTgt spid="6">
                                            <p:graphicEl>
                                              <a:dgm id="{72EBE424-3005-4DC3-AA5E-DDA3E8B1CD67}"/>
                                            </p:graphic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
                                            <p:graphicEl>
                                              <a:dgm id="{72EBE424-3005-4DC3-AA5E-DDA3E8B1CD67}"/>
                                            </p:graphic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6">
                                            <p:graphicEl>
                                              <a:dgm id="{26CC5F90-D168-431F-8A51-D755454C4C27}"/>
                                            </p:graphicEl>
                                          </p:spTgt>
                                        </p:tgtEl>
                                        <p:attrNameLst>
                                          <p:attrName>style.visibility</p:attrName>
                                        </p:attrNameLst>
                                      </p:cBhvr>
                                      <p:to>
                                        <p:strVal val="visible"/>
                                      </p:to>
                                    </p:set>
                                    <p:anim calcmode="lin" valueType="num">
                                      <p:cBhvr additive="base">
                                        <p:cTn id="21" dur="500" fill="hold"/>
                                        <p:tgtEl>
                                          <p:spTgt spid="6">
                                            <p:graphicEl>
                                              <a:dgm id="{26CC5F90-D168-431F-8A51-D755454C4C27}"/>
                                            </p:graphic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6">
                                            <p:graphicEl>
                                              <a:dgm id="{26CC5F90-D168-431F-8A51-D755454C4C27}"/>
                                            </p:graphic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6">
                                            <p:graphicEl>
                                              <a:dgm id="{6568DDD7-A85E-4304-9F9D-4B62FEC31870}"/>
                                            </p:graphicEl>
                                          </p:spTgt>
                                        </p:tgtEl>
                                        <p:attrNameLst>
                                          <p:attrName>style.visibility</p:attrName>
                                        </p:attrNameLst>
                                      </p:cBhvr>
                                      <p:to>
                                        <p:strVal val="visible"/>
                                      </p:to>
                                    </p:set>
                                    <p:anim calcmode="lin" valueType="num">
                                      <p:cBhvr additive="base">
                                        <p:cTn id="25" dur="500" fill="hold"/>
                                        <p:tgtEl>
                                          <p:spTgt spid="6">
                                            <p:graphicEl>
                                              <a:dgm id="{6568DDD7-A85E-4304-9F9D-4B62FEC31870}"/>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
                                            <p:graphicEl>
                                              <a:dgm id="{6568DDD7-A85E-4304-9F9D-4B62FEC31870}"/>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
                                            <p:graphicEl>
                                              <a:dgm id="{169A11C5-97A5-44EB-B004-FDF7BD71A394}"/>
                                            </p:graphicEl>
                                          </p:spTgt>
                                        </p:tgtEl>
                                        <p:attrNameLst>
                                          <p:attrName>style.visibility</p:attrName>
                                        </p:attrNameLst>
                                      </p:cBhvr>
                                      <p:to>
                                        <p:strVal val="visible"/>
                                      </p:to>
                                    </p:set>
                                    <p:anim calcmode="lin" valueType="num">
                                      <p:cBhvr additive="base">
                                        <p:cTn id="31" dur="500" fill="hold"/>
                                        <p:tgtEl>
                                          <p:spTgt spid="6">
                                            <p:graphicEl>
                                              <a:dgm id="{169A11C5-97A5-44EB-B004-FDF7BD71A394}"/>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
                                            <p:graphicEl>
                                              <a:dgm id="{169A11C5-97A5-44EB-B004-FDF7BD71A394}"/>
                                            </p:graphic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6">
                                            <p:graphicEl>
                                              <a:dgm id="{F6230DD9-7938-4AD6-8828-032FA64851A5}"/>
                                            </p:graphicEl>
                                          </p:spTgt>
                                        </p:tgtEl>
                                        <p:attrNameLst>
                                          <p:attrName>style.visibility</p:attrName>
                                        </p:attrNameLst>
                                      </p:cBhvr>
                                      <p:to>
                                        <p:strVal val="visible"/>
                                      </p:to>
                                    </p:set>
                                    <p:anim calcmode="lin" valueType="num">
                                      <p:cBhvr additive="base">
                                        <p:cTn id="35" dur="500" fill="hold"/>
                                        <p:tgtEl>
                                          <p:spTgt spid="6">
                                            <p:graphicEl>
                                              <a:dgm id="{F6230DD9-7938-4AD6-8828-032FA64851A5}"/>
                                            </p:graphic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6">
                                            <p:graphicEl>
                                              <a:dgm id="{F6230DD9-7938-4AD6-8828-032FA64851A5}"/>
                                            </p:graphic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6">
                                            <p:graphicEl>
                                              <a:dgm id="{204BA2A8-2460-4192-9F58-2B637CBDB6AD}"/>
                                            </p:graphicEl>
                                          </p:spTgt>
                                        </p:tgtEl>
                                        <p:attrNameLst>
                                          <p:attrName>style.visibility</p:attrName>
                                        </p:attrNameLst>
                                      </p:cBhvr>
                                      <p:to>
                                        <p:strVal val="visible"/>
                                      </p:to>
                                    </p:set>
                                    <p:anim calcmode="lin" valueType="num">
                                      <p:cBhvr additive="base">
                                        <p:cTn id="41" dur="500" fill="hold"/>
                                        <p:tgtEl>
                                          <p:spTgt spid="6">
                                            <p:graphicEl>
                                              <a:dgm id="{204BA2A8-2460-4192-9F58-2B637CBDB6AD}"/>
                                            </p:graphic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6">
                                            <p:graphicEl>
                                              <a:dgm id="{204BA2A8-2460-4192-9F58-2B637CBDB6AD}"/>
                                            </p:graphicEl>
                                          </p:spTgt>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6">
                                            <p:graphicEl>
                                              <a:dgm id="{36FFEA02-8E29-423D-AEBC-66F184D73AE1}"/>
                                            </p:graphicEl>
                                          </p:spTgt>
                                        </p:tgtEl>
                                        <p:attrNameLst>
                                          <p:attrName>style.visibility</p:attrName>
                                        </p:attrNameLst>
                                      </p:cBhvr>
                                      <p:to>
                                        <p:strVal val="visible"/>
                                      </p:to>
                                    </p:set>
                                    <p:anim calcmode="lin" valueType="num">
                                      <p:cBhvr additive="base">
                                        <p:cTn id="45" dur="500" fill="hold"/>
                                        <p:tgtEl>
                                          <p:spTgt spid="6">
                                            <p:graphicEl>
                                              <a:dgm id="{36FFEA02-8E29-423D-AEBC-66F184D73AE1}"/>
                                            </p:graphic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6">
                                            <p:graphicEl>
                                              <a:dgm id="{36FFEA02-8E29-423D-AEBC-66F184D73AE1}"/>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6A83B-18E6-C29A-C285-CD17352F5C7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EB11549-51D6-8F7D-9E7C-31577ACDA857}"/>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3.3.3. QUYẾT TOÁN NGÂN SÁCH XÃ</a:t>
            </a:r>
          </a:p>
        </p:txBody>
      </p:sp>
      <p:sp>
        <p:nvSpPr>
          <p:cNvPr id="2" name="Text Placeholder 3">
            <a:extLst>
              <a:ext uri="{FF2B5EF4-FFF2-40B4-BE49-F238E27FC236}">
                <a16:creationId xmlns:a16="http://schemas.microsoft.com/office/drawing/2014/main" id="{F7EA2091-798A-54DD-271D-8C0865A01A03}"/>
              </a:ext>
            </a:extLst>
          </p:cNvPr>
          <p:cNvSpPr txBox="1">
            <a:spLocks/>
          </p:cNvSpPr>
          <p:nvPr/>
        </p:nvSpPr>
        <p:spPr>
          <a:xfrm>
            <a:off x="386563" y="1297323"/>
            <a:ext cx="7994112" cy="793867"/>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Khái</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niệm</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vi-VN"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quyết toán NSX</a:t>
            </a:r>
            <a:endParaRPr lang="vi-VN" sz="3200" b="1" i="1" dirty="0">
              <a:solidFill>
                <a:srgbClr val="FF0000"/>
              </a:solidFill>
              <a:latin typeface="+mj-lt"/>
            </a:endParaRPr>
          </a:p>
        </p:txBody>
      </p:sp>
      <p:sp>
        <p:nvSpPr>
          <p:cNvPr id="6" name="TextBox 5">
            <a:extLst>
              <a:ext uri="{FF2B5EF4-FFF2-40B4-BE49-F238E27FC236}">
                <a16:creationId xmlns:a16="http://schemas.microsoft.com/office/drawing/2014/main" id="{4EE18AD4-BC8B-65D5-3980-32B7C3779861}"/>
              </a:ext>
            </a:extLst>
          </p:cNvPr>
          <p:cNvSpPr txBox="1"/>
          <p:nvPr/>
        </p:nvSpPr>
        <p:spPr>
          <a:xfrm>
            <a:off x="386563" y="2379764"/>
            <a:ext cx="11191148" cy="2241960"/>
          </a:xfrm>
          <a:prstGeom prst="rect">
            <a:avLst/>
          </a:prstGeom>
          <a:noFill/>
        </p:spPr>
        <p:txBody>
          <a:bodyPr wrap="square">
            <a:spAutoFit/>
          </a:bodyPr>
          <a:lstStyle/>
          <a:p>
            <a:pPr marL="0" indent="0" algn="just">
              <a:lnSpc>
                <a:spcPct val="150000"/>
              </a:lnSpc>
              <a:buNone/>
            </a:pPr>
            <a:r>
              <a:rPr lang="vi-VN" sz="2400" b="1" i="1" dirty="0">
                <a:latin typeface="Times New Roman" panose="02020603050405020304" pitchFamily="18" charset="0"/>
                <a:cs typeface="Times New Roman" panose="02020603050405020304" pitchFamily="18" charset="0"/>
              </a:rPr>
              <a:t>Quyết toán ngân sách </a:t>
            </a:r>
            <a:r>
              <a:rPr lang="en-US" sz="2400" b="1" i="1" dirty="0" err="1">
                <a:latin typeface="Times New Roman" panose="02020603050405020304" pitchFamily="18" charset="0"/>
                <a:cs typeface="Times New Roman" panose="02020603050405020304" pitchFamily="18" charset="0"/>
              </a:rPr>
              <a:t>xã</a:t>
            </a:r>
            <a:r>
              <a:rPr lang="vi-VN" sz="2400" b="1" i="1" dirty="0">
                <a:latin typeface="Times New Roman" panose="02020603050405020304" pitchFamily="18" charset="0"/>
                <a:cs typeface="Times New Roman" panose="02020603050405020304" pitchFamily="18" charset="0"/>
              </a:rPr>
              <a:t> là việc tổng kết, đánh giá việc thực hiện ngân sách </a:t>
            </a:r>
            <a:r>
              <a:rPr lang="en-US" sz="2400" b="1" i="1" dirty="0">
                <a:latin typeface="Times New Roman" panose="02020603050405020304" pitchFamily="18" charset="0"/>
                <a:cs typeface="Times New Roman" panose="02020603050405020304" pitchFamily="18" charset="0"/>
              </a:rPr>
              <a:t>NS </a:t>
            </a:r>
            <a:r>
              <a:rPr lang="en-US" sz="2400" b="1" i="1" dirty="0" err="1">
                <a:latin typeface="Times New Roman" panose="02020603050405020304" pitchFamily="18" charset="0"/>
                <a:cs typeface="Times New Roman" panose="02020603050405020304" pitchFamily="18" charset="0"/>
              </a:rPr>
              <a:t>xã</a:t>
            </a:r>
            <a:r>
              <a:rPr lang="vi-VN" sz="2400" b="1" i="1" dirty="0">
                <a:latin typeface="Times New Roman" panose="02020603050405020304" pitchFamily="18" charset="0"/>
                <a:cs typeface="Times New Roman" panose="02020603050405020304" pitchFamily="18" charset="0"/>
              </a:rPr>
              <a:t>, cũng như xem xét trách nhiệm pháp lý của các cơ quan nhà nước khi sử dụng nguồn lực tài chính quốc gia để thực hiện các chức năng nhiệm vụ của nhà nước</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tại</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xã</a:t>
            </a:r>
            <a:r>
              <a:rPr lang="vi-VN" sz="2400" b="1" i="1" dirty="0">
                <a:latin typeface="Times New Roman" panose="02020603050405020304" pitchFamily="18" charset="0"/>
                <a:cs typeface="Times New Roman" panose="02020603050405020304" pitchFamily="18" charset="0"/>
              </a:rPr>
              <a:t> trong một thời gian nhất định, được cơ quan cơ quan có thẩm quyền phê chuẩn.</a:t>
            </a:r>
          </a:p>
        </p:txBody>
      </p:sp>
    </p:spTree>
    <p:extLst>
      <p:ext uri="{BB962C8B-B14F-4D97-AF65-F5344CB8AC3E}">
        <p14:creationId xmlns:p14="http://schemas.microsoft.com/office/powerpoint/2010/main" val="24341455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9FF2A-9BDB-5572-167E-1C3126187B9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3C6B3AB-2837-4257-60D3-BE941B6A4204}"/>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3.3.3. QUYẾT TOÁN NGÂN SÁCH XÃ</a:t>
            </a:r>
          </a:p>
        </p:txBody>
      </p:sp>
      <p:sp>
        <p:nvSpPr>
          <p:cNvPr id="2" name="Text Placeholder 3">
            <a:extLst>
              <a:ext uri="{FF2B5EF4-FFF2-40B4-BE49-F238E27FC236}">
                <a16:creationId xmlns:a16="http://schemas.microsoft.com/office/drawing/2014/main" id="{43533156-1781-D47A-CD68-B6207121B116}"/>
              </a:ext>
            </a:extLst>
          </p:cNvPr>
          <p:cNvSpPr txBox="1">
            <a:spLocks/>
          </p:cNvSpPr>
          <p:nvPr/>
        </p:nvSpPr>
        <p:spPr>
          <a:xfrm>
            <a:off x="386563" y="1297323"/>
            <a:ext cx="7994112" cy="793867"/>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Yêu</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cầu</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vi-VN"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quyết toán NSX</a:t>
            </a:r>
            <a:endParaRPr lang="vi-VN" sz="3200" b="1" i="1" dirty="0">
              <a:solidFill>
                <a:srgbClr val="FF0000"/>
              </a:solidFill>
              <a:latin typeface="+mj-lt"/>
            </a:endParaRPr>
          </a:p>
        </p:txBody>
      </p:sp>
      <p:sp>
        <p:nvSpPr>
          <p:cNvPr id="6" name="TextBox 5">
            <a:extLst>
              <a:ext uri="{FF2B5EF4-FFF2-40B4-BE49-F238E27FC236}">
                <a16:creationId xmlns:a16="http://schemas.microsoft.com/office/drawing/2014/main" id="{E1342BA7-A2FE-D3F4-A882-61F969798516}"/>
              </a:ext>
            </a:extLst>
          </p:cNvPr>
          <p:cNvSpPr txBox="1"/>
          <p:nvPr/>
        </p:nvSpPr>
        <p:spPr>
          <a:xfrm>
            <a:off x="386563" y="1943665"/>
            <a:ext cx="11191148" cy="3903954"/>
          </a:xfrm>
          <a:prstGeom prst="rect">
            <a:avLst/>
          </a:prstGeom>
          <a:noFill/>
        </p:spPr>
        <p:txBody>
          <a:bodyPr wrap="square">
            <a:spAutoFit/>
          </a:bodyPr>
          <a:lstStyle/>
          <a:p>
            <a:pPr marL="342900" indent="-342900" algn="just">
              <a:lnSpc>
                <a:spcPct val="150000"/>
              </a:lnSpc>
              <a:buFontTx/>
              <a:buChar char="-"/>
            </a:pP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đủ</a:t>
            </a:r>
            <a:endParaRPr lang="en-US" sz="2400" dirty="0">
              <a:latin typeface="Times New Roman" panose="02020603050405020304" pitchFamily="18" charset="0"/>
              <a:cs typeface="Times New Roman" panose="02020603050405020304" pitchFamily="18" charset="0"/>
            </a:endParaRPr>
          </a:p>
          <a:p>
            <a:pPr marL="342900" indent="-342900" algn="just">
              <a:lnSpc>
                <a:spcPct val="150000"/>
              </a:lnSpc>
              <a:buFontTx/>
              <a:buChar char="-"/>
            </a:pP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Các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trước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nộp</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năm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năm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đã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đã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a:t>
            </a:r>
          </a:p>
          <a:p>
            <a:pPr marL="342900" indent="-342900" algn="just">
              <a:lnSpc>
                <a:spcPct val="150000"/>
              </a:lnSpc>
              <a:buFontTx/>
              <a:buChar char="-"/>
            </a:pP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chiếu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KBNN.</a:t>
            </a: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23642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1B4B7-95C5-1CF4-2673-C404B7BBF5D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6896D01-4468-4EA2-1C78-71399853738E}"/>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3.3.3. QUYẾT TOÁN NGÂN SÁCH XÃ</a:t>
            </a:r>
          </a:p>
        </p:txBody>
      </p:sp>
      <p:sp>
        <p:nvSpPr>
          <p:cNvPr id="2" name="Text Placeholder 3">
            <a:extLst>
              <a:ext uri="{FF2B5EF4-FFF2-40B4-BE49-F238E27FC236}">
                <a16:creationId xmlns:a16="http://schemas.microsoft.com/office/drawing/2014/main" id="{B8A2C7C3-9455-B89C-6369-42704536A7D7}"/>
              </a:ext>
            </a:extLst>
          </p:cNvPr>
          <p:cNvSpPr txBox="1">
            <a:spLocks/>
          </p:cNvSpPr>
          <p:nvPr/>
        </p:nvSpPr>
        <p:spPr>
          <a:xfrm>
            <a:off x="386563" y="1297323"/>
            <a:ext cx="7994112" cy="793867"/>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Yêu</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cầu</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vi-VN"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quyết toán NSX</a:t>
            </a:r>
            <a:endParaRPr lang="vi-VN" sz="3200" b="1" i="1" dirty="0">
              <a:solidFill>
                <a:srgbClr val="FF0000"/>
              </a:solidFill>
              <a:latin typeface="+mj-lt"/>
            </a:endParaRPr>
          </a:p>
        </p:txBody>
      </p:sp>
      <p:sp>
        <p:nvSpPr>
          <p:cNvPr id="6" name="TextBox 5">
            <a:extLst>
              <a:ext uri="{FF2B5EF4-FFF2-40B4-BE49-F238E27FC236}">
                <a16:creationId xmlns:a16="http://schemas.microsoft.com/office/drawing/2014/main" id="{80251815-A94F-2503-639F-F98D001D441E}"/>
              </a:ext>
            </a:extLst>
          </p:cNvPr>
          <p:cNvSpPr txBox="1"/>
          <p:nvPr/>
        </p:nvSpPr>
        <p:spPr>
          <a:xfrm>
            <a:off x="386563" y="1943665"/>
            <a:ext cx="11191148" cy="4457952"/>
          </a:xfrm>
          <a:prstGeom prst="rect">
            <a:avLst/>
          </a:prstGeom>
          <a:noFill/>
        </p:spPr>
        <p:txBody>
          <a:bodyPr wrap="square">
            <a:spAutoFit/>
          </a:bodyPr>
          <a:lstStyle/>
          <a:p>
            <a:pPr marL="342900" indent="-342900" algn="just">
              <a:lnSpc>
                <a:spcPct val="150000"/>
              </a:lnSpc>
              <a:buFontTx/>
              <a:buChar char="-"/>
            </a:pPr>
            <a:r>
              <a:rPr lang="en-US" sz="2400" dirty="0" err="1">
                <a:latin typeface="Times New Roman" panose="02020603050405020304" pitchFamily="18" charset="0"/>
                <a:cs typeface="Times New Roman" panose="02020603050405020304" pitchFamily="18" charset="0"/>
              </a:rPr>
              <a:t>Nội</a:t>
            </a:r>
            <a:r>
              <a:rPr lang="en-US" sz="2400" dirty="0">
                <a:latin typeface="Times New Roman" panose="02020603050405020304" pitchFamily="18" charset="0"/>
                <a:cs typeface="Times New Roman" panose="02020603050405020304" pitchFamily="18" charset="0"/>
              </a:rPr>
              <a:t> dung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đúng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nội</a:t>
            </a:r>
            <a:r>
              <a:rPr lang="en-US" sz="2400" dirty="0">
                <a:latin typeface="Times New Roman" panose="02020603050405020304" pitchFamily="18" charset="0"/>
                <a:cs typeface="Times New Roman" panose="02020603050405020304" pitchFamily="18" charset="0"/>
              </a:rPr>
              <a:t> dung </a:t>
            </a:r>
            <a:r>
              <a:rPr lang="en-US" sz="2400" dirty="0" err="1">
                <a:latin typeface="Times New Roman" panose="02020603050405020304" pitchFamily="18" charset="0"/>
                <a:cs typeface="Times New Roman" panose="02020603050405020304" pitchFamily="18" charset="0"/>
              </a:rPr>
              <a:t>ghi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lục</a:t>
            </a:r>
            <a:r>
              <a:rPr lang="en-US" sz="2400" dirty="0">
                <a:latin typeface="Times New Roman" panose="02020603050405020304" pitchFamily="18" charset="0"/>
                <a:cs typeface="Times New Roman" panose="02020603050405020304" pitchFamily="18" charset="0"/>
              </a:rPr>
              <a:t> NSNN; chi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a:t>
            </a:r>
          </a:p>
          <a:p>
            <a:pPr marL="342900" indent="-342900" algn="just">
              <a:lnSpc>
                <a:spcPct val="150000"/>
              </a:lnSpc>
              <a:buFontTx/>
              <a:buChar char="-"/>
            </a:pPr>
            <a:r>
              <a:rPr lang="en-US" sz="2400" dirty="0">
                <a:latin typeface="Times New Roman" panose="02020603050405020304" pitchFamily="18" charset="0"/>
                <a:cs typeface="Times New Roman" panose="02020603050405020304" pitchFamily="18" charset="0"/>
              </a:rPr>
              <a:t>Báo </a:t>
            </a:r>
            <a:r>
              <a:rPr lang="en-US" sz="2400" dirty="0" err="1">
                <a:latin typeface="Times New Roman" panose="02020603050405020304" pitchFamily="18" charset="0"/>
                <a:cs typeface="Times New Roman" panose="02020603050405020304" pitchFamily="18" charset="0"/>
              </a:rPr>
              <a:t>cáo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lớn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a:t>
            </a:r>
          </a:p>
          <a:p>
            <a:pPr marL="342900" indent="-342900" algn="just">
              <a:lnSpc>
                <a:spcPct val="150000"/>
              </a:lnSpc>
              <a:buFontTx/>
              <a:buChar char="-"/>
            </a:pPr>
            <a:r>
              <a:rPr lang="en-US" sz="2400" dirty="0">
                <a:latin typeface="Times New Roman" panose="02020603050405020304" pitchFamily="18" charset="0"/>
                <a:cs typeface="Times New Roman" panose="02020603050405020304" pitchFamily="18" charset="0"/>
              </a:rPr>
              <a:t>Báo </a:t>
            </a:r>
            <a:r>
              <a:rPr lang="en-US" sz="2400" dirty="0" err="1">
                <a:latin typeface="Times New Roman" panose="02020603050405020304" pitchFamily="18" charset="0"/>
                <a:cs typeface="Times New Roman" panose="02020603050405020304" pitchFamily="18" charset="0"/>
              </a:rPr>
              <a:t>cáo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kèm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đánh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gắn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lĩnh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trách</a:t>
            </a:r>
            <a:r>
              <a:rPr lang="en-US" sz="2400" dirty="0">
                <a:latin typeface="Times New Roman" panose="02020603050405020304" pitchFamily="18" charset="0"/>
                <a:cs typeface="Times New Roman" panose="02020603050405020304" pitchFamily="18" charset="0"/>
              </a:rPr>
              <a:t>.</a:t>
            </a: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3602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7035E-1265-6383-764F-6DAD92DC1AD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758F383-5975-6B67-A19C-91B3D938F4D1}"/>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3.3.3. QUYẾT TOÁN NGÂN SÁCH XÃ</a:t>
            </a:r>
          </a:p>
        </p:txBody>
      </p:sp>
      <p:sp>
        <p:nvSpPr>
          <p:cNvPr id="2" name="Text Placeholder 3">
            <a:extLst>
              <a:ext uri="{FF2B5EF4-FFF2-40B4-BE49-F238E27FC236}">
                <a16:creationId xmlns:a16="http://schemas.microsoft.com/office/drawing/2014/main" id="{AAD8EB25-D5AF-1CFD-159E-419F16768CD2}"/>
              </a:ext>
            </a:extLst>
          </p:cNvPr>
          <p:cNvSpPr txBox="1">
            <a:spLocks/>
          </p:cNvSpPr>
          <p:nvPr/>
        </p:nvSpPr>
        <p:spPr>
          <a:xfrm>
            <a:off x="386563" y="1297323"/>
            <a:ext cx="7994112" cy="793867"/>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Yêu</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cầu</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vi-VN"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quyết toán NSX</a:t>
            </a:r>
            <a:endParaRPr lang="vi-VN" sz="3200" b="1" i="1" dirty="0">
              <a:solidFill>
                <a:srgbClr val="FF0000"/>
              </a:solidFill>
              <a:latin typeface="+mj-lt"/>
            </a:endParaRPr>
          </a:p>
        </p:txBody>
      </p:sp>
      <p:sp>
        <p:nvSpPr>
          <p:cNvPr id="6" name="TextBox 5">
            <a:extLst>
              <a:ext uri="{FF2B5EF4-FFF2-40B4-BE49-F238E27FC236}">
                <a16:creationId xmlns:a16="http://schemas.microsoft.com/office/drawing/2014/main" id="{07264CD0-C698-4905-C59E-304931581A5E}"/>
              </a:ext>
            </a:extLst>
          </p:cNvPr>
          <p:cNvSpPr txBox="1"/>
          <p:nvPr/>
        </p:nvSpPr>
        <p:spPr>
          <a:xfrm>
            <a:off x="386563" y="1943665"/>
            <a:ext cx="11191148" cy="2795958"/>
          </a:xfrm>
          <a:prstGeom prst="rect">
            <a:avLst/>
          </a:prstGeom>
          <a:noFill/>
        </p:spPr>
        <p:txBody>
          <a:bodyPr wrap="square">
            <a:spAutoFit/>
          </a:bodyPr>
          <a:lstStyle/>
          <a:p>
            <a:pPr marL="342900" indent="-342900" algn="just">
              <a:lnSpc>
                <a:spcPct val="150000"/>
              </a:lnSpc>
              <a:buFontTx/>
              <a:buChar char="-"/>
            </a:pPr>
            <a:r>
              <a:rPr lang="en-US" sz="2400" dirty="0" err="1">
                <a:latin typeface="Times New Roman" panose="02020603050405020304" pitchFamily="18" charset="0"/>
                <a:cs typeface="Times New Roman" panose="02020603050405020304" pitchFamily="18" charset="0"/>
              </a:rPr>
              <a:t>Những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đúng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PL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nộp</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những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kịp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vào</a:t>
            </a:r>
            <a:r>
              <a:rPr lang="en-US" sz="2400" dirty="0">
                <a:latin typeface="Times New Roman" panose="02020603050405020304" pitchFamily="18" charset="0"/>
                <a:cs typeface="Times New Roman" panose="02020603050405020304" pitchFamily="18" charset="0"/>
              </a:rPr>
              <a:t> NS </a:t>
            </a:r>
            <a:r>
              <a:rPr lang="en-US" sz="2400">
                <a:latin typeface="Times New Roman" panose="02020603050405020304" pitchFamily="18" charset="0"/>
                <a:cs typeface="Times New Roman" panose="02020603050405020304" pitchFamily="18" charset="0"/>
              </a:rPr>
              <a:t>xã; </a:t>
            </a:r>
            <a:r>
              <a:rPr lang="en-US" sz="2400" dirty="0" err="1">
                <a:latin typeface="Times New Roman" panose="02020603050405020304" pitchFamily="18" charset="0"/>
                <a:cs typeface="Times New Roman" panose="02020603050405020304" pitchFamily="18" charset="0"/>
              </a:rPr>
              <a:t>những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đúng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PL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hồi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kịp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trả</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kịp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39928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C54F8-C064-C6A1-F373-AEEFF83185A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C6F456A-B72A-82C5-BC33-EE17EDD3D2CF}"/>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3.3.3. QUYẾT TOÁN NGÂN SÁCH XÃ</a:t>
            </a:r>
          </a:p>
        </p:txBody>
      </p:sp>
      <p:sp>
        <p:nvSpPr>
          <p:cNvPr id="2" name="Text Placeholder 3">
            <a:extLst>
              <a:ext uri="{FF2B5EF4-FFF2-40B4-BE49-F238E27FC236}">
                <a16:creationId xmlns:a16="http://schemas.microsoft.com/office/drawing/2014/main" id="{FF567B24-6A11-34E2-E5A0-58063730A8C9}"/>
              </a:ext>
            </a:extLst>
          </p:cNvPr>
          <p:cNvSpPr txBox="1">
            <a:spLocks/>
          </p:cNvSpPr>
          <p:nvPr/>
        </p:nvSpPr>
        <p:spPr>
          <a:xfrm>
            <a:off x="386563" y="1297323"/>
            <a:ext cx="7994112" cy="793867"/>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trình</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vi-VN"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quyết toán NSX</a:t>
            </a:r>
            <a:endParaRPr lang="vi-VN" sz="3200" b="1" i="1" dirty="0">
              <a:solidFill>
                <a:srgbClr val="FF0000"/>
              </a:solidFill>
              <a:latin typeface="+mj-lt"/>
            </a:endParaRPr>
          </a:p>
        </p:txBody>
      </p:sp>
      <p:sp>
        <p:nvSpPr>
          <p:cNvPr id="6" name="TextBox 5">
            <a:extLst>
              <a:ext uri="{FF2B5EF4-FFF2-40B4-BE49-F238E27FC236}">
                <a16:creationId xmlns:a16="http://schemas.microsoft.com/office/drawing/2014/main" id="{DE2C4870-AD61-F0C6-55BA-B9A85E27C7E4}"/>
              </a:ext>
            </a:extLst>
          </p:cNvPr>
          <p:cNvSpPr txBox="1"/>
          <p:nvPr/>
        </p:nvSpPr>
        <p:spPr>
          <a:xfrm>
            <a:off x="386563" y="1943665"/>
            <a:ext cx="11191148" cy="1133965"/>
          </a:xfrm>
          <a:prstGeom prst="rect">
            <a:avLst/>
          </a:prstGeom>
          <a:noFill/>
        </p:spPr>
        <p:txBody>
          <a:bodyPr wrap="square">
            <a:spAutoFit/>
          </a:bodyPr>
          <a:lstStyle/>
          <a:p>
            <a:pPr algn="just">
              <a:lnSpc>
                <a:spcPct val="150000"/>
              </a:lnSpc>
            </a:pPr>
            <a:r>
              <a:rPr lang="en-US" sz="2400" b="1" dirty="0" err="1">
                <a:latin typeface="Times" panose="02020603050405020304" pitchFamily="18" charset="0"/>
                <a:cs typeface="Times" panose="02020603050405020304" pitchFamily="18" charset="0"/>
              </a:rPr>
              <a:t>Bước</a:t>
            </a:r>
            <a:r>
              <a:rPr lang="en-US" sz="2400" b="1" dirty="0">
                <a:latin typeface="Times" panose="02020603050405020304" pitchFamily="18" charset="0"/>
                <a:cs typeface="Times" panose="02020603050405020304" pitchFamily="18" charset="0"/>
              </a:rPr>
              <a:t> 1</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Lập</a:t>
            </a:r>
            <a:r>
              <a:rPr lang="en-US" sz="2400" dirty="0">
                <a:latin typeface="Times" panose="02020603050405020304" pitchFamily="18" charset="0"/>
                <a:cs typeface="Times" panose="02020603050405020304" pitchFamily="18" charset="0"/>
              </a:rPr>
              <a:t> , </a:t>
            </a:r>
            <a:r>
              <a:rPr lang="en-US" sz="2400" dirty="0" err="1">
                <a:latin typeface="Times" panose="02020603050405020304" pitchFamily="18" charset="0"/>
                <a:cs typeface="Times" panose="02020603050405020304" pitchFamily="18" charset="0"/>
              </a:rPr>
              <a:t>xét</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duyệt</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tổng</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hợp</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quyết</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toán</a:t>
            </a:r>
            <a:r>
              <a:rPr lang="en-US" sz="2400" dirty="0">
                <a:latin typeface="Times" panose="02020603050405020304" pitchFamily="18" charset="0"/>
                <a:cs typeface="Times" panose="02020603050405020304" pitchFamily="18" charset="0"/>
              </a:rPr>
              <a:t> NS </a:t>
            </a:r>
            <a:r>
              <a:rPr lang="en-US" sz="2400" dirty="0" err="1">
                <a:latin typeface="Times" panose="02020603050405020304" pitchFamily="18" charset="0"/>
                <a:cs typeface="Times" panose="02020603050405020304" pitchFamily="18" charset="0"/>
              </a:rPr>
              <a:t>xã</a:t>
            </a:r>
            <a:endParaRPr lang="vi-VN" sz="2400" dirty="0">
              <a:latin typeface="Times" panose="02020603050405020304" pitchFamily="18" charset="0"/>
              <a:cs typeface="Times" panose="02020603050405020304" pitchFamily="18" charset="0"/>
            </a:endParaRPr>
          </a:p>
          <a:p>
            <a:pPr algn="just">
              <a:lnSpc>
                <a:spcPct val="150000"/>
              </a:lnSpc>
            </a:pPr>
            <a:r>
              <a:rPr lang="en-US" sz="2400" b="1" dirty="0" err="1">
                <a:latin typeface="Times" panose="02020603050405020304" pitchFamily="18" charset="0"/>
                <a:cs typeface="Times" panose="02020603050405020304" pitchFamily="18" charset="0"/>
              </a:rPr>
              <a:t>Bước</a:t>
            </a:r>
            <a:r>
              <a:rPr lang="en-US" sz="2400" b="1" dirty="0">
                <a:latin typeface="Times" panose="02020603050405020304" pitchFamily="18" charset="0"/>
                <a:cs typeface="Times" panose="02020603050405020304" pitchFamily="18" charset="0"/>
              </a:rPr>
              <a:t> 2:  </a:t>
            </a:r>
            <a:r>
              <a:rPr lang="en-US" sz="2400" dirty="0" err="1">
                <a:latin typeface="Times" panose="02020603050405020304" pitchFamily="18" charset="0"/>
                <a:cs typeface="Times" panose="02020603050405020304" pitchFamily="18" charset="0"/>
              </a:rPr>
              <a:t>Phê</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chuẩn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quyết</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toán</a:t>
            </a:r>
            <a:r>
              <a:rPr lang="en-US" sz="2400" dirty="0">
                <a:latin typeface="Times" panose="02020603050405020304" pitchFamily="18" charset="0"/>
                <a:cs typeface="Times" panose="02020603050405020304" pitchFamily="18" charset="0"/>
              </a:rPr>
              <a:t> NS </a:t>
            </a:r>
            <a:r>
              <a:rPr lang="en-US" sz="2400" dirty="0" err="1">
                <a:latin typeface="Times" panose="02020603050405020304" pitchFamily="18" charset="0"/>
                <a:cs typeface="Times" panose="02020603050405020304" pitchFamily="18" charset="0"/>
              </a:rPr>
              <a:t>xã</a:t>
            </a:r>
            <a:endParaRPr lang="en-US" sz="24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16461442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31877-A433-A40A-34F9-8E0D5E7A39A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34BC098-C69F-FE0C-0AB7-06D4F2AD8BFE}"/>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3.3.3. QUYẾT TOÁN NGÂN SÁCH XÃ</a:t>
            </a:r>
          </a:p>
        </p:txBody>
      </p:sp>
      <p:sp>
        <p:nvSpPr>
          <p:cNvPr id="2" name="Text Placeholder 3">
            <a:extLst>
              <a:ext uri="{FF2B5EF4-FFF2-40B4-BE49-F238E27FC236}">
                <a16:creationId xmlns:a16="http://schemas.microsoft.com/office/drawing/2014/main" id="{F99C6694-D2C7-65EE-ED08-75F5EAB21C47}"/>
              </a:ext>
            </a:extLst>
          </p:cNvPr>
          <p:cNvSpPr txBox="1">
            <a:spLocks/>
          </p:cNvSpPr>
          <p:nvPr/>
        </p:nvSpPr>
        <p:spPr>
          <a:xfrm>
            <a:off x="386563" y="1297323"/>
            <a:ext cx="7994112" cy="793867"/>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trình</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vi-VN"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quyết toán NSX</a:t>
            </a:r>
            <a:endParaRPr lang="vi-VN" sz="3200" b="1" i="1" dirty="0">
              <a:solidFill>
                <a:srgbClr val="FF0000"/>
              </a:solidFill>
              <a:latin typeface="+mj-lt"/>
            </a:endParaRPr>
          </a:p>
        </p:txBody>
      </p:sp>
      <p:sp>
        <p:nvSpPr>
          <p:cNvPr id="6" name="TextBox 5">
            <a:extLst>
              <a:ext uri="{FF2B5EF4-FFF2-40B4-BE49-F238E27FC236}">
                <a16:creationId xmlns:a16="http://schemas.microsoft.com/office/drawing/2014/main" id="{FD6C1946-919F-0ABB-D0D5-974C26EF3181}"/>
              </a:ext>
            </a:extLst>
          </p:cNvPr>
          <p:cNvSpPr txBox="1"/>
          <p:nvPr/>
        </p:nvSpPr>
        <p:spPr>
          <a:xfrm>
            <a:off x="386563" y="1943665"/>
            <a:ext cx="11191148" cy="3903954"/>
          </a:xfrm>
          <a:prstGeom prst="rect">
            <a:avLst/>
          </a:prstGeom>
          <a:noFill/>
        </p:spPr>
        <p:txBody>
          <a:bodyPr wrap="square">
            <a:spAutoFit/>
          </a:bodyPr>
          <a:lstStyle/>
          <a:p>
            <a:pPr algn="just">
              <a:lnSpc>
                <a:spcPct val="150000"/>
              </a:lnSpc>
            </a:pPr>
            <a:r>
              <a:rPr lang="en-US" sz="2400" b="1" dirty="0" err="1">
                <a:latin typeface="Times" panose="02020603050405020304" pitchFamily="18" charset="0"/>
                <a:cs typeface="Times" panose="02020603050405020304" pitchFamily="18" charset="0"/>
              </a:rPr>
              <a:t>Bước</a:t>
            </a:r>
            <a:r>
              <a:rPr lang="en-US" sz="2400" b="1" dirty="0">
                <a:latin typeface="Times" panose="02020603050405020304" pitchFamily="18" charset="0"/>
                <a:cs typeface="Times" panose="02020603050405020304" pitchFamily="18" charset="0"/>
              </a:rPr>
              <a:t> 1</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Lập</a:t>
            </a:r>
            <a:r>
              <a:rPr lang="en-US" sz="2400" dirty="0">
                <a:latin typeface="Times" panose="02020603050405020304" pitchFamily="18" charset="0"/>
                <a:cs typeface="Times" panose="02020603050405020304" pitchFamily="18" charset="0"/>
              </a:rPr>
              <a:t> , </a:t>
            </a:r>
            <a:r>
              <a:rPr lang="en-US" sz="2400" dirty="0" err="1">
                <a:latin typeface="Times" panose="02020603050405020304" pitchFamily="18" charset="0"/>
                <a:cs typeface="Times" panose="02020603050405020304" pitchFamily="18" charset="0"/>
              </a:rPr>
              <a:t>xét</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duyệt</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tổng</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hợp</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quyết</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toán</a:t>
            </a:r>
            <a:r>
              <a:rPr lang="en-US" sz="2400" dirty="0">
                <a:latin typeface="Times" panose="02020603050405020304" pitchFamily="18" charset="0"/>
                <a:cs typeface="Times" panose="02020603050405020304" pitchFamily="18" charset="0"/>
              </a:rPr>
              <a:t> NSNN</a:t>
            </a:r>
          </a:p>
          <a:p>
            <a:pPr marL="342900" indent="-342900" algn="just">
              <a:lnSpc>
                <a:spcPct val="150000"/>
              </a:lnSpc>
              <a:buFontTx/>
              <a:buChar char="-"/>
            </a:pPr>
            <a:r>
              <a:rPr lang="en-US" sz="2400" b="1" dirty="0" err="1">
                <a:latin typeface="Times" panose="02020603050405020304" pitchFamily="18" charset="0"/>
                <a:cs typeface="Times" panose="02020603050405020304" pitchFamily="18" charset="0"/>
              </a:rPr>
              <a:t>Khóa</a:t>
            </a:r>
            <a:r>
              <a:rPr lang="en-US" sz="2400" b="1" dirty="0">
                <a:latin typeface="Times" panose="02020603050405020304" pitchFamily="18" charset="0"/>
                <a:cs typeface="Times" panose="02020603050405020304" pitchFamily="18" charset="0"/>
              </a:rPr>
              <a:t> </a:t>
            </a:r>
            <a:r>
              <a:rPr lang="en-US" sz="2400" b="1" dirty="0" err="1">
                <a:latin typeface="Times" panose="02020603050405020304" pitchFamily="18" charset="0"/>
                <a:cs typeface="Times" panose="02020603050405020304" pitchFamily="18" charset="0"/>
              </a:rPr>
              <a:t>sổ</a:t>
            </a:r>
            <a:r>
              <a:rPr lang="en-US" sz="2400" b="1" dirty="0">
                <a:latin typeface="Times" panose="02020603050405020304" pitchFamily="18" charset="0"/>
                <a:cs typeface="Times" panose="02020603050405020304" pitchFamily="18" charset="0"/>
              </a:rPr>
              <a:t> </a:t>
            </a:r>
            <a:r>
              <a:rPr lang="en-US" sz="2400" b="1" dirty="0" err="1">
                <a:latin typeface="Times" panose="02020603050405020304" pitchFamily="18" charset="0"/>
                <a:cs typeface="Times" panose="02020603050405020304" pitchFamily="18" charset="0"/>
              </a:rPr>
              <a:t>kế</a:t>
            </a:r>
            <a:r>
              <a:rPr lang="en-US" sz="2400" b="1" dirty="0">
                <a:latin typeface="Times" panose="02020603050405020304" pitchFamily="18" charset="0"/>
                <a:cs typeface="Times" panose="02020603050405020304" pitchFamily="18" charset="0"/>
              </a:rPr>
              <a:t> </a:t>
            </a:r>
            <a:r>
              <a:rPr lang="en-US" sz="2400" b="1" dirty="0" err="1">
                <a:latin typeface="Times" panose="02020603050405020304" pitchFamily="18" charset="0"/>
                <a:cs typeface="Times" panose="02020603050405020304" pitchFamily="18" charset="0"/>
              </a:rPr>
              <a:t>toán</a:t>
            </a:r>
            <a:r>
              <a:rPr lang="en-US" sz="2400" b="1" dirty="0">
                <a:latin typeface="Times" panose="02020603050405020304" pitchFamily="18" charset="0"/>
                <a:cs typeface="Times" panose="02020603050405020304" pitchFamily="18" charset="0"/>
              </a:rPr>
              <a:t>, </a:t>
            </a:r>
            <a:r>
              <a:rPr lang="en-US" sz="2400" b="1" dirty="0" err="1">
                <a:latin typeface="Times" panose="02020603050405020304" pitchFamily="18" charset="0"/>
                <a:cs typeface="Times" panose="02020603050405020304" pitchFamily="18" charset="0"/>
              </a:rPr>
              <a:t>xử</a:t>
            </a:r>
            <a:r>
              <a:rPr lang="en-US" sz="2400" b="1" dirty="0">
                <a:latin typeface="Times" panose="02020603050405020304" pitchFamily="18" charset="0"/>
                <a:cs typeface="Times" panose="02020603050405020304" pitchFamily="18" charset="0"/>
              </a:rPr>
              <a:t> </a:t>
            </a:r>
            <a:r>
              <a:rPr lang="en-US" sz="2400" b="1" dirty="0" err="1">
                <a:latin typeface="Times" panose="02020603050405020304" pitchFamily="18" charset="0"/>
                <a:cs typeface="Times" panose="02020603050405020304" pitchFamily="18" charset="0"/>
              </a:rPr>
              <a:t>lý</a:t>
            </a:r>
            <a:r>
              <a:rPr lang="en-US" sz="2400" b="1" dirty="0">
                <a:latin typeface="Times" panose="02020603050405020304" pitchFamily="18" charset="0"/>
                <a:cs typeface="Times" panose="02020603050405020304" pitchFamily="18" charset="0"/>
              </a:rPr>
              <a:t> </a:t>
            </a:r>
            <a:r>
              <a:rPr lang="en-US" sz="2400" b="1" dirty="0" err="1">
                <a:latin typeface="Times" panose="02020603050405020304" pitchFamily="18" charset="0"/>
                <a:cs typeface="Times" panose="02020603050405020304" pitchFamily="18" charset="0"/>
              </a:rPr>
              <a:t>thu</a:t>
            </a:r>
            <a:r>
              <a:rPr lang="en-US" sz="2400" b="1" dirty="0">
                <a:latin typeface="Times" panose="02020603050405020304" pitchFamily="18" charset="0"/>
                <a:cs typeface="Times" panose="02020603050405020304" pitchFamily="18" charset="0"/>
              </a:rPr>
              <a:t> chi NS </a:t>
            </a:r>
            <a:r>
              <a:rPr lang="en-US" sz="2400" b="1" dirty="0" err="1">
                <a:latin typeface="Times" panose="02020603050405020304" pitchFamily="18" charset="0"/>
                <a:cs typeface="Times" panose="02020603050405020304" pitchFamily="18" charset="0"/>
              </a:rPr>
              <a:t>cuối</a:t>
            </a:r>
            <a:r>
              <a:rPr lang="en-US" sz="2400" b="1" dirty="0">
                <a:latin typeface="Times" panose="02020603050405020304" pitchFamily="18" charset="0"/>
                <a:cs typeface="Times" panose="02020603050405020304" pitchFamily="18" charset="0"/>
              </a:rPr>
              <a:t> </a:t>
            </a:r>
            <a:r>
              <a:rPr lang="en-US" sz="2400" b="1" dirty="0" err="1">
                <a:latin typeface="Times" panose="02020603050405020304" pitchFamily="18" charset="0"/>
                <a:cs typeface="Times" panose="02020603050405020304" pitchFamily="18" charset="0"/>
              </a:rPr>
              <a:t>năm</a:t>
            </a:r>
            <a:r>
              <a:rPr lang="en-US" sz="2400" b="1"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Kết</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thúc</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năm</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ngân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sách</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các</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cơ</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quan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tổ</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chức</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đơn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vị</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có</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liên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quan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đến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thu</a:t>
            </a:r>
            <a:r>
              <a:rPr lang="en-US" sz="2400" dirty="0">
                <a:latin typeface="Times" panose="02020603050405020304" pitchFamily="18" charset="0"/>
                <a:cs typeface="Times" panose="02020603050405020304" pitchFamily="18" charset="0"/>
              </a:rPr>
              <a:t>, chi NS </a:t>
            </a:r>
            <a:r>
              <a:rPr lang="en-US" sz="2400" dirty="0" err="1">
                <a:latin typeface="Times" panose="02020603050405020304" pitchFamily="18" charset="0"/>
                <a:cs typeface="Times" panose="02020603050405020304" pitchFamily="18" charset="0"/>
              </a:rPr>
              <a:t>phải</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thực</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hiện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khoá</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sổ</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kế</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toán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ngân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sách</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xử</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lý</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ngân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sách</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cuối</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năm</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và</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đối</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chiếu</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với</a:t>
            </a:r>
            <a:r>
              <a:rPr lang="en-US" sz="2400" dirty="0">
                <a:latin typeface="Times" panose="02020603050405020304" pitchFamily="18" charset="0"/>
                <a:cs typeface="Times" panose="02020603050405020304" pitchFamily="18" charset="0"/>
              </a:rPr>
              <a:t> KBNN </a:t>
            </a:r>
            <a:r>
              <a:rPr lang="en-US" sz="2400" dirty="0" err="1">
                <a:latin typeface="Times" panose="02020603050405020304" pitchFamily="18" charset="0"/>
                <a:cs typeface="Times" panose="02020603050405020304" pitchFamily="18" charset="0"/>
              </a:rPr>
              <a:t>nơi</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đơn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vị</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mở</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tài</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khoản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giao</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dịch</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để</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xác</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nhận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số</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liệu</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từ</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đó</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lập</a:t>
            </a:r>
            <a:r>
              <a:rPr lang="en-US" sz="2400" dirty="0">
                <a:latin typeface="Times" panose="02020603050405020304" pitchFamily="18" charset="0"/>
                <a:cs typeface="Times" panose="02020603050405020304" pitchFamily="18" charset="0"/>
              </a:rPr>
              <a:t> Báo </a:t>
            </a:r>
            <a:r>
              <a:rPr lang="en-US" sz="2400" dirty="0" err="1">
                <a:latin typeface="Times" panose="02020603050405020304" pitchFamily="18" charset="0"/>
                <a:cs typeface="Times" panose="02020603050405020304" pitchFamily="18" charset="0"/>
              </a:rPr>
              <a:t>cáo</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quyết</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toán</a:t>
            </a:r>
            <a:r>
              <a:rPr lang="en-US" sz="2400" dirty="0">
                <a:latin typeface="Times" panose="02020603050405020304" pitchFamily="18" charset="0"/>
                <a:cs typeface="Times" panose="02020603050405020304" pitchFamily="18" charset="0"/>
              </a:rPr>
              <a:t> NS </a:t>
            </a:r>
            <a:r>
              <a:rPr lang="en-US" sz="2400" dirty="0" err="1">
                <a:latin typeface="Times" panose="02020603050405020304" pitchFamily="18" charset="0"/>
                <a:cs typeface="Times" panose="02020603050405020304" pitchFamily="18" charset="0"/>
              </a:rPr>
              <a:t>đảm</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bảo</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các</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nội</a:t>
            </a:r>
            <a:r>
              <a:rPr lang="en-US" sz="2400" dirty="0">
                <a:latin typeface="Times" panose="02020603050405020304" pitchFamily="18" charset="0"/>
                <a:cs typeface="Times" panose="02020603050405020304" pitchFamily="18" charset="0"/>
              </a:rPr>
              <a:t> dung, </a:t>
            </a:r>
            <a:r>
              <a:rPr lang="en-US" sz="2400" dirty="0" err="1">
                <a:latin typeface="Times" panose="02020603050405020304" pitchFamily="18" charset="0"/>
                <a:cs typeface="Times" panose="02020603050405020304" pitchFamily="18" charset="0"/>
              </a:rPr>
              <a:t>yêu</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cầu</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theo</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quy</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định</a:t>
            </a:r>
            <a:r>
              <a:rPr lang="en-US" sz="2400" dirty="0">
                <a:latin typeface="Times" panose="02020603050405020304" pitchFamily="18" charset="0"/>
                <a:cs typeface="Times" panose="02020603050405020304" pitchFamily="18" charset="0"/>
              </a:rPr>
              <a:t>.</a:t>
            </a:r>
          </a:p>
          <a:p>
            <a:pPr algn="just">
              <a:lnSpc>
                <a:spcPct val="150000"/>
              </a:lnSpc>
            </a:pPr>
            <a:endParaRPr lang="vi-VN" sz="24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13702681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17F9E-EF95-5303-B2C7-1B261BE589D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EAFA9E-88A4-9CB6-9157-EE18C57B7AFF}"/>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400" b="1" dirty="0">
                <a:latin typeface="Times New Roman" panose="02020603050405020304" pitchFamily="18" charset="0"/>
                <a:cs typeface="Times New Roman" panose="02020603050405020304" pitchFamily="18" charset="0"/>
              </a:rPr>
              <a:t>3.3.3 QUYẾT TOÁN NGÂN SÁCH XÃ</a:t>
            </a:r>
          </a:p>
        </p:txBody>
      </p:sp>
      <p:sp>
        <p:nvSpPr>
          <p:cNvPr id="6" name="TextBox 5">
            <a:extLst>
              <a:ext uri="{FF2B5EF4-FFF2-40B4-BE49-F238E27FC236}">
                <a16:creationId xmlns:a16="http://schemas.microsoft.com/office/drawing/2014/main" id="{AA3DF32C-52A5-5CB8-EFC5-1E219DAABDFD}"/>
              </a:ext>
            </a:extLst>
          </p:cNvPr>
          <p:cNvSpPr txBox="1"/>
          <p:nvPr/>
        </p:nvSpPr>
        <p:spPr>
          <a:xfrm>
            <a:off x="568411" y="1507524"/>
            <a:ext cx="11022227" cy="691979"/>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lang="en-US" dirty="0"/>
          </a:p>
        </p:txBody>
      </p:sp>
      <p:grpSp>
        <p:nvGrpSpPr>
          <p:cNvPr id="18" name="Group 17">
            <a:extLst>
              <a:ext uri="{FF2B5EF4-FFF2-40B4-BE49-F238E27FC236}">
                <a16:creationId xmlns:a16="http://schemas.microsoft.com/office/drawing/2014/main" id="{550E8F31-7762-1525-9919-D0405A6CE19A}"/>
              </a:ext>
            </a:extLst>
          </p:cNvPr>
          <p:cNvGrpSpPr/>
          <p:nvPr/>
        </p:nvGrpSpPr>
        <p:grpSpPr>
          <a:xfrm>
            <a:off x="349348" y="1376383"/>
            <a:ext cx="11842652" cy="3308669"/>
            <a:chOff x="349347" y="838200"/>
            <a:chExt cx="8610600" cy="5765760"/>
          </a:xfrm>
        </p:grpSpPr>
        <p:grpSp>
          <p:nvGrpSpPr>
            <p:cNvPr id="19" name="Group 18">
              <a:extLst>
                <a:ext uri="{FF2B5EF4-FFF2-40B4-BE49-F238E27FC236}">
                  <a16:creationId xmlns:a16="http://schemas.microsoft.com/office/drawing/2014/main" id="{58CE0D72-ECA0-3B11-FF42-53703D898D5D}"/>
                </a:ext>
              </a:extLst>
            </p:cNvPr>
            <p:cNvGrpSpPr/>
            <p:nvPr/>
          </p:nvGrpSpPr>
          <p:grpSpPr>
            <a:xfrm>
              <a:off x="349347" y="838200"/>
              <a:ext cx="8610600" cy="3562874"/>
              <a:chOff x="304800" y="1066800"/>
              <a:chExt cx="8610600" cy="3562874"/>
            </a:xfrm>
          </p:grpSpPr>
          <p:grpSp>
            <p:nvGrpSpPr>
              <p:cNvPr id="23" name="Group 22">
                <a:extLst>
                  <a:ext uri="{FF2B5EF4-FFF2-40B4-BE49-F238E27FC236}">
                    <a16:creationId xmlns:a16="http://schemas.microsoft.com/office/drawing/2014/main" id="{DD91A928-C0C2-2876-669C-16A89704E1F9}"/>
                  </a:ext>
                </a:extLst>
              </p:cNvPr>
              <p:cNvGrpSpPr/>
              <p:nvPr/>
            </p:nvGrpSpPr>
            <p:grpSpPr>
              <a:xfrm>
                <a:off x="304800" y="1066800"/>
                <a:ext cx="8229600" cy="3562874"/>
                <a:chOff x="304800" y="1143000"/>
                <a:chExt cx="8229600" cy="3562874"/>
              </a:xfrm>
            </p:grpSpPr>
            <p:sp>
              <p:nvSpPr>
                <p:cNvPr id="25" name="TextBox 24">
                  <a:extLst>
                    <a:ext uri="{FF2B5EF4-FFF2-40B4-BE49-F238E27FC236}">
                      <a16:creationId xmlns:a16="http://schemas.microsoft.com/office/drawing/2014/main" id="{ED65556A-C09D-9BB0-C910-FCFE63040F6E}"/>
                    </a:ext>
                  </a:extLst>
                </p:cNvPr>
                <p:cNvSpPr txBox="1"/>
                <p:nvPr/>
              </p:nvSpPr>
              <p:spPr>
                <a:xfrm>
                  <a:off x="4257674" y="3505545"/>
                  <a:ext cx="1990725" cy="1200329"/>
                </a:xfrm>
                <a:prstGeom prst="rect">
                  <a:avLst/>
                </a:prstGeom>
                <a:noFill/>
              </p:spPr>
              <p:txBody>
                <a:bodyPr wrap="square" rtlCol="0">
                  <a:spAutoFit/>
                </a:bodyPr>
                <a:lstStyle/>
                <a:p>
                  <a:pPr algn="ctr"/>
                  <a:r>
                    <a:rPr lang="en-US" sz="2400" dirty="0" err="1">
                      <a:solidFill>
                        <a:srgbClr val="0070C0"/>
                      </a:solidFill>
                      <a:latin typeface="Arial" panose="020B0604020202020204" pitchFamily="34" charset="0"/>
                      <a:cs typeface="Arial" panose="020B0604020202020204" pitchFamily="34" charset="0"/>
                    </a:rPr>
                    <a:t>Khóa</a:t>
                  </a:r>
                  <a:r>
                    <a:rPr lang="en-US" sz="2400" dirty="0">
                      <a:solidFill>
                        <a:srgbClr val="0070C0"/>
                      </a:solidFill>
                      <a:latin typeface="Arial" panose="020B0604020202020204" pitchFamily="34" charset="0"/>
                      <a:cs typeface="Arial" panose="020B0604020202020204" pitchFamily="34" charset="0"/>
                    </a:rPr>
                    <a:t> </a:t>
                  </a:r>
                  <a:r>
                    <a:rPr lang="en-US" sz="2400" dirty="0" err="1">
                      <a:solidFill>
                        <a:srgbClr val="0070C0"/>
                      </a:solidFill>
                      <a:latin typeface="Arial" panose="020B0604020202020204" pitchFamily="34" charset="0"/>
                      <a:cs typeface="Arial" panose="020B0604020202020204" pitchFamily="34" charset="0"/>
                    </a:rPr>
                    <a:t>sổ</a:t>
                  </a:r>
                  <a:r>
                    <a:rPr lang="en-US" sz="2400" dirty="0">
                      <a:solidFill>
                        <a:srgbClr val="0070C0"/>
                      </a:solidFill>
                      <a:latin typeface="Arial" panose="020B0604020202020204" pitchFamily="34" charset="0"/>
                      <a:cs typeface="Arial" panose="020B0604020202020204" pitchFamily="34" charset="0"/>
                    </a:rPr>
                    <a:t> </a:t>
                  </a:r>
                  <a:r>
                    <a:rPr lang="en-US" sz="2400" dirty="0" err="1">
                      <a:solidFill>
                        <a:srgbClr val="0070C0"/>
                      </a:solidFill>
                      <a:latin typeface="Arial" panose="020B0604020202020204" pitchFamily="34" charset="0"/>
                      <a:cs typeface="Arial" panose="020B0604020202020204" pitchFamily="34" charset="0"/>
                    </a:rPr>
                    <a:t>và</a:t>
                  </a:r>
                  <a:r>
                    <a:rPr lang="en-US" sz="2400" dirty="0">
                      <a:solidFill>
                        <a:srgbClr val="0070C0"/>
                      </a:solidFill>
                      <a:latin typeface="Arial" panose="020B0604020202020204" pitchFamily="34" charset="0"/>
                      <a:cs typeface="Arial" panose="020B0604020202020204" pitchFamily="34" charset="0"/>
                    </a:rPr>
                    <a:t> </a:t>
                  </a:r>
                  <a:r>
                    <a:rPr lang="en-US" sz="2400" dirty="0" err="1">
                      <a:solidFill>
                        <a:srgbClr val="0070C0"/>
                      </a:solidFill>
                      <a:latin typeface="Arial" panose="020B0604020202020204" pitchFamily="34" charset="0"/>
                      <a:cs typeface="Arial" panose="020B0604020202020204" pitchFamily="34" charset="0"/>
                    </a:rPr>
                    <a:t>xử</a:t>
                  </a:r>
                  <a:r>
                    <a:rPr lang="en-US" sz="2400" dirty="0">
                      <a:solidFill>
                        <a:srgbClr val="0070C0"/>
                      </a:solidFill>
                      <a:latin typeface="Arial" panose="020B0604020202020204" pitchFamily="34" charset="0"/>
                      <a:cs typeface="Arial" panose="020B0604020202020204" pitchFamily="34" charset="0"/>
                    </a:rPr>
                    <a:t> </a:t>
                  </a:r>
                  <a:r>
                    <a:rPr lang="en-US" sz="2400" dirty="0" err="1">
                      <a:solidFill>
                        <a:srgbClr val="0070C0"/>
                      </a:solidFill>
                      <a:latin typeface="Arial" panose="020B0604020202020204" pitchFamily="34" charset="0"/>
                      <a:cs typeface="Arial" panose="020B0604020202020204" pitchFamily="34" charset="0"/>
                    </a:rPr>
                    <a:t>lý</a:t>
                  </a:r>
                  <a:r>
                    <a:rPr lang="en-US" sz="2400" dirty="0">
                      <a:solidFill>
                        <a:srgbClr val="0070C0"/>
                      </a:solidFill>
                      <a:latin typeface="Arial" panose="020B0604020202020204" pitchFamily="34" charset="0"/>
                      <a:cs typeface="Arial" panose="020B0604020202020204" pitchFamily="34" charset="0"/>
                    </a:rPr>
                    <a:t> </a:t>
                  </a:r>
                  <a:r>
                    <a:rPr lang="en-US" sz="2400" dirty="0" err="1">
                      <a:solidFill>
                        <a:srgbClr val="0070C0"/>
                      </a:solidFill>
                      <a:latin typeface="Arial" panose="020B0604020202020204" pitchFamily="34" charset="0"/>
                      <a:cs typeface="Arial" panose="020B0604020202020204" pitchFamily="34" charset="0"/>
                    </a:rPr>
                    <a:t>thu</a:t>
                  </a:r>
                  <a:r>
                    <a:rPr lang="en-US" sz="2400" dirty="0">
                      <a:solidFill>
                        <a:srgbClr val="0070C0"/>
                      </a:solidFill>
                      <a:latin typeface="Arial" panose="020B0604020202020204" pitchFamily="34" charset="0"/>
                      <a:cs typeface="Arial" panose="020B0604020202020204" pitchFamily="34" charset="0"/>
                    </a:rPr>
                    <a:t>, chi </a:t>
                  </a:r>
                  <a:r>
                    <a:rPr lang="en-US" sz="2400" dirty="0" err="1">
                      <a:solidFill>
                        <a:srgbClr val="0070C0"/>
                      </a:solidFill>
                      <a:latin typeface="Arial" panose="020B0604020202020204" pitchFamily="34" charset="0"/>
                      <a:cs typeface="Arial" panose="020B0604020202020204" pitchFamily="34" charset="0"/>
                    </a:rPr>
                    <a:t>cuối</a:t>
                  </a:r>
                  <a:r>
                    <a:rPr lang="en-US" sz="2400" dirty="0">
                      <a:solidFill>
                        <a:srgbClr val="0070C0"/>
                      </a:solidFill>
                      <a:latin typeface="Arial" panose="020B0604020202020204" pitchFamily="34" charset="0"/>
                      <a:cs typeface="Arial" panose="020B0604020202020204" pitchFamily="34" charset="0"/>
                    </a:rPr>
                    <a:t> </a:t>
                  </a:r>
                  <a:r>
                    <a:rPr lang="en-US" sz="2400" dirty="0" err="1">
                      <a:solidFill>
                        <a:srgbClr val="0070C0"/>
                      </a:solidFill>
                      <a:latin typeface="Arial" panose="020B0604020202020204" pitchFamily="34" charset="0"/>
                      <a:cs typeface="Arial" panose="020B0604020202020204" pitchFamily="34" charset="0"/>
                    </a:rPr>
                    <a:t>năm</a:t>
                  </a:r>
                  <a:endParaRPr lang="en-US" sz="2400" dirty="0">
                    <a:solidFill>
                      <a:srgbClr val="0070C0"/>
                    </a:solidFill>
                    <a:latin typeface="Arial" panose="020B0604020202020204" pitchFamily="34" charset="0"/>
                    <a:cs typeface="Arial" panose="020B0604020202020204" pitchFamily="34" charset="0"/>
                  </a:endParaRPr>
                </a:p>
              </p:txBody>
            </p:sp>
            <p:grpSp>
              <p:nvGrpSpPr>
                <p:cNvPr id="26" name="Group 25">
                  <a:extLst>
                    <a:ext uri="{FF2B5EF4-FFF2-40B4-BE49-F238E27FC236}">
                      <a16:creationId xmlns:a16="http://schemas.microsoft.com/office/drawing/2014/main" id="{84488ED3-609E-6CC4-49B7-1D4002CFF114}"/>
                    </a:ext>
                  </a:extLst>
                </p:cNvPr>
                <p:cNvGrpSpPr/>
                <p:nvPr/>
              </p:nvGrpSpPr>
              <p:grpSpPr>
                <a:xfrm>
                  <a:off x="304800" y="1143000"/>
                  <a:ext cx="8229600" cy="2278797"/>
                  <a:chOff x="304800" y="1143000"/>
                  <a:chExt cx="8229600" cy="2278797"/>
                </a:xfrm>
              </p:grpSpPr>
              <p:grpSp>
                <p:nvGrpSpPr>
                  <p:cNvPr id="27" name="Group 26">
                    <a:extLst>
                      <a:ext uri="{FF2B5EF4-FFF2-40B4-BE49-F238E27FC236}">
                        <a16:creationId xmlns:a16="http://schemas.microsoft.com/office/drawing/2014/main" id="{B8B635E7-E797-FCA3-40BB-577006280B51}"/>
                      </a:ext>
                    </a:extLst>
                  </p:cNvPr>
                  <p:cNvGrpSpPr/>
                  <p:nvPr/>
                </p:nvGrpSpPr>
                <p:grpSpPr>
                  <a:xfrm>
                    <a:off x="304800" y="1440597"/>
                    <a:ext cx="8229600" cy="1981200"/>
                    <a:chOff x="304800" y="1143000"/>
                    <a:chExt cx="8229600" cy="1981200"/>
                  </a:xfrm>
                </p:grpSpPr>
                <p:sp>
                  <p:nvSpPr>
                    <p:cNvPr id="30" name="TextBox 29">
                      <a:extLst>
                        <a:ext uri="{FF2B5EF4-FFF2-40B4-BE49-F238E27FC236}">
                          <a16:creationId xmlns:a16="http://schemas.microsoft.com/office/drawing/2014/main" id="{2A9B6EE7-288F-DE2D-C25C-6293EC2A78A7}"/>
                        </a:ext>
                      </a:extLst>
                    </p:cNvPr>
                    <p:cNvSpPr txBox="1"/>
                    <p:nvPr/>
                  </p:nvSpPr>
                  <p:spPr>
                    <a:xfrm>
                      <a:off x="4343400" y="2209800"/>
                      <a:ext cx="1524000"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31/12/N-1</a:t>
                      </a:r>
                    </a:p>
                  </p:txBody>
                </p:sp>
                <p:sp>
                  <p:nvSpPr>
                    <p:cNvPr id="31" name="TextBox 30">
                      <a:extLst>
                        <a:ext uri="{FF2B5EF4-FFF2-40B4-BE49-F238E27FC236}">
                          <a16:creationId xmlns:a16="http://schemas.microsoft.com/office/drawing/2014/main" id="{C1B9A46E-88FD-4595-4A9F-CC44D975D9C1}"/>
                        </a:ext>
                      </a:extLst>
                    </p:cNvPr>
                    <p:cNvSpPr txBox="1"/>
                    <p:nvPr/>
                  </p:nvSpPr>
                  <p:spPr>
                    <a:xfrm>
                      <a:off x="6400800" y="2209800"/>
                      <a:ext cx="1524000"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31/1/N</a:t>
                      </a:r>
                    </a:p>
                  </p:txBody>
                </p:sp>
                <p:grpSp>
                  <p:nvGrpSpPr>
                    <p:cNvPr id="32" name="Group 31">
                      <a:extLst>
                        <a:ext uri="{FF2B5EF4-FFF2-40B4-BE49-F238E27FC236}">
                          <a16:creationId xmlns:a16="http://schemas.microsoft.com/office/drawing/2014/main" id="{A376D0F9-007D-D84C-4B26-5D7880E7C0BC}"/>
                        </a:ext>
                      </a:extLst>
                    </p:cNvPr>
                    <p:cNvGrpSpPr/>
                    <p:nvPr/>
                  </p:nvGrpSpPr>
                  <p:grpSpPr>
                    <a:xfrm>
                      <a:off x="533400" y="2743200"/>
                      <a:ext cx="8001000" cy="381000"/>
                      <a:chOff x="533400" y="2743200"/>
                      <a:chExt cx="8001000" cy="381000"/>
                    </a:xfrm>
                  </p:grpSpPr>
                  <p:cxnSp>
                    <p:nvCxnSpPr>
                      <p:cNvPr id="36" name="Straight Arrow Connector 35">
                        <a:extLst>
                          <a:ext uri="{FF2B5EF4-FFF2-40B4-BE49-F238E27FC236}">
                            <a16:creationId xmlns:a16="http://schemas.microsoft.com/office/drawing/2014/main" id="{65E9EBF8-4FE3-E0C4-A0DE-8241B87ABAF2}"/>
                          </a:ext>
                        </a:extLst>
                      </p:cNvPr>
                      <p:cNvCxnSpPr/>
                      <p:nvPr/>
                    </p:nvCxnSpPr>
                    <p:spPr>
                      <a:xfrm>
                        <a:off x="533400" y="2971800"/>
                        <a:ext cx="800100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9C088CB3-4736-9302-1F27-35DE10E6DFF5}"/>
                          </a:ext>
                        </a:extLst>
                      </p:cNvPr>
                      <p:cNvCxnSpPr/>
                      <p:nvPr/>
                    </p:nvCxnSpPr>
                    <p:spPr>
                      <a:xfrm>
                        <a:off x="5029200" y="2743200"/>
                        <a:ext cx="0" cy="3810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9FB1DE4F-0251-F67A-3CE0-CF591E58395E}"/>
                          </a:ext>
                        </a:extLst>
                      </p:cNvPr>
                      <p:cNvCxnSpPr/>
                      <p:nvPr/>
                    </p:nvCxnSpPr>
                    <p:spPr>
                      <a:xfrm>
                        <a:off x="7010400" y="2743200"/>
                        <a:ext cx="0" cy="3810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3656E141-ADE2-9E70-6A3B-1613B37191EF}"/>
                          </a:ext>
                        </a:extLst>
                      </p:cNvPr>
                      <p:cNvCxnSpPr/>
                      <p:nvPr/>
                    </p:nvCxnSpPr>
                    <p:spPr>
                      <a:xfrm>
                        <a:off x="838200" y="2743200"/>
                        <a:ext cx="0" cy="3810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sp>
                  <p:nvSpPr>
                    <p:cNvPr id="33" name="TextBox 32">
                      <a:extLst>
                        <a:ext uri="{FF2B5EF4-FFF2-40B4-BE49-F238E27FC236}">
                          <a16:creationId xmlns:a16="http://schemas.microsoft.com/office/drawing/2014/main" id="{A0F16C99-9CD5-6EA1-0690-C7BD5AB81489}"/>
                        </a:ext>
                      </a:extLst>
                    </p:cNvPr>
                    <p:cNvSpPr txBox="1"/>
                    <p:nvPr/>
                  </p:nvSpPr>
                  <p:spPr>
                    <a:xfrm>
                      <a:off x="304800" y="2286000"/>
                      <a:ext cx="1524000"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01/01/N-1</a:t>
                      </a:r>
                    </a:p>
                  </p:txBody>
                </p:sp>
                <p:sp>
                  <p:nvSpPr>
                    <p:cNvPr id="34" name="Right Brace 33">
                      <a:extLst>
                        <a:ext uri="{FF2B5EF4-FFF2-40B4-BE49-F238E27FC236}">
                          <a16:creationId xmlns:a16="http://schemas.microsoft.com/office/drawing/2014/main" id="{867C94BE-5B90-4C54-287E-586A126CF284}"/>
                        </a:ext>
                      </a:extLst>
                    </p:cNvPr>
                    <p:cNvSpPr/>
                    <p:nvPr/>
                  </p:nvSpPr>
                  <p:spPr>
                    <a:xfrm rot="16200000">
                      <a:off x="2667000" y="-76199"/>
                      <a:ext cx="533400" cy="419100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5" name="TextBox 34">
                      <a:extLst>
                        <a:ext uri="{FF2B5EF4-FFF2-40B4-BE49-F238E27FC236}">
                          <a16:creationId xmlns:a16="http://schemas.microsoft.com/office/drawing/2014/main" id="{EBEA257E-0E28-B4B2-50DD-43BCB1E0DCF1}"/>
                        </a:ext>
                      </a:extLst>
                    </p:cNvPr>
                    <p:cNvSpPr txBox="1"/>
                    <p:nvPr/>
                  </p:nvSpPr>
                  <p:spPr>
                    <a:xfrm>
                      <a:off x="1447800" y="1143000"/>
                      <a:ext cx="2933700" cy="461665"/>
                    </a:xfrm>
                    <a:prstGeom prst="rect">
                      <a:avLst/>
                    </a:prstGeom>
                    <a:noFill/>
                  </p:spPr>
                  <p:txBody>
                    <a:bodyPr wrap="square" rtlCol="0">
                      <a:spAutoFit/>
                    </a:bodyPr>
                    <a:lstStyle/>
                    <a:p>
                      <a:r>
                        <a:rPr lang="en-US" sz="2400" dirty="0" err="1">
                          <a:latin typeface="Arial" panose="020B0604020202020204" pitchFamily="34" charset="0"/>
                          <a:cs typeface="Arial" panose="020B0604020202020204" pitchFamily="34" charset="0"/>
                        </a:rPr>
                        <a:t>Năm</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ngân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sách</a:t>
                      </a:r>
                      <a:r>
                        <a:rPr lang="en-US" sz="2400" dirty="0">
                          <a:latin typeface="Arial" panose="020B0604020202020204" pitchFamily="34" charset="0"/>
                          <a:cs typeface="Arial" panose="020B0604020202020204" pitchFamily="34" charset="0"/>
                        </a:rPr>
                        <a:t> N-1</a:t>
                      </a:r>
                    </a:p>
                  </p:txBody>
                </p:sp>
              </p:grpSp>
              <p:sp>
                <p:nvSpPr>
                  <p:cNvPr id="28" name="Right Brace 27">
                    <a:extLst>
                      <a:ext uri="{FF2B5EF4-FFF2-40B4-BE49-F238E27FC236}">
                        <a16:creationId xmlns:a16="http://schemas.microsoft.com/office/drawing/2014/main" id="{65AEA1C1-1076-241A-A302-8A7F1BC80605}"/>
                      </a:ext>
                    </a:extLst>
                  </p:cNvPr>
                  <p:cNvSpPr/>
                  <p:nvPr/>
                </p:nvSpPr>
                <p:spPr>
                  <a:xfrm rot="16200000">
                    <a:off x="5753100" y="1333501"/>
                    <a:ext cx="533400" cy="198120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AD96EBF9-D19A-15D1-DEC9-5A6ACFA73C51}"/>
                      </a:ext>
                    </a:extLst>
                  </p:cNvPr>
                  <p:cNvSpPr txBox="1"/>
                  <p:nvPr/>
                </p:nvSpPr>
                <p:spPr>
                  <a:xfrm>
                    <a:off x="4572000" y="1143000"/>
                    <a:ext cx="3352800" cy="830997"/>
                  </a:xfrm>
                  <a:prstGeom prst="rect">
                    <a:avLst/>
                  </a:prstGeom>
                  <a:noFill/>
                </p:spPr>
                <p:txBody>
                  <a:bodyPr wrap="square" rtlCol="0">
                    <a:spAutoFit/>
                  </a:bodyPr>
                  <a:lstStyle/>
                  <a:p>
                    <a:pPr algn="ctr"/>
                    <a:r>
                      <a:rPr lang="en-US" sz="2400" dirty="0" err="1">
                        <a:solidFill>
                          <a:srgbClr val="C00000"/>
                        </a:solidFill>
                        <a:latin typeface="Arial" panose="020B0604020202020204" pitchFamily="34" charset="0"/>
                        <a:cs typeface="Arial" panose="020B0604020202020204" pitchFamily="34" charset="0"/>
                      </a:rPr>
                      <a:t>Thời</a:t>
                    </a:r>
                    <a:r>
                      <a:rPr lang="en-US" sz="2400" dirty="0">
                        <a:solidFill>
                          <a:srgbClr val="C00000"/>
                        </a:solidFill>
                        <a:latin typeface="Arial" panose="020B0604020202020204" pitchFamily="34" charset="0"/>
                        <a:cs typeface="Arial" panose="020B0604020202020204" pitchFamily="34" charset="0"/>
                      </a:rPr>
                      <a:t> </a:t>
                    </a:r>
                    <a:r>
                      <a:rPr lang="en-US" sz="2400" dirty="0" err="1">
                        <a:solidFill>
                          <a:srgbClr val="C00000"/>
                        </a:solidFill>
                        <a:latin typeface="Arial" panose="020B0604020202020204" pitchFamily="34" charset="0"/>
                        <a:cs typeface="Arial" panose="020B0604020202020204" pitchFamily="34" charset="0"/>
                      </a:rPr>
                      <a:t>gian</a:t>
                    </a:r>
                    <a:r>
                      <a:rPr lang="en-US" sz="2400" dirty="0">
                        <a:solidFill>
                          <a:srgbClr val="C00000"/>
                        </a:solidFill>
                        <a:latin typeface="Arial" panose="020B0604020202020204" pitchFamily="34" charset="0"/>
                        <a:cs typeface="Arial" panose="020B0604020202020204" pitchFamily="34" charset="0"/>
                      </a:rPr>
                      <a:t> </a:t>
                    </a:r>
                    <a:r>
                      <a:rPr lang="en-US" sz="2400" dirty="0" err="1">
                        <a:solidFill>
                          <a:srgbClr val="C00000"/>
                        </a:solidFill>
                        <a:latin typeface="Arial" panose="020B0604020202020204" pitchFamily="34" charset="0"/>
                        <a:cs typeface="Arial" panose="020B0604020202020204" pitchFamily="34" charset="0"/>
                      </a:rPr>
                      <a:t>chỉnh</a:t>
                    </a:r>
                    <a:r>
                      <a:rPr lang="en-US" sz="2400" dirty="0">
                        <a:solidFill>
                          <a:srgbClr val="C00000"/>
                        </a:solidFill>
                        <a:latin typeface="Arial" panose="020B0604020202020204" pitchFamily="34" charset="0"/>
                        <a:cs typeface="Arial" panose="020B0604020202020204" pitchFamily="34" charset="0"/>
                      </a:rPr>
                      <a:t> </a:t>
                    </a:r>
                    <a:r>
                      <a:rPr lang="en-US" sz="2400" dirty="0" err="1">
                        <a:solidFill>
                          <a:srgbClr val="C00000"/>
                        </a:solidFill>
                        <a:latin typeface="Arial" panose="020B0604020202020204" pitchFamily="34" charset="0"/>
                        <a:cs typeface="Arial" panose="020B0604020202020204" pitchFamily="34" charset="0"/>
                      </a:rPr>
                      <a:t>lý</a:t>
                    </a:r>
                    <a:r>
                      <a:rPr lang="en-US" sz="2400" dirty="0">
                        <a:solidFill>
                          <a:srgbClr val="C00000"/>
                        </a:solidFill>
                        <a:latin typeface="Arial" panose="020B0604020202020204" pitchFamily="34" charset="0"/>
                        <a:cs typeface="Arial" panose="020B0604020202020204" pitchFamily="34" charset="0"/>
                      </a:rPr>
                      <a:t> </a:t>
                    </a:r>
                    <a:r>
                      <a:rPr lang="en-US" sz="2400" dirty="0" err="1">
                        <a:solidFill>
                          <a:srgbClr val="C00000"/>
                        </a:solidFill>
                        <a:latin typeface="Arial" panose="020B0604020202020204" pitchFamily="34" charset="0"/>
                        <a:cs typeface="Arial" panose="020B0604020202020204" pitchFamily="34" charset="0"/>
                      </a:rPr>
                      <a:t>quyết</a:t>
                    </a:r>
                    <a:r>
                      <a:rPr lang="en-US" sz="2400" dirty="0">
                        <a:solidFill>
                          <a:srgbClr val="C00000"/>
                        </a:solidFill>
                        <a:latin typeface="Arial" panose="020B0604020202020204" pitchFamily="34" charset="0"/>
                        <a:cs typeface="Arial" panose="020B0604020202020204" pitchFamily="34" charset="0"/>
                      </a:rPr>
                      <a:t> </a:t>
                    </a:r>
                    <a:r>
                      <a:rPr lang="en-US" sz="2400" dirty="0" err="1">
                        <a:solidFill>
                          <a:srgbClr val="C00000"/>
                        </a:solidFill>
                        <a:latin typeface="Arial" panose="020B0604020202020204" pitchFamily="34" charset="0"/>
                        <a:cs typeface="Arial" panose="020B0604020202020204" pitchFamily="34" charset="0"/>
                      </a:rPr>
                      <a:t>toán</a:t>
                    </a:r>
                    <a:endParaRPr lang="en-US" sz="2400" dirty="0">
                      <a:solidFill>
                        <a:srgbClr val="C00000"/>
                      </a:solidFill>
                      <a:latin typeface="Arial" panose="020B0604020202020204" pitchFamily="34" charset="0"/>
                      <a:cs typeface="Arial" panose="020B0604020202020204" pitchFamily="34" charset="0"/>
                    </a:endParaRPr>
                  </a:p>
                </p:txBody>
              </p:sp>
            </p:grpSp>
          </p:grpSp>
          <p:sp>
            <p:nvSpPr>
              <p:cNvPr id="24" name="TextBox 23">
                <a:extLst>
                  <a:ext uri="{FF2B5EF4-FFF2-40B4-BE49-F238E27FC236}">
                    <a16:creationId xmlns:a16="http://schemas.microsoft.com/office/drawing/2014/main" id="{4087D8DB-CA88-3584-F000-7DBCDA45217A}"/>
                  </a:ext>
                </a:extLst>
              </p:cNvPr>
              <p:cNvSpPr txBox="1"/>
              <p:nvPr/>
            </p:nvSpPr>
            <p:spPr>
              <a:xfrm>
                <a:off x="7924800" y="3352800"/>
                <a:ext cx="990600" cy="461665"/>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t</a:t>
                </a:r>
              </a:p>
            </p:txBody>
          </p:sp>
        </p:grpSp>
        <p:sp>
          <p:nvSpPr>
            <p:cNvPr id="22" name="Left Brace 21">
              <a:extLst>
                <a:ext uri="{FF2B5EF4-FFF2-40B4-BE49-F238E27FC236}">
                  <a16:creationId xmlns:a16="http://schemas.microsoft.com/office/drawing/2014/main" id="{FD1F209E-58D6-C599-D88C-8544EDF499F4}"/>
                </a:ext>
              </a:extLst>
            </p:cNvPr>
            <p:cNvSpPr/>
            <p:nvPr/>
          </p:nvSpPr>
          <p:spPr>
            <a:xfrm>
              <a:off x="4267200" y="5403633"/>
              <a:ext cx="295274" cy="120032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0" name="TextBox 39">
            <a:extLst>
              <a:ext uri="{FF2B5EF4-FFF2-40B4-BE49-F238E27FC236}">
                <a16:creationId xmlns:a16="http://schemas.microsoft.com/office/drawing/2014/main" id="{58D89C2E-2A9D-067A-C431-0656264D63AF}"/>
              </a:ext>
            </a:extLst>
          </p:cNvPr>
          <p:cNvSpPr txBox="1"/>
          <p:nvPr/>
        </p:nvSpPr>
        <p:spPr>
          <a:xfrm>
            <a:off x="6198409" y="3790998"/>
            <a:ext cx="4576757"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Tổng</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hợp</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số</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liệu</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trên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sổ</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sách</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kế</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toán</a:t>
            </a:r>
            <a:endParaRPr lang="en-US" b="1" dirty="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D9CAD9E8-A802-05FE-79C7-E518AA74BF26}"/>
              </a:ext>
            </a:extLst>
          </p:cNvPr>
          <p:cNvSpPr txBox="1"/>
          <p:nvPr/>
        </p:nvSpPr>
        <p:spPr>
          <a:xfrm>
            <a:off x="6218273" y="4430650"/>
            <a:ext cx="4260746"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Chỉnh</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lý</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số</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liệu</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hạch</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toán</a:t>
            </a:r>
            <a:endParaRPr lang="en-US" b="1" dirty="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DAF4EED0-BC97-DB87-94C7-C03AC146C3AC}"/>
              </a:ext>
            </a:extLst>
          </p:cNvPr>
          <p:cNvSpPr txBox="1"/>
          <p:nvPr/>
        </p:nvSpPr>
        <p:spPr>
          <a:xfrm>
            <a:off x="568411" y="6285303"/>
            <a:ext cx="10709189" cy="369332"/>
          </a:xfrm>
          <a:prstGeom prst="rect">
            <a:avLst/>
          </a:prstGeom>
          <a:noFill/>
        </p:spPr>
        <p:txBody>
          <a:bodyPr wrap="square" rtlCol="0">
            <a:spAutoFit/>
          </a:bodyPr>
          <a:lstStyle/>
          <a:p>
            <a:r>
              <a:rPr lang="en-US" dirty="0" err="1">
                <a:solidFill>
                  <a:schemeClr val="accent1">
                    <a:lumMod val="50000"/>
                  </a:schemeClr>
                </a:solidFill>
              </a:rPr>
              <a:t>Đọc</a:t>
            </a:r>
            <a:r>
              <a:rPr lang="en-US" dirty="0">
                <a:solidFill>
                  <a:schemeClr val="accent1">
                    <a:lumMod val="50000"/>
                  </a:schemeClr>
                </a:solidFill>
              </a:rPr>
              <a:t> </a:t>
            </a:r>
            <a:r>
              <a:rPr lang="en-US" dirty="0" err="1">
                <a:solidFill>
                  <a:schemeClr val="accent1">
                    <a:lumMod val="50000"/>
                  </a:schemeClr>
                </a:solidFill>
              </a:rPr>
              <a:t>thêm</a:t>
            </a:r>
            <a:r>
              <a:rPr lang="en-US" dirty="0">
                <a:solidFill>
                  <a:schemeClr val="accent1">
                    <a:lumMod val="50000"/>
                  </a:schemeClr>
                </a:solidFill>
              </a:rPr>
              <a:t> </a:t>
            </a:r>
            <a:r>
              <a:rPr lang="en-US" dirty="0" err="1">
                <a:solidFill>
                  <a:schemeClr val="accent1">
                    <a:lumMod val="50000"/>
                  </a:schemeClr>
                </a:solidFill>
              </a:rPr>
              <a:t>điều</a:t>
            </a:r>
            <a:r>
              <a:rPr lang="en-US" dirty="0">
                <a:solidFill>
                  <a:schemeClr val="accent1">
                    <a:lumMod val="50000"/>
                  </a:schemeClr>
                </a:solidFill>
              </a:rPr>
              <a:t>  30/NĐ 73/2026/NĐ-CP </a:t>
            </a:r>
            <a:r>
              <a:rPr lang="en-US" dirty="0" err="1">
                <a:solidFill>
                  <a:schemeClr val="accent1">
                    <a:lumMod val="50000"/>
                  </a:schemeClr>
                </a:solidFill>
              </a:rPr>
              <a:t>quy</a:t>
            </a:r>
            <a:r>
              <a:rPr lang="en-US" dirty="0">
                <a:solidFill>
                  <a:schemeClr val="accent1">
                    <a:lumMod val="50000"/>
                  </a:schemeClr>
                </a:solidFill>
              </a:rPr>
              <a:t> </a:t>
            </a:r>
            <a:r>
              <a:rPr lang="en-US" dirty="0" err="1">
                <a:solidFill>
                  <a:schemeClr val="accent1">
                    <a:lumMod val="50000"/>
                  </a:schemeClr>
                </a:solidFill>
              </a:rPr>
              <a:t>định</a:t>
            </a:r>
            <a:r>
              <a:rPr lang="en-US" dirty="0">
                <a:solidFill>
                  <a:schemeClr val="accent1">
                    <a:lumMod val="50000"/>
                  </a:schemeClr>
                </a:solidFill>
              </a:rPr>
              <a:t> chi </a:t>
            </a:r>
            <a:r>
              <a:rPr lang="en-US" dirty="0" err="1">
                <a:solidFill>
                  <a:schemeClr val="accent1">
                    <a:lumMod val="50000"/>
                  </a:schemeClr>
                </a:solidFill>
              </a:rPr>
              <a:t>tiết</a:t>
            </a:r>
            <a:r>
              <a:rPr lang="en-US" dirty="0">
                <a:solidFill>
                  <a:schemeClr val="accent1">
                    <a:lumMod val="50000"/>
                  </a:schemeClr>
                </a:solidFill>
              </a:rPr>
              <a:t> </a:t>
            </a:r>
            <a:r>
              <a:rPr lang="en-US" dirty="0" err="1">
                <a:solidFill>
                  <a:schemeClr val="accent1">
                    <a:lumMod val="50000"/>
                  </a:schemeClr>
                </a:solidFill>
              </a:rPr>
              <a:t>và</a:t>
            </a:r>
            <a:r>
              <a:rPr lang="en-US" dirty="0">
                <a:solidFill>
                  <a:schemeClr val="accent1">
                    <a:lumMod val="50000"/>
                  </a:schemeClr>
                </a:solidFill>
              </a:rPr>
              <a:t> </a:t>
            </a:r>
            <a:r>
              <a:rPr lang="en-US" dirty="0" err="1">
                <a:solidFill>
                  <a:schemeClr val="accent1">
                    <a:lumMod val="50000"/>
                  </a:schemeClr>
                </a:solidFill>
              </a:rPr>
              <a:t>hướng</a:t>
            </a:r>
            <a:r>
              <a:rPr lang="en-US" dirty="0">
                <a:solidFill>
                  <a:schemeClr val="accent1">
                    <a:lumMod val="50000"/>
                  </a:schemeClr>
                </a:solidFill>
              </a:rPr>
              <a:t> </a:t>
            </a:r>
            <a:r>
              <a:rPr lang="en-US" dirty="0" err="1">
                <a:solidFill>
                  <a:schemeClr val="accent1">
                    <a:lumMod val="50000"/>
                  </a:schemeClr>
                </a:solidFill>
              </a:rPr>
              <a:t>dẫn</a:t>
            </a:r>
            <a:r>
              <a:rPr lang="en-US" dirty="0">
                <a:solidFill>
                  <a:schemeClr val="accent1">
                    <a:lumMod val="50000"/>
                  </a:schemeClr>
                </a:solidFill>
              </a:rPr>
              <a:t> </a:t>
            </a:r>
            <a:r>
              <a:rPr lang="en-US" dirty="0" err="1">
                <a:solidFill>
                  <a:schemeClr val="accent1">
                    <a:lumMod val="50000"/>
                  </a:schemeClr>
                </a:solidFill>
              </a:rPr>
              <a:t>thi</a:t>
            </a:r>
            <a:r>
              <a:rPr lang="en-US" dirty="0">
                <a:solidFill>
                  <a:schemeClr val="accent1">
                    <a:lumMod val="50000"/>
                  </a:schemeClr>
                </a:solidFill>
              </a:rPr>
              <a:t> </a:t>
            </a:r>
            <a:r>
              <a:rPr lang="en-US" dirty="0" err="1">
                <a:solidFill>
                  <a:schemeClr val="accent1">
                    <a:lumMod val="50000"/>
                  </a:schemeClr>
                </a:solidFill>
              </a:rPr>
              <a:t>hành</a:t>
            </a:r>
            <a:r>
              <a:rPr lang="en-US" dirty="0">
                <a:solidFill>
                  <a:schemeClr val="accent1">
                    <a:lumMod val="50000"/>
                  </a:schemeClr>
                </a:solidFill>
              </a:rPr>
              <a:t> </a:t>
            </a:r>
            <a:r>
              <a:rPr lang="en-US" dirty="0" err="1">
                <a:solidFill>
                  <a:schemeClr val="accent1">
                    <a:lumMod val="50000"/>
                  </a:schemeClr>
                </a:solidFill>
              </a:rPr>
              <a:t>một</a:t>
            </a:r>
            <a:r>
              <a:rPr lang="en-US" dirty="0">
                <a:solidFill>
                  <a:schemeClr val="accent1">
                    <a:lumMod val="50000"/>
                  </a:schemeClr>
                </a:solidFill>
              </a:rPr>
              <a:t> </a:t>
            </a:r>
            <a:r>
              <a:rPr lang="en-US" dirty="0" err="1">
                <a:solidFill>
                  <a:schemeClr val="accent1">
                    <a:lumMod val="50000"/>
                  </a:schemeClr>
                </a:solidFill>
              </a:rPr>
              <a:t>số</a:t>
            </a:r>
            <a:r>
              <a:rPr lang="en-US" dirty="0">
                <a:solidFill>
                  <a:schemeClr val="accent1">
                    <a:lumMod val="50000"/>
                  </a:schemeClr>
                </a:solidFill>
              </a:rPr>
              <a:t> </a:t>
            </a:r>
            <a:r>
              <a:rPr lang="en-US" dirty="0" err="1">
                <a:solidFill>
                  <a:schemeClr val="accent1">
                    <a:lumMod val="50000"/>
                  </a:schemeClr>
                </a:solidFill>
              </a:rPr>
              <a:t>điều</a:t>
            </a:r>
            <a:r>
              <a:rPr lang="en-US" dirty="0">
                <a:solidFill>
                  <a:schemeClr val="accent1">
                    <a:lumMod val="50000"/>
                  </a:schemeClr>
                </a:solidFill>
              </a:rPr>
              <a:t> </a:t>
            </a:r>
            <a:r>
              <a:rPr lang="en-US" dirty="0" err="1">
                <a:solidFill>
                  <a:schemeClr val="accent1">
                    <a:lumMod val="50000"/>
                  </a:schemeClr>
                </a:solidFill>
              </a:rPr>
              <a:t>của</a:t>
            </a:r>
            <a:r>
              <a:rPr lang="en-US" dirty="0">
                <a:solidFill>
                  <a:schemeClr val="accent1">
                    <a:lumMod val="50000"/>
                  </a:schemeClr>
                </a:solidFill>
              </a:rPr>
              <a:t> </a:t>
            </a:r>
            <a:r>
              <a:rPr lang="en-US" dirty="0" err="1">
                <a:solidFill>
                  <a:schemeClr val="accent1">
                    <a:lumMod val="50000"/>
                  </a:schemeClr>
                </a:solidFill>
              </a:rPr>
              <a:t>Luật</a:t>
            </a:r>
            <a:r>
              <a:rPr lang="en-US" dirty="0">
                <a:solidFill>
                  <a:schemeClr val="accent1">
                    <a:lumMod val="50000"/>
                  </a:schemeClr>
                </a:solidFill>
              </a:rPr>
              <a:t> NSNN</a:t>
            </a:r>
          </a:p>
        </p:txBody>
      </p:sp>
    </p:spTree>
    <p:extLst>
      <p:ext uri="{BB962C8B-B14F-4D97-AF65-F5344CB8AC3E}">
        <p14:creationId xmlns:p14="http://schemas.microsoft.com/office/powerpoint/2010/main" val="17852216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0480E-C21C-F52A-6396-77A00F4CC66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EBC5F8A-E01F-74AD-25F0-806B5EE354BC}"/>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3.3.3. QUYẾT TOÁN NGÂN SÁCH XÃ</a:t>
            </a:r>
          </a:p>
        </p:txBody>
      </p:sp>
      <p:sp>
        <p:nvSpPr>
          <p:cNvPr id="2" name="Text Placeholder 3">
            <a:extLst>
              <a:ext uri="{FF2B5EF4-FFF2-40B4-BE49-F238E27FC236}">
                <a16:creationId xmlns:a16="http://schemas.microsoft.com/office/drawing/2014/main" id="{562EFB1F-53DA-3FAB-944E-5A15C9B714F4}"/>
              </a:ext>
            </a:extLst>
          </p:cNvPr>
          <p:cNvSpPr txBox="1">
            <a:spLocks/>
          </p:cNvSpPr>
          <p:nvPr/>
        </p:nvSpPr>
        <p:spPr>
          <a:xfrm>
            <a:off x="386563" y="1297323"/>
            <a:ext cx="7994112" cy="793867"/>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trình</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vi-VN"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quyết toán NSX</a:t>
            </a:r>
            <a:endParaRPr lang="vi-VN" sz="3200" b="1" i="1" dirty="0">
              <a:solidFill>
                <a:srgbClr val="FF0000"/>
              </a:solidFill>
              <a:latin typeface="+mj-lt"/>
            </a:endParaRPr>
          </a:p>
        </p:txBody>
      </p:sp>
      <p:sp>
        <p:nvSpPr>
          <p:cNvPr id="6" name="TextBox 5">
            <a:extLst>
              <a:ext uri="{FF2B5EF4-FFF2-40B4-BE49-F238E27FC236}">
                <a16:creationId xmlns:a16="http://schemas.microsoft.com/office/drawing/2014/main" id="{87A9B558-0D6C-45D8-D881-F8BE0FDB7FCD}"/>
              </a:ext>
            </a:extLst>
          </p:cNvPr>
          <p:cNvSpPr txBox="1"/>
          <p:nvPr/>
        </p:nvSpPr>
        <p:spPr>
          <a:xfrm>
            <a:off x="386563" y="1943665"/>
            <a:ext cx="11191148" cy="3903954"/>
          </a:xfrm>
          <a:prstGeom prst="rect">
            <a:avLst/>
          </a:prstGeom>
          <a:noFill/>
        </p:spPr>
        <p:txBody>
          <a:bodyPr wrap="square">
            <a:spAutoFit/>
          </a:bodyPr>
          <a:lstStyle/>
          <a:p>
            <a:pPr algn="just">
              <a:lnSpc>
                <a:spcPct val="150000"/>
              </a:lnSpc>
            </a:pPr>
            <a:r>
              <a:rPr lang="en-US" sz="2400" b="1" dirty="0" err="1">
                <a:latin typeface="Times" panose="02020603050405020304" pitchFamily="18" charset="0"/>
                <a:cs typeface="Times" panose="02020603050405020304" pitchFamily="18" charset="0"/>
              </a:rPr>
              <a:t>Bước</a:t>
            </a:r>
            <a:r>
              <a:rPr lang="en-US" sz="2400" b="1" dirty="0">
                <a:latin typeface="Times" panose="02020603050405020304" pitchFamily="18" charset="0"/>
                <a:cs typeface="Times" panose="02020603050405020304" pitchFamily="18" charset="0"/>
              </a:rPr>
              <a:t> 1</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Lập</a:t>
            </a:r>
            <a:r>
              <a:rPr lang="en-US" sz="2400" dirty="0">
                <a:latin typeface="Times" panose="02020603050405020304" pitchFamily="18" charset="0"/>
                <a:cs typeface="Times" panose="02020603050405020304" pitchFamily="18" charset="0"/>
              </a:rPr>
              <a:t> , </a:t>
            </a:r>
            <a:r>
              <a:rPr lang="en-US" sz="2400" dirty="0" err="1">
                <a:latin typeface="Times" panose="02020603050405020304" pitchFamily="18" charset="0"/>
                <a:cs typeface="Times" panose="02020603050405020304" pitchFamily="18" charset="0"/>
              </a:rPr>
              <a:t>xét</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duyệt</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tổng</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hợp</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quyết</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toán</a:t>
            </a:r>
            <a:r>
              <a:rPr lang="en-US" sz="2400" dirty="0">
                <a:latin typeface="Times" panose="02020603050405020304" pitchFamily="18" charset="0"/>
                <a:cs typeface="Times" panose="02020603050405020304" pitchFamily="18" charset="0"/>
              </a:rPr>
              <a:t> NSNN</a:t>
            </a:r>
          </a:p>
          <a:p>
            <a:pPr marL="342900" indent="-342900" algn="just">
              <a:lnSpc>
                <a:spcPct val="150000"/>
              </a:lnSpc>
              <a:buFontTx/>
              <a:buChar char="-"/>
            </a:pPr>
            <a:r>
              <a:rPr lang="en-US" sz="2400" dirty="0" err="1">
                <a:latin typeface="Times" panose="02020603050405020304" pitchFamily="18" charset="0"/>
                <a:cs typeface="Times" panose="02020603050405020304" pitchFamily="18" charset="0"/>
              </a:rPr>
              <a:t>Thời</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gian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chỉnh</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lý</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quyết</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toán</a:t>
            </a:r>
            <a:r>
              <a:rPr lang="en-US" sz="2400" dirty="0">
                <a:latin typeface="Times" panose="02020603050405020304" pitchFamily="18" charset="0"/>
                <a:cs typeface="Times" panose="02020603050405020304" pitchFamily="18" charset="0"/>
              </a:rPr>
              <a:t>: 1/1 </a:t>
            </a:r>
            <a:r>
              <a:rPr lang="en-US" sz="2400" dirty="0" err="1">
                <a:latin typeface="Times" panose="02020603050405020304" pitchFamily="18" charset="0"/>
                <a:cs typeface="Times" panose="02020603050405020304" pitchFamily="18" charset="0"/>
              </a:rPr>
              <a:t>đến</a:t>
            </a:r>
            <a:r>
              <a:rPr lang="en-US" sz="2400" dirty="0">
                <a:latin typeface="Times" panose="02020603050405020304" pitchFamily="18" charset="0"/>
                <a:cs typeface="Times" panose="02020603050405020304" pitchFamily="18" charset="0"/>
              </a:rPr>
              <a:t> 31/1 </a:t>
            </a:r>
            <a:r>
              <a:rPr lang="en-US" sz="2400" dirty="0" err="1">
                <a:latin typeface="Times" panose="02020603050405020304" pitchFamily="18" charset="0"/>
                <a:cs typeface="Times" panose="02020603050405020304" pitchFamily="18" charset="0"/>
              </a:rPr>
              <a:t>năm</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sau</a:t>
            </a:r>
            <a:r>
              <a:rPr lang="en-US" sz="2400" dirty="0">
                <a:latin typeface="Times" panose="02020603050405020304" pitchFamily="18" charset="0"/>
                <a:cs typeface="Times" panose="02020603050405020304" pitchFamily="18" charset="0"/>
              </a:rPr>
              <a:t>.</a:t>
            </a:r>
          </a:p>
          <a:p>
            <a:pPr marL="342900" indent="-342900" algn="just">
              <a:lnSpc>
                <a:spcPct val="150000"/>
              </a:lnSpc>
              <a:buFontTx/>
              <a:buChar char="-"/>
            </a:pPr>
            <a:r>
              <a:rPr lang="en-US" sz="2400" dirty="0">
                <a:latin typeface="Times" panose="02020603050405020304" pitchFamily="18" charset="0"/>
                <a:cs typeface="Times" panose="02020603050405020304" pitchFamily="18" charset="0"/>
              </a:rPr>
              <a:t>Các </a:t>
            </a:r>
            <a:r>
              <a:rPr lang="en-US" sz="2400" dirty="0" err="1">
                <a:latin typeface="Times" panose="02020603050405020304" pitchFamily="18" charset="0"/>
                <a:cs typeface="Times" panose="02020603050405020304" pitchFamily="18" charset="0"/>
              </a:rPr>
              <a:t>khoản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dự</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toán</a:t>
            </a:r>
            <a:r>
              <a:rPr lang="en-US" sz="2400" dirty="0">
                <a:latin typeface="Times" panose="02020603050405020304" pitchFamily="18" charset="0"/>
                <a:cs typeface="Times" panose="02020603050405020304" pitchFamily="18" charset="0"/>
              </a:rPr>
              <a:t> chi, bao </a:t>
            </a:r>
            <a:r>
              <a:rPr lang="en-US" sz="2400" dirty="0" err="1">
                <a:latin typeface="Times" panose="02020603050405020304" pitchFamily="18" charset="0"/>
                <a:cs typeface="Times" panose="02020603050405020304" pitchFamily="18" charset="0"/>
              </a:rPr>
              <a:t>gồm</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cả</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các</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khoản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bổ</a:t>
            </a:r>
            <a:r>
              <a:rPr lang="en-US" sz="2400" dirty="0">
                <a:latin typeface="Times" panose="02020603050405020304" pitchFamily="18" charset="0"/>
                <a:cs typeface="Times" panose="02020603050405020304" pitchFamily="18" charset="0"/>
              </a:rPr>
              <a:t> sung </a:t>
            </a:r>
            <a:r>
              <a:rPr lang="en-US" sz="2400" dirty="0" err="1">
                <a:latin typeface="Times" panose="02020603050405020304" pitchFamily="18" charset="0"/>
                <a:cs typeface="Times" panose="02020603050405020304" pitchFamily="18" charset="0"/>
              </a:rPr>
              <a:t>trong</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năm</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đến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hết</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năm</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ngân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sách</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kể</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cả</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thời</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gian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chỉnh</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lý</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quyết</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toán</a:t>
            </a:r>
            <a:r>
              <a:rPr lang="en-US" sz="2400" dirty="0">
                <a:latin typeface="Times" panose="02020603050405020304" pitchFamily="18" charset="0"/>
                <a:cs typeface="Times" panose="02020603050405020304" pitchFamily="18" charset="0"/>
              </a:rPr>
              <a:t> NS </a:t>
            </a:r>
            <a:r>
              <a:rPr lang="en-US" sz="2400" dirty="0" err="1">
                <a:latin typeface="Times" panose="02020603050405020304" pitchFamily="18" charset="0"/>
                <a:cs typeface="Times" panose="02020603050405020304" pitchFamily="18" charset="0"/>
              </a:rPr>
              <a:t>theo</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quy</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định</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chưa</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thực</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hiện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hoặc</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chưa</a:t>
            </a:r>
            <a:r>
              <a:rPr lang="en-US" sz="2400" dirty="0">
                <a:latin typeface="Times" panose="02020603050405020304" pitchFamily="18" charset="0"/>
                <a:cs typeface="Times" panose="02020603050405020304" pitchFamily="18" charset="0"/>
              </a:rPr>
              <a:t> chi </a:t>
            </a:r>
            <a:r>
              <a:rPr lang="en-US" sz="2400" dirty="0" err="1">
                <a:latin typeface="Times" panose="02020603050405020304" pitchFamily="18" charset="0"/>
                <a:cs typeface="Times" panose="02020603050405020304" pitchFamily="18" charset="0"/>
              </a:rPr>
              <a:t>hết</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phải</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hủy</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bỏ</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trừ</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một</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số</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khoản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được</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chuyển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nguồn</a:t>
            </a:r>
            <a:r>
              <a:rPr lang="en-US" sz="2400" dirty="0">
                <a:latin typeface="Times" panose="02020603050405020304" pitchFamily="18" charset="0"/>
                <a:cs typeface="Times" panose="02020603050405020304" pitchFamily="18" charset="0"/>
              </a:rPr>
              <a:t> sang </a:t>
            </a:r>
            <a:r>
              <a:rPr lang="en-US" sz="2400" dirty="0" err="1">
                <a:latin typeface="Times" panose="02020603050405020304" pitchFamily="18" charset="0"/>
                <a:cs typeface="Times" panose="02020603050405020304" pitchFamily="18" charset="0"/>
              </a:rPr>
              <a:t>năm</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sau</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để</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thực</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hiện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và</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hạch</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toán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quyết</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toán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vào</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ngân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sách</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năm</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sau</a:t>
            </a:r>
            <a:r>
              <a:rPr lang="en-US" sz="2400" dirty="0">
                <a:latin typeface="Times" panose="02020603050405020304" pitchFamily="18" charset="0"/>
                <a:cs typeface="Times" panose="02020603050405020304" pitchFamily="18" charset="0"/>
              </a:rPr>
              <a:t>.</a:t>
            </a:r>
          </a:p>
          <a:p>
            <a:pPr algn="just">
              <a:lnSpc>
                <a:spcPct val="150000"/>
              </a:lnSpc>
            </a:pPr>
            <a:r>
              <a:rPr lang="en-US" sz="2400" dirty="0">
                <a:latin typeface="Times" panose="02020603050405020304" pitchFamily="18" charset="0"/>
                <a:cs typeface="Times" panose="02020603050405020304" pitchFamily="18" charset="0"/>
              </a:rPr>
              <a:t>→  </a:t>
            </a:r>
            <a:r>
              <a:rPr lang="en-US" sz="2400" b="1" dirty="0" err="1">
                <a:latin typeface="Times" panose="02020603050405020304" pitchFamily="18" charset="0"/>
                <a:cs typeface="Times" panose="02020603050405020304" pitchFamily="18" charset="0"/>
              </a:rPr>
              <a:t>Hỏi</a:t>
            </a:r>
            <a:r>
              <a:rPr lang="en-US" sz="2400" b="1" dirty="0">
                <a:latin typeface="Times" panose="02020603050405020304" pitchFamily="18" charset="0"/>
                <a:cs typeface="Times" panose="02020603050405020304" pitchFamily="18" charset="0"/>
              </a:rPr>
              <a:t>: </a:t>
            </a:r>
            <a:r>
              <a:rPr lang="en-US" sz="2400" dirty="0">
                <a:latin typeface="Times" panose="02020603050405020304" pitchFamily="18" charset="0"/>
                <a:cs typeface="Times" panose="02020603050405020304" pitchFamily="18" charset="0"/>
              </a:rPr>
              <a:t>Các </a:t>
            </a:r>
            <a:r>
              <a:rPr lang="en-US" sz="2400" dirty="0" err="1">
                <a:latin typeface="Times" panose="02020603050405020304" pitchFamily="18" charset="0"/>
                <a:cs typeface="Times" panose="02020603050405020304" pitchFamily="18" charset="0"/>
              </a:rPr>
              <a:t>khoản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chuyển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nguồn</a:t>
            </a:r>
            <a:r>
              <a:rPr lang="en-US" sz="2400" dirty="0">
                <a:latin typeface="Times" panose="02020603050405020304" pitchFamily="18" charset="0"/>
                <a:cs typeface="Times" panose="02020603050405020304" pitchFamily="18" charset="0"/>
              </a:rPr>
              <a:t> sang </a:t>
            </a:r>
            <a:r>
              <a:rPr lang="en-US" sz="2400" dirty="0" err="1">
                <a:latin typeface="Times" panose="02020603050405020304" pitchFamily="18" charset="0"/>
                <a:cs typeface="Times" panose="02020603050405020304" pitchFamily="18" charset="0"/>
              </a:rPr>
              <a:t>ngân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sách</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năm</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sau</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là</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các</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khoản</a:t>
            </a:r>
            <a:r>
              <a:rPr lang="en-US" sz="2400" dirty="0">
                <a:latin typeface="Times" panose="02020603050405020304" pitchFamily="18" charset="0"/>
                <a:cs typeface="Times" panose="02020603050405020304" pitchFamily="18" charset="0"/>
              </a:rPr>
              <a:t> </a:t>
            </a:r>
            <a:r>
              <a:rPr lang="en-US" sz="2400" dirty="0" err="1">
                <a:latin typeface="Times" panose="02020603050405020304" pitchFamily="18" charset="0"/>
                <a:cs typeface="Times" panose="02020603050405020304" pitchFamily="18" charset="0"/>
              </a:rPr>
              <a:t>nào</a:t>
            </a:r>
            <a:r>
              <a:rPr lang="en-US" sz="2400" dirty="0">
                <a:latin typeface="Times" panose="02020603050405020304" pitchFamily="18" charset="0"/>
                <a:cs typeface="Times" panose="02020603050405020304" pitchFamily="18" charset="0"/>
              </a:rPr>
              <a:t>?</a:t>
            </a:r>
          </a:p>
        </p:txBody>
      </p:sp>
    </p:spTree>
    <p:extLst>
      <p:ext uri="{BB962C8B-B14F-4D97-AF65-F5344CB8AC3E}">
        <p14:creationId xmlns:p14="http://schemas.microsoft.com/office/powerpoint/2010/main" val="29197225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43792-07FC-82D2-6090-162C9417F08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0DAC957-841B-49FF-63F2-3790892AA4C8}"/>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3.3.3. QUYẾT TOÁN NGÂN SÁCH XÃ</a:t>
            </a:r>
          </a:p>
        </p:txBody>
      </p:sp>
      <p:sp>
        <p:nvSpPr>
          <p:cNvPr id="2" name="Text Placeholder 3">
            <a:extLst>
              <a:ext uri="{FF2B5EF4-FFF2-40B4-BE49-F238E27FC236}">
                <a16:creationId xmlns:a16="http://schemas.microsoft.com/office/drawing/2014/main" id="{7F613CFC-CF4F-2A94-E3CE-430EE8BF8AA5}"/>
              </a:ext>
            </a:extLst>
          </p:cNvPr>
          <p:cNvSpPr txBox="1">
            <a:spLocks/>
          </p:cNvSpPr>
          <p:nvPr/>
        </p:nvSpPr>
        <p:spPr>
          <a:xfrm>
            <a:off x="134310" y="1171195"/>
            <a:ext cx="7994112" cy="793867"/>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trình</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vi-VN"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quyết toán NSX</a:t>
            </a:r>
            <a:endParaRPr lang="vi-VN" sz="3200" b="1" i="1" dirty="0">
              <a:solidFill>
                <a:srgbClr val="FF0000"/>
              </a:solidFill>
              <a:latin typeface="+mj-lt"/>
            </a:endParaRPr>
          </a:p>
        </p:txBody>
      </p:sp>
      <p:sp>
        <p:nvSpPr>
          <p:cNvPr id="6" name="TextBox 5">
            <a:extLst>
              <a:ext uri="{FF2B5EF4-FFF2-40B4-BE49-F238E27FC236}">
                <a16:creationId xmlns:a16="http://schemas.microsoft.com/office/drawing/2014/main" id="{18FC3B5C-D19B-ECA4-1AC3-07A6C8DCE23E}"/>
              </a:ext>
            </a:extLst>
          </p:cNvPr>
          <p:cNvSpPr txBox="1"/>
          <p:nvPr/>
        </p:nvSpPr>
        <p:spPr>
          <a:xfrm>
            <a:off x="260434" y="1754476"/>
            <a:ext cx="11797255" cy="4455835"/>
          </a:xfrm>
          <a:prstGeom prst="rect">
            <a:avLst/>
          </a:prstGeom>
          <a:noFill/>
        </p:spPr>
        <p:txBody>
          <a:bodyPr wrap="square">
            <a:spAutoFit/>
          </a:bodyPr>
          <a:lstStyle/>
          <a:p>
            <a:pPr algn="just">
              <a:lnSpc>
                <a:spcPct val="150000"/>
              </a:lnSpc>
            </a:pPr>
            <a:r>
              <a:rPr lang="en-US" sz="2400" b="1" dirty="0" err="1">
                <a:latin typeface="Arial" panose="020B0604020202020204" pitchFamily="34" charset="0"/>
                <a:cs typeface="Arial" panose="020B0604020202020204" pitchFamily="34" charset="0"/>
              </a:rPr>
              <a:t>Bước</a:t>
            </a:r>
            <a:r>
              <a:rPr lang="en-US" sz="2400" b="1" dirty="0">
                <a:latin typeface="Arial" panose="020B0604020202020204" pitchFamily="34" charset="0"/>
                <a:cs typeface="Arial" panose="020B0604020202020204" pitchFamily="34" charset="0"/>
              </a:rPr>
              <a:t> 1</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Lập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xét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duyệt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tổng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hợp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quyết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toán</a:t>
            </a:r>
            <a:r>
              <a:rPr lang="en-US" sz="2400" dirty="0">
                <a:latin typeface="Arial" panose="020B0604020202020204" pitchFamily="34" charset="0"/>
                <a:cs typeface="Arial" panose="020B0604020202020204" pitchFamily="34" charset="0"/>
              </a:rPr>
              <a:t> NS </a:t>
            </a:r>
            <a:r>
              <a:rPr lang="en-US" sz="2400" dirty="0" err="1">
                <a:latin typeface="Arial" panose="020B0604020202020204" pitchFamily="34" charset="0"/>
                <a:cs typeface="Arial" panose="020B0604020202020204" pitchFamily="34" charset="0"/>
              </a:rPr>
              <a:t>xã</a:t>
            </a:r>
            <a:endParaRPr lang="en-US" sz="2400" dirty="0">
              <a:latin typeface="Arial" panose="020B0604020202020204" pitchFamily="34" charset="0"/>
              <a:cs typeface="Arial" panose="020B0604020202020204" pitchFamily="34" charset="0"/>
            </a:endParaRPr>
          </a:p>
          <a:p>
            <a:pPr algn="just">
              <a:lnSpc>
                <a:spcPct val="150000"/>
              </a:lnSpc>
            </a:pPr>
            <a:r>
              <a:rPr lang="en-US" sz="2400" b="1" dirty="0" err="1">
                <a:latin typeface="Arial" panose="020B0604020202020204" pitchFamily="34" charset="0"/>
                <a:cs typeface="Arial" panose="020B0604020202020204" pitchFamily="34" charset="0"/>
              </a:rPr>
              <a:t>Lập</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quyết</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toán</a:t>
            </a:r>
            <a:r>
              <a:rPr lang="en-US" sz="2400" b="1" dirty="0">
                <a:latin typeface="Arial" panose="020B0604020202020204" pitchFamily="34" charset="0"/>
                <a:cs typeface="Arial" panose="020B0604020202020204" pitchFamily="34" charset="0"/>
              </a:rPr>
              <a:t> NS </a:t>
            </a:r>
            <a:r>
              <a:rPr lang="en-US" sz="2400" b="1" dirty="0" err="1">
                <a:latin typeface="Arial" panose="020B0604020202020204" pitchFamily="34" charset="0"/>
                <a:cs typeface="Arial" panose="020B0604020202020204" pitchFamily="34" charset="0"/>
              </a:rPr>
              <a:t>của</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đơn</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vị</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sử</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dụng</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ngân</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sách</a:t>
            </a:r>
            <a:endParaRPr lang="en-US" sz="2400" b="1" dirty="0">
              <a:latin typeface="Arial" panose="020B0604020202020204" pitchFamily="34" charset="0"/>
              <a:cs typeface="Arial" panose="020B0604020202020204" pitchFamily="34" charset="0"/>
            </a:endParaRPr>
          </a:p>
          <a:p>
            <a:pPr algn="just">
              <a:lnSpc>
                <a:spcPct val="150000"/>
              </a:lnSpc>
            </a:pPr>
            <a:r>
              <a:rPr lang="en-US" sz="2400" dirty="0" err="1">
                <a:latin typeface="Arial" panose="020B0604020202020204" pitchFamily="34" charset="0"/>
                <a:cs typeface="Arial" panose="020B0604020202020204" pitchFamily="34" charset="0"/>
              </a:rPr>
              <a:t>Đơn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vị</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được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giao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toán</a:t>
            </a:r>
            <a:r>
              <a:rPr lang="en-US" sz="2400" dirty="0">
                <a:latin typeface="Arial" panose="020B0604020202020204" pitchFamily="34" charset="0"/>
                <a:cs typeface="Arial" panose="020B0604020202020204" pitchFamily="34" charset="0"/>
              </a:rPr>
              <a:t> NS </a:t>
            </a:r>
            <a:r>
              <a:rPr lang="en-US" sz="2400" dirty="0" err="1">
                <a:latin typeface="Arial" panose="020B0604020202020204" pitchFamily="34" charset="0"/>
                <a:cs typeface="Arial" panose="020B0604020202020204" pitchFamily="34" charset="0"/>
              </a:rPr>
              <a:t>lập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quyết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thu</a:t>
            </a:r>
            <a:r>
              <a:rPr lang="en-US" sz="2400" dirty="0">
                <a:latin typeface="Arial" panose="020B0604020202020204" pitchFamily="34" charset="0"/>
                <a:cs typeface="Arial" panose="020B0604020202020204" pitchFamily="34" charset="0"/>
              </a:rPr>
              <a:t>, chi NS </a:t>
            </a:r>
            <a:r>
              <a:rPr lang="en-US" sz="2400" dirty="0" err="1">
                <a:latin typeface="Arial" panose="020B0604020202020204" pitchFamily="34" charset="0"/>
                <a:cs typeface="Arial" panose="020B0604020202020204" pitchFamily="34" charset="0"/>
              </a:rPr>
              <a:t>của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vị</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mình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gửi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vị</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cấp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trên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trực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tiếp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hoặc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vị</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giao</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toán</a:t>
            </a:r>
            <a:r>
              <a:rPr lang="en-US" sz="2400" dirty="0">
                <a:latin typeface="Arial" panose="020B0604020202020204" pitchFamily="34" charset="0"/>
                <a:cs typeface="Arial" panose="020B0604020202020204" pitchFamily="34" charset="0"/>
              </a:rPr>
              <a:t>. Trường </a:t>
            </a:r>
            <a:r>
              <a:rPr lang="en-US" sz="2400" dirty="0" err="1">
                <a:latin typeface="Arial" panose="020B0604020202020204" pitchFamily="34" charset="0"/>
                <a:cs typeface="Arial" panose="020B0604020202020204" pitchFamily="34" charset="0"/>
              </a:rPr>
              <a:t>hợp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vị</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sử</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dụng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ngân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sách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đồng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vị</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dự</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cấp</a:t>
            </a:r>
            <a:r>
              <a:rPr lang="en-US" sz="2400" dirty="0">
                <a:latin typeface="Arial" panose="020B0604020202020204" pitchFamily="34" charset="0"/>
                <a:cs typeface="Arial" panose="020B0604020202020204" pitchFamily="34" charset="0"/>
              </a:rPr>
              <a:t> I </a:t>
            </a:r>
            <a:r>
              <a:rPr lang="en-US" sz="2400" dirty="0" err="1">
                <a:latin typeface="Arial" panose="020B0604020202020204" pitchFamily="34" charset="0"/>
                <a:cs typeface="Arial" panose="020B0604020202020204" pitchFamily="34" charset="0"/>
              </a:rPr>
              <a:t>thì</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lập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quyết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thu</a:t>
            </a:r>
            <a:r>
              <a:rPr lang="en-US" sz="2400" dirty="0">
                <a:latin typeface="Arial" panose="020B0604020202020204" pitchFamily="34" charset="0"/>
                <a:cs typeface="Arial" panose="020B0604020202020204" pitchFamily="34" charset="0"/>
              </a:rPr>
              <a:t>, chi NSNN </a:t>
            </a:r>
            <a:r>
              <a:rPr lang="en-US" sz="2400" dirty="0" err="1">
                <a:latin typeface="Arial" panose="020B0604020202020204" pitchFamily="34" charset="0"/>
                <a:cs typeface="Arial" panose="020B0604020202020204" pitchFamily="34" charset="0"/>
              </a:rPr>
              <a:t>gửi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cơ</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quan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tài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chính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cùng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cấp</a:t>
            </a:r>
            <a:r>
              <a:rPr lang="en-US" sz="2400" dirty="0">
                <a:latin typeface="Arial" panose="020B0604020202020204" pitchFamily="34" charset="0"/>
                <a:cs typeface="Arial" panose="020B0604020202020204" pitchFamily="34" charset="0"/>
              </a:rPr>
              <a:t>.</a:t>
            </a:r>
          </a:p>
          <a:p>
            <a:pPr algn="just">
              <a:lnSpc>
                <a:spcPct val="150000"/>
              </a:lnSpc>
            </a:pPr>
            <a:endParaRPr lang="en-US" sz="2400" dirty="0">
              <a:latin typeface="Arial" panose="020B0604020202020204" pitchFamily="34" charset="0"/>
              <a:cs typeface="Arial" panose="020B0604020202020204" pitchFamily="34" charset="0"/>
            </a:endParaRPr>
          </a:p>
          <a:p>
            <a:pPr algn="just">
              <a:lnSpc>
                <a:spcPct val="150000"/>
              </a:lnSpc>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07771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3EE2E-4FF8-561E-A659-56BA6BB7973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46470CC-A909-9AA4-BB42-6329B75D6AB0}"/>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3.3.3. QUYẾT TOÁN NGÂN SÁCH XÃ</a:t>
            </a:r>
          </a:p>
        </p:txBody>
      </p:sp>
      <p:sp>
        <p:nvSpPr>
          <p:cNvPr id="2" name="Text Placeholder 3">
            <a:extLst>
              <a:ext uri="{FF2B5EF4-FFF2-40B4-BE49-F238E27FC236}">
                <a16:creationId xmlns:a16="http://schemas.microsoft.com/office/drawing/2014/main" id="{A3E984C8-0495-CFAD-08BB-5551DADA3545}"/>
              </a:ext>
            </a:extLst>
          </p:cNvPr>
          <p:cNvSpPr txBox="1">
            <a:spLocks/>
          </p:cNvSpPr>
          <p:nvPr/>
        </p:nvSpPr>
        <p:spPr>
          <a:xfrm>
            <a:off x="134310" y="1171195"/>
            <a:ext cx="7994112" cy="793867"/>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trình</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vi-VN"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quyết toán NSX</a:t>
            </a:r>
            <a:endParaRPr lang="vi-VN" sz="3200" b="1" i="1" dirty="0">
              <a:solidFill>
                <a:srgbClr val="FF0000"/>
              </a:solidFill>
              <a:latin typeface="+mj-lt"/>
            </a:endParaRPr>
          </a:p>
        </p:txBody>
      </p:sp>
      <p:sp>
        <p:nvSpPr>
          <p:cNvPr id="6" name="TextBox 5">
            <a:extLst>
              <a:ext uri="{FF2B5EF4-FFF2-40B4-BE49-F238E27FC236}">
                <a16:creationId xmlns:a16="http://schemas.microsoft.com/office/drawing/2014/main" id="{3DF4E514-5C30-7438-C48B-1BFAC5B4B512}"/>
              </a:ext>
            </a:extLst>
          </p:cNvPr>
          <p:cNvSpPr txBox="1"/>
          <p:nvPr/>
        </p:nvSpPr>
        <p:spPr>
          <a:xfrm>
            <a:off x="260434" y="1849072"/>
            <a:ext cx="11797255" cy="4770537"/>
          </a:xfrm>
          <a:prstGeom prst="rect">
            <a:avLst/>
          </a:prstGeom>
          <a:noFill/>
        </p:spPr>
        <p:txBody>
          <a:bodyPr wrap="square">
            <a:spAutoFit/>
          </a:bodyPr>
          <a:lstStyle/>
          <a:p>
            <a:pPr algn="just"/>
            <a:r>
              <a:rPr lang="en-US" sz="2400" b="1" dirty="0" err="1">
                <a:latin typeface="Arial" panose="020B0604020202020204" pitchFamily="34" charset="0"/>
                <a:cs typeface="Arial" panose="020B0604020202020204" pitchFamily="34" charset="0"/>
              </a:rPr>
              <a:t>Bước</a:t>
            </a:r>
            <a:r>
              <a:rPr lang="en-US" sz="2400" b="1" dirty="0">
                <a:latin typeface="Arial" panose="020B0604020202020204" pitchFamily="34" charset="0"/>
                <a:cs typeface="Arial" panose="020B0604020202020204" pitchFamily="34" charset="0"/>
              </a:rPr>
              <a:t> 1</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Lập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xét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duyệt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tổng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hợp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quyết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toán</a:t>
            </a:r>
            <a:r>
              <a:rPr lang="en-US" sz="2400" dirty="0">
                <a:latin typeface="Arial" panose="020B0604020202020204" pitchFamily="34" charset="0"/>
                <a:cs typeface="Arial" panose="020B0604020202020204" pitchFamily="34" charset="0"/>
              </a:rPr>
              <a:t> NS </a:t>
            </a:r>
            <a:r>
              <a:rPr lang="en-US" sz="2400" dirty="0" err="1">
                <a:latin typeface="Arial" panose="020B0604020202020204" pitchFamily="34" charset="0"/>
                <a:cs typeface="Arial" panose="020B0604020202020204" pitchFamily="34" charset="0"/>
              </a:rPr>
              <a:t>xã</a:t>
            </a:r>
            <a:endParaRPr lang="en-US" sz="2400" dirty="0">
              <a:latin typeface="Arial" panose="020B0604020202020204" pitchFamily="34" charset="0"/>
              <a:cs typeface="Arial" panose="020B0604020202020204" pitchFamily="34" charset="0"/>
            </a:endParaRPr>
          </a:p>
          <a:p>
            <a:pPr algn="just"/>
            <a:r>
              <a:rPr lang="en-US" sz="2000" b="1" dirty="0" err="1">
                <a:latin typeface="Arial" panose="020B0604020202020204" pitchFamily="34" charset="0"/>
                <a:cs typeface="Arial" panose="020B0604020202020204" pitchFamily="34" charset="0"/>
              </a:rPr>
              <a:t>Lập</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quyết</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toán</a:t>
            </a:r>
            <a:r>
              <a:rPr lang="en-US" sz="2000" b="1" dirty="0">
                <a:latin typeface="Arial" panose="020B0604020202020204" pitchFamily="34" charset="0"/>
                <a:cs typeface="Arial" panose="020B0604020202020204" pitchFamily="34" charset="0"/>
              </a:rPr>
              <a:t> NS </a:t>
            </a:r>
            <a:r>
              <a:rPr lang="en-US" sz="2000" b="1" dirty="0" err="1">
                <a:latin typeface="Arial" panose="020B0604020202020204" pitchFamily="34" charset="0"/>
                <a:cs typeface="Arial" panose="020B0604020202020204" pitchFamily="34" charset="0"/>
              </a:rPr>
              <a:t>của</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chủ</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đầu</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tư</a:t>
            </a:r>
            <a:endParaRPr lang="en-US" sz="2000" b="1"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Chủ </a:t>
            </a:r>
            <a:r>
              <a:rPr lang="en-US" sz="2000" dirty="0" err="1">
                <a:latin typeface="Arial" panose="020B0604020202020204" pitchFamily="34" charset="0"/>
                <a:cs typeface="Arial" panose="020B0604020202020204" pitchFamily="34" charset="0"/>
              </a:rPr>
              <a:t>đầu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tư</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chương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trình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đầu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tư</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triển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chương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trình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mục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tiêu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quốc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trọng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quốc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gia</a:t>
            </a:r>
            <a:r>
              <a:rPr lang="en-US" sz="2000" dirty="0">
                <a:latin typeface="Arial" panose="020B0604020202020204" pitchFamily="34" charset="0"/>
                <a:cs typeface="Arial" panose="020B0604020202020204" pitchFamily="34" charset="0"/>
              </a:rPr>
              <a:t>:</a:t>
            </a:r>
          </a:p>
          <a:p>
            <a:pPr marL="457200" indent="-457200" algn="just">
              <a:buAutoNum type="alphaLcParenR"/>
            </a:pPr>
            <a:r>
              <a:rPr lang="en-US" sz="2000" dirty="0" err="1">
                <a:latin typeface="Arial" panose="020B0604020202020204" pitchFamily="34" charset="0"/>
                <a:cs typeface="Arial" panose="020B0604020202020204" pitchFamily="34" charset="0"/>
              </a:rPr>
              <a:t>Kết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thúc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năm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sách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phải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nguồn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vốn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nguồn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vốn</a:t>
            </a:r>
            <a:r>
              <a:rPr lang="en-US" sz="2000" dirty="0">
                <a:latin typeface="Arial" panose="020B0604020202020204" pitchFamily="34" charset="0"/>
                <a:cs typeface="Arial" panose="020B0604020202020204" pitchFamily="34" charset="0"/>
              </a:rPr>
              <a:t> NSNN, </a:t>
            </a:r>
            <a:r>
              <a:rPr lang="en-US" sz="2000" dirty="0" err="1">
                <a:latin typeface="Arial" panose="020B0604020202020204" pitchFamily="34" charset="0"/>
                <a:cs typeface="Arial" panose="020B0604020202020204" pitchFamily="34" charset="0"/>
              </a:rPr>
              <a:t>tình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hình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vốn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khối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lượng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hoàn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thành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đã</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được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trong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năm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gửi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thanh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vốn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đầu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tư</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triển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trên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chủ</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đầu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tư</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chính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cùng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a:t>
            </a:r>
          </a:p>
          <a:p>
            <a:pPr marL="457200" indent="-457200" algn="just">
              <a:buAutoNum type="alphaLcParenR"/>
            </a:pPr>
            <a:r>
              <a:rPr lang="en-US" sz="2000" dirty="0">
                <a:latin typeface="Arial" panose="020B0604020202020204" pitchFamily="34" charset="0"/>
                <a:cs typeface="Arial" panose="020B0604020202020204" pitchFamily="34" charset="0"/>
              </a:rPr>
              <a:t>Khi </a:t>
            </a:r>
            <a:r>
              <a:rPr lang="en-US" sz="2000" dirty="0" err="1">
                <a:latin typeface="Arial" panose="020B0604020202020204" pitchFamily="34" charset="0"/>
                <a:cs typeface="Arial" panose="020B0604020202020204" pitchFamily="34" charset="0"/>
              </a:rPr>
              <a:t>chương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trình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đầu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tư</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triển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chương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trình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mục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tiêu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quốc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trọng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quốc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hoàn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thành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phải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lập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toàn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bộ</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nguồn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vốn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nguồn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vốn</a:t>
            </a:r>
            <a:r>
              <a:rPr lang="en-US" sz="2000" dirty="0">
                <a:latin typeface="Arial" panose="020B0604020202020204" pitchFamily="34" charset="0"/>
                <a:cs typeface="Arial" panose="020B0604020202020204" pitchFamily="34" charset="0"/>
              </a:rPr>
              <a:t> NSNN </a:t>
            </a:r>
            <a:r>
              <a:rPr lang="en-US" sz="2000" dirty="0" err="1">
                <a:latin typeface="Arial" panose="020B0604020202020204" pitchFamily="34" charset="0"/>
                <a:cs typeface="Arial" panose="020B0604020202020204" pitchFamily="34" charset="0"/>
              </a:rPr>
              <a:t>kèm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theo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minh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tình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hình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vốn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gửi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thanh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toansn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vốn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đầu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tư</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triển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có</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thẩm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quyền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xét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duyệt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trình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đầu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tư</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triển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chương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trình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theo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chế</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độ</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định</a:t>
            </a:r>
            <a:r>
              <a:rPr lang="en-US" sz="2000" dirty="0">
                <a:latin typeface="Arial" panose="020B0604020202020204" pitchFamily="34" charset="0"/>
                <a:cs typeface="Arial" panose="020B0604020202020204" pitchFamily="34" charset="0"/>
              </a:rPr>
              <a:t>.</a:t>
            </a:r>
          </a:p>
          <a:p>
            <a:pPr algn="just"/>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426365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32AA5-86BC-D0CD-7C78-908683D0368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BC59D4C-2D4F-B5F2-F82E-6A2C63833037}"/>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3.3.3. QUYẾT TOÁN NGÂN SÁCH XÃ</a:t>
            </a:r>
          </a:p>
        </p:txBody>
      </p:sp>
      <p:sp>
        <p:nvSpPr>
          <p:cNvPr id="2" name="Text Placeholder 3">
            <a:extLst>
              <a:ext uri="{FF2B5EF4-FFF2-40B4-BE49-F238E27FC236}">
                <a16:creationId xmlns:a16="http://schemas.microsoft.com/office/drawing/2014/main" id="{144DAC4E-BC9B-847D-AC84-4643C7D36AAB}"/>
              </a:ext>
            </a:extLst>
          </p:cNvPr>
          <p:cNvSpPr txBox="1">
            <a:spLocks/>
          </p:cNvSpPr>
          <p:nvPr/>
        </p:nvSpPr>
        <p:spPr>
          <a:xfrm>
            <a:off x="134310" y="1171195"/>
            <a:ext cx="7994112" cy="793867"/>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trình</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vi-VN"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quyết toán NSX</a:t>
            </a:r>
            <a:endParaRPr lang="vi-VN" sz="3200" b="1" i="1" dirty="0">
              <a:solidFill>
                <a:srgbClr val="FF0000"/>
              </a:solidFill>
              <a:latin typeface="+mj-lt"/>
            </a:endParaRPr>
          </a:p>
        </p:txBody>
      </p:sp>
      <p:sp>
        <p:nvSpPr>
          <p:cNvPr id="6" name="TextBox 5">
            <a:extLst>
              <a:ext uri="{FF2B5EF4-FFF2-40B4-BE49-F238E27FC236}">
                <a16:creationId xmlns:a16="http://schemas.microsoft.com/office/drawing/2014/main" id="{D15C48C9-CDAD-1C99-6C7D-70DA1C02EC86}"/>
              </a:ext>
            </a:extLst>
          </p:cNvPr>
          <p:cNvSpPr txBox="1"/>
          <p:nvPr/>
        </p:nvSpPr>
        <p:spPr>
          <a:xfrm>
            <a:off x="189793" y="1801179"/>
            <a:ext cx="11797255" cy="3231654"/>
          </a:xfrm>
          <a:prstGeom prst="rect">
            <a:avLst/>
          </a:prstGeom>
          <a:noFill/>
        </p:spPr>
        <p:txBody>
          <a:bodyPr wrap="square">
            <a:spAutoFit/>
          </a:bodyPr>
          <a:lstStyle/>
          <a:p>
            <a:pPr algn="just"/>
            <a:r>
              <a:rPr lang="en-US" sz="2400" b="1" dirty="0" err="1">
                <a:latin typeface="Arial" panose="020B0604020202020204" pitchFamily="34" charset="0"/>
                <a:cs typeface="Arial" panose="020B0604020202020204" pitchFamily="34" charset="0"/>
              </a:rPr>
              <a:t>Bước</a:t>
            </a:r>
            <a:r>
              <a:rPr lang="en-US" sz="2400" b="1" dirty="0">
                <a:latin typeface="Arial" panose="020B0604020202020204" pitchFamily="34" charset="0"/>
                <a:cs typeface="Arial" panose="020B0604020202020204" pitchFamily="34" charset="0"/>
              </a:rPr>
              <a:t> 1</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Lập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xét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duyệt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tổng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hợp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quyết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toán</a:t>
            </a:r>
            <a:r>
              <a:rPr lang="en-US" sz="2400" dirty="0">
                <a:latin typeface="Arial" panose="020B0604020202020204" pitchFamily="34" charset="0"/>
                <a:cs typeface="Arial" panose="020B0604020202020204" pitchFamily="34" charset="0"/>
              </a:rPr>
              <a:t> NS </a:t>
            </a:r>
            <a:r>
              <a:rPr lang="en-US" sz="2400" dirty="0" err="1">
                <a:latin typeface="Arial" panose="020B0604020202020204" pitchFamily="34" charset="0"/>
                <a:cs typeface="Arial" panose="020B0604020202020204" pitchFamily="34" charset="0"/>
              </a:rPr>
              <a:t>xã</a:t>
            </a:r>
            <a:endParaRPr lang="en-US" sz="2400" dirty="0">
              <a:latin typeface="Arial" panose="020B0604020202020204" pitchFamily="34" charset="0"/>
              <a:cs typeface="Arial" panose="020B0604020202020204" pitchFamily="34" charset="0"/>
            </a:endParaRPr>
          </a:p>
          <a:p>
            <a:pPr algn="just"/>
            <a:r>
              <a:rPr lang="en-US" sz="2000" b="1" dirty="0" err="1">
                <a:latin typeface="Arial" panose="020B0604020202020204" pitchFamily="34" charset="0"/>
                <a:cs typeface="Arial" panose="020B0604020202020204" pitchFamily="34" charset="0"/>
              </a:rPr>
              <a:t>Xét</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duyệt</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quyết</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toán</a:t>
            </a:r>
            <a:r>
              <a:rPr lang="en-US" sz="2000" b="1" dirty="0">
                <a:latin typeface="Arial" panose="020B0604020202020204" pitchFamily="34" charset="0"/>
                <a:cs typeface="Arial" panose="020B0604020202020204" pitchFamily="34" charset="0"/>
              </a:rPr>
              <a:t> NS </a:t>
            </a:r>
            <a:r>
              <a:rPr lang="en-US" sz="2000" b="1" dirty="0" err="1">
                <a:latin typeface="Arial" panose="020B0604020202020204" pitchFamily="34" charset="0"/>
                <a:cs typeface="Arial" panose="020B0604020202020204" pitchFamily="34" charset="0"/>
              </a:rPr>
              <a:t>của</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đơn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vị</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sử</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dụng</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ngân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sách</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đơn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vị</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giao</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dự</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toán</a:t>
            </a:r>
            <a:endParaRPr lang="en-US" sz="2000" b="1"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 </a:t>
            </a:r>
            <a:r>
              <a:rPr lang="vi-VN" sz="2000" dirty="0">
                <a:latin typeface="Arial" panose="020B0604020202020204" pitchFamily="34" charset="0"/>
                <a:cs typeface="Arial" panose="020B0604020202020204" pitchFamily="34" charset="0"/>
              </a:rPr>
              <a:t>Đơn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trên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trực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tiếp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sách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giao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thực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xét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duyệt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xét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duyệt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thuộc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phạm</a:t>
            </a:r>
            <a:r>
              <a:rPr lang="en-US" sz="2000" dirty="0">
                <a:latin typeface="Arial" panose="020B0604020202020204" pitchFamily="34" charset="0"/>
                <a:cs typeface="Arial" panose="020B0604020202020204" pitchFamily="34" charset="0"/>
              </a:rPr>
              <a:t> vi </a:t>
            </a:r>
            <a:r>
              <a:rPr lang="en-US" sz="2000" dirty="0" err="1">
                <a:latin typeface="Arial" panose="020B0604020202020204" pitchFamily="34" charset="0"/>
                <a:cs typeface="Arial" panose="020B0604020202020204" pitchFamily="34" charset="0"/>
              </a:rPr>
              <a:t>quản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lý</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giao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theo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định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khoản</a:t>
            </a:r>
            <a:r>
              <a:rPr lang="en-US" sz="2000" dirty="0">
                <a:latin typeface="Arial" panose="020B0604020202020204" pitchFamily="34" charset="0"/>
                <a:cs typeface="Arial" panose="020B0604020202020204" pitchFamily="34" charset="0"/>
              </a:rPr>
              <a:t> 1, </a:t>
            </a:r>
            <a:r>
              <a:rPr lang="en-US" sz="2000" dirty="0" err="1">
                <a:latin typeface="Arial" panose="020B0604020202020204" pitchFamily="34" charset="0"/>
                <a:cs typeface="Arial" panose="020B0604020202020204" pitchFamily="34" charset="0"/>
              </a:rPr>
              <a:t>Điều</a:t>
            </a:r>
            <a:r>
              <a:rPr lang="en-US" sz="2000" dirty="0">
                <a:latin typeface="Arial" panose="020B0604020202020204" pitchFamily="34" charset="0"/>
                <a:cs typeface="Arial" panose="020B0604020202020204" pitchFamily="34" charset="0"/>
              </a:rPr>
              <a:t> 51 </a:t>
            </a:r>
            <a:r>
              <a:rPr lang="en-US" sz="2000" dirty="0" err="1">
                <a:latin typeface="Arial" panose="020B0604020202020204" pitchFamily="34" charset="0"/>
                <a:cs typeface="Arial" panose="020B0604020202020204" pitchFamily="34" charset="0"/>
              </a:rPr>
              <a:t>Luật</a:t>
            </a:r>
            <a:r>
              <a:rPr lang="en-US" sz="2000" dirty="0">
                <a:latin typeface="Arial" panose="020B0604020202020204" pitchFamily="34" charset="0"/>
                <a:cs typeface="Arial" panose="020B0604020202020204" pitchFamily="34" charset="0"/>
              </a:rPr>
              <a:t> NSNN 2025.</a:t>
            </a:r>
          </a:p>
          <a:p>
            <a:pPr algn="just"/>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Thủ</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trưởng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xét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duyệt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phải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chịu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trách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nhiệm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về</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quả</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duyệt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trường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hiện</a:t>
            </a:r>
            <a:r>
              <a:rPr lang="en-US" sz="2000" dirty="0">
                <a:latin typeface="Arial" panose="020B0604020202020204" pitchFamily="34" charset="0"/>
                <a:cs typeface="Arial" panose="020B0604020202020204" pitchFamily="34" charset="0"/>
              </a:rPr>
              <a:t> vi </a:t>
            </a:r>
            <a:r>
              <a:rPr lang="en-US" sz="2000" dirty="0" err="1">
                <a:latin typeface="Arial" panose="020B0604020202020204" pitchFamily="34" charset="0"/>
                <a:cs typeface="Arial" panose="020B0604020202020204" pitchFamily="34" charset="0"/>
              </a:rPr>
              <a:t>phạm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lý</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sẽ</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lý</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theo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định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PL.</a:t>
            </a:r>
          </a:p>
          <a:p>
            <a:pPr algn="just"/>
            <a:r>
              <a:rPr lang="en-US" sz="2000" dirty="0">
                <a:latin typeface="Arial" panose="020B0604020202020204" pitchFamily="34" charset="0"/>
                <a:cs typeface="Arial" panose="020B0604020202020204" pitchFamily="34" charset="0"/>
              </a:rPr>
              <a:t>- Trường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I </a:t>
            </a:r>
            <a:r>
              <a:rPr lang="en-US" sz="2000" dirty="0" err="1">
                <a:latin typeface="Arial" panose="020B0604020202020204" pitchFamily="34" charset="0"/>
                <a:cs typeface="Arial" panose="020B0604020202020204" pitchFamily="34" charset="0"/>
              </a:rPr>
              <a:t>đồng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thời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dụng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sách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lập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gửi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chính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xã</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để</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kiểm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tính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đầy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đủ</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khớp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đúng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giữa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số</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liệu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với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nhận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KBNN. </a:t>
            </a:r>
            <a:r>
              <a:rPr lang="en-US" sz="2000" dirty="0" err="1">
                <a:latin typeface="Arial" panose="020B0604020202020204" pitchFamily="34" charset="0"/>
                <a:cs typeface="Arial" panose="020B0604020202020204" pitchFamily="34" charset="0"/>
              </a:rPr>
              <a:t>Thủ</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trưởng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chịu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trách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nhiệm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về</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NS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mình</a:t>
            </a:r>
            <a:r>
              <a:rPr lang="en-US" sz="2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5355439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8E7D8-0512-9F6D-7FB5-6DB1F45F627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4FBD642-EB42-CBFD-6D5F-165A479CB9B5}"/>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3.3.3. QUYẾT TOÁN NGÂN SÁCH XÃ</a:t>
            </a:r>
          </a:p>
        </p:txBody>
      </p:sp>
      <p:sp>
        <p:nvSpPr>
          <p:cNvPr id="2" name="Text Placeholder 3">
            <a:extLst>
              <a:ext uri="{FF2B5EF4-FFF2-40B4-BE49-F238E27FC236}">
                <a16:creationId xmlns:a16="http://schemas.microsoft.com/office/drawing/2014/main" id="{EEA9A51F-5F4B-4F79-A69F-594349CEBED2}"/>
              </a:ext>
            </a:extLst>
          </p:cNvPr>
          <p:cNvSpPr txBox="1">
            <a:spLocks/>
          </p:cNvSpPr>
          <p:nvPr/>
        </p:nvSpPr>
        <p:spPr>
          <a:xfrm>
            <a:off x="134310" y="1171195"/>
            <a:ext cx="7994112" cy="793867"/>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trình</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vi-VN"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quyết toán NSX</a:t>
            </a:r>
            <a:endParaRPr lang="vi-VN" sz="3200" b="1" i="1" dirty="0">
              <a:solidFill>
                <a:srgbClr val="FF0000"/>
              </a:solidFill>
              <a:latin typeface="+mj-lt"/>
            </a:endParaRPr>
          </a:p>
        </p:txBody>
      </p:sp>
      <p:sp>
        <p:nvSpPr>
          <p:cNvPr id="6" name="TextBox 5">
            <a:extLst>
              <a:ext uri="{FF2B5EF4-FFF2-40B4-BE49-F238E27FC236}">
                <a16:creationId xmlns:a16="http://schemas.microsoft.com/office/drawing/2014/main" id="{991C5F16-B5F0-998C-24D0-144573338044}"/>
              </a:ext>
            </a:extLst>
          </p:cNvPr>
          <p:cNvSpPr txBox="1"/>
          <p:nvPr/>
        </p:nvSpPr>
        <p:spPr>
          <a:xfrm>
            <a:off x="260434" y="1849072"/>
            <a:ext cx="11797255" cy="2923877"/>
          </a:xfrm>
          <a:prstGeom prst="rect">
            <a:avLst/>
          </a:prstGeom>
          <a:noFill/>
        </p:spPr>
        <p:txBody>
          <a:bodyPr wrap="square">
            <a:spAutoFit/>
          </a:bodyPr>
          <a:lstStyle/>
          <a:p>
            <a:pPr algn="just"/>
            <a:r>
              <a:rPr lang="en-US" sz="2400" b="1" dirty="0" err="1">
                <a:latin typeface="Arial" panose="020B0604020202020204" pitchFamily="34" charset="0"/>
                <a:cs typeface="Arial" panose="020B0604020202020204" pitchFamily="34" charset="0"/>
              </a:rPr>
              <a:t>Bước</a:t>
            </a:r>
            <a:r>
              <a:rPr lang="en-US" sz="2400" b="1" dirty="0">
                <a:latin typeface="Arial" panose="020B0604020202020204" pitchFamily="34" charset="0"/>
                <a:cs typeface="Arial" panose="020B0604020202020204" pitchFamily="34" charset="0"/>
              </a:rPr>
              <a:t> 1</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Lập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xét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duyệt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tổng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hợp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quyết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toán</a:t>
            </a:r>
            <a:r>
              <a:rPr lang="en-US" sz="2400" dirty="0">
                <a:latin typeface="Arial" panose="020B0604020202020204" pitchFamily="34" charset="0"/>
                <a:cs typeface="Arial" panose="020B0604020202020204" pitchFamily="34" charset="0"/>
              </a:rPr>
              <a:t> NS </a:t>
            </a:r>
            <a:r>
              <a:rPr lang="en-US" sz="2400" dirty="0" err="1">
                <a:latin typeface="Arial" panose="020B0604020202020204" pitchFamily="34" charset="0"/>
                <a:cs typeface="Arial" panose="020B0604020202020204" pitchFamily="34" charset="0"/>
              </a:rPr>
              <a:t>xã</a:t>
            </a:r>
            <a:endParaRPr lang="en-US" sz="2400" dirty="0">
              <a:latin typeface="Arial" panose="020B0604020202020204" pitchFamily="34" charset="0"/>
              <a:cs typeface="Arial" panose="020B0604020202020204" pitchFamily="34" charset="0"/>
            </a:endParaRPr>
          </a:p>
          <a:p>
            <a:pPr algn="just"/>
            <a:r>
              <a:rPr lang="en-US" sz="2000" b="1" dirty="0" err="1">
                <a:latin typeface="Arial" panose="020B0604020202020204" pitchFamily="34" charset="0"/>
                <a:cs typeface="Arial" panose="020B0604020202020204" pitchFamily="34" charset="0"/>
              </a:rPr>
              <a:t>Xét</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duyệt</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quyết</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toán</a:t>
            </a:r>
            <a:r>
              <a:rPr lang="en-US" sz="2000" b="1" dirty="0">
                <a:latin typeface="Arial" panose="020B0604020202020204" pitchFamily="34" charset="0"/>
                <a:cs typeface="Arial" panose="020B0604020202020204" pitchFamily="34" charset="0"/>
              </a:rPr>
              <a:t> NS</a:t>
            </a:r>
          </a:p>
          <a:p>
            <a:pPr algn="just"/>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Việc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xét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duyệt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phải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thực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nội</a:t>
            </a:r>
            <a:r>
              <a:rPr lang="en-US" sz="2000" dirty="0">
                <a:latin typeface="Arial" panose="020B0604020202020204" pitchFamily="34" charset="0"/>
                <a:cs typeface="Arial" panose="020B0604020202020204" pitchFamily="34" charset="0"/>
              </a:rPr>
              <a:t> dung </a:t>
            </a:r>
            <a:r>
              <a:rPr lang="en-US" sz="2000" dirty="0" err="1">
                <a:latin typeface="Arial" panose="020B0604020202020204" pitchFamily="34" charset="0"/>
                <a:cs typeface="Arial" panose="020B0604020202020204" pitchFamily="34" charset="0"/>
              </a:rPr>
              <a:t>sau</a:t>
            </a:r>
            <a:r>
              <a:rPr lang="en-US" sz="2000" dirty="0">
                <a:latin typeface="Arial" panose="020B0604020202020204" pitchFamily="34" charset="0"/>
                <a:cs typeface="Arial" panose="020B0604020202020204" pitchFamily="34" charset="0"/>
              </a:rPr>
              <a:t>:</a:t>
            </a:r>
          </a:p>
          <a:p>
            <a:pPr algn="just"/>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Xét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duyệt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thu</a:t>
            </a:r>
            <a:r>
              <a:rPr lang="en-US" sz="2000" dirty="0">
                <a:latin typeface="Arial" panose="020B0604020202020204" pitchFamily="34" charset="0"/>
                <a:cs typeface="Arial" panose="020B0604020202020204" pitchFamily="34" charset="0"/>
              </a:rPr>
              <a:t>, chi </a:t>
            </a:r>
            <a:r>
              <a:rPr lang="en-US" sz="2000" dirty="0" err="1">
                <a:latin typeface="Arial" panose="020B0604020202020204" pitchFamily="34" charset="0"/>
                <a:cs typeface="Arial" panose="020B0604020202020204" pitchFamily="34" charset="0"/>
              </a:rPr>
              <a:t>phát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sinh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bảo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đảm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điều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thu</a:t>
            </a:r>
            <a:r>
              <a:rPr lang="en-US" sz="2000" dirty="0">
                <a:latin typeface="Arial" panose="020B0604020202020204" pitchFamily="34" charset="0"/>
                <a:cs typeface="Arial" panose="020B0604020202020204" pitchFamily="34" charset="0"/>
              </a:rPr>
              <a:t>, chi </a:t>
            </a:r>
            <a:r>
              <a:rPr lang="en-US" sz="2000" dirty="0" err="1">
                <a:latin typeface="Arial" panose="020B0604020202020204" pitchFamily="34" charset="0"/>
                <a:cs typeface="Arial" panose="020B0604020202020204" pitchFamily="34" charset="0"/>
              </a:rPr>
              <a:t>quy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định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điều</a:t>
            </a:r>
            <a:r>
              <a:rPr lang="en-US" sz="2000" dirty="0">
                <a:latin typeface="Arial" panose="020B0604020202020204" pitchFamily="34" charset="0"/>
                <a:cs typeface="Arial" panose="020B0604020202020204" pitchFamily="34" charset="0"/>
              </a:rPr>
              <a:t> 12 </a:t>
            </a:r>
            <a:r>
              <a:rPr lang="en-US" sz="2000" dirty="0" err="1">
                <a:latin typeface="Arial" panose="020B0604020202020204" pitchFamily="34" charset="0"/>
                <a:cs typeface="Arial" panose="020B0604020202020204" pitchFamily="34" charset="0"/>
              </a:rPr>
              <a:t>Luật</a:t>
            </a:r>
            <a:r>
              <a:rPr lang="en-US" sz="2000" dirty="0">
                <a:latin typeface="Arial" panose="020B0604020202020204" pitchFamily="34" charset="0"/>
                <a:cs typeface="Arial" panose="020B0604020202020204" pitchFamily="34" charset="0"/>
              </a:rPr>
              <a:t> NSNN 2025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phải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hạch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đúng</a:t>
            </a:r>
            <a:r>
              <a:rPr lang="en-US" sz="2000" dirty="0">
                <a:latin typeface="Arial" panose="020B0604020202020204" pitchFamily="34" charset="0"/>
                <a:cs typeface="Arial" panose="020B0604020202020204" pitchFamily="34" charset="0"/>
              </a:rPr>
              <a:t> PL </a:t>
            </a:r>
            <a:r>
              <a:rPr lang="en-US" sz="2000" dirty="0" err="1">
                <a:latin typeface="Arial" panose="020B0604020202020204" pitchFamily="34" charset="0"/>
                <a:cs typeface="Arial" panose="020B0604020202020204" pitchFamily="34" charset="0"/>
              </a:rPr>
              <a:t>về</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kế</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đúng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mục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lục</a:t>
            </a:r>
            <a:r>
              <a:rPr lang="en-US" sz="2000" dirty="0">
                <a:latin typeface="Arial" panose="020B0604020202020204" pitchFamily="34" charset="0"/>
                <a:cs typeface="Arial" panose="020B0604020202020204" pitchFamily="34" charset="0"/>
              </a:rPr>
              <a:t> NSNN, </a:t>
            </a:r>
            <a:r>
              <a:rPr lang="en-US" sz="2000" dirty="0" err="1">
                <a:latin typeface="Arial" panose="020B0604020202020204" pitchFamily="34" charset="0"/>
                <a:cs typeface="Arial" panose="020B0604020202020204" pitchFamily="34" charset="0"/>
              </a:rPr>
              <a:t>đúng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niên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độ</a:t>
            </a:r>
            <a:r>
              <a:rPr lang="en-US" sz="2000" dirty="0">
                <a:latin typeface="Arial" panose="020B0604020202020204" pitchFamily="34" charset="0"/>
                <a:cs typeface="Arial" panose="020B0604020202020204" pitchFamily="34" charset="0"/>
              </a:rPr>
              <a:t> NS;</a:t>
            </a:r>
          </a:p>
          <a:p>
            <a:pPr algn="just"/>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Số</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liệu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phải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khớp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đúng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với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số</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liệu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trong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sổ</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kế</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số</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liệu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nhận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KBNN</a:t>
            </a:r>
          </a:p>
          <a:p>
            <a:pPr algn="just"/>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Thẩm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quyền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xét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duyệt</a:t>
            </a:r>
            <a:r>
              <a:rPr lang="en-US" sz="2000" dirty="0">
                <a:latin typeface="Arial" panose="020B0604020202020204" pitchFamily="34" charset="0"/>
                <a:cs typeface="Arial" panose="020B0604020202020204" pitchFamily="34" charset="0"/>
              </a:rPr>
              <a:t>???</a:t>
            </a:r>
          </a:p>
          <a:p>
            <a:pPr algn="just"/>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84002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A1912-BBCC-86D4-71E3-94454ED8A2A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9060E6A-7132-D310-D2CB-61F097F81C11}"/>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3.3.3. QUYẾT TOÁN NGÂN SÁCH XÃ</a:t>
            </a:r>
          </a:p>
        </p:txBody>
      </p:sp>
      <p:sp>
        <p:nvSpPr>
          <p:cNvPr id="2" name="Text Placeholder 3">
            <a:extLst>
              <a:ext uri="{FF2B5EF4-FFF2-40B4-BE49-F238E27FC236}">
                <a16:creationId xmlns:a16="http://schemas.microsoft.com/office/drawing/2014/main" id="{7CC1DCF8-05CE-CFA5-FD5D-43860B974864}"/>
              </a:ext>
            </a:extLst>
          </p:cNvPr>
          <p:cNvSpPr txBox="1">
            <a:spLocks/>
          </p:cNvSpPr>
          <p:nvPr/>
        </p:nvSpPr>
        <p:spPr>
          <a:xfrm>
            <a:off x="134310" y="1171195"/>
            <a:ext cx="7994112" cy="793867"/>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trình</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vi-VN"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quyết toán NSX</a:t>
            </a:r>
            <a:endParaRPr lang="vi-VN" sz="3200" b="1" i="1" dirty="0">
              <a:solidFill>
                <a:srgbClr val="FF0000"/>
              </a:solidFill>
              <a:latin typeface="+mj-lt"/>
            </a:endParaRPr>
          </a:p>
        </p:txBody>
      </p:sp>
      <p:sp>
        <p:nvSpPr>
          <p:cNvPr id="6" name="TextBox 5">
            <a:extLst>
              <a:ext uri="{FF2B5EF4-FFF2-40B4-BE49-F238E27FC236}">
                <a16:creationId xmlns:a16="http://schemas.microsoft.com/office/drawing/2014/main" id="{09CDE05D-7C99-67D1-57FD-0C17E4D8ED01}"/>
              </a:ext>
            </a:extLst>
          </p:cNvPr>
          <p:cNvSpPr txBox="1"/>
          <p:nvPr/>
        </p:nvSpPr>
        <p:spPr>
          <a:xfrm>
            <a:off x="260434" y="1849072"/>
            <a:ext cx="11797255" cy="5386090"/>
          </a:xfrm>
          <a:prstGeom prst="rect">
            <a:avLst/>
          </a:prstGeom>
          <a:noFill/>
        </p:spPr>
        <p:txBody>
          <a:bodyPr wrap="square">
            <a:spAutoFit/>
          </a:bodyPr>
          <a:lstStyle/>
          <a:p>
            <a:pPr algn="just"/>
            <a:r>
              <a:rPr lang="en-US" sz="2400" b="1" dirty="0" err="1">
                <a:latin typeface="Arial" panose="020B0604020202020204" pitchFamily="34" charset="0"/>
                <a:cs typeface="Arial" panose="020B0604020202020204" pitchFamily="34" charset="0"/>
              </a:rPr>
              <a:t>Bước</a:t>
            </a:r>
            <a:r>
              <a:rPr lang="en-US" sz="2400" b="1" dirty="0">
                <a:latin typeface="Arial" panose="020B0604020202020204" pitchFamily="34" charset="0"/>
                <a:cs typeface="Arial" panose="020B0604020202020204" pitchFamily="34" charset="0"/>
              </a:rPr>
              <a:t> 1</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Lập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xét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duyệt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tổng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hợp</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quyết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toán</a:t>
            </a:r>
            <a:r>
              <a:rPr lang="en-US" sz="2400" dirty="0">
                <a:latin typeface="Arial" panose="020B0604020202020204" pitchFamily="34" charset="0"/>
                <a:cs typeface="Arial" panose="020B0604020202020204" pitchFamily="34" charset="0"/>
              </a:rPr>
              <a:t> NS </a:t>
            </a:r>
            <a:r>
              <a:rPr lang="en-US" sz="2400" dirty="0" err="1">
                <a:latin typeface="Arial" panose="020B0604020202020204" pitchFamily="34" charset="0"/>
                <a:cs typeface="Arial" panose="020B0604020202020204" pitchFamily="34" charset="0"/>
              </a:rPr>
              <a:t>xã</a:t>
            </a:r>
            <a:endParaRPr lang="en-US" sz="2400" dirty="0">
              <a:latin typeface="Arial" panose="020B0604020202020204" pitchFamily="34" charset="0"/>
              <a:cs typeface="Arial" panose="020B0604020202020204" pitchFamily="34" charset="0"/>
            </a:endParaRPr>
          </a:p>
          <a:p>
            <a:pPr algn="just"/>
            <a:r>
              <a:rPr lang="en-US" sz="2000" b="1" dirty="0">
                <a:latin typeface="Arial" panose="020B0604020202020204" pitchFamily="34" charset="0"/>
                <a:cs typeface="Arial" panose="020B0604020202020204" pitchFamily="34" charset="0"/>
              </a:rPr>
              <a:t>Tổng </a:t>
            </a:r>
            <a:r>
              <a:rPr lang="en-US" sz="2000" b="1" dirty="0" err="1">
                <a:latin typeface="Arial" panose="020B0604020202020204" pitchFamily="34" charset="0"/>
                <a:cs typeface="Arial" panose="020B0604020202020204" pitchFamily="34" charset="0"/>
              </a:rPr>
              <a:t>hợp</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quyết</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toán</a:t>
            </a:r>
            <a:r>
              <a:rPr lang="en-US" sz="2000" b="1" dirty="0">
                <a:latin typeface="Arial" panose="020B0604020202020204" pitchFamily="34" charset="0"/>
                <a:cs typeface="Arial" panose="020B0604020202020204" pitchFamily="34" charset="0"/>
              </a:rPr>
              <a:t> NS </a:t>
            </a:r>
            <a:r>
              <a:rPr lang="en-US" sz="2000" b="1" dirty="0" err="1">
                <a:latin typeface="Arial" panose="020B0604020202020204" pitchFamily="34" charset="0"/>
                <a:cs typeface="Arial" panose="020B0604020202020204" pitchFamily="34" charset="0"/>
              </a:rPr>
              <a:t>của</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các</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đơn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vị</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dự</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toán</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tại</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xã</a:t>
            </a:r>
            <a:endParaRPr lang="en-US" sz="2000" b="1" dirty="0">
              <a:latin typeface="Arial" panose="020B0604020202020204" pitchFamily="34" charset="0"/>
              <a:cs typeface="Arial" panose="020B0604020202020204" pitchFamily="34" charset="0"/>
            </a:endParaRPr>
          </a:p>
          <a:p>
            <a:pPr algn="just"/>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tổng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a:t>
            </a:r>
          </a:p>
          <a:p>
            <a:pPr algn="just"/>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trên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tổng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thuộc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phạm</a:t>
            </a:r>
            <a:r>
              <a:rPr lang="en-US" sz="2000" dirty="0">
                <a:latin typeface="Arial" panose="020B0604020202020204" pitchFamily="34" charset="0"/>
                <a:cs typeface="Arial" panose="020B0604020202020204" pitchFamily="34" charset="0"/>
              </a:rPr>
              <a:t> vi </a:t>
            </a:r>
            <a:r>
              <a:rPr lang="en-US" sz="2000" dirty="0" err="1">
                <a:latin typeface="Arial" panose="020B0604020202020204" pitchFamily="34" charset="0"/>
                <a:cs typeface="Arial" panose="020B0604020202020204" pitchFamily="34" charset="0"/>
              </a:rPr>
              <a:t>quản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lý</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đã</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được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xét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duyệt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theo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định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khoản</a:t>
            </a:r>
            <a:r>
              <a:rPr lang="en-US" sz="2000" dirty="0">
                <a:latin typeface="Arial" panose="020B0604020202020204" pitchFamily="34" charset="0"/>
                <a:cs typeface="Arial" panose="020B0604020202020204" pitchFamily="34" charset="0"/>
              </a:rPr>
              <a:t> 2 </a:t>
            </a:r>
            <a:r>
              <a:rPr lang="en-US" sz="2000" dirty="0" err="1">
                <a:latin typeface="Arial" panose="020B0604020202020204" pitchFamily="34" charset="0"/>
                <a:cs typeface="Arial" panose="020B0604020202020204" pitchFamily="34" charset="0"/>
              </a:rPr>
              <a:t>Điều</a:t>
            </a:r>
            <a:r>
              <a:rPr lang="en-US" sz="2000" dirty="0">
                <a:latin typeface="Arial" panose="020B0604020202020204" pitchFamily="34" charset="0"/>
                <a:cs typeface="Arial" panose="020B0604020202020204" pitchFamily="34" charset="0"/>
              </a:rPr>
              <a:t> 69 </a:t>
            </a:r>
            <a:r>
              <a:rPr lang="en-US" sz="2000" dirty="0" err="1">
                <a:latin typeface="Arial" panose="020B0604020202020204" pitchFamily="34" charset="0"/>
                <a:cs typeface="Arial" panose="020B0604020202020204" pitchFamily="34" charset="0"/>
              </a:rPr>
              <a:t>Luật</a:t>
            </a:r>
            <a:r>
              <a:rPr lang="en-US" sz="2000" dirty="0">
                <a:latin typeface="Arial" panose="020B0604020202020204" pitchFamily="34" charset="0"/>
                <a:cs typeface="Arial" panose="020B0604020202020204" pitchFamily="34" charset="0"/>
              </a:rPr>
              <a:t> NSNN 2025 </a:t>
            </a:r>
            <a:r>
              <a:rPr lang="en-US" sz="2000" dirty="0" err="1">
                <a:latin typeface="Arial" panose="020B0604020202020204" pitchFamily="34" charset="0"/>
                <a:cs typeface="Arial" panose="020B0604020202020204" pitchFamily="34" charset="0"/>
              </a:rPr>
              <a:t>gửi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trên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trục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tiếp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đối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với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I </a:t>
            </a:r>
            <a:r>
              <a:rPr lang="en-US" sz="2000" dirty="0" err="1">
                <a:latin typeface="Arial" panose="020B0604020202020204" pitchFamily="34" charset="0"/>
                <a:cs typeface="Arial" panose="020B0604020202020204" pitchFamily="34" charset="0"/>
              </a:rPr>
              <a:t>gửi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chính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xã</a:t>
            </a:r>
            <a:r>
              <a:rPr lang="en-US" sz="2000" dirty="0">
                <a:latin typeface="Arial" panose="020B0604020202020204" pitchFamily="34" charset="0"/>
                <a:cs typeface="Arial" panose="020B0604020202020204" pitchFamily="34" charset="0"/>
              </a:rPr>
              <a:t>;</a:t>
            </a:r>
          </a:p>
          <a:p>
            <a:pPr algn="just"/>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chính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xã</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kiểm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I </a:t>
            </a:r>
            <a:r>
              <a:rPr lang="en-US" sz="2000" dirty="0" err="1">
                <a:latin typeface="Arial" panose="020B0604020202020204" pitchFamily="34" charset="0"/>
                <a:cs typeface="Arial" panose="020B0604020202020204" pitchFamily="34" charset="0"/>
              </a:rPr>
              <a:t>cùng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về</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tính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đầy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đủ</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khớp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đúng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giữa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số</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liệu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với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nhận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KBNN, </a:t>
            </a:r>
            <a:r>
              <a:rPr lang="en-US" sz="2000" dirty="0" err="1">
                <a:latin typeface="Arial" panose="020B0604020202020204" pitchFamily="34" charset="0"/>
                <a:cs typeface="Arial" panose="020B0604020202020204" pitchFamily="34" charset="0"/>
              </a:rPr>
              <a:t>tổng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năm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I </a:t>
            </a:r>
            <a:r>
              <a:rPr lang="en-US" sz="2000" dirty="0" err="1">
                <a:latin typeface="Arial" panose="020B0604020202020204" pitchFamily="34" charset="0"/>
                <a:cs typeface="Arial" panose="020B0604020202020204" pitchFamily="34" charset="0"/>
              </a:rPr>
              <a:t>thuộc</a:t>
            </a:r>
            <a:r>
              <a:rPr lang="en-US" sz="2000" dirty="0">
                <a:latin typeface="Arial" panose="020B0604020202020204" pitchFamily="34" charset="0"/>
                <a:cs typeface="Arial" panose="020B0604020202020204" pitchFamily="34" charset="0"/>
              </a:rPr>
              <a:t> NS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mình</a:t>
            </a:r>
            <a:r>
              <a:rPr lang="en-US" sz="2000" dirty="0">
                <a:latin typeface="Arial" panose="020B0604020202020204" pitchFamily="34" charset="0"/>
                <a:cs typeface="Arial" panose="020B0604020202020204" pitchFamily="34" charset="0"/>
              </a:rPr>
              <a:t>.</a:t>
            </a:r>
          </a:p>
          <a:p>
            <a:pPr algn="just"/>
            <a:r>
              <a:rPr lang="en-US" sz="2000" dirty="0">
                <a:latin typeface="Arial" panose="020B0604020202020204" pitchFamily="34" charset="0"/>
                <a:cs typeface="Arial" panose="020B0604020202020204" pitchFamily="34" charset="0"/>
              </a:rPr>
              <a:t>- Trong </a:t>
            </a:r>
            <a:r>
              <a:rPr lang="en-US" sz="2000" dirty="0" err="1">
                <a:latin typeface="Arial" panose="020B0604020202020204" pitchFamily="34" charset="0"/>
                <a:cs typeface="Arial" panose="020B0604020202020204" pitchFamily="34" charset="0"/>
              </a:rPr>
              <a:t>quá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trình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tổng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NSNN, </a:t>
            </a:r>
            <a:r>
              <a:rPr lang="en-US" sz="2000" dirty="0" err="1">
                <a:latin typeface="Arial" panose="020B0604020202020204" pitchFamily="34" charset="0"/>
                <a:cs typeface="Arial" panose="020B0604020202020204" pitchFamily="34" charset="0"/>
              </a:rPr>
              <a:t>trường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có</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sai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sót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chính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xã</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yêu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cầu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I </a:t>
            </a:r>
            <a:r>
              <a:rPr lang="en-US" sz="2000" dirty="0" err="1">
                <a:latin typeface="Arial" panose="020B0604020202020204" pitchFamily="34" charset="0"/>
                <a:cs typeface="Arial" panose="020B0604020202020204" pitchFamily="34" charset="0"/>
              </a:rPr>
              <a:t>điều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chỉnh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chính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tỉnh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yêu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cầu</a:t>
            </a:r>
            <a:r>
              <a:rPr lang="en-US" sz="2000" dirty="0">
                <a:latin typeface="Arial" panose="020B0604020202020204" pitchFamily="34" charset="0"/>
                <a:cs typeface="Arial" panose="020B0604020202020204" pitchFamily="34" charset="0"/>
              </a:rPr>
              <a:t> UBND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xã</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trình</a:t>
            </a:r>
            <a:r>
              <a:rPr lang="en-US" sz="2000" dirty="0">
                <a:latin typeface="Arial" panose="020B0604020202020204" pitchFamily="34" charset="0"/>
                <a:cs typeface="Arial" panose="020B0604020202020204" pitchFamily="34" charset="0"/>
              </a:rPr>
              <a:t> HĐND </a:t>
            </a:r>
            <a:r>
              <a:rPr lang="en-US" sz="2000" dirty="0" err="1">
                <a:latin typeface="Arial" panose="020B0604020202020204" pitchFamily="34" charset="0"/>
                <a:cs typeface="Arial" panose="020B0604020202020204" pitchFamily="34" charset="0"/>
              </a:rPr>
              <a:t>cùng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điều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chỉnh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NS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xã</a:t>
            </a:r>
            <a:r>
              <a:rPr lang="en-US" sz="2000" dirty="0">
                <a:latin typeface="Arial" panose="020B0604020202020204" pitchFamily="34" charset="0"/>
                <a:cs typeface="Arial" panose="020B0604020202020204" pitchFamily="34" charset="0"/>
              </a:rPr>
              <a:t>.</a:t>
            </a:r>
          </a:p>
          <a:p>
            <a:pPr algn="just"/>
            <a:r>
              <a:rPr lang="en-US" sz="2000" dirty="0">
                <a:latin typeface="Arial" panose="020B0604020202020204" pitchFamily="34" charset="0"/>
                <a:cs typeface="Arial" panose="020B0604020202020204" pitchFamily="34" charset="0"/>
              </a:rPr>
              <a:t>- Trường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sai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phạm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trên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chính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lý</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theo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thẩm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quyền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hoặc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đề</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nghị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quan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có</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thẩm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quyền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lý</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theo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định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PL.</a:t>
            </a:r>
          </a:p>
          <a:p>
            <a:pPr algn="just"/>
            <a:endParaRPr lang="en-US" sz="2000" dirty="0">
              <a:latin typeface="Arial" panose="020B0604020202020204" pitchFamily="34" charset="0"/>
              <a:cs typeface="Arial" panose="020B0604020202020204" pitchFamily="34" charset="0"/>
            </a:endParaRPr>
          </a:p>
          <a:p>
            <a:pPr algn="just"/>
            <a:endParaRPr lang="en-US" sz="2000" b="1"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82547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E5C56-55A3-C675-9DD9-E6C9EA7DC9F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C446431-DC91-2482-741B-7844295D02AC}"/>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3.3.3. QUYẾT TOÁN NGÂN SÁCH XÃ</a:t>
            </a:r>
          </a:p>
        </p:txBody>
      </p:sp>
      <p:sp>
        <p:nvSpPr>
          <p:cNvPr id="2" name="Text Placeholder 3">
            <a:extLst>
              <a:ext uri="{FF2B5EF4-FFF2-40B4-BE49-F238E27FC236}">
                <a16:creationId xmlns:a16="http://schemas.microsoft.com/office/drawing/2014/main" id="{2EE486C5-0A98-55E6-0417-F0511B0DA43D}"/>
              </a:ext>
            </a:extLst>
          </p:cNvPr>
          <p:cNvSpPr txBox="1">
            <a:spLocks/>
          </p:cNvSpPr>
          <p:nvPr/>
        </p:nvSpPr>
        <p:spPr>
          <a:xfrm>
            <a:off x="134310" y="1171195"/>
            <a:ext cx="7994112" cy="793867"/>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trình</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vi-VN"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quyết toán NSX</a:t>
            </a:r>
            <a:endParaRPr lang="vi-VN" sz="3200" b="1" i="1" dirty="0">
              <a:solidFill>
                <a:srgbClr val="FF0000"/>
              </a:solidFill>
              <a:latin typeface="+mj-lt"/>
            </a:endParaRPr>
          </a:p>
        </p:txBody>
      </p:sp>
      <p:sp>
        <p:nvSpPr>
          <p:cNvPr id="6" name="TextBox 5">
            <a:extLst>
              <a:ext uri="{FF2B5EF4-FFF2-40B4-BE49-F238E27FC236}">
                <a16:creationId xmlns:a16="http://schemas.microsoft.com/office/drawing/2014/main" id="{FB30C968-BB12-3F91-2D93-0F714B1CF0AB}"/>
              </a:ext>
            </a:extLst>
          </p:cNvPr>
          <p:cNvSpPr txBox="1"/>
          <p:nvPr/>
        </p:nvSpPr>
        <p:spPr>
          <a:xfrm>
            <a:off x="260434" y="1849072"/>
            <a:ext cx="11797255" cy="4154984"/>
          </a:xfrm>
          <a:prstGeom prst="rect">
            <a:avLst/>
          </a:prstGeom>
          <a:noFill/>
        </p:spPr>
        <p:txBody>
          <a:bodyPr wrap="square">
            <a:spAutoFit/>
          </a:bodyPr>
          <a:lstStyle/>
          <a:p>
            <a:pPr algn="just"/>
            <a:r>
              <a:rPr lang="en-US" sz="2400" b="1" dirty="0" err="1">
                <a:latin typeface="Arial" panose="020B0604020202020204" pitchFamily="34" charset="0"/>
                <a:cs typeface="Arial" panose="020B0604020202020204" pitchFamily="34" charset="0"/>
              </a:rPr>
              <a:t>Bước</a:t>
            </a:r>
            <a:r>
              <a:rPr lang="en-US" sz="2400" b="1" dirty="0">
                <a:latin typeface="Arial" panose="020B0604020202020204" pitchFamily="34" charset="0"/>
                <a:cs typeface="Arial" panose="020B0604020202020204" pitchFamily="34" charset="0"/>
              </a:rPr>
              <a:t> 2</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Phê</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chuẩn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quyết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toán</a:t>
            </a:r>
            <a:r>
              <a:rPr lang="en-US" sz="2400" dirty="0">
                <a:latin typeface="Arial" panose="020B0604020202020204" pitchFamily="34" charset="0"/>
                <a:cs typeface="Arial" panose="020B0604020202020204" pitchFamily="34" charset="0"/>
              </a:rPr>
              <a:t> NS </a:t>
            </a:r>
            <a:r>
              <a:rPr lang="en-US" sz="2400" dirty="0" err="1">
                <a:latin typeface="Arial" panose="020B0604020202020204" pitchFamily="34" charset="0"/>
                <a:cs typeface="Arial" panose="020B0604020202020204" pitchFamily="34" charset="0"/>
              </a:rPr>
              <a:t>xã</a:t>
            </a:r>
            <a:endParaRPr lang="en-US" sz="2000" b="1" dirty="0">
              <a:latin typeface="Arial" panose="020B0604020202020204" pitchFamily="34" charset="0"/>
              <a:cs typeface="Arial" panose="020B0604020202020204" pitchFamily="34" charset="0"/>
            </a:endParaRPr>
          </a:p>
          <a:p>
            <a:pPr algn="just"/>
            <a:r>
              <a:rPr lang="vi-VN" sz="2000" b="1" i="1" dirty="0"/>
              <a:t>Trình tự quyết toán ngân sách cấp xã:</a:t>
            </a:r>
          </a:p>
          <a:p>
            <a:pPr marL="342900" indent="-342900" algn="just">
              <a:buFontTx/>
              <a:buChar char="-"/>
            </a:pPr>
            <a:r>
              <a:rPr lang="en-US" sz="2000" dirty="0" err="1"/>
              <a:t>Trên</a:t>
            </a:r>
            <a:r>
              <a:rPr lang="en-US" sz="2000" dirty="0"/>
              <a:t> </a:t>
            </a:r>
            <a:r>
              <a:rPr lang="en-US" sz="2000" dirty="0" err="1"/>
              <a:t>cơ</a:t>
            </a:r>
            <a:r>
              <a:rPr lang="en-US" sz="2000" dirty="0"/>
              <a:t> </a:t>
            </a:r>
            <a:r>
              <a:rPr lang="en-US" sz="2000" dirty="0" err="1"/>
              <a:t>sở</a:t>
            </a:r>
            <a:r>
              <a:rPr lang="en-US" sz="2000" dirty="0"/>
              <a:t> </a:t>
            </a:r>
            <a:r>
              <a:rPr lang="en-US" sz="2000" dirty="0" err="1"/>
              <a:t>kết</a:t>
            </a:r>
            <a:r>
              <a:rPr lang="en-US" sz="2000" dirty="0"/>
              <a:t> </a:t>
            </a:r>
            <a:r>
              <a:rPr lang="en-US" sz="2000" dirty="0" err="1"/>
              <a:t>quả</a:t>
            </a:r>
            <a:r>
              <a:rPr lang="en-US" sz="2000" dirty="0"/>
              <a:t> </a:t>
            </a:r>
            <a:r>
              <a:rPr lang="en-US" sz="2000" dirty="0" err="1"/>
              <a:t>xét</a:t>
            </a:r>
            <a:r>
              <a:rPr lang="en-US" sz="2000" dirty="0"/>
              <a:t> </a:t>
            </a:r>
            <a:r>
              <a:rPr lang="en-US" sz="2000" dirty="0" err="1"/>
              <a:t>duyệt</a:t>
            </a:r>
            <a:r>
              <a:rPr lang="en-US" sz="2000" dirty="0"/>
              <a:t>, </a:t>
            </a:r>
            <a:r>
              <a:rPr lang="en-US" sz="2000" dirty="0" err="1"/>
              <a:t>tổng</a:t>
            </a:r>
            <a:r>
              <a:rPr lang="en-US" sz="2000" dirty="0"/>
              <a:t> </a:t>
            </a:r>
            <a:r>
              <a:rPr lang="en-US" sz="2000" dirty="0" err="1"/>
              <a:t>hợp</a:t>
            </a:r>
            <a:r>
              <a:rPr lang="en-US" sz="2000" dirty="0"/>
              <a:t> </a:t>
            </a:r>
            <a:r>
              <a:rPr lang="en-US" sz="2000" dirty="0" err="1"/>
              <a:t>quyết</a:t>
            </a:r>
            <a:r>
              <a:rPr lang="en-US" sz="2000" dirty="0"/>
              <a:t> </a:t>
            </a:r>
            <a:r>
              <a:rPr lang="en-US" sz="2000" dirty="0" err="1"/>
              <a:t>toán</a:t>
            </a:r>
            <a:r>
              <a:rPr lang="en-US" sz="2000" dirty="0"/>
              <a:t> NS </a:t>
            </a:r>
            <a:r>
              <a:rPr lang="en-US" sz="2000" dirty="0" err="1"/>
              <a:t>của</a:t>
            </a:r>
            <a:r>
              <a:rPr lang="en-US" sz="2000" dirty="0"/>
              <a:t> </a:t>
            </a:r>
            <a:r>
              <a:rPr lang="en-US" sz="2000" dirty="0" err="1"/>
              <a:t>các</a:t>
            </a:r>
            <a:r>
              <a:rPr lang="en-US" sz="2000" dirty="0"/>
              <a:t> </a:t>
            </a:r>
            <a:r>
              <a:rPr lang="en-US" sz="2000" dirty="0" err="1"/>
              <a:t>đơn</a:t>
            </a:r>
            <a:r>
              <a:rPr lang="en-US" sz="2000" dirty="0"/>
              <a:t> </a:t>
            </a:r>
            <a:r>
              <a:rPr lang="en-US" sz="2000" dirty="0" err="1"/>
              <a:t>vị</a:t>
            </a:r>
            <a:r>
              <a:rPr lang="en-US" sz="2000" dirty="0"/>
              <a:t> </a:t>
            </a:r>
            <a:r>
              <a:rPr lang="en-US" sz="2000" dirty="0" err="1"/>
              <a:t>dự</a:t>
            </a:r>
            <a:r>
              <a:rPr lang="en-US" sz="2000" dirty="0"/>
              <a:t> </a:t>
            </a:r>
            <a:r>
              <a:rPr lang="en-US" sz="2000" dirty="0" err="1"/>
              <a:t>toán</a:t>
            </a:r>
            <a:r>
              <a:rPr lang="en-US" sz="2000" dirty="0"/>
              <a:t> </a:t>
            </a:r>
            <a:r>
              <a:rPr lang="en-US" sz="2000" dirty="0" err="1"/>
              <a:t>cấp</a:t>
            </a:r>
            <a:r>
              <a:rPr lang="en-US" sz="2000" dirty="0"/>
              <a:t> I </a:t>
            </a:r>
            <a:r>
              <a:rPr lang="en-US" sz="2000" dirty="0" err="1"/>
              <a:t>thuộc</a:t>
            </a:r>
            <a:r>
              <a:rPr lang="en-US" sz="2000" dirty="0"/>
              <a:t> </a:t>
            </a:r>
            <a:r>
              <a:rPr lang="en-US" sz="2000" dirty="0" err="1"/>
              <a:t>cấp</a:t>
            </a:r>
            <a:r>
              <a:rPr lang="en-US" sz="2000" dirty="0"/>
              <a:t> </a:t>
            </a:r>
            <a:r>
              <a:rPr lang="en-US" sz="2000" dirty="0" err="1"/>
              <a:t>mình</a:t>
            </a:r>
            <a:r>
              <a:rPr lang="en-US" sz="2000" dirty="0"/>
              <a:t>, </a:t>
            </a:r>
            <a:r>
              <a:rPr lang="en-US" sz="2000" dirty="0" err="1"/>
              <a:t>cơ</a:t>
            </a:r>
            <a:r>
              <a:rPr lang="en-US" sz="2000" dirty="0"/>
              <a:t> </a:t>
            </a:r>
            <a:r>
              <a:rPr lang="en-US" sz="2000" dirty="0" err="1"/>
              <a:t>quan</a:t>
            </a:r>
            <a:r>
              <a:rPr lang="en-US" sz="2000" dirty="0"/>
              <a:t> </a:t>
            </a:r>
            <a:r>
              <a:rPr lang="en-US" sz="2000" dirty="0" err="1"/>
              <a:t>tài</a:t>
            </a:r>
            <a:r>
              <a:rPr lang="en-US" sz="2000" dirty="0"/>
              <a:t> </a:t>
            </a:r>
            <a:r>
              <a:rPr lang="en-US" sz="2000" dirty="0" err="1"/>
              <a:t>chính</a:t>
            </a:r>
            <a:r>
              <a:rPr lang="en-US" sz="2000" dirty="0"/>
              <a:t> </a:t>
            </a:r>
            <a:r>
              <a:rPr lang="en-US" sz="2000" dirty="0" err="1"/>
              <a:t>cấp</a:t>
            </a:r>
            <a:r>
              <a:rPr lang="en-US" sz="2000" dirty="0"/>
              <a:t> </a:t>
            </a:r>
            <a:r>
              <a:rPr lang="en-US" sz="2000" dirty="0" err="1"/>
              <a:t>xã</a:t>
            </a:r>
            <a:r>
              <a:rPr lang="en-US" sz="2000" dirty="0"/>
              <a:t> </a:t>
            </a:r>
            <a:r>
              <a:rPr lang="en-US" sz="2000" dirty="0" err="1"/>
              <a:t>tổng</a:t>
            </a:r>
            <a:r>
              <a:rPr lang="en-US" sz="2000" dirty="0"/>
              <a:t> </a:t>
            </a:r>
            <a:r>
              <a:rPr lang="en-US" sz="2000" dirty="0" err="1"/>
              <a:t>hợp</a:t>
            </a:r>
            <a:r>
              <a:rPr lang="en-US" sz="2000" dirty="0"/>
              <a:t>, </a:t>
            </a:r>
            <a:r>
              <a:rPr lang="en-US" sz="2000" dirty="0" err="1"/>
              <a:t>lập</a:t>
            </a:r>
            <a:r>
              <a:rPr lang="en-US" sz="2000" dirty="0"/>
              <a:t> </a:t>
            </a:r>
            <a:r>
              <a:rPr lang="en-US" sz="2000" dirty="0" err="1"/>
              <a:t>quyết</a:t>
            </a:r>
            <a:r>
              <a:rPr lang="en-US" sz="2000" dirty="0"/>
              <a:t> </a:t>
            </a:r>
            <a:r>
              <a:rPr lang="en-US" sz="2000" dirty="0" err="1"/>
              <a:t>toán</a:t>
            </a:r>
            <a:r>
              <a:rPr lang="en-US" sz="2000" dirty="0"/>
              <a:t> NS </a:t>
            </a:r>
            <a:r>
              <a:rPr lang="en-US" sz="2000" dirty="0" err="1"/>
              <a:t>cấp</a:t>
            </a:r>
            <a:r>
              <a:rPr lang="en-US" sz="2000" dirty="0"/>
              <a:t> </a:t>
            </a:r>
            <a:r>
              <a:rPr lang="en-US" sz="2000" dirty="0" err="1"/>
              <a:t>xã</a:t>
            </a:r>
            <a:r>
              <a:rPr lang="en-US" sz="2000" dirty="0"/>
              <a:t> </a:t>
            </a:r>
            <a:r>
              <a:rPr lang="en-US" sz="2000" dirty="0" err="1"/>
              <a:t>trình</a:t>
            </a:r>
            <a:r>
              <a:rPr lang="en-US" sz="2000" dirty="0"/>
              <a:t> UBND </a:t>
            </a:r>
            <a:r>
              <a:rPr lang="en-US" sz="2000" dirty="0" err="1"/>
              <a:t>cùng</a:t>
            </a:r>
            <a:r>
              <a:rPr lang="en-US" sz="2000" dirty="0"/>
              <a:t> </a:t>
            </a:r>
            <a:r>
              <a:rPr lang="en-US" sz="2000" dirty="0" err="1"/>
              <a:t>cấp</a:t>
            </a:r>
            <a:r>
              <a:rPr lang="en-US" sz="2000" dirty="0"/>
              <a:t>.</a:t>
            </a:r>
          </a:p>
          <a:p>
            <a:pPr marL="342900" indent="-342900" algn="just">
              <a:buFontTx/>
              <a:buChar char="-"/>
            </a:pPr>
            <a:r>
              <a:rPr lang="en-US" sz="2000" dirty="0"/>
              <a:t>UBND </a:t>
            </a:r>
            <a:r>
              <a:rPr lang="en-US" sz="2000" dirty="0" err="1"/>
              <a:t>cấp</a:t>
            </a:r>
            <a:r>
              <a:rPr lang="en-US" sz="2000" dirty="0"/>
              <a:t> </a:t>
            </a:r>
            <a:r>
              <a:rPr lang="en-US" sz="2000" dirty="0" err="1"/>
              <a:t>xã</a:t>
            </a:r>
            <a:r>
              <a:rPr lang="en-US" sz="2000" dirty="0"/>
              <a:t> </a:t>
            </a:r>
            <a:r>
              <a:rPr lang="en-US" sz="2000" dirty="0" err="1"/>
              <a:t>báo</a:t>
            </a:r>
            <a:r>
              <a:rPr lang="en-US" sz="2000" dirty="0"/>
              <a:t> </a:t>
            </a:r>
            <a:r>
              <a:rPr lang="en-US" sz="2000" dirty="0" err="1"/>
              <a:t>cáo</a:t>
            </a:r>
            <a:r>
              <a:rPr lang="en-US" sz="2000" dirty="0"/>
              <a:t> </a:t>
            </a:r>
            <a:r>
              <a:rPr lang="en-US" sz="2000" dirty="0" err="1"/>
              <a:t>thường</a:t>
            </a:r>
            <a:r>
              <a:rPr lang="en-US" sz="2000" dirty="0"/>
              <a:t> </a:t>
            </a:r>
            <a:r>
              <a:rPr lang="en-US" sz="2000" dirty="0" err="1"/>
              <a:t>trực</a:t>
            </a:r>
            <a:r>
              <a:rPr lang="en-US" sz="2000" dirty="0"/>
              <a:t> HĐND </a:t>
            </a:r>
            <a:r>
              <a:rPr lang="en-US" sz="2000" dirty="0" err="1"/>
              <a:t>cấp</a:t>
            </a:r>
            <a:r>
              <a:rPr lang="en-US" sz="2000" dirty="0"/>
              <a:t> </a:t>
            </a:r>
            <a:r>
              <a:rPr lang="en-US" sz="2000" dirty="0" err="1"/>
              <a:t>xã</a:t>
            </a:r>
            <a:r>
              <a:rPr lang="en-US" sz="2000" dirty="0"/>
              <a:t> </a:t>
            </a:r>
            <a:r>
              <a:rPr lang="en-US" sz="2000" dirty="0" err="1"/>
              <a:t>quyết</a:t>
            </a:r>
            <a:r>
              <a:rPr lang="en-US" sz="2000" dirty="0"/>
              <a:t> </a:t>
            </a:r>
            <a:r>
              <a:rPr lang="en-US" sz="2000" dirty="0" err="1"/>
              <a:t>toán</a:t>
            </a:r>
            <a:r>
              <a:rPr lang="en-US" sz="2000" dirty="0"/>
              <a:t> NS </a:t>
            </a:r>
            <a:r>
              <a:rPr lang="en-US" sz="2000" dirty="0" err="1"/>
              <a:t>cấp</a:t>
            </a:r>
            <a:r>
              <a:rPr lang="en-US" sz="2000" dirty="0"/>
              <a:t> </a:t>
            </a:r>
            <a:r>
              <a:rPr lang="en-US" sz="2000" dirty="0" err="1"/>
              <a:t>xã</a:t>
            </a:r>
            <a:r>
              <a:rPr lang="en-US" sz="2000" dirty="0"/>
              <a:t> </a:t>
            </a:r>
            <a:r>
              <a:rPr lang="en-US" sz="2000" dirty="0" err="1"/>
              <a:t>để</a:t>
            </a:r>
            <a:r>
              <a:rPr lang="en-US" sz="2000" dirty="0"/>
              <a:t> </a:t>
            </a:r>
            <a:r>
              <a:rPr lang="en-US" sz="2000" dirty="0" err="1"/>
              <a:t>cho</a:t>
            </a:r>
            <a:r>
              <a:rPr lang="en-US" sz="2000" dirty="0"/>
              <a:t> ý </a:t>
            </a:r>
            <a:r>
              <a:rPr lang="en-US" sz="2000" dirty="0" err="1"/>
              <a:t>kiến</a:t>
            </a:r>
            <a:r>
              <a:rPr lang="en-US" sz="2000" dirty="0"/>
              <a:t> </a:t>
            </a:r>
            <a:r>
              <a:rPr lang="en-US" sz="2000" dirty="0" err="1"/>
              <a:t>trước</a:t>
            </a:r>
            <a:r>
              <a:rPr lang="en-US" sz="2000" dirty="0"/>
              <a:t> </a:t>
            </a:r>
            <a:r>
              <a:rPr lang="en-US" sz="2000" dirty="0" err="1"/>
              <a:t>ngày</a:t>
            </a:r>
            <a:r>
              <a:rPr lang="en-US" sz="2000" dirty="0"/>
              <a:t> 10/3 </a:t>
            </a:r>
            <a:r>
              <a:rPr lang="en-US" sz="2000" dirty="0" err="1"/>
              <a:t>năm</a:t>
            </a:r>
            <a:r>
              <a:rPr lang="en-US" sz="2000" dirty="0"/>
              <a:t> </a:t>
            </a:r>
            <a:r>
              <a:rPr lang="en-US" sz="2000" dirty="0" err="1"/>
              <a:t>sau</a:t>
            </a:r>
            <a:r>
              <a:rPr lang="en-US" sz="2000" dirty="0"/>
              <a:t> </a:t>
            </a:r>
            <a:r>
              <a:rPr lang="en-US" sz="2000" dirty="0" err="1"/>
              <a:t>và</a:t>
            </a:r>
            <a:r>
              <a:rPr lang="en-US" sz="2000" dirty="0"/>
              <a:t> </a:t>
            </a:r>
            <a:r>
              <a:rPr lang="en-US" sz="2000" dirty="0" err="1"/>
              <a:t>tiếp</a:t>
            </a:r>
            <a:r>
              <a:rPr lang="en-US" sz="2000" dirty="0"/>
              <a:t> </a:t>
            </a:r>
            <a:r>
              <a:rPr lang="en-US" sz="2000" dirty="0" err="1"/>
              <a:t>thu</a:t>
            </a:r>
            <a:r>
              <a:rPr lang="en-US" sz="2000" dirty="0"/>
              <a:t>, </a:t>
            </a:r>
            <a:r>
              <a:rPr lang="en-US" sz="2000" dirty="0" err="1"/>
              <a:t>hoàn</a:t>
            </a:r>
            <a:r>
              <a:rPr lang="en-US" sz="2000" dirty="0"/>
              <a:t> </a:t>
            </a:r>
            <a:r>
              <a:rPr lang="en-US" sz="2000" dirty="0" err="1"/>
              <a:t>chỉnh</a:t>
            </a:r>
            <a:r>
              <a:rPr lang="en-US" sz="2000" dirty="0"/>
              <a:t> </a:t>
            </a:r>
            <a:r>
              <a:rPr lang="en-US" sz="2000" dirty="0" err="1"/>
              <a:t>để</a:t>
            </a:r>
            <a:r>
              <a:rPr lang="en-US" sz="2000" dirty="0"/>
              <a:t> </a:t>
            </a:r>
            <a:r>
              <a:rPr lang="en-US" sz="2000" dirty="0" err="1"/>
              <a:t>trình</a:t>
            </a:r>
            <a:r>
              <a:rPr lang="en-US" sz="2000" dirty="0"/>
              <a:t> HĐND </a:t>
            </a:r>
            <a:r>
              <a:rPr lang="en-US" sz="2000" dirty="0" err="1"/>
              <a:t>cùng</a:t>
            </a:r>
            <a:r>
              <a:rPr lang="en-US" sz="2000" dirty="0"/>
              <a:t> </a:t>
            </a:r>
            <a:r>
              <a:rPr lang="en-US" sz="2000" dirty="0" err="1"/>
              <a:t>cấp</a:t>
            </a:r>
            <a:r>
              <a:rPr lang="en-US" sz="2000" dirty="0"/>
              <a:t> </a:t>
            </a:r>
            <a:r>
              <a:rPr lang="en-US" sz="2000" dirty="0" err="1"/>
              <a:t>xem</a:t>
            </a:r>
            <a:r>
              <a:rPr lang="en-US" sz="2000" dirty="0"/>
              <a:t> </a:t>
            </a:r>
            <a:r>
              <a:rPr lang="en-US" sz="2000" dirty="0" err="1"/>
              <a:t>xét</a:t>
            </a:r>
            <a:r>
              <a:rPr lang="en-US" sz="2000" dirty="0"/>
              <a:t>, </a:t>
            </a:r>
            <a:r>
              <a:rPr lang="en-US" sz="2000" dirty="0" err="1"/>
              <a:t>phê</a:t>
            </a:r>
            <a:r>
              <a:rPr lang="en-US" sz="2000" dirty="0"/>
              <a:t> </a:t>
            </a:r>
            <a:r>
              <a:rPr lang="en-US" sz="2000" dirty="0" err="1"/>
              <a:t>chuẩn</a:t>
            </a:r>
            <a:r>
              <a:rPr lang="en-US" sz="2000" dirty="0"/>
              <a:t>, </a:t>
            </a:r>
            <a:r>
              <a:rPr lang="en-US" sz="2000" dirty="0" err="1"/>
              <a:t>đồng</a:t>
            </a:r>
            <a:r>
              <a:rPr lang="en-US" sz="2000" dirty="0"/>
              <a:t> </a:t>
            </a:r>
            <a:r>
              <a:rPr lang="en-US" sz="2000" dirty="0" err="1"/>
              <a:t>thời</a:t>
            </a:r>
            <a:r>
              <a:rPr lang="en-US" sz="2000" dirty="0"/>
              <a:t> </a:t>
            </a:r>
            <a:r>
              <a:rPr lang="en-US" sz="2000" dirty="0" err="1"/>
              <a:t>gửi</a:t>
            </a:r>
            <a:r>
              <a:rPr lang="en-US" sz="2000" dirty="0"/>
              <a:t> </a:t>
            </a:r>
            <a:r>
              <a:rPr lang="en-US" sz="2000" dirty="0" err="1"/>
              <a:t>Sở</a:t>
            </a:r>
            <a:r>
              <a:rPr lang="en-US" sz="2000" dirty="0"/>
              <a:t> </a:t>
            </a:r>
            <a:r>
              <a:rPr lang="en-US" sz="2000" dirty="0" err="1"/>
              <a:t>tài</a:t>
            </a:r>
            <a:r>
              <a:rPr lang="en-US" sz="2000" dirty="0"/>
              <a:t> </a:t>
            </a:r>
            <a:r>
              <a:rPr lang="en-US" sz="2000" dirty="0" err="1"/>
              <a:t>chính</a:t>
            </a:r>
            <a:r>
              <a:rPr lang="en-US" sz="2000" dirty="0"/>
              <a:t>;</a:t>
            </a:r>
          </a:p>
          <a:p>
            <a:pPr marL="342900" indent="-342900" algn="just">
              <a:buFontTx/>
              <a:buChar char="-"/>
            </a:pPr>
            <a:r>
              <a:rPr lang="en-US" sz="2000" dirty="0"/>
              <a:t>HĐND </a:t>
            </a:r>
            <a:r>
              <a:rPr lang="en-US" sz="2000" dirty="0" err="1"/>
              <a:t>cấp</a:t>
            </a:r>
            <a:r>
              <a:rPr lang="en-US" sz="2000" dirty="0"/>
              <a:t> </a:t>
            </a:r>
            <a:r>
              <a:rPr lang="en-US" sz="2000" dirty="0" err="1"/>
              <a:t>xã</a:t>
            </a:r>
            <a:r>
              <a:rPr lang="en-US" sz="2000" dirty="0"/>
              <a:t> </a:t>
            </a:r>
            <a:r>
              <a:rPr lang="en-US" sz="2000" dirty="0" err="1"/>
              <a:t>xem</a:t>
            </a:r>
            <a:r>
              <a:rPr lang="en-US" sz="2000" dirty="0"/>
              <a:t> </a:t>
            </a:r>
            <a:r>
              <a:rPr lang="en-US" sz="2000" dirty="0" err="1"/>
              <a:t>xét</a:t>
            </a:r>
            <a:r>
              <a:rPr lang="en-US" sz="2000" dirty="0"/>
              <a:t>, </a:t>
            </a:r>
            <a:r>
              <a:rPr lang="en-US" sz="2000" dirty="0" err="1"/>
              <a:t>phê</a:t>
            </a:r>
            <a:r>
              <a:rPr lang="en-US" sz="2000" dirty="0"/>
              <a:t> </a:t>
            </a:r>
            <a:r>
              <a:rPr lang="en-US" sz="2000" dirty="0" err="1"/>
              <a:t>chuẩn</a:t>
            </a:r>
            <a:r>
              <a:rPr lang="en-US" sz="2000" dirty="0"/>
              <a:t> </a:t>
            </a:r>
            <a:r>
              <a:rPr lang="en-US" sz="2000" dirty="0" err="1"/>
              <a:t>báo</a:t>
            </a:r>
            <a:r>
              <a:rPr lang="en-US" sz="2000" dirty="0"/>
              <a:t> </a:t>
            </a:r>
            <a:r>
              <a:rPr lang="en-US" sz="2000" dirty="0" err="1"/>
              <a:t>cáo</a:t>
            </a:r>
            <a:r>
              <a:rPr lang="en-US" sz="2000" dirty="0"/>
              <a:t> </a:t>
            </a:r>
            <a:r>
              <a:rPr lang="en-US" sz="2000" dirty="0" err="1"/>
              <a:t>quyết</a:t>
            </a:r>
            <a:r>
              <a:rPr lang="en-US" sz="2000" dirty="0"/>
              <a:t> </a:t>
            </a:r>
            <a:r>
              <a:rPr lang="en-US" sz="2000" dirty="0" err="1"/>
              <a:t>toán</a:t>
            </a:r>
            <a:r>
              <a:rPr lang="en-US" sz="2000" dirty="0"/>
              <a:t> NS </a:t>
            </a:r>
            <a:r>
              <a:rPr lang="en-US" sz="2000" dirty="0" err="1"/>
              <a:t>cấp</a:t>
            </a:r>
            <a:r>
              <a:rPr lang="en-US" sz="2000" dirty="0"/>
              <a:t> </a:t>
            </a:r>
            <a:r>
              <a:rPr lang="en-US" sz="2000" dirty="0" err="1"/>
              <a:t>xã</a:t>
            </a:r>
            <a:r>
              <a:rPr lang="en-US" sz="2000" dirty="0"/>
              <a:t> </a:t>
            </a:r>
            <a:r>
              <a:rPr lang="en-US" sz="2000" b="1" dirty="0" err="1">
                <a:solidFill>
                  <a:srgbClr val="FF0000"/>
                </a:solidFill>
              </a:rPr>
              <a:t>trước</a:t>
            </a:r>
            <a:r>
              <a:rPr lang="en-US" sz="2000" b="1" dirty="0">
                <a:solidFill>
                  <a:srgbClr val="FF0000"/>
                </a:solidFill>
              </a:rPr>
              <a:t> </a:t>
            </a:r>
            <a:r>
              <a:rPr lang="en-US" sz="2000" b="1" dirty="0" err="1">
                <a:solidFill>
                  <a:srgbClr val="FF0000"/>
                </a:solidFill>
              </a:rPr>
              <a:t>ngày</a:t>
            </a:r>
            <a:r>
              <a:rPr lang="en-US" sz="2000" b="1" dirty="0">
                <a:solidFill>
                  <a:srgbClr val="FF0000"/>
                </a:solidFill>
              </a:rPr>
              <a:t> 31/3 </a:t>
            </a:r>
            <a:r>
              <a:rPr lang="en-US" sz="2000" b="1" dirty="0" err="1">
                <a:solidFill>
                  <a:srgbClr val="FF0000"/>
                </a:solidFill>
              </a:rPr>
              <a:t>năm</a:t>
            </a:r>
            <a:r>
              <a:rPr lang="en-US" sz="2000" b="1" dirty="0">
                <a:solidFill>
                  <a:srgbClr val="FF0000"/>
                </a:solidFill>
              </a:rPr>
              <a:t> </a:t>
            </a:r>
            <a:r>
              <a:rPr lang="en-US" sz="2000" b="1" dirty="0" err="1">
                <a:solidFill>
                  <a:srgbClr val="FF0000"/>
                </a:solidFill>
              </a:rPr>
              <a:t>sau</a:t>
            </a:r>
            <a:r>
              <a:rPr lang="en-US" sz="2000" dirty="0"/>
              <a:t>, </a:t>
            </a:r>
            <a:r>
              <a:rPr lang="en-US" sz="2000" dirty="0" err="1"/>
              <a:t>gửi</a:t>
            </a:r>
            <a:r>
              <a:rPr lang="en-US" sz="2000" dirty="0"/>
              <a:t> UBND </a:t>
            </a:r>
            <a:r>
              <a:rPr lang="en-US" sz="2000" dirty="0" err="1"/>
              <a:t>cấp</a:t>
            </a:r>
            <a:r>
              <a:rPr lang="en-US" sz="2000" dirty="0"/>
              <a:t> </a:t>
            </a:r>
            <a:r>
              <a:rPr lang="en-US" sz="2000" dirty="0" err="1"/>
              <a:t>tỉnh</a:t>
            </a:r>
            <a:r>
              <a:rPr lang="en-US" sz="2000" dirty="0"/>
              <a:t> </a:t>
            </a:r>
            <a:r>
              <a:rPr lang="en-US" sz="2000" dirty="0" err="1"/>
              <a:t>chậm</a:t>
            </a:r>
            <a:r>
              <a:rPr lang="en-US" sz="2000" dirty="0"/>
              <a:t> </a:t>
            </a:r>
            <a:r>
              <a:rPr lang="en-US" sz="2000" dirty="0" err="1"/>
              <a:t>nhất</a:t>
            </a:r>
            <a:r>
              <a:rPr lang="en-US" sz="2000" dirty="0"/>
              <a:t> 05 </a:t>
            </a:r>
            <a:r>
              <a:rPr lang="en-US" sz="2000" dirty="0" err="1"/>
              <a:t>ngày</a:t>
            </a:r>
            <a:r>
              <a:rPr lang="en-US" sz="2000" dirty="0"/>
              <a:t> </a:t>
            </a:r>
            <a:r>
              <a:rPr lang="en-US" sz="2000" dirty="0" err="1"/>
              <a:t>làm</a:t>
            </a:r>
            <a:r>
              <a:rPr lang="en-US" sz="2000" dirty="0"/>
              <a:t> </a:t>
            </a:r>
            <a:r>
              <a:rPr lang="en-US" sz="2000" dirty="0" err="1"/>
              <a:t>việc</a:t>
            </a:r>
            <a:r>
              <a:rPr lang="en-US" sz="2000" dirty="0"/>
              <a:t>, </a:t>
            </a:r>
            <a:r>
              <a:rPr lang="en-US" sz="2000" dirty="0" err="1"/>
              <a:t>kể</a:t>
            </a:r>
            <a:r>
              <a:rPr lang="en-US" sz="2000" dirty="0"/>
              <a:t> </a:t>
            </a:r>
            <a:r>
              <a:rPr lang="en-US" sz="2000" dirty="0" err="1"/>
              <a:t>từ</a:t>
            </a:r>
            <a:r>
              <a:rPr lang="en-US" sz="2000" dirty="0"/>
              <a:t> </a:t>
            </a:r>
            <a:r>
              <a:rPr lang="en-US" sz="2000" dirty="0" err="1"/>
              <a:t>ngày</a:t>
            </a:r>
            <a:r>
              <a:rPr lang="en-US" sz="2000" dirty="0"/>
              <a:t> </a:t>
            </a:r>
            <a:r>
              <a:rPr lang="en-US" sz="2000" dirty="0" err="1"/>
              <a:t>báo</a:t>
            </a:r>
            <a:r>
              <a:rPr lang="en-US" sz="2000" dirty="0"/>
              <a:t> </a:t>
            </a:r>
            <a:r>
              <a:rPr lang="en-US" sz="2000" dirty="0" err="1"/>
              <a:t>cáo</a:t>
            </a:r>
            <a:r>
              <a:rPr lang="en-US" sz="2000" dirty="0"/>
              <a:t> </a:t>
            </a:r>
            <a:r>
              <a:rPr lang="en-US" sz="2000" dirty="0" err="1"/>
              <a:t>quyết</a:t>
            </a:r>
            <a:r>
              <a:rPr lang="en-US" sz="2000" dirty="0"/>
              <a:t> </a:t>
            </a:r>
            <a:r>
              <a:rPr lang="en-US" sz="2000" dirty="0" err="1"/>
              <a:t>toán</a:t>
            </a:r>
            <a:r>
              <a:rPr lang="en-US" sz="2000" dirty="0"/>
              <a:t> </a:t>
            </a:r>
            <a:r>
              <a:rPr lang="en-US" sz="2000" dirty="0" err="1"/>
              <a:t>được</a:t>
            </a:r>
            <a:r>
              <a:rPr lang="en-US" sz="2000" dirty="0"/>
              <a:t> </a:t>
            </a:r>
            <a:r>
              <a:rPr lang="en-US" sz="2000" dirty="0" err="1"/>
              <a:t>phê</a:t>
            </a:r>
            <a:r>
              <a:rPr lang="en-US" sz="2000" dirty="0"/>
              <a:t> </a:t>
            </a:r>
            <a:r>
              <a:rPr lang="en-US" sz="2000" dirty="0" err="1"/>
              <a:t>chuẩn</a:t>
            </a:r>
            <a:r>
              <a:rPr lang="en-US" sz="2000" dirty="0"/>
              <a:t>.</a:t>
            </a:r>
          </a:p>
          <a:p>
            <a:pPr marL="342900" indent="-342900" algn="just">
              <a:buFontTx/>
              <a:buChar char="-"/>
            </a:pPr>
            <a:r>
              <a:rPr lang="en-US" sz="2000" dirty="0"/>
              <a:t>Trong </a:t>
            </a:r>
            <a:r>
              <a:rPr lang="en-US" sz="2000" dirty="0" err="1"/>
              <a:t>trường</a:t>
            </a:r>
            <a:r>
              <a:rPr lang="en-US" sz="2000" dirty="0"/>
              <a:t> </a:t>
            </a:r>
            <a:r>
              <a:rPr lang="en-US" sz="2000" dirty="0" err="1"/>
              <a:t>hợp</a:t>
            </a:r>
            <a:r>
              <a:rPr lang="en-US" sz="2000" dirty="0"/>
              <a:t> </a:t>
            </a:r>
            <a:r>
              <a:rPr lang="en-US" sz="2000" dirty="0" err="1"/>
              <a:t>báo</a:t>
            </a:r>
            <a:r>
              <a:rPr lang="en-US" sz="2000" dirty="0"/>
              <a:t> </a:t>
            </a:r>
            <a:r>
              <a:rPr lang="en-US" sz="2000" dirty="0" err="1"/>
              <a:t>cáo</a:t>
            </a:r>
            <a:r>
              <a:rPr lang="en-US" sz="2000" dirty="0"/>
              <a:t> </a:t>
            </a:r>
            <a:r>
              <a:rPr lang="en-US" sz="2000" dirty="0" err="1"/>
              <a:t>quyết</a:t>
            </a:r>
            <a:r>
              <a:rPr lang="en-US" sz="2000" dirty="0"/>
              <a:t> </a:t>
            </a:r>
            <a:r>
              <a:rPr lang="en-US" sz="2000" dirty="0" err="1"/>
              <a:t>toán</a:t>
            </a:r>
            <a:r>
              <a:rPr lang="en-US" sz="2000" dirty="0"/>
              <a:t> NS </a:t>
            </a:r>
            <a:r>
              <a:rPr lang="en-US" sz="2000" dirty="0" err="1"/>
              <a:t>cấp</a:t>
            </a:r>
            <a:r>
              <a:rPr lang="en-US" sz="2000" dirty="0"/>
              <a:t> </a:t>
            </a:r>
            <a:r>
              <a:rPr lang="en-US" sz="2000" dirty="0" err="1"/>
              <a:t>xã</a:t>
            </a:r>
            <a:r>
              <a:rPr lang="en-US" sz="2000" dirty="0"/>
              <a:t> </a:t>
            </a:r>
            <a:r>
              <a:rPr lang="en-US" sz="2000" dirty="0" err="1"/>
              <a:t>chưa</a:t>
            </a:r>
            <a:r>
              <a:rPr lang="en-US" sz="2000" dirty="0"/>
              <a:t> </a:t>
            </a:r>
            <a:r>
              <a:rPr lang="en-US" sz="2000" dirty="0" err="1"/>
              <a:t>được</a:t>
            </a:r>
            <a:r>
              <a:rPr lang="en-US" sz="2000" dirty="0"/>
              <a:t> HĐND </a:t>
            </a:r>
            <a:r>
              <a:rPr lang="en-US" sz="2000" dirty="0" err="1"/>
              <a:t>cấp</a:t>
            </a:r>
            <a:r>
              <a:rPr lang="en-US" sz="2000" dirty="0"/>
              <a:t> </a:t>
            </a:r>
            <a:r>
              <a:rPr lang="en-US" sz="2000" dirty="0" err="1"/>
              <a:t>xã</a:t>
            </a:r>
            <a:r>
              <a:rPr lang="en-US" sz="2000" dirty="0"/>
              <a:t> </a:t>
            </a:r>
            <a:r>
              <a:rPr lang="en-US" sz="2000" dirty="0" err="1"/>
              <a:t>phê</a:t>
            </a:r>
            <a:r>
              <a:rPr lang="en-US" sz="2000" dirty="0"/>
              <a:t> </a:t>
            </a:r>
            <a:r>
              <a:rPr lang="en-US" sz="2000" dirty="0" err="1"/>
              <a:t>chuẩn</a:t>
            </a:r>
            <a:r>
              <a:rPr lang="en-US" sz="2000" dirty="0"/>
              <a:t>, UBND </a:t>
            </a:r>
            <a:r>
              <a:rPr lang="en-US" sz="2000" dirty="0" err="1"/>
              <a:t>cấp</a:t>
            </a:r>
            <a:r>
              <a:rPr lang="en-US" sz="2000" dirty="0"/>
              <a:t> </a:t>
            </a:r>
            <a:r>
              <a:rPr lang="en-US" sz="2000" dirty="0" err="1"/>
              <a:t>xã</a:t>
            </a:r>
            <a:r>
              <a:rPr lang="en-US" sz="2000" dirty="0"/>
              <a:t> </a:t>
            </a:r>
            <a:r>
              <a:rPr lang="en-US" sz="2000" dirty="0" err="1"/>
              <a:t>tiếp</a:t>
            </a:r>
            <a:r>
              <a:rPr lang="en-US" sz="2000" dirty="0"/>
              <a:t> </a:t>
            </a:r>
            <a:r>
              <a:rPr lang="en-US" sz="2000" dirty="0" err="1"/>
              <a:t>tục</a:t>
            </a:r>
            <a:r>
              <a:rPr lang="en-US" sz="2000" dirty="0"/>
              <a:t> </a:t>
            </a:r>
            <a:r>
              <a:rPr lang="en-US" sz="2000" dirty="0" err="1"/>
              <a:t>làm</a:t>
            </a:r>
            <a:r>
              <a:rPr lang="en-US" sz="2000" dirty="0"/>
              <a:t> </a:t>
            </a:r>
            <a:r>
              <a:rPr lang="en-US" sz="2000" dirty="0" err="1"/>
              <a:t>rõ</a:t>
            </a:r>
            <a:r>
              <a:rPr lang="en-US" sz="2000" dirty="0"/>
              <a:t> </a:t>
            </a:r>
            <a:r>
              <a:rPr lang="en-US" sz="2000" dirty="0" err="1"/>
              <a:t>những</a:t>
            </a:r>
            <a:r>
              <a:rPr lang="en-US" sz="2000" dirty="0"/>
              <a:t> </a:t>
            </a:r>
            <a:r>
              <a:rPr lang="en-US" sz="2000" dirty="0" err="1"/>
              <a:t>nội</a:t>
            </a:r>
            <a:r>
              <a:rPr lang="en-US" sz="2000" dirty="0"/>
              <a:t> dung HĐND </a:t>
            </a:r>
            <a:r>
              <a:rPr lang="en-US" sz="2000" dirty="0" err="1"/>
              <a:t>yêu</a:t>
            </a:r>
            <a:r>
              <a:rPr lang="en-US" sz="2000" dirty="0"/>
              <a:t> </a:t>
            </a:r>
            <a:r>
              <a:rPr lang="en-US" sz="2000" dirty="0" err="1"/>
              <a:t>cầu</a:t>
            </a:r>
            <a:r>
              <a:rPr lang="en-US" sz="2000" dirty="0"/>
              <a:t> </a:t>
            </a:r>
            <a:r>
              <a:rPr lang="en-US" sz="2000" dirty="0" err="1"/>
              <a:t>và</a:t>
            </a:r>
            <a:r>
              <a:rPr lang="en-US" sz="2000" dirty="0"/>
              <a:t> </a:t>
            </a:r>
            <a:r>
              <a:rPr lang="en-US" sz="2000" dirty="0" err="1"/>
              <a:t>trình</a:t>
            </a:r>
            <a:r>
              <a:rPr lang="en-US" sz="2000" dirty="0"/>
              <a:t> </a:t>
            </a:r>
            <a:r>
              <a:rPr lang="en-US" sz="2000" dirty="0" err="1"/>
              <a:t>lại</a:t>
            </a:r>
            <a:r>
              <a:rPr lang="en-US" sz="2000" dirty="0"/>
              <a:t> </a:t>
            </a:r>
            <a:r>
              <a:rPr lang="en-US" sz="2000" dirty="0" err="1"/>
              <a:t>vào</a:t>
            </a:r>
            <a:r>
              <a:rPr lang="en-US" sz="2000" dirty="0"/>
              <a:t> </a:t>
            </a:r>
            <a:r>
              <a:rPr lang="en-US" sz="2000" dirty="0" err="1"/>
              <a:t>thời</a:t>
            </a:r>
            <a:r>
              <a:rPr lang="en-US" sz="2000" dirty="0"/>
              <a:t> </a:t>
            </a:r>
            <a:r>
              <a:rPr lang="en-US" sz="2000" dirty="0" err="1"/>
              <a:t>gian</a:t>
            </a:r>
            <a:r>
              <a:rPr lang="en-US" sz="2000" dirty="0"/>
              <a:t> do HĐND </a:t>
            </a:r>
            <a:r>
              <a:rPr lang="en-US" sz="2000" dirty="0" err="1"/>
              <a:t>quyết</a:t>
            </a:r>
            <a:r>
              <a:rPr lang="en-US" sz="2000" dirty="0"/>
              <a:t> </a:t>
            </a:r>
            <a:r>
              <a:rPr lang="en-US" sz="2000" dirty="0" err="1"/>
              <a:t>định</a:t>
            </a:r>
            <a:r>
              <a:rPr lang="en-US" sz="2000" dirty="0"/>
              <a:t>, </a:t>
            </a:r>
            <a:r>
              <a:rPr lang="en-US" sz="2000" dirty="0" err="1"/>
              <a:t>chậm</a:t>
            </a:r>
            <a:r>
              <a:rPr lang="en-US" sz="2000" dirty="0"/>
              <a:t> </a:t>
            </a:r>
            <a:r>
              <a:rPr lang="en-US" sz="2000" dirty="0" err="1"/>
              <a:t>nhất</a:t>
            </a:r>
            <a:r>
              <a:rPr lang="en-US" sz="2000" dirty="0"/>
              <a:t> </a:t>
            </a:r>
            <a:r>
              <a:rPr lang="en-US" sz="2000" dirty="0" err="1"/>
              <a:t>là</a:t>
            </a:r>
            <a:r>
              <a:rPr lang="en-US" sz="2000" dirty="0"/>
              <a:t> </a:t>
            </a:r>
            <a:r>
              <a:rPr lang="en-US" sz="2000" dirty="0" err="1"/>
              <a:t>sau</a:t>
            </a:r>
            <a:r>
              <a:rPr lang="en-US" sz="2000" dirty="0"/>
              <a:t> 10 </a:t>
            </a:r>
            <a:r>
              <a:rPr lang="en-US" sz="2000" dirty="0" err="1"/>
              <a:t>ngày</a:t>
            </a:r>
            <a:r>
              <a:rPr lang="en-US" sz="2000" dirty="0"/>
              <a:t> </a:t>
            </a:r>
            <a:r>
              <a:rPr lang="en-US" sz="2000" dirty="0" err="1"/>
              <a:t>làm</a:t>
            </a:r>
            <a:r>
              <a:rPr lang="en-US" sz="2000" dirty="0"/>
              <a:t> </a:t>
            </a:r>
            <a:r>
              <a:rPr lang="en-US" sz="2000" dirty="0" err="1"/>
              <a:t>việc</a:t>
            </a:r>
            <a:r>
              <a:rPr lang="en-US" sz="2000" dirty="0"/>
              <a:t>.</a:t>
            </a:r>
            <a:endParaRPr lang="vi-VN" sz="2000" dirty="0"/>
          </a:p>
          <a:p>
            <a:pPr algn="just"/>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529544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6FC59-DEFB-8B7F-E9F9-823BDC9EFFF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74283F5-558F-EFBB-1665-8F503DF34376}"/>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3.3.3. QUYẾT TOÁN NGÂN SÁCH XÃ</a:t>
            </a:r>
          </a:p>
        </p:txBody>
      </p:sp>
      <p:sp>
        <p:nvSpPr>
          <p:cNvPr id="2" name="Text Placeholder 3">
            <a:extLst>
              <a:ext uri="{FF2B5EF4-FFF2-40B4-BE49-F238E27FC236}">
                <a16:creationId xmlns:a16="http://schemas.microsoft.com/office/drawing/2014/main" id="{E60C947E-8518-EBFA-78CA-EF2214759EB7}"/>
              </a:ext>
            </a:extLst>
          </p:cNvPr>
          <p:cNvSpPr txBox="1">
            <a:spLocks/>
          </p:cNvSpPr>
          <p:nvPr/>
        </p:nvSpPr>
        <p:spPr>
          <a:xfrm>
            <a:off x="134310" y="1171195"/>
            <a:ext cx="7994112" cy="793867"/>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Xử</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lý</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kết</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dư</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ngân</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sách</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xã</a:t>
            </a:r>
            <a:endParaRPr lang="vi-VN" sz="3200" b="1" i="1" dirty="0">
              <a:solidFill>
                <a:srgbClr val="FF0000"/>
              </a:solidFill>
              <a:latin typeface="+mj-lt"/>
            </a:endParaRPr>
          </a:p>
        </p:txBody>
      </p:sp>
      <p:sp>
        <p:nvSpPr>
          <p:cNvPr id="6" name="TextBox 5">
            <a:extLst>
              <a:ext uri="{FF2B5EF4-FFF2-40B4-BE49-F238E27FC236}">
                <a16:creationId xmlns:a16="http://schemas.microsoft.com/office/drawing/2014/main" id="{F70D90EC-623C-F34E-2B39-7215AE4EBA87}"/>
              </a:ext>
            </a:extLst>
          </p:cNvPr>
          <p:cNvSpPr txBox="1"/>
          <p:nvPr/>
        </p:nvSpPr>
        <p:spPr>
          <a:xfrm>
            <a:off x="260434" y="1849072"/>
            <a:ext cx="11797255" cy="1938992"/>
          </a:xfrm>
          <a:prstGeom prst="rect">
            <a:avLst/>
          </a:prstGeom>
          <a:noFill/>
        </p:spPr>
        <p:txBody>
          <a:bodyPr wrap="square">
            <a:spAutoFit/>
          </a:bodyPr>
          <a:lstStyle/>
          <a:p>
            <a:pPr algn="just"/>
            <a:r>
              <a:rPr lang="en-US" sz="2000" b="1" i="1" dirty="0" err="1">
                <a:latin typeface="Arial" panose="020B0604020202020204" pitchFamily="34" charset="0"/>
                <a:cs typeface="Arial" panose="020B0604020202020204" pitchFamily="34" charset="0"/>
              </a:rPr>
              <a:t>Khoản</a:t>
            </a:r>
            <a:r>
              <a:rPr lang="en-US" sz="2000" b="1" i="1" dirty="0">
                <a:latin typeface="Arial" panose="020B0604020202020204" pitchFamily="34" charset="0"/>
                <a:cs typeface="Arial" panose="020B0604020202020204" pitchFamily="34" charset="0"/>
              </a:rPr>
              <a:t> 16, </a:t>
            </a:r>
            <a:r>
              <a:rPr lang="en-US" sz="2000" b="1" i="1" dirty="0" err="1">
                <a:latin typeface="Arial" panose="020B0604020202020204" pitchFamily="34" charset="0"/>
                <a:cs typeface="Arial" panose="020B0604020202020204" pitchFamily="34" charset="0"/>
              </a:rPr>
              <a:t>Điều</a:t>
            </a:r>
            <a:r>
              <a:rPr lang="en-US" sz="2000" b="1" i="1" dirty="0">
                <a:latin typeface="Arial" panose="020B0604020202020204" pitchFamily="34" charset="0"/>
                <a:cs typeface="Arial" panose="020B0604020202020204" pitchFamily="34" charset="0"/>
              </a:rPr>
              <a:t> 4, </a:t>
            </a:r>
            <a:r>
              <a:rPr lang="en-US" sz="2000" b="1" i="1" dirty="0" err="1">
                <a:latin typeface="Arial" panose="020B0604020202020204" pitchFamily="34" charset="0"/>
                <a:cs typeface="Arial" panose="020B0604020202020204" pitchFamily="34" charset="0"/>
              </a:rPr>
              <a:t>Luật</a:t>
            </a:r>
            <a:r>
              <a:rPr lang="en-US" sz="2000" b="1" i="1" dirty="0">
                <a:latin typeface="Arial" panose="020B0604020202020204" pitchFamily="34" charset="0"/>
                <a:cs typeface="Arial" panose="020B0604020202020204" pitchFamily="34" charset="0"/>
              </a:rPr>
              <a:t> NSNN 2025:</a:t>
            </a:r>
          </a:p>
          <a:p>
            <a:pPr algn="just"/>
            <a:r>
              <a:rPr lang="en-US" sz="2000" dirty="0" err="1">
                <a:latin typeface="Arial" panose="020B0604020202020204" pitchFamily="34" charset="0"/>
                <a:cs typeface="Arial" panose="020B0604020202020204" pitchFamily="34" charset="0"/>
              </a:rPr>
              <a:t>Kết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dư</a:t>
            </a:r>
            <a:r>
              <a:rPr lang="en-US" sz="2000" dirty="0">
                <a:latin typeface="Arial" panose="020B0604020202020204" pitchFamily="34" charset="0"/>
                <a:cs typeface="Arial" panose="020B0604020202020204" pitchFamily="34" charset="0"/>
              </a:rPr>
              <a:t> NS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xã</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chênh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lệch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lớn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giữa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tổng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thu</a:t>
            </a:r>
            <a:r>
              <a:rPr lang="en-US" sz="2000" dirty="0">
                <a:latin typeface="Arial" panose="020B0604020202020204" pitchFamily="34" charset="0"/>
                <a:cs typeface="Arial" panose="020B0604020202020204" pitchFamily="34" charset="0"/>
              </a:rPr>
              <a:t> NS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tổng</a:t>
            </a:r>
            <a:r>
              <a:rPr lang="en-US" sz="2000" dirty="0">
                <a:latin typeface="Arial" panose="020B0604020202020204" pitchFamily="34" charset="0"/>
                <a:cs typeface="Arial" panose="020B0604020202020204" pitchFamily="34" charset="0"/>
              </a:rPr>
              <a:t> chi NS </a:t>
            </a:r>
            <a:r>
              <a:rPr lang="en-US" sz="2000" dirty="0" err="1">
                <a:latin typeface="Arial" panose="020B0604020202020204" pitchFamily="34" charset="0"/>
                <a:cs typeface="Arial" panose="020B0604020202020204" pitchFamily="34" charset="0"/>
              </a:rPr>
              <a:t>sau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thúc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năm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sách</a:t>
            </a:r>
            <a:endParaRPr lang="en-US" sz="2000" dirty="0">
              <a:latin typeface="Arial" panose="020B0604020202020204" pitchFamily="34" charset="0"/>
              <a:cs typeface="Arial" panose="020B0604020202020204" pitchFamily="34" charset="0"/>
            </a:endParaRPr>
          </a:p>
          <a:p>
            <a:pPr algn="just"/>
            <a:r>
              <a:rPr lang="en-US" sz="2000" b="1" i="1" dirty="0" err="1">
                <a:latin typeface="Arial" panose="020B0604020202020204" pitchFamily="34" charset="0"/>
                <a:cs typeface="Arial" panose="020B0604020202020204" pitchFamily="34" charset="0"/>
              </a:rPr>
              <a:t>Điều</a:t>
            </a:r>
            <a:r>
              <a:rPr lang="en-US" sz="2000" b="1" i="1" dirty="0">
                <a:latin typeface="Arial" panose="020B0604020202020204" pitchFamily="34" charset="0"/>
                <a:cs typeface="Arial" panose="020B0604020202020204" pitchFamily="34" charset="0"/>
              </a:rPr>
              <a:t> 74, </a:t>
            </a:r>
            <a:r>
              <a:rPr lang="en-US" sz="2000" b="1" i="1" dirty="0" err="1">
                <a:latin typeface="Arial" panose="020B0604020202020204" pitchFamily="34" charset="0"/>
                <a:cs typeface="Arial" panose="020B0604020202020204" pitchFamily="34" charset="0"/>
              </a:rPr>
              <a:t>Luật</a:t>
            </a:r>
            <a:r>
              <a:rPr lang="en-US" sz="2000" b="1" i="1" dirty="0">
                <a:latin typeface="Arial" panose="020B0604020202020204" pitchFamily="34" charset="0"/>
                <a:cs typeface="Arial" panose="020B0604020202020204" pitchFamily="34" charset="0"/>
              </a:rPr>
              <a:t> NSNN 2025:</a:t>
            </a:r>
          </a:p>
          <a:p>
            <a:pPr algn="just"/>
            <a:r>
              <a:rPr lang="en-US" sz="2000" dirty="0" err="1">
                <a:latin typeface="Arial" panose="020B0604020202020204" pitchFamily="34" charset="0"/>
                <a:cs typeface="Arial" panose="020B0604020202020204" pitchFamily="34" charset="0"/>
              </a:rPr>
              <a:t>Kết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dư</a:t>
            </a:r>
            <a:r>
              <a:rPr lang="en-US" sz="2000" dirty="0">
                <a:latin typeface="Arial" panose="020B0604020202020204" pitchFamily="34" charset="0"/>
                <a:cs typeface="Arial" panose="020B0604020202020204" pitchFamily="34" charset="0"/>
              </a:rPr>
              <a:t> NS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xã</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được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hạch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thu</a:t>
            </a:r>
            <a:r>
              <a:rPr lang="en-US" sz="2000" dirty="0">
                <a:latin typeface="Arial" panose="020B0604020202020204" pitchFamily="34" charset="0"/>
                <a:cs typeface="Arial" panose="020B0604020202020204" pitchFamily="34" charset="0"/>
              </a:rPr>
              <a:t> NS </a:t>
            </a:r>
            <a:r>
              <a:rPr lang="en-US" sz="2000" dirty="0" err="1">
                <a:latin typeface="Arial" panose="020B0604020202020204" pitchFamily="34" charset="0"/>
                <a:cs typeface="Arial" panose="020B0604020202020204" pitchFamily="34" charset="0"/>
              </a:rPr>
              <a:t>năm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sau</a:t>
            </a:r>
            <a:r>
              <a:rPr lang="en-US" sz="2000" dirty="0">
                <a:latin typeface="Arial" panose="020B0604020202020204" pitchFamily="34" charset="0"/>
                <a:cs typeface="Arial" panose="020B0604020202020204" pitchFamily="34" charset="0"/>
              </a:rPr>
              <a:t>.</a:t>
            </a:r>
          </a:p>
          <a:p>
            <a:pPr algn="just"/>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627384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6239C-3926-E7D4-7A3B-811B3835889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D7F3DAC-E8E8-02B9-EEE9-49CB139B1152}"/>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3.3.3. QUYẾT TOÁN NGÂN SÁCH XÃ</a:t>
            </a:r>
          </a:p>
        </p:txBody>
      </p:sp>
      <p:sp>
        <p:nvSpPr>
          <p:cNvPr id="2" name="Text Placeholder 3">
            <a:extLst>
              <a:ext uri="{FF2B5EF4-FFF2-40B4-BE49-F238E27FC236}">
                <a16:creationId xmlns:a16="http://schemas.microsoft.com/office/drawing/2014/main" id="{FF249C37-1265-9C2A-4E4D-25752CF568C9}"/>
              </a:ext>
            </a:extLst>
          </p:cNvPr>
          <p:cNvSpPr txBox="1">
            <a:spLocks/>
          </p:cNvSpPr>
          <p:nvPr/>
        </p:nvSpPr>
        <p:spPr>
          <a:xfrm>
            <a:off x="77159" y="1342645"/>
            <a:ext cx="11797255" cy="793867"/>
          </a:xfrm>
          <a:prstGeom prst="rect">
            <a:avLst/>
          </a:prstGeom>
        </p:spPr>
        <p:txBody>
          <a:bodyPr anchor="ct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Xử</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lý</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các</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khoản</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thu</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chi NSNN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không</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đúng</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định</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sau</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khi</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quyết</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toán</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NSNN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được</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phê</a:t>
            </a:r>
            <a:r>
              <a:rPr lang="en-US" sz="3200" b="1"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chuẩn</a:t>
            </a:r>
            <a:endParaRPr lang="vi-VN" sz="3200" b="1" i="1" dirty="0">
              <a:solidFill>
                <a:srgbClr val="FF0000"/>
              </a:solidFill>
              <a:latin typeface="+mj-lt"/>
            </a:endParaRPr>
          </a:p>
        </p:txBody>
      </p:sp>
      <p:sp>
        <p:nvSpPr>
          <p:cNvPr id="6" name="TextBox 5">
            <a:extLst>
              <a:ext uri="{FF2B5EF4-FFF2-40B4-BE49-F238E27FC236}">
                <a16:creationId xmlns:a16="http://schemas.microsoft.com/office/drawing/2014/main" id="{DF69B438-7EC7-E315-542F-36BD4791BB1F}"/>
              </a:ext>
            </a:extLst>
          </p:cNvPr>
          <p:cNvSpPr txBox="1"/>
          <p:nvPr/>
        </p:nvSpPr>
        <p:spPr>
          <a:xfrm>
            <a:off x="260434" y="2439622"/>
            <a:ext cx="11797255" cy="1323439"/>
          </a:xfrm>
          <a:prstGeom prst="rect">
            <a:avLst/>
          </a:prstGeom>
          <a:noFill/>
        </p:spPr>
        <p:txBody>
          <a:bodyPr wrap="square">
            <a:spAutoFit/>
          </a:bodyPr>
          <a:lstStyle/>
          <a:p>
            <a:pPr algn="just"/>
            <a:r>
              <a:rPr lang="en-US" sz="2000" dirty="0">
                <a:latin typeface="Arial" panose="020B0604020202020204" pitchFamily="34" charset="0"/>
                <a:cs typeface="Arial" panose="020B0604020202020204" pitchFamily="34" charset="0"/>
              </a:rPr>
              <a:t>Sau </a:t>
            </a:r>
            <a:r>
              <a:rPr lang="en-US" sz="2000" dirty="0" err="1">
                <a:latin typeface="Arial" panose="020B0604020202020204" pitchFamily="34" charset="0"/>
                <a:cs typeface="Arial" panose="020B0604020202020204" pitchFamily="34" charset="0"/>
              </a:rPr>
              <a:t>khi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NS </a:t>
            </a:r>
            <a:r>
              <a:rPr lang="en-US" sz="2000" dirty="0" err="1">
                <a:latin typeface="Arial" panose="020B0604020202020204" pitchFamily="34" charset="0"/>
                <a:cs typeface="Arial" panose="020B0604020202020204" pitchFamily="34" charset="0"/>
              </a:rPr>
              <a:t>cấp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xã</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dược</a:t>
            </a:r>
            <a:r>
              <a:rPr lang="en-US" sz="2000" dirty="0">
                <a:latin typeface="Arial" panose="020B0604020202020204" pitchFamily="34" charset="0"/>
                <a:cs typeface="Arial" panose="020B0604020202020204" pitchFamily="34" charset="0"/>
              </a:rPr>
              <a:t> HĐND </a:t>
            </a:r>
            <a:r>
              <a:rPr lang="en-US" sz="2000" dirty="0" err="1">
                <a:latin typeface="Arial" panose="020B0604020202020204" pitchFamily="34" charset="0"/>
                <a:cs typeface="Arial" panose="020B0604020202020204" pitchFamily="34" charset="0"/>
              </a:rPr>
              <a:t>phê</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chuẩn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trường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hợp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thu</a:t>
            </a:r>
            <a:r>
              <a:rPr lang="en-US" sz="2000" dirty="0">
                <a:latin typeface="Arial" panose="020B0604020202020204" pitchFamily="34" charset="0"/>
                <a:cs typeface="Arial" panose="020B0604020202020204" pitchFamily="34" charset="0"/>
              </a:rPr>
              <a:t>, chi NS </a:t>
            </a:r>
            <a:r>
              <a:rPr lang="en-US" sz="2000" dirty="0" err="1">
                <a:latin typeface="Arial" panose="020B0604020202020204" pitchFamily="34" charset="0"/>
                <a:cs typeface="Arial" panose="020B0604020202020204" pitchFamily="34" charset="0"/>
              </a:rPr>
              <a:t>không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đúng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định</a:t>
            </a:r>
            <a:r>
              <a:rPr lang="en-US" sz="2000" dirty="0">
                <a:latin typeface="Arial" panose="020B0604020202020204" pitchFamily="34" charset="0"/>
                <a:cs typeface="Arial" panose="020B0604020202020204" pitchFamily="34" charset="0"/>
              </a:rPr>
              <a:t>, bao </a:t>
            </a:r>
            <a:r>
              <a:rPr lang="en-US" sz="2000" dirty="0" err="1">
                <a:latin typeface="Arial" panose="020B0604020202020204" pitchFamily="34" charset="0"/>
                <a:cs typeface="Arial" panose="020B0604020202020204" pitchFamily="34" charset="0"/>
              </a:rPr>
              <a:t>gồm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kiến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nghị</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thanh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kiểm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thì</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thực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lý</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theo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định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khoản</a:t>
            </a:r>
            <a:r>
              <a:rPr lang="en-US" sz="2000" dirty="0">
                <a:latin typeface="Arial" panose="020B0604020202020204" pitchFamily="34" charset="0"/>
                <a:cs typeface="Arial" panose="020B0604020202020204" pitchFamily="34" charset="0"/>
              </a:rPr>
              <a:t> 8 </a:t>
            </a:r>
            <a:r>
              <a:rPr lang="en-US" sz="2000" dirty="0" err="1">
                <a:latin typeface="Arial" panose="020B0604020202020204" pitchFamily="34" charset="0"/>
                <a:cs typeface="Arial" panose="020B0604020202020204" pitchFamily="34" charset="0"/>
              </a:rPr>
              <a:t>Điều</a:t>
            </a:r>
            <a:r>
              <a:rPr lang="en-US" sz="2000" dirty="0">
                <a:latin typeface="Arial" panose="020B0604020202020204" pitchFamily="34" charset="0"/>
                <a:cs typeface="Arial" panose="020B0604020202020204" pitchFamily="34" charset="0"/>
              </a:rPr>
              <a:t> 67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Luật</a:t>
            </a:r>
            <a:r>
              <a:rPr lang="en-US" sz="2000" dirty="0">
                <a:latin typeface="Arial" panose="020B0604020202020204" pitchFamily="34" charset="0"/>
                <a:cs typeface="Arial" panose="020B0604020202020204" pitchFamily="34" charset="0"/>
              </a:rPr>
              <a:t> NSNN 2025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được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toán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NS </a:t>
            </a:r>
            <a:r>
              <a:rPr lang="en-US" sz="2000" dirty="0" err="1">
                <a:latin typeface="Arial" panose="020B0604020202020204" pitchFamily="34" charset="0"/>
                <a:cs typeface="Arial" panose="020B0604020202020204" pitchFamily="34" charset="0"/>
              </a:rPr>
              <a:t>năm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xử</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lỷ</a:t>
            </a:r>
            <a:r>
              <a:rPr lang="en-US" sz="2000" dirty="0">
                <a:latin typeface="Arial" panose="020B0604020202020204" pitchFamily="34" charset="0"/>
                <a:cs typeface="Arial" panose="020B0604020202020204" pitchFamily="34" charset="0"/>
              </a:rPr>
              <a:t>.</a:t>
            </a:r>
          </a:p>
          <a:p>
            <a:pPr algn="just"/>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55769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E30D7-0DE4-CEF0-357C-3987F95BB26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B8631DB-3DB6-60DB-9513-411568A5E39A}"/>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3.3.4. TRÁCH NHIỆM VÀ QUYỀN HẠN CỦA CÁC CƠ QUAN TRONG QUẢN LÝ NS XÃ</a:t>
            </a:r>
          </a:p>
        </p:txBody>
      </p:sp>
      <p:graphicFrame>
        <p:nvGraphicFramePr>
          <p:cNvPr id="2" name="Content Placeholder 3">
            <a:extLst>
              <a:ext uri="{FF2B5EF4-FFF2-40B4-BE49-F238E27FC236}">
                <a16:creationId xmlns:a16="http://schemas.microsoft.com/office/drawing/2014/main" id="{CF39D0E4-B506-326B-A9F5-2DCECD2016AF}"/>
              </a:ext>
            </a:extLst>
          </p:cNvPr>
          <p:cNvGraphicFramePr>
            <a:graphicFrameLocks/>
          </p:cNvGraphicFramePr>
          <p:nvPr>
            <p:extLst>
              <p:ext uri="{D42A27DB-BD31-4B8C-83A1-F6EECF244321}">
                <p14:modId xmlns:p14="http://schemas.microsoft.com/office/powerpoint/2010/main" val="761007323"/>
              </p:ext>
            </p:extLst>
          </p:nvPr>
        </p:nvGraphicFramePr>
        <p:xfrm>
          <a:off x="273539" y="1451448"/>
          <a:ext cx="11699630" cy="51697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03728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graphicEl>
                                              <a:dgm id="{C6C6EB3F-5945-4582-A3DA-1C5E6A1AA2FA}"/>
                                            </p:graphicEl>
                                          </p:spTgt>
                                        </p:tgtEl>
                                        <p:attrNameLst>
                                          <p:attrName>style.visibility</p:attrName>
                                        </p:attrNameLst>
                                      </p:cBhvr>
                                      <p:to>
                                        <p:strVal val="visible"/>
                                      </p:to>
                                    </p:set>
                                    <p:anim calcmode="lin" valueType="num">
                                      <p:cBhvr additive="base">
                                        <p:cTn id="7" dur="500" fill="hold"/>
                                        <p:tgtEl>
                                          <p:spTgt spid="2">
                                            <p:graphicEl>
                                              <a:dgm id="{C6C6EB3F-5945-4582-A3DA-1C5E6A1AA2FA}"/>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graphicEl>
                                              <a:dgm id="{C6C6EB3F-5945-4582-A3DA-1C5E6A1AA2FA}"/>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graphicEl>
                                              <a:dgm id="{394F2A83-0389-4713-B9FB-73BD66693284}"/>
                                            </p:graphicEl>
                                          </p:spTgt>
                                        </p:tgtEl>
                                        <p:attrNameLst>
                                          <p:attrName>style.visibility</p:attrName>
                                        </p:attrNameLst>
                                      </p:cBhvr>
                                      <p:to>
                                        <p:strVal val="visible"/>
                                      </p:to>
                                    </p:set>
                                    <p:anim calcmode="lin" valueType="num">
                                      <p:cBhvr additive="base">
                                        <p:cTn id="13" dur="500" fill="hold"/>
                                        <p:tgtEl>
                                          <p:spTgt spid="2">
                                            <p:graphicEl>
                                              <a:dgm id="{394F2A83-0389-4713-B9FB-73BD66693284}"/>
                                            </p:graphic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graphicEl>
                                              <a:dgm id="{394F2A83-0389-4713-B9FB-73BD66693284}"/>
                                            </p:graphic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2">
                                            <p:graphicEl>
                                              <a:dgm id="{747B716A-8776-4FB6-B3B5-6D61FE4F9BD7}"/>
                                            </p:graphicEl>
                                          </p:spTgt>
                                        </p:tgtEl>
                                        <p:attrNameLst>
                                          <p:attrName>style.visibility</p:attrName>
                                        </p:attrNameLst>
                                      </p:cBhvr>
                                      <p:to>
                                        <p:strVal val="visible"/>
                                      </p:to>
                                    </p:set>
                                    <p:anim calcmode="lin" valueType="num">
                                      <p:cBhvr additive="base">
                                        <p:cTn id="17" dur="500" fill="hold"/>
                                        <p:tgtEl>
                                          <p:spTgt spid="2">
                                            <p:graphicEl>
                                              <a:dgm id="{747B716A-8776-4FB6-B3B5-6D61FE4F9BD7}"/>
                                            </p:graphic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
                                            <p:graphicEl>
                                              <a:dgm id="{747B716A-8776-4FB6-B3B5-6D61FE4F9BD7}"/>
                                            </p:graphic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
                                            <p:graphicEl>
                                              <a:dgm id="{F197DF38-DD19-457F-ADFD-3BAF235E7603}"/>
                                            </p:graphicEl>
                                          </p:spTgt>
                                        </p:tgtEl>
                                        <p:attrNameLst>
                                          <p:attrName>style.visibility</p:attrName>
                                        </p:attrNameLst>
                                      </p:cBhvr>
                                      <p:to>
                                        <p:strVal val="visible"/>
                                      </p:to>
                                    </p:set>
                                    <p:anim calcmode="lin" valueType="num">
                                      <p:cBhvr additive="base">
                                        <p:cTn id="23" dur="500" fill="hold"/>
                                        <p:tgtEl>
                                          <p:spTgt spid="2">
                                            <p:graphicEl>
                                              <a:dgm id="{F197DF38-DD19-457F-ADFD-3BAF235E7603}"/>
                                            </p:graphic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2">
                                            <p:graphicEl>
                                              <a:dgm id="{F197DF38-DD19-457F-ADFD-3BAF235E7603}"/>
                                            </p:graphic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2">
                                            <p:graphicEl>
                                              <a:dgm id="{7984E059-DB9F-42E3-867E-74C7974EFA68}"/>
                                            </p:graphicEl>
                                          </p:spTgt>
                                        </p:tgtEl>
                                        <p:attrNameLst>
                                          <p:attrName>style.visibility</p:attrName>
                                        </p:attrNameLst>
                                      </p:cBhvr>
                                      <p:to>
                                        <p:strVal val="visible"/>
                                      </p:to>
                                    </p:set>
                                    <p:anim calcmode="lin" valueType="num">
                                      <p:cBhvr additive="base">
                                        <p:cTn id="27" dur="500" fill="hold"/>
                                        <p:tgtEl>
                                          <p:spTgt spid="2">
                                            <p:graphicEl>
                                              <a:dgm id="{7984E059-DB9F-42E3-867E-74C7974EFA68}"/>
                                            </p:graphic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2">
                                            <p:graphicEl>
                                              <a:dgm id="{7984E059-DB9F-42E3-867E-74C7974EFA68}"/>
                                            </p:graphic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
                                            <p:graphicEl>
                                              <a:dgm id="{FDC52AE2-5425-4A00-83A3-ADE1299C906A}"/>
                                            </p:graphicEl>
                                          </p:spTgt>
                                        </p:tgtEl>
                                        <p:attrNameLst>
                                          <p:attrName>style.visibility</p:attrName>
                                        </p:attrNameLst>
                                      </p:cBhvr>
                                      <p:to>
                                        <p:strVal val="visible"/>
                                      </p:to>
                                    </p:set>
                                    <p:anim calcmode="lin" valueType="num">
                                      <p:cBhvr additive="base">
                                        <p:cTn id="33" dur="500" fill="hold"/>
                                        <p:tgtEl>
                                          <p:spTgt spid="2">
                                            <p:graphicEl>
                                              <a:dgm id="{FDC52AE2-5425-4A00-83A3-ADE1299C906A}"/>
                                            </p:graphic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2">
                                            <p:graphicEl>
                                              <a:dgm id="{FDC52AE2-5425-4A00-83A3-ADE1299C906A}"/>
                                            </p:graphic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2">
                                            <p:graphicEl>
                                              <a:dgm id="{90F7F7B1-153C-44A6-9015-B4CACF79ECC4}"/>
                                            </p:graphicEl>
                                          </p:spTgt>
                                        </p:tgtEl>
                                        <p:attrNameLst>
                                          <p:attrName>style.visibility</p:attrName>
                                        </p:attrNameLst>
                                      </p:cBhvr>
                                      <p:to>
                                        <p:strVal val="visible"/>
                                      </p:to>
                                    </p:set>
                                    <p:anim calcmode="lin" valueType="num">
                                      <p:cBhvr additive="base">
                                        <p:cTn id="37" dur="500" fill="hold"/>
                                        <p:tgtEl>
                                          <p:spTgt spid="2">
                                            <p:graphicEl>
                                              <a:dgm id="{90F7F7B1-153C-44A6-9015-B4CACF79ECC4}"/>
                                            </p:graphic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
                                            <p:graphicEl>
                                              <a:dgm id="{90F7F7B1-153C-44A6-9015-B4CACF79ECC4}"/>
                                            </p:graphic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
                                            <p:graphicEl>
                                              <a:dgm id="{ED56D3C3-953E-4E7E-9B9A-FF3FEFD7C0B3}"/>
                                            </p:graphicEl>
                                          </p:spTgt>
                                        </p:tgtEl>
                                        <p:attrNameLst>
                                          <p:attrName>style.visibility</p:attrName>
                                        </p:attrNameLst>
                                      </p:cBhvr>
                                      <p:to>
                                        <p:strVal val="visible"/>
                                      </p:to>
                                    </p:set>
                                    <p:anim calcmode="lin" valueType="num">
                                      <p:cBhvr additive="base">
                                        <p:cTn id="43" dur="500" fill="hold"/>
                                        <p:tgtEl>
                                          <p:spTgt spid="2">
                                            <p:graphicEl>
                                              <a:dgm id="{ED56D3C3-953E-4E7E-9B9A-FF3FEFD7C0B3}"/>
                                            </p:graphic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
                                            <p:graphicEl>
                                              <a:dgm id="{ED56D3C3-953E-4E7E-9B9A-FF3FEFD7C0B3}"/>
                                            </p:graphicEl>
                                          </p:spTgt>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2">
                                            <p:graphicEl>
                                              <a:dgm id="{9DE30DC8-B340-4C39-A758-C513018AC00F}"/>
                                            </p:graphicEl>
                                          </p:spTgt>
                                        </p:tgtEl>
                                        <p:attrNameLst>
                                          <p:attrName>style.visibility</p:attrName>
                                        </p:attrNameLst>
                                      </p:cBhvr>
                                      <p:to>
                                        <p:strVal val="visible"/>
                                      </p:to>
                                    </p:set>
                                    <p:anim calcmode="lin" valueType="num">
                                      <p:cBhvr additive="base">
                                        <p:cTn id="47" dur="500" fill="hold"/>
                                        <p:tgtEl>
                                          <p:spTgt spid="2">
                                            <p:graphicEl>
                                              <a:dgm id="{9DE30DC8-B340-4C39-A758-C513018AC00F}"/>
                                            </p:graphic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2">
                                            <p:graphicEl>
                                              <a:dgm id="{9DE30DC8-B340-4C39-A758-C513018AC00F}"/>
                                            </p:graphicEl>
                                          </p:spTgt>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2">
                                            <p:graphicEl>
                                              <a:dgm id="{4A8FFDAC-5E79-4218-84AF-F901718831E8}"/>
                                            </p:graphicEl>
                                          </p:spTgt>
                                        </p:tgtEl>
                                        <p:attrNameLst>
                                          <p:attrName>style.visibility</p:attrName>
                                        </p:attrNameLst>
                                      </p:cBhvr>
                                      <p:to>
                                        <p:strVal val="visible"/>
                                      </p:to>
                                    </p:set>
                                    <p:anim calcmode="lin" valueType="num">
                                      <p:cBhvr additive="base">
                                        <p:cTn id="53" dur="500" fill="hold"/>
                                        <p:tgtEl>
                                          <p:spTgt spid="2">
                                            <p:graphicEl>
                                              <a:dgm id="{4A8FFDAC-5E79-4218-84AF-F901718831E8}"/>
                                            </p:graphic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2">
                                            <p:graphicEl>
                                              <a:dgm id="{4A8FFDAC-5E79-4218-84AF-F901718831E8}"/>
                                            </p:graphicEl>
                                          </p:spTgt>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0"/>
                                  </p:stCondLst>
                                  <p:childTnLst>
                                    <p:set>
                                      <p:cBhvr>
                                        <p:cTn id="56" dur="1" fill="hold">
                                          <p:stCondLst>
                                            <p:cond delay="0"/>
                                          </p:stCondLst>
                                        </p:cTn>
                                        <p:tgtEl>
                                          <p:spTgt spid="2">
                                            <p:graphicEl>
                                              <a:dgm id="{62DAB0CC-C09C-4213-A3DB-ED710C360E52}"/>
                                            </p:graphicEl>
                                          </p:spTgt>
                                        </p:tgtEl>
                                        <p:attrNameLst>
                                          <p:attrName>style.visibility</p:attrName>
                                        </p:attrNameLst>
                                      </p:cBhvr>
                                      <p:to>
                                        <p:strVal val="visible"/>
                                      </p:to>
                                    </p:set>
                                    <p:anim calcmode="lin" valueType="num">
                                      <p:cBhvr additive="base">
                                        <p:cTn id="57" dur="500" fill="hold"/>
                                        <p:tgtEl>
                                          <p:spTgt spid="2">
                                            <p:graphicEl>
                                              <a:dgm id="{62DAB0CC-C09C-4213-A3DB-ED710C360E52}"/>
                                            </p:graphicEl>
                                          </p:spTgt>
                                        </p:tgtEl>
                                        <p:attrNameLst>
                                          <p:attrName>ppt_x</p:attrName>
                                        </p:attrNameLst>
                                      </p:cBhvr>
                                      <p:tavLst>
                                        <p:tav tm="0">
                                          <p:val>
                                            <p:strVal val="0-#ppt_w/2"/>
                                          </p:val>
                                        </p:tav>
                                        <p:tav tm="100000">
                                          <p:val>
                                            <p:strVal val="#ppt_x"/>
                                          </p:val>
                                        </p:tav>
                                      </p:tavLst>
                                    </p:anim>
                                    <p:anim calcmode="lin" valueType="num">
                                      <p:cBhvr additive="base">
                                        <p:cTn id="58" dur="500" fill="hold"/>
                                        <p:tgtEl>
                                          <p:spTgt spid="2">
                                            <p:graphicEl>
                                              <a:dgm id="{62DAB0CC-C09C-4213-A3DB-ED710C360E52}"/>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65A6F-82B6-CF36-B187-003B1B48237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FFAE792-D4E3-1098-8B8D-F8AF88BC2D99}"/>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3.3.4. TRÁCH NHIỆM VÀ QUYỀN HẠN CỦA CÁC CƠ QUAN TRONG QUẢN LÝ NS XÃ</a:t>
            </a:r>
          </a:p>
        </p:txBody>
      </p:sp>
      <p:sp>
        <p:nvSpPr>
          <p:cNvPr id="3" name="Text Placeholder 3">
            <a:extLst>
              <a:ext uri="{FF2B5EF4-FFF2-40B4-BE49-F238E27FC236}">
                <a16:creationId xmlns:a16="http://schemas.microsoft.com/office/drawing/2014/main" id="{138A4766-888B-17A0-9E77-29E2DE17F704}"/>
              </a:ext>
            </a:extLst>
          </p:cNvPr>
          <p:cNvSpPr txBox="1">
            <a:spLocks/>
          </p:cNvSpPr>
          <p:nvPr/>
        </p:nvSpPr>
        <p:spPr>
          <a:xfrm>
            <a:off x="386563" y="1366563"/>
            <a:ext cx="7994112" cy="62689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vi-VN" sz="3200" b="1">
                <a:solidFill>
                  <a:srgbClr val="FF0000"/>
                </a:solidFill>
                <a:latin typeface="Times" panose="02020603050405020304" pitchFamily="18" charset="0"/>
                <a:cs typeface="Times" panose="02020603050405020304" pitchFamily="18" charset="0"/>
              </a:rPr>
              <a:t>Hội đồng nhân dân </a:t>
            </a:r>
            <a:r>
              <a:rPr lang="en-US" sz="3200" b="1">
                <a:solidFill>
                  <a:srgbClr val="FF0000"/>
                </a:solidFill>
                <a:latin typeface="Times" panose="02020603050405020304" pitchFamily="18" charset="0"/>
                <a:cs typeface="Times" panose="02020603050405020304" pitchFamily="18" charset="0"/>
              </a:rPr>
              <a:t>xã</a:t>
            </a:r>
            <a:endParaRPr lang="en-US" sz="3600" dirty="0">
              <a:solidFill>
                <a:srgbClr val="FF0000"/>
              </a:solidFill>
            </a:endParaRPr>
          </a:p>
        </p:txBody>
      </p:sp>
      <p:sp>
        <p:nvSpPr>
          <p:cNvPr id="2" name="TextBox 1">
            <a:extLst>
              <a:ext uri="{FF2B5EF4-FFF2-40B4-BE49-F238E27FC236}">
                <a16:creationId xmlns:a16="http://schemas.microsoft.com/office/drawing/2014/main" id="{502C5B50-9B8E-4091-CE74-D05C20649A65}"/>
              </a:ext>
            </a:extLst>
          </p:cNvPr>
          <p:cNvSpPr txBox="1"/>
          <p:nvPr/>
        </p:nvSpPr>
        <p:spPr>
          <a:xfrm>
            <a:off x="630619" y="2033747"/>
            <a:ext cx="10704786"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Tham </a:t>
            </a:r>
            <a:r>
              <a:rPr lang="en-US" dirty="0" err="1">
                <a:latin typeface="Arial" panose="020B0604020202020204" pitchFamily="34" charset="0"/>
                <a:cs typeface="Arial" panose="020B0604020202020204" pitchFamily="34" charset="0"/>
              </a:rPr>
              <a:t>khảo</a:t>
            </a:r>
            <a:r>
              <a:rPr lang="en-US" dirty="0">
                <a:latin typeface="Arial" panose="020B0604020202020204" pitchFamily="34" charset="0"/>
                <a:cs typeface="Arial" panose="020B0604020202020204" pitchFamily="34" charset="0"/>
              </a:rPr>
              <a:t>:</a:t>
            </a:r>
          </a:p>
          <a:p>
            <a:r>
              <a:rPr lang="en-US" dirty="0" err="1">
                <a:latin typeface="Arial" panose="020B0604020202020204" pitchFamily="34" charset="0"/>
                <a:cs typeface="Arial" panose="020B0604020202020204" pitchFamily="34" charset="0"/>
              </a:rPr>
              <a:t>Điều</a:t>
            </a:r>
            <a:r>
              <a:rPr lang="en-US" dirty="0">
                <a:latin typeface="Arial" panose="020B0604020202020204" pitchFamily="34" charset="0"/>
                <a:cs typeface="Arial" panose="020B0604020202020204" pitchFamily="34" charset="0"/>
              </a:rPr>
              <a:t> 31 </a:t>
            </a:r>
            <a:r>
              <a:rPr lang="en-US" dirty="0" err="1">
                <a:latin typeface="Arial" panose="020B0604020202020204" pitchFamily="34" charset="0"/>
                <a:cs typeface="Arial" panose="020B0604020202020204" pitchFamily="34" charset="0"/>
              </a:rPr>
              <a:t>Luật</a:t>
            </a:r>
            <a:r>
              <a:rPr lang="en-US" dirty="0">
                <a:latin typeface="Arial" panose="020B0604020202020204" pitchFamily="34" charset="0"/>
                <a:cs typeface="Arial" panose="020B0604020202020204" pitchFamily="34" charset="0"/>
              </a:rPr>
              <a:t> NSNN 2025;</a:t>
            </a:r>
          </a:p>
          <a:p>
            <a:r>
              <a:rPr lang="en-US" dirty="0" err="1">
                <a:latin typeface="Arial" panose="020B0604020202020204" pitchFamily="34" charset="0"/>
                <a:cs typeface="Arial" panose="020B0604020202020204" pitchFamily="34" charset="0"/>
              </a:rPr>
              <a:t>Khoản</a:t>
            </a:r>
            <a:r>
              <a:rPr lang="en-US" dirty="0">
                <a:latin typeface="Arial" panose="020B0604020202020204" pitchFamily="34" charset="0"/>
                <a:cs typeface="Arial" panose="020B0604020202020204" pitchFamily="34" charset="0"/>
              </a:rPr>
              <a:t> 3, </a:t>
            </a:r>
            <a:r>
              <a:rPr lang="en-US" dirty="0" err="1">
                <a:latin typeface="Arial" panose="020B0604020202020204" pitchFamily="34" charset="0"/>
                <a:cs typeface="Arial" panose="020B0604020202020204" pitchFamily="34" charset="0"/>
              </a:rPr>
              <a:t>Điều</a:t>
            </a:r>
            <a:r>
              <a:rPr lang="en-US" dirty="0">
                <a:latin typeface="Arial" panose="020B0604020202020204" pitchFamily="34" charset="0"/>
                <a:cs typeface="Arial" panose="020B0604020202020204" pitchFamily="34" charset="0"/>
              </a:rPr>
              <a:t> 21, Luật </a:t>
            </a:r>
            <a:r>
              <a:rPr lang="en-US" dirty="0" err="1">
                <a:latin typeface="Arial" panose="020B0604020202020204" pitchFamily="34" charset="0"/>
                <a:cs typeface="Arial" panose="020B0604020202020204" pitchFamily="34" charset="0"/>
              </a:rPr>
              <a:t>Tổ</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chức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quyền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địa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phương</a:t>
            </a:r>
            <a:r>
              <a:rPr lang="en-US" dirty="0">
                <a:latin typeface="Arial" panose="020B0604020202020204" pitchFamily="34" charset="0"/>
                <a:cs typeface="Arial" panose="020B0604020202020204" pitchFamily="34" charset="0"/>
              </a:rPr>
              <a:t> 2025.</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25360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97AA7-816B-CFB4-CD15-882B0C9578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97E7164-1870-1ABA-0F13-A062796DFBFF}"/>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3.3.4. TRÁCH NHIỆM VÀ QUYỀN HẠN CỦA CÁC CƠ QUAN TRONG QUẢN LÝ NS XÃ</a:t>
            </a:r>
          </a:p>
        </p:txBody>
      </p:sp>
      <p:sp>
        <p:nvSpPr>
          <p:cNvPr id="3" name="Text Placeholder 3">
            <a:extLst>
              <a:ext uri="{FF2B5EF4-FFF2-40B4-BE49-F238E27FC236}">
                <a16:creationId xmlns:a16="http://schemas.microsoft.com/office/drawing/2014/main" id="{B13775AC-304E-46BC-C5D4-03165EEE9E92}"/>
              </a:ext>
            </a:extLst>
          </p:cNvPr>
          <p:cNvSpPr txBox="1">
            <a:spLocks/>
          </p:cNvSpPr>
          <p:nvPr/>
        </p:nvSpPr>
        <p:spPr>
          <a:xfrm>
            <a:off x="276201" y="1271967"/>
            <a:ext cx="7994112" cy="62689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vi-VN" sz="3200" b="1" dirty="0">
                <a:solidFill>
                  <a:srgbClr val="FF0000"/>
                </a:solidFill>
                <a:latin typeface="Times" panose="02020603050405020304" pitchFamily="18" charset="0"/>
                <a:cs typeface="Times" panose="02020603050405020304" pitchFamily="18" charset="0"/>
              </a:rPr>
              <a:t>Hội đồng nhân dân </a:t>
            </a:r>
            <a:r>
              <a:rPr lang="en-US" sz="3200" b="1" dirty="0" err="1">
                <a:solidFill>
                  <a:srgbClr val="FF0000"/>
                </a:solidFill>
                <a:latin typeface="Times" panose="02020603050405020304" pitchFamily="18" charset="0"/>
                <a:cs typeface="Times" panose="02020603050405020304" pitchFamily="18" charset="0"/>
              </a:rPr>
              <a:t>xã</a:t>
            </a:r>
            <a:endParaRPr lang="en-US" sz="3600" dirty="0">
              <a:solidFill>
                <a:srgbClr val="FF0000"/>
              </a:solidFill>
            </a:endParaRPr>
          </a:p>
        </p:txBody>
      </p:sp>
      <p:sp>
        <p:nvSpPr>
          <p:cNvPr id="2" name="TextBox 1">
            <a:extLst>
              <a:ext uri="{FF2B5EF4-FFF2-40B4-BE49-F238E27FC236}">
                <a16:creationId xmlns:a16="http://schemas.microsoft.com/office/drawing/2014/main" id="{06F5E7E6-9341-9770-E00E-FF763256ABA5}"/>
              </a:ext>
            </a:extLst>
          </p:cNvPr>
          <p:cNvSpPr txBox="1"/>
          <p:nvPr/>
        </p:nvSpPr>
        <p:spPr>
          <a:xfrm>
            <a:off x="147145" y="1671133"/>
            <a:ext cx="11745310" cy="526297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cứ</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bàn</a:t>
            </a:r>
            <a:r>
              <a:rPr lang="en-US" sz="2400" dirty="0">
                <a:latin typeface="Times New Roman" panose="02020603050405020304" pitchFamily="18" charset="0"/>
                <a:cs typeface="Times New Roman" panose="02020603050405020304" pitchFamily="18" charset="0"/>
              </a:rPr>
              <a:t> bao </a:t>
            </a:r>
            <a:r>
              <a:rPr lang="en-US" sz="2400" dirty="0" err="1">
                <a:latin typeface="Times New Roman" panose="02020603050405020304" pitchFamily="18" charset="0"/>
                <a:cs typeface="Times New Roman" panose="02020603050405020304" pitchFamily="18" charset="0"/>
              </a:rPr>
              <a:t>gồm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xuất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khẩu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khẩu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đảm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toans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bao </a:t>
            </a:r>
            <a:r>
              <a:rPr lang="en-US" sz="2400" dirty="0" err="1">
                <a:latin typeface="Times New Roman" panose="02020603050405020304" pitchFamily="18" charset="0"/>
                <a:cs typeface="Times New Roman" panose="02020603050405020304" pitchFamily="18" charset="0"/>
              </a:rPr>
              <a:t>gồm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hưởng</a:t>
            </a:r>
            <a:r>
              <a:rPr lang="en-US" sz="2400" dirty="0">
                <a:latin typeface="Times New Roman" panose="02020603050405020304" pitchFamily="18" charset="0"/>
                <a:cs typeface="Times New Roman" panose="02020603050405020304" pitchFamily="18" charset="0"/>
              </a:rPr>
              <a:t> 100%,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hưởng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chia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tỷ</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lệ</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tram (%)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sung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tiết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chi ĐTPT, chi </a:t>
            </a:r>
            <a:r>
              <a:rPr lang="en-US" sz="2400" dirty="0" err="1">
                <a:latin typeface="Times New Roman" panose="02020603050405020304" pitchFamily="18" charset="0"/>
                <a:cs typeface="Times New Roman" panose="02020603050405020304" pitchFamily="18" charset="0"/>
              </a:rPr>
              <a:t>thường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xuyên</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viện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nếu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phòng</a:t>
            </a:r>
            <a:r>
              <a:rPr lang="en-US" sz="2400" dirty="0">
                <a:latin typeface="Times New Roman" panose="02020603050405020304" pitchFamily="18" charset="0"/>
                <a:cs typeface="Times New Roman" panose="02020603050405020304" pitchFamily="18" charset="0"/>
              </a:rPr>
              <a:t> NS.</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chi NS bao </a:t>
            </a:r>
            <a:r>
              <a:rPr lang="en-US" sz="2400" dirty="0" err="1">
                <a:latin typeface="Times New Roman" panose="02020603050405020304" pitchFamily="18" charset="0"/>
                <a:cs typeface="Times New Roman" panose="02020603050405020304" pitchFamily="18" charset="0"/>
              </a:rPr>
              <a:t>gồm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tiết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tiết</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thường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xuyên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phòng</a:t>
            </a:r>
            <a:r>
              <a:rPr lang="en-US" sz="2400" dirty="0">
                <a:latin typeface="Times New Roman" panose="02020603050405020304" pitchFamily="18" charset="0"/>
                <a:cs typeface="Times New Roman" panose="02020603050405020304" pitchFamily="18" charset="0"/>
              </a:rPr>
              <a:t> NS;</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chi ĐTPT, chi </a:t>
            </a:r>
            <a:r>
              <a:rPr lang="en-US" sz="2400" dirty="0" err="1">
                <a:latin typeface="Times New Roman" panose="02020603050405020304" pitchFamily="18" charset="0"/>
                <a:cs typeface="Times New Roman" panose="02020603050405020304" pitchFamily="18" charset="0"/>
              </a:rPr>
              <a:t>thường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xuyên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mình</a:t>
            </a:r>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91396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ED34F-6232-A82A-973E-7263D8FBE67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EA69710-26B0-7F05-FF5F-1F4B86F8BFBD}"/>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3.3.4. TRÁCH NHIỆM VÀ QUYỀN HẠN CỦA CÁC CƠ QUAN TRONG QUẢN LÝ NS XÃ</a:t>
            </a:r>
          </a:p>
        </p:txBody>
      </p:sp>
      <p:sp>
        <p:nvSpPr>
          <p:cNvPr id="3" name="Text Placeholder 3">
            <a:extLst>
              <a:ext uri="{FF2B5EF4-FFF2-40B4-BE49-F238E27FC236}">
                <a16:creationId xmlns:a16="http://schemas.microsoft.com/office/drawing/2014/main" id="{3E18F688-78BD-2C6C-FF31-0AA0A8D0B0DC}"/>
              </a:ext>
            </a:extLst>
          </p:cNvPr>
          <p:cNvSpPr txBox="1">
            <a:spLocks/>
          </p:cNvSpPr>
          <p:nvPr/>
        </p:nvSpPr>
        <p:spPr>
          <a:xfrm>
            <a:off x="276201" y="1271967"/>
            <a:ext cx="7994112" cy="62689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vi-VN" sz="3200" b="1" dirty="0">
                <a:solidFill>
                  <a:srgbClr val="FF0000"/>
                </a:solidFill>
                <a:latin typeface="Times" panose="02020603050405020304" pitchFamily="18" charset="0"/>
                <a:cs typeface="Times" panose="02020603050405020304" pitchFamily="18" charset="0"/>
              </a:rPr>
              <a:t>Hội đồng nhân dân </a:t>
            </a:r>
            <a:r>
              <a:rPr lang="en-US" sz="3200" b="1" dirty="0" err="1">
                <a:solidFill>
                  <a:srgbClr val="FF0000"/>
                </a:solidFill>
                <a:latin typeface="Times" panose="02020603050405020304" pitchFamily="18" charset="0"/>
                <a:cs typeface="Times" panose="02020603050405020304" pitchFamily="18" charset="0"/>
              </a:rPr>
              <a:t>xã</a:t>
            </a:r>
            <a:endParaRPr lang="en-US" sz="3600" dirty="0">
              <a:solidFill>
                <a:srgbClr val="FF0000"/>
              </a:solidFill>
            </a:endParaRPr>
          </a:p>
        </p:txBody>
      </p:sp>
      <p:sp>
        <p:nvSpPr>
          <p:cNvPr id="2" name="TextBox 1">
            <a:extLst>
              <a:ext uri="{FF2B5EF4-FFF2-40B4-BE49-F238E27FC236}">
                <a16:creationId xmlns:a16="http://schemas.microsoft.com/office/drawing/2014/main" id="{CA49E898-055C-D120-424F-E3C43DDC24A7}"/>
              </a:ext>
            </a:extLst>
          </p:cNvPr>
          <p:cNvSpPr txBox="1"/>
          <p:nvPr/>
        </p:nvSpPr>
        <p:spPr>
          <a:xfrm>
            <a:off x="236483" y="1781493"/>
            <a:ext cx="11745310" cy="452431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Phê</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chuẩn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54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NSNN 2025.</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Giám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Ngân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HĐND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bỏ</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phạm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Hiến </a:t>
            </a:r>
            <a:r>
              <a:rPr lang="en-US" sz="2400" dirty="0" err="1">
                <a:latin typeface="Times New Roman" panose="02020603050405020304" pitchFamily="18" charset="0"/>
                <a:cs typeface="Times New Roman" panose="02020603050405020304" pitchFamily="18" charset="0"/>
              </a:rPr>
              <a:t>pháp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QH, </a:t>
            </a:r>
            <a:r>
              <a:rPr lang="en-US" sz="2400" dirty="0" err="1">
                <a:latin typeface="Times New Roman" panose="02020603050405020304" pitchFamily="18" charset="0"/>
                <a:cs typeface="Times New Roman" panose="02020603050405020304" pitchFamily="18" charset="0"/>
              </a:rPr>
              <a:t>pháp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lệnh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UBTVQH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CQNN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PL.</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nguồn</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trọng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nguồn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vốn</a:t>
            </a:r>
            <a:r>
              <a:rPr lang="en-US" sz="2400" dirty="0">
                <a:latin typeface="Times New Roman" panose="02020603050405020304" pitchFamily="18" charset="0"/>
                <a:cs typeface="Times New Roman" panose="02020603050405020304" pitchFamily="18" charset="0"/>
              </a:rPr>
              <a:t> NSNN</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48431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4DF38-A654-01C2-6118-BB2543CD21D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203033A-F5B8-9756-1FF1-E52A58F4F5A9}"/>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3.3.4. TRÁCH NHIỆM VÀ QUYỀN HẠN CỦA CÁC CƠ QUAN TRONG QUẢN LÝ NS XÃ</a:t>
            </a:r>
          </a:p>
        </p:txBody>
      </p:sp>
      <p:sp>
        <p:nvSpPr>
          <p:cNvPr id="3" name="Text Placeholder 3">
            <a:extLst>
              <a:ext uri="{FF2B5EF4-FFF2-40B4-BE49-F238E27FC236}">
                <a16:creationId xmlns:a16="http://schemas.microsoft.com/office/drawing/2014/main" id="{E7A63C6C-38EB-A064-097F-CD06BA01A9EF}"/>
              </a:ext>
            </a:extLst>
          </p:cNvPr>
          <p:cNvSpPr txBox="1">
            <a:spLocks/>
          </p:cNvSpPr>
          <p:nvPr/>
        </p:nvSpPr>
        <p:spPr>
          <a:xfrm>
            <a:off x="386563" y="1366563"/>
            <a:ext cx="7994112" cy="62689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a:solidFill>
                  <a:srgbClr val="FF0000"/>
                </a:solidFill>
                <a:latin typeface="Times" panose="02020603050405020304" pitchFamily="18" charset="0"/>
                <a:cs typeface="Times" panose="02020603050405020304" pitchFamily="18" charset="0"/>
              </a:rPr>
              <a:t>UBND </a:t>
            </a:r>
            <a:r>
              <a:rPr lang="en-US" sz="3200" b="1" dirty="0" err="1">
                <a:solidFill>
                  <a:srgbClr val="FF0000"/>
                </a:solidFill>
                <a:latin typeface="Times" panose="02020603050405020304" pitchFamily="18" charset="0"/>
                <a:cs typeface="Times" panose="02020603050405020304" pitchFamily="18" charset="0"/>
              </a:rPr>
              <a:t>cấp</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xã</a:t>
            </a:r>
            <a:endParaRPr lang="en-US" sz="3600" dirty="0">
              <a:solidFill>
                <a:srgbClr val="FF0000"/>
              </a:solidFill>
            </a:endParaRPr>
          </a:p>
        </p:txBody>
      </p:sp>
      <p:sp>
        <p:nvSpPr>
          <p:cNvPr id="2" name="TextBox 1">
            <a:extLst>
              <a:ext uri="{FF2B5EF4-FFF2-40B4-BE49-F238E27FC236}">
                <a16:creationId xmlns:a16="http://schemas.microsoft.com/office/drawing/2014/main" id="{DA26087A-3FF8-A918-4FBD-F98E742F30E1}"/>
              </a:ext>
            </a:extLst>
          </p:cNvPr>
          <p:cNvSpPr txBox="1"/>
          <p:nvPr/>
        </p:nvSpPr>
        <p:spPr>
          <a:xfrm>
            <a:off x="386563" y="2090060"/>
            <a:ext cx="11166808" cy="646331"/>
          </a:xfrm>
          <a:prstGeom prst="rect">
            <a:avLst/>
          </a:prstGeom>
          <a:noFill/>
        </p:spPr>
        <p:txBody>
          <a:bodyPr wrap="square" rtlCol="0">
            <a:spAutoFit/>
          </a:bodyPr>
          <a:lstStyle/>
          <a:p>
            <a:r>
              <a:rPr lang="en-US" dirty="0"/>
              <a:t> Tham </a:t>
            </a:r>
            <a:r>
              <a:rPr lang="en-US" dirty="0" err="1"/>
              <a:t>khảo</a:t>
            </a:r>
            <a:r>
              <a:rPr lang="en-US" dirty="0"/>
              <a:t>: </a:t>
            </a:r>
          </a:p>
          <a:p>
            <a:r>
              <a:rPr lang="en-US" dirty="0"/>
              <a:t>-  </a:t>
            </a:r>
            <a:r>
              <a:rPr lang="en-US" dirty="0" err="1"/>
              <a:t>Điều</a:t>
            </a:r>
            <a:r>
              <a:rPr lang="en-US" dirty="0"/>
              <a:t> 32, </a:t>
            </a:r>
            <a:r>
              <a:rPr lang="en-US" dirty="0" err="1"/>
              <a:t>Luật</a:t>
            </a:r>
            <a:r>
              <a:rPr lang="en-US" dirty="0"/>
              <a:t> NSNN 2025</a:t>
            </a:r>
          </a:p>
        </p:txBody>
      </p:sp>
    </p:spTree>
    <p:extLst>
      <p:ext uri="{BB962C8B-B14F-4D97-AF65-F5344CB8AC3E}">
        <p14:creationId xmlns:p14="http://schemas.microsoft.com/office/powerpoint/2010/main" val="125922395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CAD6C-5EB9-621C-7CAD-F70AE1A898E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21F6AE2-0B96-50F2-7B3A-CE0BA1821FAE}"/>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3.3.4. TRÁCH NHIỆM VÀ QUYỀN HẠN CỦA CÁC CƠ QUAN TRONG QUẢN LÝ NS XÃ</a:t>
            </a:r>
          </a:p>
        </p:txBody>
      </p:sp>
      <p:sp>
        <p:nvSpPr>
          <p:cNvPr id="3" name="Text Placeholder 3">
            <a:extLst>
              <a:ext uri="{FF2B5EF4-FFF2-40B4-BE49-F238E27FC236}">
                <a16:creationId xmlns:a16="http://schemas.microsoft.com/office/drawing/2014/main" id="{C72C591A-BFB1-D51D-BEF1-70EC1361E008}"/>
              </a:ext>
            </a:extLst>
          </p:cNvPr>
          <p:cNvSpPr txBox="1">
            <a:spLocks/>
          </p:cNvSpPr>
          <p:nvPr/>
        </p:nvSpPr>
        <p:spPr>
          <a:xfrm>
            <a:off x="386563" y="1366563"/>
            <a:ext cx="7994112" cy="62689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a:solidFill>
                  <a:srgbClr val="FF0000"/>
                </a:solidFill>
                <a:latin typeface="Times" panose="02020603050405020304" pitchFamily="18" charset="0"/>
                <a:cs typeface="Times" panose="02020603050405020304" pitchFamily="18" charset="0"/>
              </a:rPr>
              <a:t>UBND </a:t>
            </a:r>
            <a:r>
              <a:rPr lang="en-US" sz="3200" b="1" dirty="0" err="1">
                <a:solidFill>
                  <a:srgbClr val="FF0000"/>
                </a:solidFill>
                <a:latin typeface="Times" panose="02020603050405020304" pitchFamily="18" charset="0"/>
                <a:cs typeface="Times" panose="02020603050405020304" pitchFamily="18" charset="0"/>
              </a:rPr>
              <a:t>cấp</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xã</a:t>
            </a:r>
            <a:endParaRPr lang="en-US" sz="3600" dirty="0">
              <a:solidFill>
                <a:srgbClr val="FF0000"/>
              </a:solidFill>
            </a:endParaRPr>
          </a:p>
        </p:txBody>
      </p:sp>
      <p:sp>
        <p:nvSpPr>
          <p:cNvPr id="2" name="TextBox 1">
            <a:extLst>
              <a:ext uri="{FF2B5EF4-FFF2-40B4-BE49-F238E27FC236}">
                <a16:creationId xmlns:a16="http://schemas.microsoft.com/office/drawing/2014/main" id="{7C14FF22-0F42-AB84-5AAC-4F0929E7194B}"/>
              </a:ext>
            </a:extLst>
          </p:cNvPr>
          <p:cNvSpPr txBox="1"/>
          <p:nvPr/>
        </p:nvSpPr>
        <p:spPr>
          <a:xfrm>
            <a:off x="174171" y="1993453"/>
            <a:ext cx="11505233" cy="5632311"/>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nội</a:t>
            </a:r>
            <a:r>
              <a:rPr lang="en-US" sz="2400" dirty="0">
                <a:latin typeface="Times New Roman" panose="02020603050405020304" pitchFamily="18" charset="0"/>
                <a:cs typeface="Times New Roman" panose="02020603050405020304" pitchFamily="18" charset="0"/>
              </a:rPr>
              <a:t> dung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1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2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31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NSNN 2025 ;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chỉnh</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54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Luật </a:t>
            </a:r>
            <a:r>
              <a:rPr lang="en-US" sz="2400" dirty="0" err="1">
                <a:latin typeface="Times New Roman" panose="02020603050405020304" pitchFamily="18" charset="0"/>
                <a:cs typeface="Times New Roman" panose="02020603050405020304" pitchFamily="18" charset="0"/>
              </a:rPr>
              <a:t>này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HĐND </a:t>
            </a:r>
            <a:r>
              <a:rPr lang="en-US" sz="2400" dirty="0" err="1">
                <a:latin typeface="Times New Roman" panose="02020603050405020304" pitchFamily="18" charset="0"/>
                <a:cs typeface="Times New Roman" panose="02020603050405020304" pitchFamily="18" charset="0"/>
              </a:rPr>
              <a:t>cùng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p>
          <a:p>
            <a:pPr algn="just"/>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cứ</a:t>
            </a:r>
            <a:r>
              <a:rPr lang="en-US" sz="2400" dirty="0">
                <a:latin typeface="Times New Roman" panose="02020603050405020304" pitchFamily="18" charset="0"/>
                <a:cs typeface="Times New Roman" panose="02020603050405020304" pitchFamily="18" charset="0"/>
              </a:rPr>
              <a:t> Nghị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HĐND, UBND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cáo</a:t>
            </a:r>
            <a:r>
              <a:rPr lang="en-US" sz="2400" dirty="0">
                <a:latin typeface="Times New Roman" panose="02020603050405020304" pitchFamily="18" charset="0"/>
                <a:cs typeface="Times New Roman" panose="02020603050405020304" pitchFamily="18" charset="0"/>
              </a:rPr>
              <a:t> UBND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chỉnh</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HĐND </a:t>
            </a:r>
            <a:r>
              <a:rPr lang="en-US" sz="2400" dirty="0" err="1">
                <a:latin typeface="Times New Roman" panose="02020603050405020304" pitchFamily="18" charset="0"/>
                <a:cs typeface="Times New Roman" panose="02020603050405020304" pitchFamily="18" charset="0"/>
              </a:rPr>
              <a:t>cùng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phê</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chuẩn</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cứ</a:t>
            </a:r>
            <a:r>
              <a:rPr lang="en-US" sz="2400" dirty="0">
                <a:latin typeface="Times New Roman" panose="02020603050405020304" pitchFamily="18" charset="0"/>
                <a:cs typeface="Times New Roman" panose="02020603050405020304" pitchFamily="18" charset="0"/>
              </a:rPr>
              <a:t> Nghị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HĐND, UBND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cáo</a:t>
            </a:r>
            <a:r>
              <a:rPr lang="en-US" sz="2400" dirty="0">
                <a:latin typeface="Times New Roman" panose="02020603050405020304" pitchFamily="18" charset="0"/>
                <a:cs typeface="Times New Roman" panose="02020603050405020304" pitchFamily="18" charset="0"/>
              </a:rPr>
              <a:t> UBND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so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còn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trực</a:t>
            </a:r>
            <a:r>
              <a:rPr lang="en-US" sz="2400" dirty="0">
                <a:latin typeface="Times New Roman" panose="02020603050405020304" pitchFamily="18" charset="0"/>
                <a:cs typeface="Times New Roman" panose="02020603050405020304" pitchFamily="18" charset="0"/>
              </a:rPr>
              <a:t> HĐND </a:t>
            </a:r>
            <a:r>
              <a:rPr lang="en-US" sz="2400" dirty="0" err="1">
                <a:latin typeface="Times New Roman" panose="02020603050405020304" pitchFamily="18" charset="0"/>
                <a:cs typeface="Times New Roman" panose="02020603050405020304" pitchFamily="18" charset="0"/>
              </a:rPr>
              <a:t>cùng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cáo</a:t>
            </a:r>
            <a:r>
              <a:rPr lang="en-US" sz="2400" dirty="0">
                <a:latin typeface="Times New Roman" panose="02020603050405020304" pitchFamily="18" charset="0"/>
                <a:cs typeface="Times New Roman" panose="02020603050405020304" pitchFamily="18" charset="0"/>
              </a:rPr>
              <a:t> HĐND </a:t>
            </a:r>
            <a:r>
              <a:rPr lang="en-US" sz="2400" dirty="0" err="1">
                <a:latin typeface="Times New Roman" panose="02020603050405020304" pitchFamily="18" charset="0"/>
                <a:cs typeface="Times New Roman" panose="02020603050405020304" pitchFamily="18" charset="0"/>
              </a:rPr>
              <a:t>cùng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họp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2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61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NSNN 2025.</a:t>
            </a:r>
          </a:p>
          <a:p>
            <a:pPr algn="just"/>
            <a:r>
              <a:rPr lang="en-US" sz="2400" dirty="0">
                <a:latin typeface="Times New Roman" panose="02020603050405020304" pitchFamily="18" charset="0"/>
                <a:cs typeface="Times New Roman" panose="02020603050405020304" pitchFamily="18" charset="0"/>
              </a:rPr>
              <a:t> </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57466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F30A7-2DD9-B035-0CFD-5535C810B6A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174C053-B220-3DDD-71E9-5882485772E9}"/>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3.3.4. TRÁCH NHIỆM VÀ QUYỀN HẠN CỦA CÁC CƠ QUAN TRONG QUẢN LÝ NS XÃ</a:t>
            </a:r>
          </a:p>
        </p:txBody>
      </p:sp>
      <p:sp>
        <p:nvSpPr>
          <p:cNvPr id="3" name="Text Placeholder 3">
            <a:extLst>
              <a:ext uri="{FF2B5EF4-FFF2-40B4-BE49-F238E27FC236}">
                <a16:creationId xmlns:a16="http://schemas.microsoft.com/office/drawing/2014/main" id="{F205EB33-AA18-440F-ABDC-0AC73BD575B6}"/>
              </a:ext>
            </a:extLst>
          </p:cNvPr>
          <p:cNvSpPr txBox="1">
            <a:spLocks/>
          </p:cNvSpPr>
          <p:nvPr/>
        </p:nvSpPr>
        <p:spPr>
          <a:xfrm>
            <a:off x="386563" y="1366563"/>
            <a:ext cx="7994112" cy="62689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a:solidFill>
                  <a:srgbClr val="FF0000"/>
                </a:solidFill>
                <a:latin typeface="Times" panose="02020603050405020304" pitchFamily="18" charset="0"/>
                <a:cs typeface="Times" panose="02020603050405020304" pitchFamily="18" charset="0"/>
              </a:rPr>
              <a:t>UBND </a:t>
            </a:r>
            <a:r>
              <a:rPr lang="en-US" sz="3200" b="1" dirty="0" err="1">
                <a:solidFill>
                  <a:srgbClr val="FF0000"/>
                </a:solidFill>
                <a:latin typeface="Times" panose="02020603050405020304" pitchFamily="18" charset="0"/>
                <a:cs typeface="Times" panose="02020603050405020304" pitchFamily="18" charset="0"/>
              </a:rPr>
              <a:t>cấp</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xã</a:t>
            </a:r>
            <a:endParaRPr lang="en-US" sz="3600" dirty="0">
              <a:solidFill>
                <a:srgbClr val="FF0000"/>
              </a:solidFill>
            </a:endParaRPr>
          </a:p>
        </p:txBody>
      </p:sp>
      <p:sp>
        <p:nvSpPr>
          <p:cNvPr id="2" name="TextBox 1">
            <a:extLst>
              <a:ext uri="{FF2B5EF4-FFF2-40B4-BE49-F238E27FC236}">
                <a16:creationId xmlns:a16="http://schemas.microsoft.com/office/drawing/2014/main" id="{DE0553F8-3821-7C7A-43BC-B1397079E92D}"/>
              </a:ext>
            </a:extLst>
          </p:cNvPr>
          <p:cNvSpPr txBox="1"/>
          <p:nvPr/>
        </p:nvSpPr>
        <p:spPr>
          <a:xfrm>
            <a:off x="174171" y="1993453"/>
            <a:ext cx="11505233" cy="4154984"/>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cứ</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vào</a:t>
            </a:r>
            <a:r>
              <a:rPr lang="en-US" sz="2400" dirty="0">
                <a:latin typeface="Times New Roman" panose="02020603050405020304" pitchFamily="18" charset="0"/>
                <a:cs typeface="Times New Roman" panose="02020603050405020304" pitchFamily="18" charset="0"/>
              </a:rPr>
              <a:t> Nghị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HĐND </a:t>
            </a:r>
            <a:r>
              <a:rPr lang="en-US" sz="2400" dirty="0" err="1">
                <a:latin typeface="Times New Roman" panose="02020603050405020304" pitchFamily="18" charset="0"/>
                <a:cs typeface="Times New Roman" panose="02020603050405020304" pitchFamily="18" charset="0"/>
              </a:rPr>
              <a:t>cùng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chi ĐTPT chi </a:t>
            </a:r>
            <a:r>
              <a:rPr lang="en-US" sz="2400" dirty="0" err="1">
                <a:latin typeface="Times New Roman" panose="02020603050405020304" pitchFamily="18" charset="0"/>
                <a:cs typeface="Times New Roman" panose="02020603050405020304" pitchFamily="18" charset="0"/>
              </a:rPr>
              <a:t>tiết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lĩnh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đào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dạy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lĩnh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vực</a:t>
            </a:r>
            <a:r>
              <a:rPr lang="en-US" sz="2400" dirty="0">
                <a:latin typeface="Times New Roman" panose="02020603050405020304" pitchFamily="18" charset="0"/>
                <a:cs typeface="Times New Roman" panose="02020603050405020304" pitchFamily="18" charset="0"/>
              </a:rPr>
              <a:t> khoa </a:t>
            </a:r>
            <a:r>
              <a:rPr lang="en-US" sz="2400" dirty="0" err="1">
                <a:latin typeface="Times New Roman" panose="02020603050405020304" pitchFamily="18" charset="0"/>
                <a:cs typeface="Times New Roman" panose="02020603050405020304" pitchFamily="18" charset="0"/>
              </a:rPr>
              <a:t>học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nghệ</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đổi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chuyển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đổi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thường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xuyên</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tiết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lĩnh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vực</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3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54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NSNN 2025;</a:t>
            </a:r>
          </a:p>
          <a:p>
            <a:pPr algn="just"/>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chưa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tiết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điểm</a:t>
            </a:r>
            <a:r>
              <a:rPr lang="en-US" sz="2400" dirty="0">
                <a:latin typeface="Times New Roman" panose="02020603050405020304" pitchFamily="18" charset="0"/>
                <a:cs typeface="Times New Roman" panose="02020603050405020304" pitchFamily="18" charset="0"/>
              </a:rPr>
              <a:t> a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2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31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NSNN 2025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a:t>
            </a:r>
            <a:r>
              <a:rPr lang="en-US" sz="2400" dirty="0">
                <a:latin typeface="Times New Roman" panose="02020603050405020304" pitchFamily="18" charset="0"/>
                <a:cs typeface="Times New Roman" panose="02020603050405020304" pitchFamily="18" charset="0"/>
              </a:rPr>
              <a:t> do NS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sung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đảm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kịp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tuân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đúng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PL,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trực</a:t>
            </a:r>
            <a:r>
              <a:rPr lang="en-US" sz="2400" dirty="0">
                <a:latin typeface="Times New Roman" panose="02020603050405020304" pitchFamily="18" charset="0"/>
                <a:cs typeface="Times New Roman" panose="02020603050405020304" pitchFamily="18" charset="0"/>
              </a:rPr>
              <a:t> HĐND </a:t>
            </a:r>
            <a:r>
              <a:rPr lang="en-US" sz="2400" dirty="0" err="1">
                <a:latin typeface="Times New Roman" panose="02020603050405020304" pitchFamily="18" charset="0"/>
                <a:cs typeface="Times New Roman" panose="02020603050405020304" pitchFamily="18" charset="0"/>
              </a:rPr>
              <a:t>cùng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cáo</a:t>
            </a:r>
            <a:r>
              <a:rPr lang="en-US" sz="2400" dirty="0">
                <a:latin typeface="Times New Roman" panose="02020603050405020304" pitchFamily="18" charset="0"/>
                <a:cs typeface="Times New Roman" panose="02020603050405020304" pitchFamily="18" charset="0"/>
              </a:rPr>
              <a:t> HĐND </a:t>
            </a:r>
            <a:r>
              <a:rPr lang="en-US" sz="2400" dirty="0" err="1">
                <a:latin typeface="Times New Roman" panose="02020603050405020304" pitchFamily="18" charset="0"/>
                <a:cs typeface="Times New Roman" panose="02020603050405020304" pitchFamily="18" charset="0"/>
              </a:rPr>
              <a:t>cùng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họp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nhất</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HĐND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xã</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42066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44760-02D4-6885-13D9-46D6CBBEEBA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075AE6A-37C4-FA4B-B16C-3FC15C5DF48E}"/>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3.3.4. TRÁCH NHIỆM VÀ QUYỀN HẠN CỦA CÁC CƠ QUAN TRONG QUẢN LÝ NS XÃ</a:t>
            </a:r>
          </a:p>
        </p:txBody>
      </p:sp>
      <p:sp>
        <p:nvSpPr>
          <p:cNvPr id="3" name="Text Placeholder 3">
            <a:extLst>
              <a:ext uri="{FF2B5EF4-FFF2-40B4-BE49-F238E27FC236}">
                <a16:creationId xmlns:a16="http://schemas.microsoft.com/office/drawing/2014/main" id="{07C6D7BF-EBE2-9524-C890-FD49223E6FF2}"/>
              </a:ext>
            </a:extLst>
          </p:cNvPr>
          <p:cNvSpPr txBox="1">
            <a:spLocks/>
          </p:cNvSpPr>
          <p:nvPr/>
        </p:nvSpPr>
        <p:spPr>
          <a:xfrm>
            <a:off x="386563" y="1366563"/>
            <a:ext cx="7994112" cy="62689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a:solidFill>
                  <a:srgbClr val="FF0000"/>
                </a:solidFill>
                <a:latin typeface="Times" panose="02020603050405020304" pitchFamily="18" charset="0"/>
                <a:cs typeface="Times" panose="02020603050405020304" pitchFamily="18" charset="0"/>
              </a:rPr>
              <a:t>UBND </a:t>
            </a:r>
            <a:r>
              <a:rPr lang="en-US" sz="3200" b="1" dirty="0" err="1">
                <a:solidFill>
                  <a:srgbClr val="FF0000"/>
                </a:solidFill>
                <a:latin typeface="Times" panose="02020603050405020304" pitchFamily="18" charset="0"/>
                <a:cs typeface="Times" panose="02020603050405020304" pitchFamily="18" charset="0"/>
              </a:rPr>
              <a:t>cấp</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xã</a:t>
            </a:r>
            <a:endParaRPr lang="en-US" sz="3600" dirty="0">
              <a:solidFill>
                <a:srgbClr val="FF0000"/>
              </a:solidFill>
            </a:endParaRPr>
          </a:p>
        </p:txBody>
      </p:sp>
      <p:sp>
        <p:nvSpPr>
          <p:cNvPr id="2" name="TextBox 1">
            <a:extLst>
              <a:ext uri="{FF2B5EF4-FFF2-40B4-BE49-F238E27FC236}">
                <a16:creationId xmlns:a16="http://schemas.microsoft.com/office/drawing/2014/main" id="{7D83E3F7-44C3-E7EB-9898-2ED923B33264}"/>
              </a:ext>
            </a:extLst>
          </p:cNvPr>
          <p:cNvSpPr txBox="1"/>
          <p:nvPr/>
        </p:nvSpPr>
        <p:spPr>
          <a:xfrm>
            <a:off x="174171" y="1993453"/>
            <a:ext cx="11505233" cy="2308324"/>
          </a:xfrm>
          <a:prstGeom prst="rect">
            <a:avLst/>
          </a:prstGeom>
          <a:noFill/>
        </p:spPr>
        <p:txBody>
          <a:bodyPr wrap="square" rtlCol="0">
            <a:spAutoFit/>
          </a:bodyPr>
          <a:lstStyle/>
          <a:p>
            <a:pPr marL="342900" indent="-342900" algn="just">
              <a:buFontTx/>
              <a:buChar char="-"/>
            </a:pPr>
            <a:r>
              <a:rPr lang="en-US" sz="2400" dirty="0">
                <a:latin typeface="Times New Roman" panose="02020603050405020304" pitchFamily="18" charset="0"/>
                <a:cs typeface="Times New Roman" panose="02020603050405020304" pitchFamily="18" charset="0"/>
              </a:rPr>
              <a:t>Phối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nước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bàn</a:t>
            </a:r>
            <a:r>
              <a:rPr lang="en-US" sz="2400" dirty="0">
                <a:latin typeface="Times New Roman" panose="02020603050405020304" pitchFamily="18" charset="0"/>
                <a:cs typeface="Times New Roman" panose="02020603050405020304" pitchFamily="18" charset="0"/>
              </a:rPr>
              <a:t>.</a:t>
            </a:r>
          </a:p>
          <a:p>
            <a:pPr marL="342900" indent="-342900" algn="just">
              <a:buFontTx/>
              <a:buChar char="-"/>
            </a:pPr>
            <a:r>
              <a:rPr lang="en-US" sz="2400" dirty="0">
                <a:latin typeface="Times New Roman" panose="02020603050405020304" pitchFamily="18" charset="0"/>
                <a:cs typeface="Times New Roman" panose="02020603050405020304" pitchFamily="18" charset="0"/>
              </a:rPr>
              <a:t>Báo </a:t>
            </a:r>
            <a:r>
              <a:rPr lang="en-US" sz="2400" dirty="0" err="1">
                <a:latin typeface="Times New Roman" panose="02020603050405020304" pitchFamily="18" charset="0"/>
                <a:cs typeface="Times New Roman" panose="02020603050405020304" pitchFamily="18" charset="0"/>
              </a:rPr>
              <a:t>cáo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NSNN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Luật </a:t>
            </a:r>
            <a:r>
              <a:rPr lang="en-US" sz="2400" dirty="0" err="1">
                <a:latin typeface="Times New Roman" panose="02020603050405020304" pitchFamily="18" charset="0"/>
                <a:cs typeface="Times New Roman" panose="02020603050405020304" pitchFamily="18" charset="0"/>
              </a:rPr>
              <a:t>này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PL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a:t>
            </a:r>
          </a:p>
          <a:p>
            <a:pPr marL="342900" indent="-342900" algn="just">
              <a:buFontTx/>
              <a:buChar char="-"/>
            </a:pP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CP.</a:t>
            </a:r>
          </a:p>
          <a:p>
            <a:pPr marL="342900" indent="-342900" algn="just">
              <a:buFontTx/>
              <a:buChar char="-"/>
            </a:pPr>
            <a:r>
              <a:rPr lang="en-US" sz="2400" dirty="0">
                <a:latin typeface="Times New Roman" panose="02020603050405020304" pitchFamily="18" charset="0"/>
                <a:cs typeface="Times New Roman" panose="02020603050405020304" pitchFamily="18" charset="0"/>
              </a:rPr>
              <a:t>Chỉ </a:t>
            </a:r>
            <a:r>
              <a:rPr lang="en-US" sz="2400" dirty="0" err="1">
                <a:latin typeface="Times New Roman" panose="02020603050405020304" pitchFamily="18" charset="0"/>
                <a:cs typeface="Times New Roman" panose="02020603050405020304" pitchFamily="18" charset="0"/>
              </a:rPr>
              <a:t>đạo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giúp</a:t>
            </a:r>
            <a:r>
              <a:rPr lang="en-US" sz="2400" dirty="0">
                <a:latin typeface="Times New Roman" panose="02020603050405020304" pitchFamily="18" charset="0"/>
                <a:cs typeface="Times New Roman" panose="02020603050405020304" pitchFamily="18" charset="0"/>
              </a:rPr>
              <a:t> UBND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4520584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6AD55-B2E8-861B-C4D3-FC031E73859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899F85A-241F-B486-98AA-3DDA85EDF18B}"/>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3.3.4. TRÁCH NHIỆM VÀ QUYỀN HẠN CỦA CÁC CƠ QUAN TRONG QUẢN LÝ NS XÃ</a:t>
            </a:r>
          </a:p>
        </p:txBody>
      </p:sp>
      <p:sp>
        <p:nvSpPr>
          <p:cNvPr id="3" name="Text Placeholder 3">
            <a:extLst>
              <a:ext uri="{FF2B5EF4-FFF2-40B4-BE49-F238E27FC236}">
                <a16:creationId xmlns:a16="http://schemas.microsoft.com/office/drawing/2014/main" id="{4F2CCCCF-8C52-ED7A-B83E-5F08959036F9}"/>
              </a:ext>
            </a:extLst>
          </p:cNvPr>
          <p:cNvSpPr txBox="1">
            <a:spLocks/>
          </p:cNvSpPr>
          <p:nvPr/>
        </p:nvSpPr>
        <p:spPr>
          <a:xfrm>
            <a:off x="386563" y="1366563"/>
            <a:ext cx="7994112" cy="62689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a:solidFill>
                  <a:srgbClr val="FF0000"/>
                </a:solidFill>
                <a:latin typeface="Times" panose="02020603050405020304" pitchFamily="18" charset="0"/>
                <a:cs typeface="Times" panose="02020603050405020304" pitchFamily="18" charset="0"/>
              </a:rPr>
              <a:t>Chủ </a:t>
            </a:r>
            <a:r>
              <a:rPr lang="en-US" sz="3200" b="1" dirty="0" err="1">
                <a:solidFill>
                  <a:srgbClr val="FF0000"/>
                </a:solidFill>
                <a:latin typeface="Times" panose="02020603050405020304" pitchFamily="18" charset="0"/>
                <a:cs typeface="Times" panose="02020603050405020304" pitchFamily="18" charset="0"/>
              </a:rPr>
              <a:t>tịch</a:t>
            </a:r>
            <a:r>
              <a:rPr lang="en-US" sz="3200" b="1" dirty="0">
                <a:solidFill>
                  <a:srgbClr val="FF0000"/>
                </a:solidFill>
                <a:latin typeface="Times" panose="02020603050405020304" pitchFamily="18" charset="0"/>
                <a:cs typeface="Times" panose="02020603050405020304" pitchFamily="18" charset="0"/>
              </a:rPr>
              <a:t> UBND </a:t>
            </a:r>
            <a:r>
              <a:rPr lang="en-US" sz="3200" b="1" dirty="0" err="1">
                <a:solidFill>
                  <a:srgbClr val="FF0000"/>
                </a:solidFill>
                <a:latin typeface="Times" panose="02020603050405020304" pitchFamily="18" charset="0"/>
                <a:cs typeface="Times" panose="02020603050405020304" pitchFamily="18" charset="0"/>
              </a:rPr>
              <a:t>xã</a:t>
            </a:r>
            <a:endParaRPr lang="en-US" sz="3600" dirty="0">
              <a:solidFill>
                <a:srgbClr val="FF0000"/>
              </a:solidFill>
            </a:endParaRPr>
          </a:p>
        </p:txBody>
      </p:sp>
      <p:sp>
        <p:nvSpPr>
          <p:cNvPr id="2" name="TextBox 1">
            <a:extLst>
              <a:ext uri="{FF2B5EF4-FFF2-40B4-BE49-F238E27FC236}">
                <a16:creationId xmlns:a16="http://schemas.microsoft.com/office/drawing/2014/main" id="{005430A4-8EC0-C4DD-FB93-B9F2B51144B3}"/>
              </a:ext>
            </a:extLst>
          </p:cNvPr>
          <p:cNvSpPr txBox="1"/>
          <p:nvPr/>
        </p:nvSpPr>
        <p:spPr>
          <a:xfrm>
            <a:off x="174171" y="1993453"/>
            <a:ext cx="11505233" cy="1200329"/>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Tham </a:t>
            </a:r>
            <a:r>
              <a:rPr lang="en-US" sz="2400" dirty="0" err="1">
                <a:latin typeface="Times New Roman" panose="02020603050405020304" pitchFamily="18" charset="0"/>
                <a:cs typeface="Times New Roman" panose="02020603050405020304" pitchFamily="18" charset="0"/>
              </a:rPr>
              <a:t>khảo</a:t>
            </a:r>
            <a:r>
              <a:rPr lang="en-US" sz="2400" dirty="0">
                <a:latin typeface="Times New Roman" panose="02020603050405020304" pitchFamily="18" charset="0"/>
                <a:cs typeface="Times New Roman" panose="02020603050405020304" pitchFamily="18" charset="0"/>
              </a:rPr>
              <a:t>:</a:t>
            </a:r>
          </a:p>
          <a:p>
            <a:pPr marL="342900" indent="-342900" algn="just">
              <a:buFontTx/>
              <a:buChar char="-"/>
            </a:pP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14,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32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NSNN 2025;</a:t>
            </a:r>
          </a:p>
          <a:p>
            <a:pPr marL="342900" indent="-342900" algn="just">
              <a:buFontTx/>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705420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40DF3-B53C-3BC2-6954-1291C2B40C4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081E425-84CD-C73E-F09C-3529D8B69AD0}"/>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3.3.4. TRÁCH NHIỆM VÀ QUYỀN HẠN CỦA CÁC CƠ QUAN TRONG QUẢN LÝ NS XÃ</a:t>
            </a:r>
          </a:p>
        </p:txBody>
      </p:sp>
      <p:sp>
        <p:nvSpPr>
          <p:cNvPr id="3" name="Text Placeholder 3">
            <a:extLst>
              <a:ext uri="{FF2B5EF4-FFF2-40B4-BE49-F238E27FC236}">
                <a16:creationId xmlns:a16="http://schemas.microsoft.com/office/drawing/2014/main" id="{C4B78EF1-BBC7-9F99-78ED-6BCA09296976}"/>
              </a:ext>
            </a:extLst>
          </p:cNvPr>
          <p:cNvSpPr txBox="1">
            <a:spLocks/>
          </p:cNvSpPr>
          <p:nvPr/>
        </p:nvSpPr>
        <p:spPr>
          <a:xfrm>
            <a:off x="386563" y="1366563"/>
            <a:ext cx="7994112" cy="62689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a:solidFill>
                  <a:srgbClr val="FF0000"/>
                </a:solidFill>
                <a:latin typeface="Times" panose="02020603050405020304" pitchFamily="18" charset="0"/>
                <a:cs typeface="Times" panose="02020603050405020304" pitchFamily="18" charset="0"/>
              </a:rPr>
              <a:t>Chủ </a:t>
            </a:r>
            <a:r>
              <a:rPr lang="en-US" sz="3200" b="1" dirty="0" err="1">
                <a:solidFill>
                  <a:srgbClr val="FF0000"/>
                </a:solidFill>
                <a:latin typeface="Times" panose="02020603050405020304" pitchFamily="18" charset="0"/>
                <a:cs typeface="Times" panose="02020603050405020304" pitchFamily="18" charset="0"/>
              </a:rPr>
              <a:t>tịch</a:t>
            </a:r>
            <a:r>
              <a:rPr lang="en-US" sz="3200" b="1" dirty="0">
                <a:solidFill>
                  <a:srgbClr val="FF0000"/>
                </a:solidFill>
                <a:latin typeface="Times" panose="02020603050405020304" pitchFamily="18" charset="0"/>
                <a:cs typeface="Times" panose="02020603050405020304" pitchFamily="18" charset="0"/>
              </a:rPr>
              <a:t> UBND </a:t>
            </a:r>
            <a:r>
              <a:rPr lang="en-US" sz="3200" b="1" dirty="0" err="1">
                <a:solidFill>
                  <a:srgbClr val="FF0000"/>
                </a:solidFill>
                <a:latin typeface="Times" panose="02020603050405020304" pitchFamily="18" charset="0"/>
                <a:cs typeface="Times" panose="02020603050405020304" pitchFamily="18" charset="0"/>
              </a:rPr>
              <a:t>xã</a:t>
            </a:r>
            <a:endParaRPr lang="en-US" sz="3600" dirty="0">
              <a:solidFill>
                <a:srgbClr val="FF0000"/>
              </a:solidFill>
            </a:endParaRPr>
          </a:p>
        </p:txBody>
      </p:sp>
      <p:sp>
        <p:nvSpPr>
          <p:cNvPr id="2" name="TextBox 1">
            <a:extLst>
              <a:ext uri="{FF2B5EF4-FFF2-40B4-BE49-F238E27FC236}">
                <a16:creationId xmlns:a16="http://schemas.microsoft.com/office/drawing/2014/main" id="{29CC46BB-0BB8-6537-2C09-D75DDDB66457}"/>
              </a:ext>
            </a:extLst>
          </p:cNvPr>
          <p:cNvSpPr txBox="1"/>
          <p:nvPr/>
        </p:nvSpPr>
        <p:spPr>
          <a:xfrm>
            <a:off x="174171" y="1993453"/>
            <a:ext cx="11505233" cy="1569660"/>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Chủ </a:t>
            </a:r>
            <a:r>
              <a:rPr lang="en-US" sz="2400" dirty="0" err="1">
                <a:latin typeface="Times New Roman" panose="02020603050405020304" pitchFamily="18" charset="0"/>
                <a:cs typeface="Times New Roman" panose="02020603050405020304" pitchFamily="18" charset="0"/>
              </a:rPr>
              <a:t>tịch</a:t>
            </a:r>
            <a:r>
              <a:rPr lang="en-US" sz="2400" dirty="0">
                <a:latin typeface="Times New Roman" panose="02020603050405020304" pitchFamily="18" charset="0"/>
                <a:cs typeface="Times New Roman" panose="02020603050405020304" pitchFamily="18" charset="0"/>
              </a:rPr>
              <a:t> UBND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đúng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lĩnh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chịu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những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sót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phạm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phạm</a:t>
            </a:r>
            <a:r>
              <a:rPr lang="en-US" sz="2400" dirty="0">
                <a:latin typeface="Times New Roman" panose="02020603050405020304" pitchFamily="18" charset="0"/>
                <a:cs typeface="Times New Roman" panose="02020603050405020304" pitchFamily="18" charset="0"/>
              </a:rPr>
              <a:t> vi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PL</a:t>
            </a:r>
          </a:p>
          <a:p>
            <a:pPr marL="342900" indent="-342900" algn="just">
              <a:buFontTx/>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443680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0C0D1-B607-4F9E-4A63-761871F2F10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BEB7978-7F22-BC3C-1AAE-F8B06E5A211E}"/>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3.3.4. TRÁCH NHIỆM VÀ QUYỀN HẠN CỦA CÁC CƠ QUAN TRONG QUẢN LÝ NS XÃ</a:t>
            </a:r>
          </a:p>
        </p:txBody>
      </p:sp>
      <p:sp>
        <p:nvSpPr>
          <p:cNvPr id="3" name="Text Placeholder 3">
            <a:extLst>
              <a:ext uri="{FF2B5EF4-FFF2-40B4-BE49-F238E27FC236}">
                <a16:creationId xmlns:a16="http://schemas.microsoft.com/office/drawing/2014/main" id="{76937BB6-A8E5-52D1-CB8E-FA1EE89CF356}"/>
              </a:ext>
            </a:extLst>
          </p:cNvPr>
          <p:cNvSpPr txBox="1">
            <a:spLocks/>
          </p:cNvSpPr>
          <p:nvPr/>
        </p:nvSpPr>
        <p:spPr>
          <a:xfrm>
            <a:off x="386563" y="1366563"/>
            <a:ext cx="7994112" cy="62689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a:solidFill>
                  <a:srgbClr val="FF0000"/>
                </a:solidFill>
                <a:latin typeface="Times" panose="02020603050405020304" pitchFamily="18" charset="0"/>
                <a:cs typeface="Times" panose="02020603050405020304" pitchFamily="18" charset="0"/>
              </a:rPr>
              <a:t>Các </a:t>
            </a:r>
            <a:r>
              <a:rPr lang="en-US" sz="3200" b="1" dirty="0" err="1">
                <a:solidFill>
                  <a:srgbClr val="FF0000"/>
                </a:solidFill>
                <a:latin typeface="Times" panose="02020603050405020304" pitchFamily="18" charset="0"/>
                <a:cs typeface="Times" panose="02020603050405020304" pitchFamily="18" charset="0"/>
              </a:rPr>
              <a:t>đơn</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vị</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dự</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toán</a:t>
            </a:r>
            <a:endParaRPr lang="en-US" sz="3600" dirty="0">
              <a:solidFill>
                <a:srgbClr val="FF0000"/>
              </a:solidFill>
            </a:endParaRPr>
          </a:p>
        </p:txBody>
      </p:sp>
      <p:sp>
        <p:nvSpPr>
          <p:cNvPr id="2" name="TextBox 1">
            <a:extLst>
              <a:ext uri="{FF2B5EF4-FFF2-40B4-BE49-F238E27FC236}">
                <a16:creationId xmlns:a16="http://schemas.microsoft.com/office/drawing/2014/main" id="{BC7AAC73-6D74-9DD7-BF78-F12E2301B366}"/>
              </a:ext>
            </a:extLst>
          </p:cNvPr>
          <p:cNvSpPr txBox="1"/>
          <p:nvPr/>
        </p:nvSpPr>
        <p:spPr>
          <a:xfrm>
            <a:off x="174171" y="1993453"/>
            <a:ext cx="11505233" cy="1200329"/>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Tham </a:t>
            </a:r>
            <a:r>
              <a:rPr lang="en-US" sz="2400" dirty="0" err="1">
                <a:latin typeface="Times New Roman" panose="02020603050405020304" pitchFamily="18" charset="0"/>
                <a:cs typeface="Times New Roman" panose="02020603050405020304" pitchFamily="18" charset="0"/>
              </a:rPr>
              <a:t>khảo</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33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NSNN 2025;</a:t>
            </a:r>
          </a:p>
          <a:p>
            <a:pPr marL="342900" indent="-342900" algn="just">
              <a:buFontTx/>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558245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3754D-A4B6-F163-9D4C-A4D976CCFD4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EF7CD66-27A5-DA6F-8632-CD1961CE5CDC}"/>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3.3.4. TRÁCH NHIỆM VÀ QUYỀN HẠN CỦA CÁC CƠ QUAN TRONG QUẢN LÝ NS XÃ</a:t>
            </a:r>
          </a:p>
        </p:txBody>
      </p:sp>
      <p:sp>
        <p:nvSpPr>
          <p:cNvPr id="3" name="Text Placeholder 3">
            <a:extLst>
              <a:ext uri="{FF2B5EF4-FFF2-40B4-BE49-F238E27FC236}">
                <a16:creationId xmlns:a16="http://schemas.microsoft.com/office/drawing/2014/main" id="{C5E6A69A-A475-D7CA-67A0-DE7562B11BCB}"/>
              </a:ext>
            </a:extLst>
          </p:cNvPr>
          <p:cNvSpPr txBox="1">
            <a:spLocks/>
          </p:cNvSpPr>
          <p:nvPr/>
        </p:nvSpPr>
        <p:spPr>
          <a:xfrm>
            <a:off x="386563" y="1366563"/>
            <a:ext cx="7994112" cy="62689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a:solidFill>
                  <a:srgbClr val="FF0000"/>
                </a:solidFill>
                <a:latin typeface="Times" panose="02020603050405020304" pitchFamily="18" charset="0"/>
                <a:cs typeface="Times" panose="02020603050405020304" pitchFamily="18" charset="0"/>
              </a:rPr>
              <a:t>Các </a:t>
            </a:r>
            <a:r>
              <a:rPr lang="en-US" sz="3200" b="1" dirty="0" err="1">
                <a:solidFill>
                  <a:srgbClr val="FF0000"/>
                </a:solidFill>
                <a:latin typeface="Times" panose="02020603050405020304" pitchFamily="18" charset="0"/>
                <a:cs typeface="Times" panose="02020603050405020304" pitchFamily="18" charset="0"/>
              </a:rPr>
              <a:t>đơn</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vị</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dự</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toán</a:t>
            </a:r>
            <a:endParaRPr lang="en-US" sz="3600" dirty="0">
              <a:solidFill>
                <a:srgbClr val="FF0000"/>
              </a:solidFill>
            </a:endParaRPr>
          </a:p>
        </p:txBody>
      </p:sp>
      <p:sp>
        <p:nvSpPr>
          <p:cNvPr id="2" name="TextBox 1">
            <a:extLst>
              <a:ext uri="{FF2B5EF4-FFF2-40B4-BE49-F238E27FC236}">
                <a16:creationId xmlns:a16="http://schemas.microsoft.com/office/drawing/2014/main" id="{1CB5DA39-EFCE-3D0A-910D-AEEBE83C1443}"/>
              </a:ext>
            </a:extLst>
          </p:cNvPr>
          <p:cNvSpPr txBox="1"/>
          <p:nvPr/>
        </p:nvSpPr>
        <p:spPr>
          <a:xfrm>
            <a:off x="174171" y="1993453"/>
            <a:ext cx="11505233" cy="5262979"/>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hàng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thẩm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1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51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NSNN 2025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thẩm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đúng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vào</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PL; chi </a:t>
            </a:r>
            <a:r>
              <a:rPr lang="en-US" sz="2400" dirty="0" err="1">
                <a:latin typeface="Times New Roman" panose="02020603050405020304" pitchFamily="18" charset="0"/>
                <a:cs typeface="Times New Roman" panose="02020603050405020304" pitchFamily="18" charset="0"/>
              </a:rPr>
              <a:t>đúng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đúng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mục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đích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đúng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đảm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dẫn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chi NS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1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51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NSNN 2025.</a:t>
            </a:r>
          </a:p>
          <a:p>
            <a:pPr algn="just"/>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đúng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PL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thống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kê</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PL; </a:t>
            </a:r>
            <a:r>
              <a:rPr lang="en-US" sz="2400" dirty="0" err="1">
                <a:latin typeface="Times New Roman" panose="02020603050405020304" pitchFamily="18" charset="0"/>
                <a:cs typeface="Times New Roman" panose="02020603050405020304" pitchFamily="18" charset="0"/>
              </a:rPr>
              <a:t>xét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duyệt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dưới</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nghiệp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ngoài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1,2, 3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4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này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nguồn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nguồn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nâng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lượng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CP.</a:t>
            </a:r>
          </a:p>
          <a:p>
            <a:pPr marL="342900" indent="-342900" algn="just">
              <a:buFontTx/>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76837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FBCDD-BD24-F0BA-135A-E32242EA590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BFE814D-6D8E-E45A-44C3-070193D0D898}"/>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3.3.4. TRÁCH NHIỆM VÀ QUYỀN HẠN CỦA CÁC CƠ QUAN TRONG QUẢN LÝ NS XÃ</a:t>
            </a:r>
          </a:p>
        </p:txBody>
      </p:sp>
      <p:sp>
        <p:nvSpPr>
          <p:cNvPr id="3" name="Text Placeholder 3">
            <a:extLst>
              <a:ext uri="{FF2B5EF4-FFF2-40B4-BE49-F238E27FC236}">
                <a16:creationId xmlns:a16="http://schemas.microsoft.com/office/drawing/2014/main" id="{A59D67FB-C14E-0EF9-C9EF-6A6181BF005D}"/>
              </a:ext>
            </a:extLst>
          </p:cNvPr>
          <p:cNvSpPr txBox="1">
            <a:spLocks/>
          </p:cNvSpPr>
          <p:nvPr/>
        </p:nvSpPr>
        <p:spPr>
          <a:xfrm>
            <a:off x="386563" y="1366563"/>
            <a:ext cx="7994112" cy="62689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a:solidFill>
                  <a:srgbClr val="FF0000"/>
                </a:solidFill>
                <a:latin typeface="Times" panose="02020603050405020304" pitchFamily="18" charset="0"/>
                <a:cs typeface="Times" panose="02020603050405020304" pitchFamily="18" charset="0"/>
              </a:rPr>
              <a:t>Các </a:t>
            </a:r>
            <a:r>
              <a:rPr lang="en-US" sz="3200" b="1" dirty="0" err="1">
                <a:solidFill>
                  <a:srgbClr val="FF0000"/>
                </a:solidFill>
                <a:latin typeface="Times" panose="02020603050405020304" pitchFamily="18" charset="0"/>
                <a:cs typeface="Times" panose="02020603050405020304" pitchFamily="18" charset="0"/>
              </a:rPr>
              <a:t>đơn</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vị</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dự</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toán</a:t>
            </a:r>
            <a:endParaRPr lang="en-US" sz="3600" dirty="0">
              <a:solidFill>
                <a:srgbClr val="FF0000"/>
              </a:solidFill>
            </a:endParaRPr>
          </a:p>
        </p:txBody>
      </p:sp>
      <p:sp>
        <p:nvSpPr>
          <p:cNvPr id="2" name="TextBox 1">
            <a:extLst>
              <a:ext uri="{FF2B5EF4-FFF2-40B4-BE49-F238E27FC236}">
                <a16:creationId xmlns:a16="http://schemas.microsoft.com/office/drawing/2014/main" id="{D5CC3DD7-5D56-726B-0A16-8725BEE08B17}"/>
              </a:ext>
            </a:extLst>
          </p:cNvPr>
          <p:cNvSpPr txBox="1"/>
          <p:nvPr/>
        </p:nvSpPr>
        <p:spPr>
          <a:xfrm>
            <a:off x="174171" y="1993453"/>
            <a:ext cx="11505233" cy="2677656"/>
          </a:xfrm>
          <a:prstGeom prst="rect">
            <a:avLst/>
          </a:prstGeom>
          <a:noFill/>
        </p:spPr>
        <p:txBody>
          <a:bodyPr wrap="square" rtlCol="0">
            <a:spAutoFit/>
          </a:bodyPr>
          <a:lstStyle/>
          <a:p>
            <a:pPr marL="342900" indent="-342900" algn="just">
              <a:buFontTx/>
              <a:buChar char="-"/>
            </a:pPr>
            <a:r>
              <a:rPr lang="en-US" sz="2400" dirty="0">
                <a:latin typeface="Times New Roman" panose="02020603050405020304" pitchFamily="18" charset="0"/>
                <a:cs typeface="Times New Roman" panose="02020603050405020304" pitchFamily="18" charset="0"/>
              </a:rPr>
              <a:t>Đối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nghiệp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nước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chịu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ban </a:t>
            </a:r>
            <a:r>
              <a:rPr lang="en-US" sz="2400" dirty="0" err="1">
                <a:latin typeface="Times New Roman" panose="02020603050405020304" pitchFamily="18" charset="0"/>
                <a:cs typeface="Times New Roman" panose="02020603050405020304" pitchFamily="18" charset="0"/>
              </a:rPr>
              <a: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chế</a:t>
            </a:r>
            <a:r>
              <a:rPr lang="en-US" sz="2400" dirty="0">
                <a:latin typeface="Times New Roman" panose="02020603050405020304" pitchFamily="18" charset="0"/>
                <a:cs typeface="Times New Roman" panose="02020603050405020304" pitchFamily="18" charset="0"/>
              </a:rPr>
              <a:t> chi </a:t>
            </a:r>
            <a:r>
              <a:rPr lang="en-US" sz="2400" dirty="0" err="1">
                <a:latin typeface="Times New Roman" panose="02020603050405020304" pitchFamily="18" charset="0"/>
                <a:cs typeface="Times New Roman" panose="02020603050405020304" pitchFamily="18" charset="0"/>
              </a:rPr>
              <a:t>tiêu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phù</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a:t>
            </a:r>
          </a:p>
          <a:p>
            <a:pPr marL="342900" indent="-342900" algn="just">
              <a:buFontTx/>
              <a:buChar char="-"/>
            </a:pPr>
            <a:r>
              <a:rPr lang="en-US" sz="2400" dirty="0" err="1">
                <a:latin typeface="Times New Roman" panose="02020603050405020304" pitchFamily="18" charset="0"/>
                <a:cs typeface="Times New Roman" panose="02020603050405020304" pitchFamily="18" charset="0"/>
              </a:rPr>
              <a:t>Thủ</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trưởng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NS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đúng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lĩnh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chịu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những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sót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phạm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phạm</a:t>
            </a:r>
            <a:r>
              <a:rPr lang="en-US" sz="2400" dirty="0">
                <a:latin typeface="Times New Roman" panose="02020603050405020304" pitchFamily="18" charset="0"/>
                <a:cs typeface="Times New Roman" panose="02020603050405020304" pitchFamily="18" charset="0"/>
              </a:rPr>
              <a:t> vi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theo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PL. </a:t>
            </a:r>
          </a:p>
        </p:txBody>
      </p:sp>
    </p:spTree>
    <p:extLst>
      <p:ext uri="{BB962C8B-B14F-4D97-AF65-F5344CB8AC3E}">
        <p14:creationId xmlns:p14="http://schemas.microsoft.com/office/powerpoint/2010/main" val="101737368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0C223-8DB6-32D4-3C20-D9F6A6CB75B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5C99D6-DA9C-BD5C-D885-7C19BF8BB90B}"/>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3.3.4. TRÁCH NHIỆM VÀ QUYỀN HẠN CỦA CÁC CƠ QUAN TRONG QUẢN LÝ NS XÃ</a:t>
            </a:r>
          </a:p>
        </p:txBody>
      </p:sp>
      <p:sp>
        <p:nvSpPr>
          <p:cNvPr id="3" name="Text Placeholder 3">
            <a:extLst>
              <a:ext uri="{FF2B5EF4-FFF2-40B4-BE49-F238E27FC236}">
                <a16:creationId xmlns:a16="http://schemas.microsoft.com/office/drawing/2014/main" id="{B6057B77-41F8-121F-E508-C6417AA3B81E}"/>
              </a:ext>
            </a:extLst>
          </p:cNvPr>
          <p:cNvSpPr txBox="1">
            <a:spLocks/>
          </p:cNvSpPr>
          <p:nvPr/>
        </p:nvSpPr>
        <p:spPr>
          <a:xfrm>
            <a:off x="386563" y="1366563"/>
            <a:ext cx="7994112" cy="62689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err="1">
                <a:solidFill>
                  <a:srgbClr val="FF0000"/>
                </a:solidFill>
                <a:latin typeface="Times" panose="02020603050405020304" pitchFamily="18" charset="0"/>
                <a:cs typeface="Times" panose="02020603050405020304" pitchFamily="18" charset="0"/>
              </a:rPr>
              <a:t>Cơ</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quan</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tài</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chính</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cấp</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xã</a:t>
            </a:r>
            <a:endParaRPr lang="en-US" sz="3200" b="1" dirty="0">
              <a:solidFill>
                <a:srgbClr val="FF0000"/>
              </a:solidFill>
              <a:latin typeface="Times" panose="02020603050405020304" pitchFamily="18" charset="0"/>
              <a:cs typeface="Times" panose="02020603050405020304" pitchFamily="18" charset="0"/>
            </a:endParaRPr>
          </a:p>
        </p:txBody>
      </p:sp>
      <p:sp>
        <p:nvSpPr>
          <p:cNvPr id="6" name="TextBox 5">
            <a:extLst>
              <a:ext uri="{FF2B5EF4-FFF2-40B4-BE49-F238E27FC236}">
                <a16:creationId xmlns:a16="http://schemas.microsoft.com/office/drawing/2014/main" id="{6BD0AF0C-1658-259C-8DB9-12779F6A638E}"/>
              </a:ext>
            </a:extLst>
          </p:cNvPr>
          <p:cNvSpPr txBox="1"/>
          <p:nvPr/>
        </p:nvSpPr>
        <p:spPr>
          <a:xfrm>
            <a:off x="419100" y="2190750"/>
            <a:ext cx="11525250" cy="1938992"/>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Tham </a:t>
            </a:r>
            <a:r>
              <a:rPr lang="en-US" sz="2400" dirty="0" err="1">
                <a:latin typeface="Times New Roman" panose="02020603050405020304" pitchFamily="18" charset="0"/>
                <a:cs typeface="Times New Roman" panose="02020603050405020304" pitchFamily="18" charset="0"/>
              </a:rPr>
              <a:t>khảo</a:t>
            </a:r>
            <a:r>
              <a:rPr lang="en-US" sz="2400" dirty="0">
                <a:latin typeface="Times New Roman" panose="02020603050405020304" pitchFamily="18" charset="0"/>
                <a:cs typeface="Times New Roman" panose="02020603050405020304" pitchFamily="18" charset="0"/>
              </a:rPr>
              <a:t>:</a:t>
            </a:r>
          </a:p>
          <a:p>
            <a:pPr marL="342900" indent="-342900">
              <a:buFontTx/>
              <a:buChar char="-"/>
            </a:pP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9,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4,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NSNN 2025;</a:t>
            </a:r>
          </a:p>
          <a:p>
            <a:pPr marL="342900" indent="-342900">
              <a:buFontTx/>
              <a:buChar char="-"/>
            </a:pPr>
            <a:r>
              <a:rPr lang="en-US" sz="2400" dirty="0">
                <a:latin typeface="Times New Roman" panose="02020603050405020304" pitchFamily="18" charset="0"/>
                <a:cs typeface="Times New Roman" panose="02020603050405020304" pitchFamily="18" charset="0"/>
              </a:rPr>
              <a:t>NĐ 150/2025/NĐ-CP </a:t>
            </a:r>
            <a:r>
              <a:rPr lang="en-US" sz="2400" dirty="0" err="1">
                <a:latin typeface="Times New Roman" panose="02020603050405020304" pitchFamily="18" charset="0"/>
                <a:cs typeface="Times New Roman" panose="02020603050405020304" pitchFamily="18" charset="0"/>
              </a:rPr>
              <a:t>ngày</a:t>
            </a:r>
            <a:r>
              <a:rPr lang="en-US" sz="2400" dirty="0">
                <a:latin typeface="Times New Roman" panose="02020603050405020304" pitchFamily="18" charset="0"/>
                <a:cs typeface="Times New Roman" panose="02020603050405020304" pitchFamily="18" charset="0"/>
              </a:rPr>
              <a:t> 12/6/2025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chuyên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môn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UBND </a:t>
            </a:r>
            <a:r>
              <a:rPr lang="en-US" sz="2400" dirty="0" err="1">
                <a:latin typeface="Times New Roman" panose="02020603050405020304" pitchFamily="18" charset="0"/>
                <a:cs typeface="Times New Roman" panose="02020603050405020304" pitchFamily="18" charset="0"/>
              </a:rPr>
              <a:t>tỉnh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UBND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ương</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644951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3D108-C24C-8050-D616-5B7E1256552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894E73-1125-525A-2113-6538A9704890}"/>
              </a:ext>
            </a:extLst>
          </p:cNvPr>
          <p:cNvSpPr/>
          <p:nvPr/>
        </p:nvSpPr>
        <p:spPr>
          <a:xfrm>
            <a:off x="0"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sz="4200" b="1" dirty="0">
                <a:latin typeface="Times New Roman" panose="02020603050405020304" pitchFamily="18" charset="0"/>
                <a:cs typeface="Times New Roman" panose="02020603050405020304" pitchFamily="18" charset="0"/>
              </a:rPr>
              <a:t>3.3.4. TRÁCH NHIỆM VÀ QUYỀN HẠN CỦA CÁC CƠ QUAN TRONG QUẢN LÝ NS XÃ</a:t>
            </a:r>
          </a:p>
        </p:txBody>
      </p:sp>
      <p:sp>
        <p:nvSpPr>
          <p:cNvPr id="3" name="Text Placeholder 3">
            <a:extLst>
              <a:ext uri="{FF2B5EF4-FFF2-40B4-BE49-F238E27FC236}">
                <a16:creationId xmlns:a16="http://schemas.microsoft.com/office/drawing/2014/main" id="{B1856FAD-1E50-968E-B2E4-28DC7BA5337B}"/>
              </a:ext>
            </a:extLst>
          </p:cNvPr>
          <p:cNvSpPr txBox="1">
            <a:spLocks/>
          </p:cNvSpPr>
          <p:nvPr/>
        </p:nvSpPr>
        <p:spPr>
          <a:xfrm>
            <a:off x="386563" y="1366563"/>
            <a:ext cx="7994112" cy="626890"/>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Wingdings" panose="05000000000000000000" pitchFamily="2" charset="2"/>
              <a:buChar char="v"/>
            </a:pPr>
            <a:r>
              <a:rPr lang="en-US" sz="3200" b="1" dirty="0" err="1">
                <a:solidFill>
                  <a:srgbClr val="FF0000"/>
                </a:solidFill>
                <a:latin typeface="Times" panose="02020603050405020304" pitchFamily="18" charset="0"/>
                <a:cs typeface="Times" panose="02020603050405020304" pitchFamily="18" charset="0"/>
              </a:rPr>
              <a:t>Cơ</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quan</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tài</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chính</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cấp</a:t>
            </a:r>
            <a:r>
              <a:rPr lang="en-US" sz="3200" b="1" dirty="0">
                <a:solidFill>
                  <a:srgbClr val="FF0000"/>
                </a:solidFill>
                <a:latin typeface="Times" panose="02020603050405020304" pitchFamily="18" charset="0"/>
                <a:cs typeface="Times" panose="02020603050405020304" pitchFamily="18" charset="0"/>
              </a:rPr>
              <a:t> </a:t>
            </a:r>
            <a:r>
              <a:rPr lang="en-US" sz="3200" b="1" dirty="0" err="1">
                <a:solidFill>
                  <a:srgbClr val="FF0000"/>
                </a:solidFill>
                <a:latin typeface="Times" panose="02020603050405020304" pitchFamily="18" charset="0"/>
                <a:cs typeface="Times" panose="02020603050405020304" pitchFamily="18" charset="0"/>
              </a:rPr>
              <a:t>xã</a:t>
            </a:r>
            <a:endParaRPr lang="en-US" sz="3200" b="1" dirty="0">
              <a:solidFill>
                <a:srgbClr val="FF0000"/>
              </a:solidFill>
              <a:latin typeface="Times" panose="02020603050405020304" pitchFamily="18" charset="0"/>
              <a:cs typeface="Times" panose="02020603050405020304" pitchFamily="18" charset="0"/>
            </a:endParaRPr>
          </a:p>
        </p:txBody>
      </p:sp>
      <p:sp>
        <p:nvSpPr>
          <p:cNvPr id="6" name="TextBox 5">
            <a:extLst>
              <a:ext uri="{FF2B5EF4-FFF2-40B4-BE49-F238E27FC236}">
                <a16:creationId xmlns:a16="http://schemas.microsoft.com/office/drawing/2014/main" id="{B256DD86-ABD0-3B05-0835-27E80178E42C}"/>
              </a:ext>
            </a:extLst>
          </p:cNvPr>
          <p:cNvSpPr txBox="1"/>
          <p:nvPr/>
        </p:nvSpPr>
        <p:spPr>
          <a:xfrm>
            <a:off x="419100" y="2190750"/>
            <a:ext cx="11525250" cy="2677656"/>
          </a:xfrm>
          <a:prstGeom prst="rect">
            <a:avLst/>
          </a:prstGeom>
          <a:noFill/>
        </p:spPr>
        <p:txBody>
          <a:bodyPr wrap="square" rtlCol="0">
            <a:spAutoFit/>
          </a:bodyPr>
          <a:lstStyle/>
          <a:p>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phòng</a:t>
            </a:r>
            <a:r>
              <a:rPr lang="en-US" sz="2400" dirty="0">
                <a:latin typeface="Times New Roman" panose="02020603050405020304" pitchFamily="18" charset="0"/>
                <a:cs typeface="Times New Roman" panose="02020603050405020304" pitchFamily="18" charset="0"/>
              </a:rPr>
              <a:t> Kinh </a:t>
            </a:r>
            <a:r>
              <a:rPr lang="en-US" sz="2400" dirty="0" err="1">
                <a:latin typeface="Times New Roman" panose="02020603050405020304" pitchFamily="18" charset="0"/>
                <a:cs typeface="Times New Roman" panose="02020603050405020304" pitchFamily="18" charset="0"/>
              </a:rPr>
              <a:t>tế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phòng</a:t>
            </a:r>
            <a:r>
              <a:rPr lang="en-US" sz="2400" dirty="0">
                <a:latin typeface="Times New Roman" panose="02020603050405020304" pitchFamily="18" charset="0"/>
                <a:cs typeface="Times New Roman" panose="02020603050405020304" pitchFamily="18" charset="0"/>
              </a:rPr>
              <a:t> Kinh </a:t>
            </a:r>
            <a:r>
              <a:rPr lang="en-US" sz="2400" dirty="0" err="1">
                <a:latin typeface="Times New Roman" panose="02020603050405020304" pitchFamily="18" charset="0"/>
                <a:cs typeface="Times New Roman" panose="02020603050405020304" pitchFamily="18" charset="0"/>
              </a:rPr>
              <a:t>tế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tầng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Đô</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khu</a:t>
            </a:r>
            <a:r>
              <a:rPr lang="en-US" sz="2400" dirty="0">
                <a:latin typeface="Times New Roman" panose="02020603050405020304" pitchFamily="18" charset="0"/>
                <a:cs typeface="Times New Roman" panose="02020603050405020304" pitchFamily="18" charset="0"/>
              </a:rPr>
              <a:t> Phú Quốc) </a:t>
            </a:r>
            <a:r>
              <a:rPr lang="en-US" sz="2400" dirty="0" err="1">
                <a:latin typeface="Times New Roman" panose="02020603050405020304" pitchFamily="18" charset="0"/>
                <a:cs typeface="Times New Roman" panose="02020603050405020304" pitchFamily="18" charset="0"/>
              </a:rPr>
              <a:t>tham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mưu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giúp</a:t>
            </a:r>
            <a:r>
              <a:rPr lang="en-US" sz="2400" dirty="0">
                <a:latin typeface="Times New Roman" panose="02020603050405020304" pitchFamily="18" charset="0"/>
                <a:cs typeface="Times New Roman" panose="02020603050405020304" pitchFamily="18" charset="0"/>
              </a:rPr>
              <a:t> UBND </a:t>
            </a:r>
            <a:r>
              <a:rPr lang="en-US" sz="2400" dirty="0" err="1">
                <a:latin typeface="Times New Roman" panose="02020603050405020304" pitchFamily="18" charset="0"/>
                <a:cs typeface="Times New Roman" panose="02020603050405020304" pitchFamily="18" charset="0"/>
              </a:rPr>
              <a:t>cấp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nước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lĩnh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vực</a:t>
            </a:r>
            <a:r>
              <a:rPr lang="en-US" sz="2400" dirty="0">
                <a:latin typeface="Times New Roman" panose="02020603050405020304" pitchFamily="18" charset="0"/>
                <a:cs typeface="Times New Roman" panose="02020603050405020304" pitchFamily="18" charset="0"/>
              </a:rPr>
              <a:t> Tài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Kế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hoạch</a:t>
            </a:r>
            <a:r>
              <a:rPr lang="en-US" sz="2400" dirty="0">
                <a:latin typeface="Times New Roman" panose="02020603050405020304" pitchFamily="18" charset="0"/>
                <a:cs typeface="Times New Roman" panose="02020603050405020304" pitchFamily="18" charset="0"/>
              </a:rPr>
              <a:t>, Lĩnh </a:t>
            </a:r>
            <a:r>
              <a:rPr lang="en-US" sz="2400" dirty="0" err="1">
                <a:latin typeface="Times New Roman" panose="02020603050405020304" pitchFamily="18" charset="0"/>
                <a:cs typeface="Times New Roman" panose="02020603050405020304" pitchFamily="18" charset="0"/>
              </a:rPr>
              <a:t>vực</a:t>
            </a:r>
            <a:r>
              <a:rPr lang="en-US" sz="2400" dirty="0">
                <a:latin typeface="Times New Roman" panose="02020603050405020304" pitchFamily="18" charset="0"/>
                <a:cs typeface="Times New Roman" panose="02020603050405020304" pitchFamily="18" charset="0"/>
              </a:rPr>
              <a:t> Xây </a:t>
            </a:r>
            <a:r>
              <a:rPr lang="en-US" sz="2400" dirty="0" err="1">
                <a:latin typeface="Times New Roman" panose="02020603050405020304" pitchFamily="18" charset="0"/>
                <a:cs typeface="Times New Roman" panose="02020603050405020304" pitchFamily="18" charset="0"/>
              </a:rPr>
              <a:t>dựng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Công </a:t>
            </a:r>
            <a:r>
              <a:rPr lang="en-US" sz="2400" dirty="0" err="1">
                <a:latin typeface="Times New Roman" panose="02020603050405020304" pitchFamily="18" charset="0"/>
                <a:cs typeface="Times New Roman" panose="02020603050405020304" pitchFamily="18" charset="0"/>
              </a:rPr>
              <a:t>thương</a:t>
            </a:r>
            <a:r>
              <a:rPr lang="en-US" sz="2400" dirty="0">
                <a:latin typeface="Times New Roman" panose="02020603050405020304" pitchFamily="18" charset="0"/>
                <a:cs typeface="Times New Roman" panose="02020603050405020304" pitchFamily="18" charset="0"/>
              </a:rPr>
              <a:t>, Lĩnh </a:t>
            </a:r>
            <a:r>
              <a:rPr lang="en-US" sz="2400" dirty="0" err="1">
                <a:latin typeface="Times New Roman" panose="02020603050405020304" pitchFamily="18" charset="0"/>
                <a:cs typeface="Times New Roman" panose="02020603050405020304" pitchFamily="18" charset="0"/>
              </a:rPr>
              <a:t>vực</a:t>
            </a:r>
            <a:r>
              <a:rPr lang="en-US" sz="2400" dirty="0">
                <a:latin typeface="Times New Roman" panose="02020603050405020304" pitchFamily="18" charset="0"/>
                <a:cs typeface="Times New Roman" panose="02020603050405020304" pitchFamily="18" charset="0"/>
              </a:rPr>
              <a:t> Nông </a:t>
            </a:r>
            <a:r>
              <a:rPr lang="en-US" sz="2400" dirty="0" err="1">
                <a:latin typeface="Times New Roman" panose="02020603050405020304" pitchFamily="18" charset="0"/>
                <a:cs typeface="Times New Roman" panose="02020603050405020304" pitchFamily="18" charset="0"/>
              </a:rPr>
              <a:t>nghiệp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Môi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trường</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Trong </a:t>
            </a:r>
            <a:r>
              <a:rPr lang="en-US" sz="2400" dirty="0" err="1">
                <a:latin typeface="Times New Roman" panose="02020603050405020304" pitchFamily="18" charset="0"/>
                <a:cs typeface="Times New Roman" panose="02020603050405020304" pitchFamily="18" charset="0"/>
              </a:rPr>
              <a:t>lĩnh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vực</a:t>
            </a:r>
            <a:r>
              <a:rPr lang="en-US" sz="2400" dirty="0">
                <a:latin typeface="Times New Roman" panose="02020603050405020304" pitchFamily="18" charset="0"/>
                <a:cs typeface="Times New Roman" panose="02020603050405020304" pitchFamily="18" charset="0"/>
              </a:rPr>
              <a:t> Tài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Kế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gồm</a:t>
            </a:r>
            <a:r>
              <a:rPr lang="en-US" sz="2400" dirty="0">
                <a:latin typeface="Times New Roman" panose="02020603050405020304" pitchFamily="18" charset="0"/>
                <a:cs typeface="Times New Roman" panose="02020603050405020304" pitchFamily="18" charset="0"/>
              </a:rPr>
              <a:t>: Tài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 Ngân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nước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thống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kê</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doanh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hỗ</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doanh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nghiệp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732275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7378</TotalTime>
  <Words>12358</Words>
  <Application>Microsoft Office PowerPoint</Application>
  <PresentationFormat>Widescreen</PresentationFormat>
  <Paragraphs>662</Paragraphs>
  <Slides>86</Slides>
  <Notes>86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86</vt:i4>
      </vt:variant>
    </vt:vector>
  </HeadingPairs>
  <TitlesOfParts>
    <vt:vector size="93" baseType="lpstr">
      <vt:lpstr>Aptos</vt:lpstr>
      <vt:lpstr>Aptos Display</vt:lpstr>
      <vt:lpstr>Arial</vt:lpstr>
      <vt:lpstr>Times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595</dc:creator>
  <cp:lastModifiedBy>Thang Tran Thanh</cp:lastModifiedBy>
  <cp:revision>59</cp:revision>
  <dcterms:created xsi:type="dcterms:W3CDTF">2025-05-08T12:26:13Z</dcterms:created>
  <dcterms:modified xsi:type="dcterms:W3CDTF">2026-05-06T01:12:45Z</dcterms:modified>
</cp:coreProperties>
</file>